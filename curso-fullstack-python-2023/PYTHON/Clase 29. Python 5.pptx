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5143500" cx="9144000"/>
  <p:notesSz cx="6858000" cy="9144000"/>
  <p:embeddedFontLst>
    <p:embeddedFont>
      <p:font typeface="Montserrat SemiBold"/>
      <p:regular r:id="rId34"/>
      <p:bold r:id="rId35"/>
      <p:italic r:id="rId36"/>
      <p:boldItalic r:id="rId37"/>
    </p:embeddedFont>
    <p:embeddedFont>
      <p:font typeface="Montserrat"/>
      <p:regular r:id="rId38"/>
      <p:bold r:id="rId39"/>
      <p:italic r:id="rId40"/>
      <p:boldItalic r:id="rId41"/>
    </p:embeddedFont>
    <p:embeddedFont>
      <p:font typeface="Montserrat Medium"/>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37">
          <p15:clr>
            <a:srgbClr val="A4A3A4"/>
          </p15:clr>
        </p15:guide>
        <p15:guide id="2" pos="2880">
          <p15:clr>
            <a:srgbClr val="A4A3A4"/>
          </p15:clr>
        </p15:guide>
      </p15:sldGuideLst>
    </p:ext>
    <p:ext uri="http://customooxmlschemas.google.com/">
      <go:slidesCustomData xmlns:go="http://customooxmlschemas.google.com/" r:id="rId46" roundtripDataSignature="AMtx7mgFksPkXP9RsPj4N/IGZ4eTy+4QI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37"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italic.fntdata"/><Relationship Id="rId20" Type="http://schemas.openxmlformats.org/officeDocument/2006/relationships/slide" Target="slides/slide15.xml"/><Relationship Id="rId42" Type="http://schemas.openxmlformats.org/officeDocument/2006/relationships/font" Target="fonts/MontserratMedium-regular.fntdata"/><Relationship Id="rId41" Type="http://schemas.openxmlformats.org/officeDocument/2006/relationships/font" Target="fonts/Montserrat-boldItalic.fntdata"/><Relationship Id="rId22" Type="http://schemas.openxmlformats.org/officeDocument/2006/relationships/slide" Target="slides/slide17.xml"/><Relationship Id="rId44" Type="http://schemas.openxmlformats.org/officeDocument/2006/relationships/font" Target="fonts/MontserratMedium-italic.fntdata"/><Relationship Id="rId21" Type="http://schemas.openxmlformats.org/officeDocument/2006/relationships/slide" Target="slides/slide16.xml"/><Relationship Id="rId43" Type="http://schemas.openxmlformats.org/officeDocument/2006/relationships/font" Target="fonts/MontserratMedium-bold.fntdata"/><Relationship Id="rId24" Type="http://schemas.openxmlformats.org/officeDocument/2006/relationships/slide" Target="slides/slide19.xml"/><Relationship Id="rId46" Type="http://customschemas.google.com/relationships/presentationmetadata" Target="metadata"/><Relationship Id="rId23" Type="http://schemas.openxmlformats.org/officeDocument/2006/relationships/slide" Target="slides/slide18.xml"/><Relationship Id="rId45" Type="http://schemas.openxmlformats.org/officeDocument/2006/relationships/font" Target="fonts/MontserratMedium-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MontserratSemiBold-bold.fntdata"/><Relationship Id="rId12" Type="http://schemas.openxmlformats.org/officeDocument/2006/relationships/slide" Target="slides/slide7.xml"/><Relationship Id="rId34" Type="http://schemas.openxmlformats.org/officeDocument/2006/relationships/font" Target="fonts/MontserratSemiBold-regular.fntdata"/><Relationship Id="rId15" Type="http://schemas.openxmlformats.org/officeDocument/2006/relationships/slide" Target="slides/slide10.xml"/><Relationship Id="rId37" Type="http://schemas.openxmlformats.org/officeDocument/2006/relationships/font" Target="fonts/MontserratSemiBold-boldItalic.fntdata"/><Relationship Id="rId14" Type="http://schemas.openxmlformats.org/officeDocument/2006/relationships/slide" Target="slides/slide9.xml"/><Relationship Id="rId36" Type="http://schemas.openxmlformats.org/officeDocument/2006/relationships/font" Target="fonts/MontserratSemiBold-italic.fntdata"/><Relationship Id="rId17" Type="http://schemas.openxmlformats.org/officeDocument/2006/relationships/slide" Target="slides/slide12.xml"/><Relationship Id="rId39" Type="http://schemas.openxmlformats.org/officeDocument/2006/relationships/font" Target="fonts/Montserrat-bold.fntdata"/><Relationship Id="rId16" Type="http://schemas.openxmlformats.org/officeDocument/2006/relationships/slide" Target="slides/slide11.xml"/><Relationship Id="rId38" Type="http://schemas.openxmlformats.org/officeDocument/2006/relationships/font" Target="fonts/Montserrat-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 name="Google Shape;21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 name="Google Shape;22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8" name="Google Shape;22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4" name="Google Shape;244;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9" name="Google Shape;259;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4" name="Google Shape;274;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1" name="Google Shape;29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 name="Google Shape;299;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7" name="Google Shape;307;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3" name="Google Shape;313;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1" name="Google Shape;321;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9" name="Google Shape;329;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7" name="Google Shape;337;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7" name="Google Shape;347;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3" name="Google Shape;353;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3" name="Google Shape;363;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9" name="Google Shape;369;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5" name="Google Shape;375;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0" name="Google Shape;380;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png"/><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1.png"/><Relationship Id="rId4" Type="http://schemas.openxmlformats.org/officeDocument/2006/relationships/image" Target="../media/image7.png"/><Relationship Id="rId5" Type="http://schemas.openxmlformats.org/officeDocument/2006/relationships/image" Target="../media/image1.png"/><Relationship Id="rId6"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 name="Shape 9"/>
        <p:cNvGrpSpPr/>
        <p:nvPr/>
      </p:nvGrpSpPr>
      <p:grpSpPr>
        <a:xfrm>
          <a:off x="0" y="0"/>
          <a:ext cx="0" cy="0"/>
          <a:chOff x="0" y="0"/>
          <a:chExt cx="0" cy="0"/>
        </a:xfrm>
      </p:grpSpPr>
      <p:sp>
        <p:nvSpPr>
          <p:cNvPr id="10" name="Google Shape;10;p30"/>
          <p:cNvSpPr txBox="1"/>
          <p:nvPr>
            <p:ph type="title"/>
          </p:nvPr>
        </p:nvSpPr>
        <p:spPr>
          <a:xfrm>
            <a:off x="3335100" y="1617575"/>
            <a:ext cx="5497200" cy="13752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700"/>
              <a:buFont typeface="Montserrat"/>
              <a:buNone/>
              <a:defRPr b="1" sz="3700">
                <a:latin typeface="Montserrat"/>
                <a:ea typeface="Montserrat"/>
                <a:cs typeface="Montserrat"/>
                <a:sym typeface="Montserrat"/>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pic>
        <p:nvPicPr>
          <p:cNvPr id="11" name="Google Shape;11;p30"/>
          <p:cNvPicPr preferRelativeResize="0"/>
          <p:nvPr/>
        </p:nvPicPr>
        <p:blipFill rotWithShape="1">
          <a:blip r:embed="rId2">
            <a:alphaModFix/>
          </a:blip>
          <a:srcRect b="0" l="0" r="0" t="0"/>
          <a:stretch/>
        </p:blipFill>
        <p:spPr>
          <a:xfrm>
            <a:off x="0" y="1290050"/>
            <a:ext cx="3040999" cy="2072300"/>
          </a:xfrm>
          <a:prstGeom prst="rect">
            <a:avLst/>
          </a:prstGeom>
          <a:noFill/>
          <a:ln>
            <a:noFill/>
          </a:ln>
        </p:spPr>
      </p:pic>
      <p:pic>
        <p:nvPicPr>
          <p:cNvPr id="12" name="Google Shape;12;p30"/>
          <p:cNvPicPr preferRelativeResize="0"/>
          <p:nvPr/>
        </p:nvPicPr>
        <p:blipFill rotWithShape="1">
          <a:blip r:embed="rId3">
            <a:alphaModFix/>
          </a:blip>
          <a:srcRect b="0" l="0" r="0" t="0"/>
          <a:stretch/>
        </p:blipFill>
        <p:spPr>
          <a:xfrm>
            <a:off x="8222877" y="4573625"/>
            <a:ext cx="741498" cy="399274"/>
          </a:xfrm>
          <a:prstGeom prst="rect">
            <a:avLst/>
          </a:prstGeom>
          <a:noFill/>
          <a:ln>
            <a:noFill/>
          </a:ln>
        </p:spPr>
      </p:pic>
      <p:sp>
        <p:nvSpPr>
          <p:cNvPr id="13" name="Google Shape;13;p30"/>
          <p:cNvSpPr txBox="1"/>
          <p:nvPr/>
        </p:nvSpPr>
        <p:spPr>
          <a:xfrm>
            <a:off x="3326000" y="3062475"/>
            <a:ext cx="5534400" cy="4002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Medium"/>
              <a:ea typeface="Montserrat Medium"/>
              <a:cs typeface="Montserrat Medium"/>
              <a:sym typeface="Montserrat Medium"/>
            </a:endParaRPr>
          </a:p>
        </p:txBody>
      </p:sp>
      <p:sp>
        <p:nvSpPr>
          <p:cNvPr id="14" name="Google Shape;14;p30"/>
          <p:cNvSpPr txBox="1"/>
          <p:nvPr>
            <p:ph idx="1" type="subTitle"/>
          </p:nvPr>
        </p:nvSpPr>
        <p:spPr>
          <a:xfrm>
            <a:off x="3335025" y="2986525"/>
            <a:ext cx="55344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5" name="Google Shape;15;p30"/>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 name="Google Shape;16;p30"/>
          <p:cNvPicPr preferRelativeResize="0"/>
          <p:nvPr/>
        </p:nvPicPr>
        <p:blipFill rotWithShape="1">
          <a:blip r:embed="rId4">
            <a:alphaModFix/>
          </a:blip>
          <a:srcRect b="0" l="0" r="0" t="0"/>
          <a:stretch/>
        </p:blipFill>
        <p:spPr>
          <a:xfrm>
            <a:off x="8155184" y="33947"/>
            <a:ext cx="876879" cy="3992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con título y subtítulo" type="title">
  <p:cSld name="TITLE">
    <p:spTree>
      <p:nvGrpSpPr>
        <p:cNvPr id="17" name="Shape 17"/>
        <p:cNvGrpSpPr/>
        <p:nvPr/>
      </p:nvGrpSpPr>
      <p:grpSpPr>
        <a:xfrm>
          <a:off x="0" y="0"/>
          <a:ext cx="0" cy="0"/>
          <a:chOff x="0" y="0"/>
          <a:chExt cx="0" cy="0"/>
        </a:xfrm>
      </p:grpSpPr>
      <p:sp>
        <p:nvSpPr>
          <p:cNvPr id="18" name="Google Shape;18;p31"/>
          <p:cNvSpPr/>
          <p:nvPr/>
        </p:nvSpPr>
        <p:spPr>
          <a:xfrm>
            <a:off x="-13650" y="432892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31"/>
          <p:cNvSpPr txBox="1"/>
          <p:nvPr>
            <p:ph type="ctrTitle"/>
          </p:nvPr>
        </p:nvSpPr>
        <p:spPr>
          <a:xfrm>
            <a:off x="311700" y="1226800"/>
            <a:ext cx="8520600" cy="1570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rgbClr val="333333"/>
              </a:buClr>
              <a:buSzPts val="4900"/>
              <a:buFont typeface="Montserrat"/>
              <a:buNone/>
              <a:defRPr b="1" sz="4900">
                <a:solidFill>
                  <a:srgbClr val="333333"/>
                </a:solidFill>
                <a:latin typeface="Montserrat"/>
                <a:ea typeface="Montserrat"/>
                <a:cs typeface="Montserrat"/>
                <a:sym typeface="Montserrat"/>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20" name="Google Shape;20;p3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21" name="Google Shape;21;p31"/>
          <p:cNvPicPr preferRelativeResize="0"/>
          <p:nvPr/>
        </p:nvPicPr>
        <p:blipFill rotWithShape="1">
          <a:blip r:embed="rId2">
            <a:alphaModFix/>
          </a:blip>
          <a:srcRect b="0" l="0" r="0" t="0"/>
          <a:stretch/>
        </p:blipFill>
        <p:spPr>
          <a:xfrm>
            <a:off x="7910675" y="4073939"/>
            <a:ext cx="1365875" cy="1365875"/>
          </a:xfrm>
          <a:prstGeom prst="rect">
            <a:avLst/>
          </a:prstGeom>
          <a:noFill/>
          <a:ln>
            <a:noFill/>
          </a:ln>
        </p:spPr>
      </p:pic>
      <p:sp>
        <p:nvSpPr>
          <p:cNvPr id="22" name="Google Shape;22;p31"/>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 name="Google Shape;23;p31"/>
          <p:cNvPicPr preferRelativeResize="0"/>
          <p:nvPr/>
        </p:nvPicPr>
        <p:blipFill rotWithShape="1">
          <a:blip r:embed="rId3">
            <a:alphaModFix/>
          </a:blip>
          <a:srcRect b="0" l="0" r="0" t="0"/>
          <a:stretch/>
        </p:blipFill>
        <p:spPr>
          <a:xfrm>
            <a:off x="8155184" y="33947"/>
            <a:ext cx="876879" cy="399275"/>
          </a:xfrm>
          <a:prstGeom prst="rect">
            <a:avLst/>
          </a:prstGeom>
          <a:noFill/>
          <a:ln>
            <a:noFill/>
          </a:ln>
        </p:spPr>
      </p:pic>
      <p:pic>
        <p:nvPicPr>
          <p:cNvPr id="24" name="Google Shape;24;p31"/>
          <p:cNvPicPr preferRelativeResize="0"/>
          <p:nvPr/>
        </p:nvPicPr>
        <p:blipFill rotWithShape="1">
          <a:blip r:embed="rId4">
            <a:alphaModFix/>
          </a:blip>
          <a:srcRect b="0" l="0" r="0" t="0"/>
          <a:stretch/>
        </p:blipFill>
        <p:spPr>
          <a:xfrm>
            <a:off x="0" y="4264238"/>
            <a:ext cx="1163080" cy="792599"/>
          </a:xfrm>
          <a:prstGeom prst="rect">
            <a:avLst/>
          </a:prstGeom>
          <a:noFill/>
          <a:ln>
            <a:noFill/>
          </a:ln>
        </p:spPr>
      </p:pic>
    </p:spTree>
  </p:cSld>
  <p:clrMapOvr>
    <a:masterClrMapping/>
  </p:clrMapOvr>
  <p:extLst>
    <p:ext uri="{DCECCB84-F9BA-43D5-87BE-67443E8EF086}">
      <p15:sldGuideLst>
        <p15:guide id="1" pos="5413">
          <p15:clr>
            <a:srgbClr val="FA7B17"/>
          </p15:clr>
        </p15:guide>
        <p15:guide id="2" pos="347">
          <p15:clr>
            <a:srgbClr val="FA7B17"/>
          </p15:clr>
        </p15:guide>
        <p15:guide id="3" orient="horz" pos="2778">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ase 2 - 37">
  <p:cSld name="BLANK_1_1">
    <p:spTree>
      <p:nvGrpSpPr>
        <p:cNvPr id="25" name="Shape 25"/>
        <p:cNvGrpSpPr/>
        <p:nvPr/>
      </p:nvGrpSpPr>
      <p:grpSpPr>
        <a:xfrm>
          <a:off x="0" y="0"/>
          <a:ext cx="0" cy="0"/>
          <a:chOff x="0" y="0"/>
          <a:chExt cx="0" cy="0"/>
        </a:xfrm>
      </p:grpSpPr>
      <p:sp>
        <p:nvSpPr>
          <p:cNvPr id="26" name="Google Shape;26;p32"/>
          <p:cNvSpPr/>
          <p:nvPr/>
        </p:nvSpPr>
        <p:spPr>
          <a:xfrm>
            <a:off x="212425" y="1172325"/>
            <a:ext cx="8636100" cy="436800"/>
          </a:xfrm>
          <a:prstGeom prst="chevron">
            <a:avLst>
              <a:gd fmla="val 50000"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27" name="Google Shape;27;p32"/>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32"/>
          <p:cNvSpPr/>
          <p:nvPr/>
        </p:nvSpPr>
        <p:spPr>
          <a:xfrm>
            <a:off x="1139350" y="7922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32"/>
          <p:cNvSpPr/>
          <p:nvPr/>
        </p:nvSpPr>
        <p:spPr>
          <a:xfrm>
            <a:off x="6745000" y="8084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32"/>
          <p:cNvSpPr txBox="1"/>
          <p:nvPr/>
        </p:nvSpPr>
        <p:spPr>
          <a:xfrm>
            <a:off x="528700" y="2150250"/>
            <a:ext cx="2397900" cy="21312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31" name="Google Shape;31;p32"/>
          <p:cNvSpPr txBox="1"/>
          <p:nvPr/>
        </p:nvSpPr>
        <p:spPr>
          <a:xfrm>
            <a:off x="6134350" y="2150250"/>
            <a:ext cx="2397900" cy="21216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32" name="Google Shape;32;p32"/>
          <p:cNvSpPr txBox="1"/>
          <p:nvPr>
            <p:ph type="title"/>
          </p:nvPr>
        </p:nvSpPr>
        <p:spPr>
          <a:xfrm>
            <a:off x="1271800" y="1159375"/>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33" name="Google Shape;33;p32"/>
          <p:cNvSpPr txBox="1"/>
          <p:nvPr>
            <p:ph idx="2" type="title"/>
          </p:nvPr>
        </p:nvSpPr>
        <p:spPr>
          <a:xfrm>
            <a:off x="3938175" y="1159375"/>
            <a:ext cx="109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400"/>
              <a:buFont typeface="Montserrat"/>
              <a:buNone/>
              <a:defRPr b="1" sz="1400">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34" name="Google Shape;34;p32"/>
          <p:cNvSpPr txBox="1"/>
          <p:nvPr>
            <p:ph idx="3" type="title"/>
          </p:nvPr>
        </p:nvSpPr>
        <p:spPr>
          <a:xfrm>
            <a:off x="6877450" y="1159388"/>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35" name="Google Shape;35;p32"/>
          <p:cNvSpPr txBox="1"/>
          <p:nvPr>
            <p:ph idx="4" type="title"/>
          </p:nvPr>
        </p:nvSpPr>
        <p:spPr>
          <a:xfrm>
            <a:off x="532575" y="2150850"/>
            <a:ext cx="2397900" cy="2112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6" name="Google Shape;36;p32"/>
          <p:cNvSpPr txBox="1"/>
          <p:nvPr>
            <p:ph idx="5" type="title"/>
          </p:nvPr>
        </p:nvSpPr>
        <p:spPr>
          <a:xfrm>
            <a:off x="6130475" y="2159925"/>
            <a:ext cx="2397900" cy="2112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7" name="Google Shape;37;p32"/>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8" name="Google Shape;38;p32"/>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39" name="Google Shape;39;p32"/>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sp>
        <p:nvSpPr>
          <p:cNvPr id="40" name="Google Shape;40;p32"/>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41" name="Google Shape;41;p32"/>
          <p:cNvSpPr txBox="1"/>
          <p:nvPr>
            <p:ph idx="6" type="title"/>
          </p:nvPr>
        </p:nvSpPr>
        <p:spPr>
          <a:xfrm>
            <a:off x="3331525" y="2159925"/>
            <a:ext cx="2397900" cy="2121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42" name="Google Shape;42;p32"/>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epto destacado y explicación">
  <p:cSld name="TITLE_1">
    <p:spTree>
      <p:nvGrpSpPr>
        <p:cNvPr id="43" name="Shape 43"/>
        <p:cNvGrpSpPr/>
        <p:nvPr/>
      </p:nvGrpSpPr>
      <p:grpSpPr>
        <a:xfrm>
          <a:off x="0" y="0"/>
          <a:ext cx="0" cy="0"/>
          <a:chOff x="0" y="0"/>
          <a:chExt cx="0" cy="0"/>
        </a:xfrm>
      </p:grpSpPr>
      <p:sp>
        <p:nvSpPr>
          <p:cNvPr id="44" name="Google Shape;44;p33"/>
          <p:cNvSpPr/>
          <p:nvPr/>
        </p:nvSpPr>
        <p:spPr>
          <a:xfrm>
            <a:off x="-27250" y="-18175"/>
            <a:ext cx="91713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33"/>
          <p:cNvSpPr txBox="1"/>
          <p:nvPr>
            <p:ph type="ctrTitle"/>
          </p:nvPr>
        </p:nvSpPr>
        <p:spPr>
          <a:xfrm>
            <a:off x="550375" y="7600"/>
            <a:ext cx="8043300" cy="1570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lt1"/>
              </a:buClr>
              <a:buSzPts val="4000"/>
              <a:buFont typeface="Montserrat"/>
              <a:buNone/>
              <a:defRPr b="1" sz="4000">
                <a:solidFill>
                  <a:schemeClr val="lt1"/>
                </a:solidFill>
                <a:latin typeface="Montserrat"/>
                <a:ea typeface="Montserrat"/>
                <a:cs typeface="Montserrat"/>
                <a:sym typeface="Montserrat"/>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46" name="Google Shape;46;p33"/>
          <p:cNvSpPr txBox="1"/>
          <p:nvPr>
            <p:ph idx="1" type="subTitle"/>
          </p:nvPr>
        </p:nvSpPr>
        <p:spPr>
          <a:xfrm>
            <a:off x="550375" y="1614925"/>
            <a:ext cx="8043300" cy="2649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700"/>
              <a:buFont typeface="Montserrat Medium"/>
              <a:buNone/>
              <a:defRPr sz="1700">
                <a:latin typeface="Montserrat Medium"/>
                <a:ea typeface="Montserrat Medium"/>
                <a:cs typeface="Montserrat Medium"/>
                <a:sym typeface="Montserrat Medium"/>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47" name="Google Shape;47;p33"/>
          <p:cNvPicPr preferRelativeResize="0"/>
          <p:nvPr/>
        </p:nvPicPr>
        <p:blipFill rotWithShape="1">
          <a:blip r:embed="rId2">
            <a:alphaModFix/>
          </a:blip>
          <a:srcRect b="0" l="0" r="0" t="0"/>
          <a:stretch/>
        </p:blipFill>
        <p:spPr>
          <a:xfrm>
            <a:off x="7910675" y="4073939"/>
            <a:ext cx="1365875" cy="1365875"/>
          </a:xfrm>
          <a:prstGeom prst="rect">
            <a:avLst/>
          </a:prstGeom>
          <a:noFill/>
          <a:ln>
            <a:noFill/>
          </a:ln>
        </p:spPr>
      </p:pic>
      <p:pic>
        <p:nvPicPr>
          <p:cNvPr id="48" name="Google Shape;48;p33"/>
          <p:cNvPicPr preferRelativeResize="0"/>
          <p:nvPr/>
        </p:nvPicPr>
        <p:blipFill rotWithShape="1">
          <a:blip r:embed="rId3">
            <a:alphaModFix/>
          </a:blip>
          <a:srcRect b="0" l="0" r="0" t="0"/>
          <a:stretch/>
        </p:blipFill>
        <p:spPr>
          <a:xfrm>
            <a:off x="8155184" y="33947"/>
            <a:ext cx="876879" cy="399275"/>
          </a:xfrm>
          <a:prstGeom prst="rect">
            <a:avLst/>
          </a:prstGeom>
          <a:noFill/>
          <a:ln>
            <a:noFill/>
          </a:ln>
        </p:spPr>
      </p:pic>
      <p:pic>
        <p:nvPicPr>
          <p:cNvPr id="49" name="Google Shape;49;p33"/>
          <p:cNvPicPr preferRelativeResize="0"/>
          <p:nvPr/>
        </p:nvPicPr>
        <p:blipFill rotWithShape="1">
          <a:blip r:embed="rId4">
            <a:alphaModFix/>
          </a:blip>
          <a:srcRect b="0" l="0" r="0" t="0"/>
          <a:stretch/>
        </p:blipFill>
        <p:spPr>
          <a:xfrm>
            <a:off x="0" y="4264238"/>
            <a:ext cx="1163080" cy="792599"/>
          </a:xfrm>
          <a:prstGeom prst="rect">
            <a:avLst/>
          </a:prstGeom>
          <a:noFill/>
          <a:ln>
            <a:noFill/>
          </a:ln>
        </p:spPr>
      </p:pic>
    </p:spTree>
  </p:cSld>
  <p:clrMapOvr>
    <a:masterClrMapping/>
  </p:clrMapOvr>
  <p:extLst>
    <p:ext uri="{DCECCB84-F9BA-43D5-87BE-67443E8EF086}">
      <p15:sldGuideLst>
        <p15:guide id="1" pos="5413">
          <p15:clr>
            <a:srgbClr val="FA7B17"/>
          </p15:clr>
        </p15:guide>
        <p15:guide id="2" pos="347">
          <p15:clr>
            <a:srgbClr val="FA7B17"/>
          </p15:clr>
        </p15:guide>
        <p15:guide id="3" orient="horz" pos="2778">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0" name="Shape 50"/>
        <p:cNvGrpSpPr/>
        <p:nvPr/>
      </p:nvGrpSpPr>
      <p:grpSpPr>
        <a:xfrm>
          <a:off x="0" y="0"/>
          <a:ext cx="0" cy="0"/>
          <a:chOff x="0" y="0"/>
          <a:chExt cx="0" cy="0"/>
        </a:xfrm>
      </p:grpSpPr>
      <p:sp>
        <p:nvSpPr>
          <p:cNvPr id="51" name="Google Shape;51;p34"/>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700"/>
              <a:buFont typeface="Montserrat Medium"/>
              <a:buNone/>
              <a:defRPr sz="2700">
                <a:latin typeface="Montserrat Medium"/>
                <a:ea typeface="Montserrat Medium"/>
                <a:cs typeface="Montserrat Medium"/>
                <a:sym typeface="Montserrat Medium"/>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2" name="Google Shape;52;p34"/>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Font typeface="Montserrat"/>
              <a:buChar char="●"/>
              <a:defRPr>
                <a:latin typeface="Montserrat"/>
                <a:ea typeface="Montserrat"/>
                <a:cs typeface="Montserrat"/>
                <a:sym typeface="Montserrat"/>
              </a:defRPr>
            </a:lvl1pPr>
            <a:lvl2pPr indent="-317500" lvl="1" marL="914400" algn="l">
              <a:lnSpc>
                <a:spcPct val="115000"/>
              </a:lnSpc>
              <a:spcBef>
                <a:spcPts val="0"/>
              </a:spcBef>
              <a:spcAft>
                <a:spcPts val="0"/>
              </a:spcAft>
              <a:buSzPts val="1400"/>
              <a:buFont typeface="Montserrat"/>
              <a:buChar char="○"/>
              <a:defRPr>
                <a:latin typeface="Montserrat"/>
                <a:ea typeface="Montserrat"/>
                <a:cs typeface="Montserrat"/>
                <a:sym typeface="Montserrat"/>
              </a:defRPr>
            </a:lvl2pPr>
            <a:lvl3pPr indent="-317500" lvl="2" marL="1371600" algn="l">
              <a:lnSpc>
                <a:spcPct val="115000"/>
              </a:lnSpc>
              <a:spcBef>
                <a:spcPts val="0"/>
              </a:spcBef>
              <a:spcAft>
                <a:spcPts val="0"/>
              </a:spcAft>
              <a:buSzPts val="1400"/>
              <a:buFont typeface="Montserrat"/>
              <a:buChar char="■"/>
              <a:defRPr>
                <a:latin typeface="Montserrat"/>
                <a:ea typeface="Montserrat"/>
                <a:cs typeface="Montserrat"/>
                <a:sym typeface="Montserrat"/>
              </a:defRPr>
            </a:lvl3pPr>
            <a:lvl4pPr indent="-317500" lvl="3" marL="1828800" algn="l">
              <a:lnSpc>
                <a:spcPct val="115000"/>
              </a:lnSpc>
              <a:spcBef>
                <a:spcPts val="0"/>
              </a:spcBef>
              <a:spcAft>
                <a:spcPts val="0"/>
              </a:spcAft>
              <a:buSzPts val="1400"/>
              <a:buFont typeface="Montserrat"/>
              <a:buChar char="●"/>
              <a:defRPr>
                <a:latin typeface="Montserrat"/>
                <a:ea typeface="Montserrat"/>
                <a:cs typeface="Montserrat"/>
                <a:sym typeface="Montserrat"/>
              </a:defRPr>
            </a:lvl4pPr>
            <a:lvl5pPr indent="-317500" lvl="4" marL="2286000" algn="l">
              <a:lnSpc>
                <a:spcPct val="115000"/>
              </a:lnSpc>
              <a:spcBef>
                <a:spcPts val="0"/>
              </a:spcBef>
              <a:spcAft>
                <a:spcPts val="0"/>
              </a:spcAft>
              <a:buSzPts val="1400"/>
              <a:buFont typeface="Montserrat"/>
              <a:buChar char="○"/>
              <a:defRPr>
                <a:latin typeface="Montserrat"/>
                <a:ea typeface="Montserrat"/>
                <a:cs typeface="Montserrat"/>
                <a:sym typeface="Montserrat"/>
              </a:defRPr>
            </a:lvl5pPr>
            <a:lvl6pPr indent="-317500" lvl="5" marL="2743200" algn="l">
              <a:lnSpc>
                <a:spcPct val="115000"/>
              </a:lnSpc>
              <a:spcBef>
                <a:spcPts val="0"/>
              </a:spcBef>
              <a:spcAft>
                <a:spcPts val="0"/>
              </a:spcAft>
              <a:buSzPts val="1400"/>
              <a:buFont typeface="Montserrat"/>
              <a:buChar char="■"/>
              <a:defRPr>
                <a:latin typeface="Montserrat"/>
                <a:ea typeface="Montserrat"/>
                <a:cs typeface="Montserrat"/>
                <a:sym typeface="Montserrat"/>
              </a:defRPr>
            </a:lvl6pPr>
            <a:lvl7pPr indent="-317500" lvl="6" marL="3200400" algn="l">
              <a:lnSpc>
                <a:spcPct val="115000"/>
              </a:lnSpc>
              <a:spcBef>
                <a:spcPts val="0"/>
              </a:spcBef>
              <a:spcAft>
                <a:spcPts val="0"/>
              </a:spcAft>
              <a:buSzPts val="1400"/>
              <a:buFont typeface="Montserrat"/>
              <a:buChar char="●"/>
              <a:defRPr>
                <a:latin typeface="Montserrat"/>
                <a:ea typeface="Montserrat"/>
                <a:cs typeface="Montserrat"/>
                <a:sym typeface="Montserrat"/>
              </a:defRPr>
            </a:lvl7pPr>
            <a:lvl8pPr indent="-317500" lvl="7" marL="3657600" algn="l">
              <a:lnSpc>
                <a:spcPct val="115000"/>
              </a:lnSpc>
              <a:spcBef>
                <a:spcPts val="0"/>
              </a:spcBef>
              <a:spcAft>
                <a:spcPts val="0"/>
              </a:spcAft>
              <a:buSzPts val="1400"/>
              <a:buFont typeface="Montserrat"/>
              <a:buChar char="○"/>
              <a:defRPr>
                <a:latin typeface="Montserrat"/>
                <a:ea typeface="Montserrat"/>
                <a:cs typeface="Montserrat"/>
                <a:sym typeface="Montserrat"/>
              </a:defRPr>
            </a:lvl8pPr>
            <a:lvl9pPr indent="-317500" lvl="8" marL="4114800" algn="l">
              <a:lnSpc>
                <a:spcPct val="115000"/>
              </a:lnSpc>
              <a:spcBef>
                <a:spcPts val="0"/>
              </a:spcBef>
              <a:spcAft>
                <a:spcPts val="0"/>
              </a:spcAft>
              <a:buSzPts val="1400"/>
              <a:buFont typeface="Montserrat"/>
              <a:buChar char="■"/>
              <a:defRPr>
                <a:latin typeface="Montserrat"/>
                <a:ea typeface="Montserrat"/>
                <a:cs typeface="Montserrat"/>
                <a:sym typeface="Montserrat"/>
              </a:defRPr>
            </a:lvl9pPr>
          </a:lstStyle>
          <a:p/>
        </p:txBody>
      </p:sp>
      <p:pic>
        <p:nvPicPr>
          <p:cNvPr id="53" name="Google Shape;53;p34"/>
          <p:cNvPicPr preferRelativeResize="0"/>
          <p:nvPr/>
        </p:nvPicPr>
        <p:blipFill rotWithShape="1">
          <a:blip r:embed="rId2">
            <a:alphaModFix/>
          </a:blip>
          <a:srcRect b="0" l="0" r="0" t="0"/>
          <a:stretch/>
        </p:blipFill>
        <p:spPr>
          <a:xfrm>
            <a:off x="8078975" y="4699100"/>
            <a:ext cx="558475" cy="300725"/>
          </a:xfrm>
          <a:prstGeom prst="rect">
            <a:avLst/>
          </a:prstGeom>
          <a:noFill/>
          <a:ln>
            <a:noFill/>
          </a:ln>
        </p:spPr>
      </p:pic>
      <p:sp>
        <p:nvSpPr>
          <p:cNvPr id="54" name="Google Shape;54;p34"/>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5" name="Google Shape;55;p34"/>
          <p:cNvPicPr preferRelativeResize="0"/>
          <p:nvPr/>
        </p:nvPicPr>
        <p:blipFill rotWithShape="1">
          <a:blip r:embed="rId3">
            <a:alphaModFix/>
          </a:blip>
          <a:srcRect b="0" l="0" r="0" t="0"/>
          <a:stretch/>
        </p:blipFill>
        <p:spPr>
          <a:xfrm>
            <a:off x="8155184" y="33947"/>
            <a:ext cx="876879" cy="399275"/>
          </a:xfrm>
          <a:prstGeom prst="rect">
            <a:avLst/>
          </a:prstGeom>
          <a:noFill/>
          <a:ln>
            <a:noFill/>
          </a:ln>
        </p:spPr>
      </p:pic>
      <p:pic>
        <p:nvPicPr>
          <p:cNvPr id="56" name="Google Shape;56;p34"/>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72">
          <p15:clr>
            <a:srgbClr val="FA7B17"/>
          </p15:clr>
        </p15:guide>
        <p15:guide id="2" pos="5488">
          <p15:clr>
            <a:srgbClr val="FA7B17"/>
          </p15:clr>
        </p15:guide>
        <p15:guide id="3" orient="horz" pos="2960">
          <p15:clr>
            <a:srgbClr val="FA7B17"/>
          </p15:clr>
        </p15:guide>
        <p15:guide id="4" orient="horz" pos="3149">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portante o recordatorio" type="blank">
  <p:cSld name="BLANK">
    <p:spTree>
      <p:nvGrpSpPr>
        <p:cNvPr id="57" name="Shape 57"/>
        <p:cNvGrpSpPr/>
        <p:nvPr/>
      </p:nvGrpSpPr>
      <p:grpSpPr>
        <a:xfrm>
          <a:off x="0" y="0"/>
          <a:ext cx="0" cy="0"/>
          <a:chOff x="0" y="0"/>
          <a:chExt cx="0" cy="0"/>
        </a:xfrm>
      </p:grpSpPr>
      <p:sp>
        <p:nvSpPr>
          <p:cNvPr id="58" name="Google Shape;58;p35"/>
          <p:cNvSpPr/>
          <p:nvPr/>
        </p:nvSpPr>
        <p:spPr>
          <a:xfrm>
            <a:off x="-13650" y="-577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9" name="Google Shape;59;p35"/>
          <p:cNvPicPr preferRelativeResize="0"/>
          <p:nvPr/>
        </p:nvPicPr>
        <p:blipFill rotWithShape="1">
          <a:blip r:embed="rId2">
            <a:alphaModFix/>
          </a:blip>
          <a:srcRect b="0" l="0" r="0" t="0"/>
          <a:stretch/>
        </p:blipFill>
        <p:spPr>
          <a:xfrm>
            <a:off x="7910675" y="-260761"/>
            <a:ext cx="1365875" cy="1365875"/>
          </a:xfrm>
          <a:prstGeom prst="rect">
            <a:avLst/>
          </a:prstGeom>
          <a:noFill/>
          <a:ln>
            <a:noFill/>
          </a:ln>
        </p:spPr>
      </p:pic>
      <p:pic>
        <p:nvPicPr>
          <p:cNvPr id="60" name="Google Shape;60;p35"/>
          <p:cNvPicPr preferRelativeResize="0"/>
          <p:nvPr/>
        </p:nvPicPr>
        <p:blipFill rotWithShape="1">
          <a:blip r:embed="rId3">
            <a:alphaModFix/>
          </a:blip>
          <a:srcRect b="0" l="0" r="0" t="0"/>
          <a:stretch/>
        </p:blipFill>
        <p:spPr>
          <a:xfrm>
            <a:off x="0" y="5738"/>
            <a:ext cx="1163080" cy="792599"/>
          </a:xfrm>
          <a:prstGeom prst="rect">
            <a:avLst/>
          </a:prstGeom>
          <a:noFill/>
          <a:ln>
            <a:noFill/>
          </a:ln>
        </p:spPr>
      </p:pic>
      <p:pic>
        <p:nvPicPr>
          <p:cNvPr id="61" name="Google Shape;61;p35"/>
          <p:cNvPicPr preferRelativeResize="0"/>
          <p:nvPr/>
        </p:nvPicPr>
        <p:blipFill rotWithShape="1">
          <a:blip r:embed="rId4">
            <a:alphaModFix/>
          </a:blip>
          <a:srcRect b="0" l="0" r="0" t="0"/>
          <a:stretch/>
        </p:blipFill>
        <p:spPr>
          <a:xfrm>
            <a:off x="4026135" y="164938"/>
            <a:ext cx="1091725" cy="497100"/>
          </a:xfrm>
          <a:prstGeom prst="rect">
            <a:avLst/>
          </a:prstGeom>
          <a:noFill/>
          <a:ln>
            <a:noFill/>
          </a:ln>
        </p:spPr>
      </p:pic>
      <p:sp>
        <p:nvSpPr>
          <p:cNvPr id="62" name="Google Shape;62;p35"/>
          <p:cNvSpPr txBox="1"/>
          <p:nvPr>
            <p:ph type="title"/>
          </p:nvPr>
        </p:nvSpPr>
        <p:spPr>
          <a:xfrm>
            <a:off x="490250" y="1135950"/>
            <a:ext cx="8097300" cy="36237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333333"/>
              </a:buClr>
              <a:buSzPts val="3700"/>
              <a:buFont typeface="Montserrat"/>
              <a:buNone/>
              <a:defRPr b="1" sz="3700">
                <a:solidFill>
                  <a:srgbClr val="333333"/>
                </a:solidFill>
                <a:latin typeface="Montserrat"/>
                <a:ea typeface="Montserrat"/>
                <a:cs typeface="Montserrat"/>
                <a:sym typeface="Montserrat"/>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3" name="Shape 63"/>
        <p:cNvGrpSpPr/>
        <p:nvPr/>
      </p:nvGrpSpPr>
      <p:grpSpPr>
        <a:xfrm>
          <a:off x="0" y="0"/>
          <a:ext cx="0" cy="0"/>
          <a:chOff x="0" y="0"/>
          <a:chExt cx="0" cy="0"/>
        </a:xfrm>
      </p:grpSpPr>
      <p:sp>
        <p:nvSpPr>
          <p:cNvPr id="64" name="Google Shape;64;p36"/>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36"/>
          <p:cNvSpPr txBox="1"/>
          <p:nvPr>
            <p:ph type="title"/>
          </p:nvPr>
        </p:nvSpPr>
        <p:spPr>
          <a:xfrm>
            <a:off x="311700" y="5974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Font typeface="Montserrat Medium"/>
              <a:buNone/>
              <a:defRPr>
                <a:latin typeface="Montserrat Medium"/>
                <a:ea typeface="Montserrat Medium"/>
                <a:cs typeface="Montserrat Medium"/>
                <a:sym typeface="Montserrat Medium"/>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6" name="Google Shape;66;p3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Font typeface="Montserrat"/>
              <a:buChar char="●"/>
              <a:defRPr sz="1400">
                <a:latin typeface="Montserrat"/>
                <a:ea typeface="Montserrat"/>
                <a:cs typeface="Montserrat"/>
                <a:sym typeface="Montserrat"/>
              </a:defRPr>
            </a:lvl1pPr>
            <a:lvl2pPr indent="-304800" lvl="1" marL="914400" algn="l">
              <a:lnSpc>
                <a:spcPct val="115000"/>
              </a:lnSpc>
              <a:spcBef>
                <a:spcPts val="0"/>
              </a:spcBef>
              <a:spcAft>
                <a:spcPts val="0"/>
              </a:spcAft>
              <a:buSzPts val="1200"/>
              <a:buFont typeface="Montserrat"/>
              <a:buChar char="○"/>
              <a:defRPr sz="1200">
                <a:latin typeface="Montserrat"/>
                <a:ea typeface="Montserrat"/>
                <a:cs typeface="Montserrat"/>
                <a:sym typeface="Montserrat"/>
              </a:defRPr>
            </a:lvl2pPr>
            <a:lvl3pPr indent="-304800" lvl="2" marL="1371600" algn="l">
              <a:lnSpc>
                <a:spcPct val="115000"/>
              </a:lnSpc>
              <a:spcBef>
                <a:spcPts val="0"/>
              </a:spcBef>
              <a:spcAft>
                <a:spcPts val="0"/>
              </a:spcAft>
              <a:buSzPts val="1200"/>
              <a:buFont typeface="Montserrat"/>
              <a:buChar char="■"/>
              <a:defRPr sz="1200">
                <a:latin typeface="Montserrat"/>
                <a:ea typeface="Montserrat"/>
                <a:cs typeface="Montserrat"/>
                <a:sym typeface="Montserrat"/>
              </a:defRPr>
            </a:lvl3pPr>
            <a:lvl4pPr indent="-304800" lvl="3" marL="1828800" algn="l">
              <a:lnSpc>
                <a:spcPct val="115000"/>
              </a:lnSpc>
              <a:spcBef>
                <a:spcPts val="0"/>
              </a:spcBef>
              <a:spcAft>
                <a:spcPts val="0"/>
              </a:spcAft>
              <a:buSzPts val="1200"/>
              <a:buFont typeface="Montserrat"/>
              <a:buChar char="●"/>
              <a:defRPr sz="1200">
                <a:latin typeface="Montserrat"/>
                <a:ea typeface="Montserrat"/>
                <a:cs typeface="Montserrat"/>
                <a:sym typeface="Montserrat"/>
              </a:defRPr>
            </a:lvl4pPr>
            <a:lvl5pPr indent="-304800" lvl="4" marL="2286000" algn="l">
              <a:lnSpc>
                <a:spcPct val="115000"/>
              </a:lnSpc>
              <a:spcBef>
                <a:spcPts val="0"/>
              </a:spcBef>
              <a:spcAft>
                <a:spcPts val="0"/>
              </a:spcAft>
              <a:buSzPts val="1200"/>
              <a:buFont typeface="Montserrat"/>
              <a:buChar char="○"/>
              <a:defRPr sz="1200">
                <a:latin typeface="Montserrat"/>
                <a:ea typeface="Montserrat"/>
                <a:cs typeface="Montserrat"/>
                <a:sym typeface="Montserrat"/>
              </a:defRPr>
            </a:lvl5pPr>
            <a:lvl6pPr indent="-304800" lvl="5" marL="2743200" algn="l">
              <a:lnSpc>
                <a:spcPct val="115000"/>
              </a:lnSpc>
              <a:spcBef>
                <a:spcPts val="0"/>
              </a:spcBef>
              <a:spcAft>
                <a:spcPts val="0"/>
              </a:spcAft>
              <a:buSzPts val="1200"/>
              <a:buFont typeface="Montserrat"/>
              <a:buChar char="■"/>
              <a:defRPr sz="1200">
                <a:latin typeface="Montserrat"/>
                <a:ea typeface="Montserrat"/>
                <a:cs typeface="Montserrat"/>
                <a:sym typeface="Montserrat"/>
              </a:defRPr>
            </a:lvl6pPr>
            <a:lvl7pPr indent="-304800" lvl="6" marL="3200400" algn="l">
              <a:lnSpc>
                <a:spcPct val="115000"/>
              </a:lnSpc>
              <a:spcBef>
                <a:spcPts val="0"/>
              </a:spcBef>
              <a:spcAft>
                <a:spcPts val="0"/>
              </a:spcAft>
              <a:buSzPts val="1200"/>
              <a:buFont typeface="Montserrat"/>
              <a:buChar char="●"/>
              <a:defRPr sz="1200">
                <a:latin typeface="Montserrat"/>
                <a:ea typeface="Montserrat"/>
                <a:cs typeface="Montserrat"/>
                <a:sym typeface="Montserrat"/>
              </a:defRPr>
            </a:lvl7pPr>
            <a:lvl8pPr indent="-304800" lvl="7" marL="3657600" algn="l">
              <a:lnSpc>
                <a:spcPct val="115000"/>
              </a:lnSpc>
              <a:spcBef>
                <a:spcPts val="0"/>
              </a:spcBef>
              <a:spcAft>
                <a:spcPts val="0"/>
              </a:spcAft>
              <a:buSzPts val="1200"/>
              <a:buFont typeface="Montserrat"/>
              <a:buChar char="○"/>
              <a:defRPr sz="1200">
                <a:latin typeface="Montserrat"/>
                <a:ea typeface="Montserrat"/>
                <a:cs typeface="Montserrat"/>
                <a:sym typeface="Montserrat"/>
              </a:defRPr>
            </a:lvl8pPr>
            <a:lvl9pPr indent="-304800" lvl="8" marL="4114800" algn="l">
              <a:lnSpc>
                <a:spcPct val="115000"/>
              </a:lnSpc>
              <a:spcBef>
                <a:spcPts val="0"/>
              </a:spcBef>
              <a:spcAft>
                <a:spcPts val="0"/>
              </a:spcAft>
              <a:buSzPts val="1200"/>
              <a:buFont typeface="Montserrat"/>
              <a:buChar char="■"/>
              <a:defRPr sz="1200">
                <a:latin typeface="Montserrat"/>
                <a:ea typeface="Montserrat"/>
                <a:cs typeface="Montserrat"/>
                <a:sym typeface="Montserrat"/>
              </a:defRPr>
            </a:lvl9pPr>
          </a:lstStyle>
          <a:p/>
        </p:txBody>
      </p:sp>
      <p:sp>
        <p:nvSpPr>
          <p:cNvPr id="67" name="Google Shape;67;p3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Font typeface="Montserrat"/>
              <a:buChar char="●"/>
              <a:defRPr sz="1400">
                <a:latin typeface="Montserrat"/>
                <a:ea typeface="Montserrat"/>
                <a:cs typeface="Montserrat"/>
                <a:sym typeface="Montserrat"/>
              </a:defRPr>
            </a:lvl1pPr>
            <a:lvl2pPr indent="-304800" lvl="1" marL="914400" algn="l">
              <a:lnSpc>
                <a:spcPct val="115000"/>
              </a:lnSpc>
              <a:spcBef>
                <a:spcPts val="0"/>
              </a:spcBef>
              <a:spcAft>
                <a:spcPts val="0"/>
              </a:spcAft>
              <a:buSzPts val="1200"/>
              <a:buFont typeface="Montserrat"/>
              <a:buChar char="○"/>
              <a:defRPr sz="1200">
                <a:latin typeface="Montserrat"/>
                <a:ea typeface="Montserrat"/>
                <a:cs typeface="Montserrat"/>
                <a:sym typeface="Montserrat"/>
              </a:defRPr>
            </a:lvl2pPr>
            <a:lvl3pPr indent="-304800" lvl="2" marL="1371600" algn="l">
              <a:lnSpc>
                <a:spcPct val="115000"/>
              </a:lnSpc>
              <a:spcBef>
                <a:spcPts val="0"/>
              </a:spcBef>
              <a:spcAft>
                <a:spcPts val="0"/>
              </a:spcAft>
              <a:buSzPts val="1200"/>
              <a:buFont typeface="Montserrat"/>
              <a:buChar char="■"/>
              <a:defRPr sz="1200">
                <a:latin typeface="Montserrat"/>
                <a:ea typeface="Montserrat"/>
                <a:cs typeface="Montserrat"/>
                <a:sym typeface="Montserrat"/>
              </a:defRPr>
            </a:lvl3pPr>
            <a:lvl4pPr indent="-304800" lvl="3" marL="1828800" algn="l">
              <a:lnSpc>
                <a:spcPct val="115000"/>
              </a:lnSpc>
              <a:spcBef>
                <a:spcPts val="0"/>
              </a:spcBef>
              <a:spcAft>
                <a:spcPts val="0"/>
              </a:spcAft>
              <a:buSzPts val="1200"/>
              <a:buFont typeface="Montserrat"/>
              <a:buChar char="●"/>
              <a:defRPr sz="1200">
                <a:latin typeface="Montserrat"/>
                <a:ea typeface="Montserrat"/>
                <a:cs typeface="Montserrat"/>
                <a:sym typeface="Montserrat"/>
              </a:defRPr>
            </a:lvl4pPr>
            <a:lvl5pPr indent="-304800" lvl="4" marL="2286000" algn="l">
              <a:lnSpc>
                <a:spcPct val="115000"/>
              </a:lnSpc>
              <a:spcBef>
                <a:spcPts val="0"/>
              </a:spcBef>
              <a:spcAft>
                <a:spcPts val="0"/>
              </a:spcAft>
              <a:buSzPts val="1200"/>
              <a:buFont typeface="Montserrat"/>
              <a:buChar char="○"/>
              <a:defRPr sz="1200">
                <a:latin typeface="Montserrat"/>
                <a:ea typeface="Montserrat"/>
                <a:cs typeface="Montserrat"/>
                <a:sym typeface="Montserrat"/>
              </a:defRPr>
            </a:lvl5pPr>
            <a:lvl6pPr indent="-304800" lvl="5" marL="2743200" algn="l">
              <a:lnSpc>
                <a:spcPct val="115000"/>
              </a:lnSpc>
              <a:spcBef>
                <a:spcPts val="0"/>
              </a:spcBef>
              <a:spcAft>
                <a:spcPts val="0"/>
              </a:spcAft>
              <a:buSzPts val="1200"/>
              <a:buFont typeface="Montserrat"/>
              <a:buChar char="■"/>
              <a:defRPr sz="1200">
                <a:latin typeface="Montserrat"/>
                <a:ea typeface="Montserrat"/>
                <a:cs typeface="Montserrat"/>
                <a:sym typeface="Montserrat"/>
              </a:defRPr>
            </a:lvl6pPr>
            <a:lvl7pPr indent="-304800" lvl="6" marL="3200400" algn="l">
              <a:lnSpc>
                <a:spcPct val="115000"/>
              </a:lnSpc>
              <a:spcBef>
                <a:spcPts val="0"/>
              </a:spcBef>
              <a:spcAft>
                <a:spcPts val="0"/>
              </a:spcAft>
              <a:buSzPts val="1200"/>
              <a:buFont typeface="Montserrat"/>
              <a:buChar char="●"/>
              <a:defRPr sz="1200">
                <a:latin typeface="Montserrat"/>
                <a:ea typeface="Montserrat"/>
                <a:cs typeface="Montserrat"/>
                <a:sym typeface="Montserrat"/>
              </a:defRPr>
            </a:lvl7pPr>
            <a:lvl8pPr indent="-304800" lvl="7" marL="3657600" algn="l">
              <a:lnSpc>
                <a:spcPct val="115000"/>
              </a:lnSpc>
              <a:spcBef>
                <a:spcPts val="0"/>
              </a:spcBef>
              <a:spcAft>
                <a:spcPts val="0"/>
              </a:spcAft>
              <a:buSzPts val="1200"/>
              <a:buFont typeface="Montserrat"/>
              <a:buChar char="○"/>
              <a:defRPr sz="1200">
                <a:latin typeface="Montserrat"/>
                <a:ea typeface="Montserrat"/>
                <a:cs typeface="Montserrat"/>
                <a:sym typeface="Montserrat"/>
              </a:defRPr>
            </a:lvl8pPr>
            <a:lvl9pPr indent="-304800" lvl="8" marL="4114800" algn="l">
              <a:lnSpc>
                <a:spcPct val="115000"/>
              </a:lnSpc>
              <a:spcBef>
                <a:spcPts val="0"/>
              </a:spcBef>
              <a:spcAft>
                <a:spcPts val="0"/>
              </a:spcAft>
              <a:buSzPts val="1200"/>
              <a:buFont typeface="Montserrat"/>
              <a:buChar char="■"/>
              <a:defRPr sz="1200">
                <a:latin typeface="Montserrat"/>
                <a:ea typeface="Montserrat"/>
                <a:cs typeface="Montserrat"/>
                <a:sym typeface="Montserrat"/>
              </a:defRPr>
            </a:lvl9pPr>
          </a:lstStyle>
          <a:p/>
        </p:txBody>
      </p:sp>
      <p:pic>
        <p:nvPicPr>
          <p:cNvPr id="68" name="Google Shape;68;p36"/>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69" name="Google Shape;69;p36"/>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pic>
        <p:nvPicPr>
          <p:cNvPr id="70" name="Google Shape;70;p36"/>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ágenes o gráficos" type="titleOnly">
  <p:cSld name="TITLE_ONLY">
    <p:spTree>
      <p:nvGrpSpPr>
        <p:cNvPr id="71" name="Shape 71"/>
        <p:cNvGrpSpPr/>
        <p:nvPr/>
      </p:nvGrpSpPr>
      <p:grpSpPr>
        <a:xfrm>
          <a:off x="0" y="0"/>
          <a:ext cx="0" cy="0"/>
          <a:chOff x="0" y="0"/>
          <a:chExt cx="0" cy="0"/>
        </a:xfrm>
      </p:grpSpPr>
      <p:sp>
        <p:nvSpPr>
          <p:cNvPr id="72" name="Google Shape;72;p37"/>
          <p:cNvSpPr txBox="1"/>
          <p:nvPr>
            <p:ph type="title"/>
          </p:nvPr>
        </p:nvSpPr>
        <p:spPr>
          <a:xfrm>
            <a:off x="311700" y="-12175"/>
            <a:ext cx="77490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73" name="Google Shape;73;p37"/>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74" name="Google Shape;74;p37"/>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pic>
        <p:nvPicPr>
          <p:cNvPr id="75" name="Google Shape;75;p37"/>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6" name="Shape 76"/>
        <p:cNvGrpSpPr/>
        <p:nvPr/>
      </p:nvGrpSpPr>
      <p:grpSpPr>
        <a:xfrm>
          <a:off x="0" y="0"/>
          <a:ext cx="0" cy="0"/>
          <a:chOff x="0" y="0"/>
          <a:chExt cx="0" cy="0"/>
        </a:xfrm>
      </p:grpSpPr>
      <p:sp>
        <p:nvSpPr>
          <p:cNvPr id="77" name="Google Shape;77;p38"/>
          <p:cNvSpPr/>
          <p:nvPr/>
        </p:nvSpPr>
        <p:spPr>
          <a:xfrm>
            <a:off x="-27250" y="-18175"/>
            <a:ext cx="91713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38"/>
          <p:cNvSpPr txBox="1"/>
          <p:nvPr>
            <p:ph type="title"/>
          </p:nvPr>
        </p:nvSpPr>
        <p:spPr>
          <a:xfrm>
            <a:off x="490250" y="450150"/>
            <a:ext cx="8061000" cy="37629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414141"/>
              </a:buClr>
              <a:buSzPts val="4000"/>
              <a:buFont typeface="Montserrat"/>
              <a:buNone/>
              <a:defRPr b="1" sz="4000">
                <a:solidFill>
                  <a:srgbClr val="414141"/>
                </a:solidFill>
                <a:latin typeface="Montserrat"/>
                <a:ea typeface="Montserrat"/>
                <a:cs typeface="Montserrat"/>
                <a:sym typeface="Montserrat"/>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79" name="Google Shape;79;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pic>
        <p:nvPicPr>
          <p:cNvPr id="80" name="Google Shape;80;p38"/>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81" name="Google Shape;81;p38"/>
          <p:cNvPicPr preferRelativeResize="0"/>
          <p:nvPr/>
        </p:nvPicPr>
        <p:blipFill rotWithShape="1">
          <a:blip r:embed="rId3">
            <a:alphaModFix/>
          </a:blip>
          <a:srcRect b="0" l="0" r="0" t="0"/>
          <a:stretch/>
        </p:blipFill>
        <p:spPr>
          <a:xfrm>
            <a:off x="7910675" y="4073939"/>
            <a:ext cx="1365875" cy="1365875"/>
          </a:xfrm>
          <a:prstGeom prst="rect">
            <a:avLst/>
          </a:prstGeom>
          <a:noFill/>
          <a:ln>
            <a:noFill/>
          </a:ln>
        </p:spPr>
      </p:pic>
      <p:pic>
        <p:nvPicPr>
          <p:cNvPr id="82" name="Google Shape;82;p38"/>
          <p:cNvPicPr preferRelativeResize="0"/>
          <p:nvPr/>
        </p:nvPicPr>
        <p:blipFill rotWithShape="1">
          <a:blip r:embed="rId4">
            <a:alphaModFix/>
          </a:blip>
          <a:srcRect b="0" l="0" r="0" t="0"/>
          <a:stretch/>
        </p:blipFill>
        <p:spPr>
          <a:xfrm>
            <a:off x="0" y="4264238"/>
            <a:ext cx="1163080" cy="792599"/>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jercicios e imagen">
  <p:cSld name="SECTION_TITLE_AND_DESCRIPTION">
    <p:spTree>
      <p:nvGrpSpPr>
        <p:cNvPr id="83" name="Shape 83"/>
        <p:cNvGrpSpPr/>
        <p:nvPr/>
      </p:nvGrpSpPr>
      <p:grpSpPr>
        <a:xfrm>
          <a:off x="0" y="0"/>
          <a:ext cx="0" cy="0"/>
          <a:chOff x="0" y="0"/>
          <a:chExt cx="0" cy="0"/>
        </a:xfrm>
      </p:grpSpPr>
      <p:sp>
        <p:nvSpPr>
          <p:cNvPr id="84" name="Google Shape;84;p3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39"/>
          <p:cNvSpPr txBox="1"/>
          <p:nvPr>
            <p:ph type="title"/>
          </p:nvPr>
        </p:nvSpPr>
        <p:spPr>
          <a:xfrm>
            <a:off x="265500" y="7759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3800"/>
              <a:buFont typeface="Montserrat"/>
              <a:buNone/>
              <a:defRPr sz="3800">
                <a:latin typeface="Montserrat"/>
                <a:ea typeface="Montserrat"/>
                <a:cs typeface="Montserrat"/>
                <a:sym typeface="Montserrat"/>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6" name="Google Shape;86;p39"/>
          <p:cNvSpPr txBox="1"/>
          <p:nvPr>
            <p:ph idx="1" type="subTitle"/>
          </p:nvPr>
        </p:nvSpPr>
        <p:spPr>
          <a:xfrm>
            <a:off x="265500" y="24982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Montserrat"/>
              <a:buNone/>
              <a:defRPr sz="2100">
                <a:latin typeface="Montserrat"/>
                <a:ea typeface="Montserrat"/>
                <a:cs typeface="Montserrat"/>
                <a:sym typeface="Montserrat"/>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7" name="Google Shape;87;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
        <p:nvSpPr>
          <p:cNvPr id="88" name="Google Shape;88;p39"/>
          <p:cNvSpPr/>
          <p:nvPr/>
        </p:nvSpPr>
        <p:spPr>
          <a:xfrm>
            <a:off x="4572150" y="-18175"/>
            <a:ext cx="45720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9" name="Google Shape;89;p39"/>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90" name="Google Shape;90;p39"/>
          <p:cNvPicPr preferRelativeResize="0"/>
          <p:nvPr/>
        </p:nvPicPr>
        <p:blipFill rotWithShape="1">
          <a:blip r:embed="rId3">
            <a:alphaModFix/>
          </a:blip>
          <a:srcRect b="0" l="0" r="0" t="0"/>
          <a:stretch/>
        </p:blipFill>
        <p:spPr>
          <a:xfrm>
            <a:off x="3506975" y="4699100"/>
            <a:ext cx="558475" cy="300725"/>
          </a:xfrm>
          <a:prstGeom prst="rect">
            <a:avLst/>
          </a:prstGeom>
          <a:noFill/>
          <a:ln>
            <a:noFill/>
          </a:ln>
        </p:spPr>
      </p:pic>
      <p:pic>
        <p:nvPicPr>
          <p:cNvPr id="91" name="Google Shape;91;p39"/>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s">
  <p:cSld name="CAPTION_ONLY">
    <p:spTree>
      <p:nvGrpSpPr>
        <p:cNvPr id="92" name="Shape 92"/>
        <p:cNvGrpSpPr/>
        <p:nvPr/>
      </p:nvGrpSpPr>
      <p:grpSpPr>
        <a:xfrm>
          <a:off x="0" y="0"/>
          <a:ext cx="0" cy="0"/>
          <a:chOff x="0" y="0"/>
          <a:chExt cx="0" cy="0"/>
        </a:xfrm>
      </p:grpSpPr>
      <p:sp>
        <p:nvSpPr>
          <p:cNvPr id="93" name="Google Shape;93;p40"/>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40"/>
          <p:cNvSpPr txBox="1"/>
          <p:nvPr>
            <p:ph idx="1" type="body"/>
          </p:nvPr>
        </p:nvSpPr>
        <p:spPr>
          <a:xfrm>
            <a:off x="433800" y="1715975"/>
            <a:ext cx="8203800" cy="14820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000"/>
              <a:buFont typeface="Montserrat"/>
              <a:buNone/>
              <a:defRPr i="1" sz="2000">
                <a:latin typeface="Montserrat"/>
                <a:ea typeface="Montserrat"/>
                <a:cs typeface="Montserrat"/>
                <a:sym typeface="Montserrat"/>
              </a:defRPr>
            </a:lvl1pPr>
          </a:lstStyle>
          <a:p/>
        </p:txBody>
      </p:sp>
      <p:pic>
        <p:nvPicPr>
          <p:cNvPr id="95" name="Google Shape;95;p40"/>
          <p:cNvPicPr preferRelativeResize="0"/>
          <p:nvPr/>
        </p:nvPicPr>
        <p:blipFill rotWithShape="1">
          <a:blip r:embed="rId2">
            <a:alphaModFix/>
          </a:blip>
          <a:srcRect b="0" l="0" r="0" t="0"/>
          <a:stretch/>
        </p:blipFill>
        <p:spPr>
          <a:xfrm>
            <a:off x="127225" y="906000"/>
            <a:ext cx="1429649" cy="936662"/>
          </a:xfrm>
          <a:prstGeom prst="rect">
            <a:avLst/>
          </a:prstGeom>
          <a:noFill/>
          <a:ln>
            <a:noFill/>
          </a:ln>
        </p:spPr>
      </p:pic>
      <p:pic>
        <p:nvPicPr>
          <p:cNvPr id="96" name="Google Shape;96;p40"/>
          <p:cNvPicPr preferRelativeResize="0"/>
          <p:nvPr/>
        </p:nvPicPr>
        <p:blipFill rotWithShape="1">
          <a:blip r:embed="rId3">
            <a:alphaModFix/>
          </a:blip>
          <a:srcRect b="0" l="0" r="0" t="0"/>
          <a:stretch/>
        </p:blipFill>
        <p:spPr>
          <a:xfrm>
            <a:off x="7632800" y="2758064"/>
            <a:ext cx="1385650" cy="907836"/>
          </a:xfrm>
          <a:prstGeom prst="rect">
            <a:avLst/>
          </a:prstGeom>
          <a:noFill/>
          <a:ln>
            <a:noFill/>
          </a:ln>
        </p:spPr>
      </p:pic>
      <p:sp>
        <p:nvSpPr>
          <p:cNvPr id="97" name="Google Shape;97;p40"/>
          <p:cNvSpPr txBox="1"/>
          <p:nvPr/>
        </p:nvSpPr>
        <p:spPr>
          <a:xfrm>
            <a:off x="432025" y="3792225"/>
            <a:ext cx="8401800" cy="4002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s" sz="1400" u="none" cap="none" strike="noStrike">
                <a:solidFill>
                  <a:schemeClr val="dk1"/>
                </a:solidFill>
                <a:latin typeface="Montserrat"/>
                <a:ea typeface="Montserrat"/>
                <a:cs typeface="Montserrat"/>
                <a:sym typeface="Montserrat"/>
              </a:rPr>
              <a:t>Autor/as/es:</a:t>
            </a:r>
            <a:endParaRPr b="1" i="0" sz="1400" u="none" cap="none" strike="noStrike">
              <a:solidFill>
                <a:schemeClr val="dk1"/>
              </a:solidFill>
              <a:latin typeface="Montserrat"/>
              <a:ea typeface="Montserrat"/>
              <a:cs typeface="Montserrat"/>
              <a:sym typeface="Montserrat"/>
            </a:endParaRPr>
          </a:p>
        </p:txBody>
      </p:sp>
      <p:pic>
        <p:nvPicPr>
          <p:cNvPr id="98" name="Google Shape;98;p40"/>
          <p:cNvPicPr preferRelativeResize="0"/>
          <p:nvPr/>
        </p:nvPicPr>
        <p:blipFill rotWithShape="1">
          <a:blip r:embed="rId4">
            <a:alphaModFix/>
          </a:blip>
          <a:srcRect b="0" l="0" r="0" t="0"/>
          <a:stretch/>
        </p:blipFill>
        <p:spPr>
          <a:xfrm>
            <a:off x="8155184" y="33947"/>
            <a:ext cx="876879" cy="399275"/>
          </a:xfrm>
          <a:prstGeom prst="rect">
            <a:avLst/>
          </a:prstGeom>
          <a:noFill/>
          <a:ln>
            <a:noFill/>
          </a:ln>
        </p:spPr>
      </p:pic>
      <p:pic>
        <p:nvPicPr>
          <p:cNvPr id="99" name="Google Shape;99;p40"/>
          <p:cNvPicPr preferRelativeResize="0"/>
          <p:nvPr/>
        </p:nvPicPr>
        <p:blipFill rotWithShape="1">
          <a:blip r:embed="rId5">
            <a:alphaModFix/>
          </a:blip>
          <a:srcRect b="0" l="0" r="0" t="0"/>
          <a:stretch/>
        </p:blipFill>
        <p:spPr>
          <a:xfrm>
            <a:off x="8078975" y="4699100"/>
            <a:ext cx="558475" cy="300725"/>
          </a:xfrm>
          <a:prstGeom prst="rect">
            <a:avLst/>
          </a:prstGeom>
          <a:noFill/>
          <a:ln>
            <a:noFill/>
          </a:ln>
        </p:spPr>
      </p:pic>
      <p:sp>
        <p:nvSpPr>
          <p:cNvPr id="100" name="Google Shape;100;p40"/>
          <p:cNvSpPr txBox="1"/>
          <p:nvPr>
            <p:ph type="title"/>
          </p:nvPr>
        </p:nvSpPr>
        <p:spPr>
          <a:xfrm>
            <a:off x="1766475" y="3773600"/>
            <a:ext cx="7145100" cy="300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500"/>
              <a:buFont typeface="Montserrat Medium"/>
              <a:buNone/>
              <a:defRPr sz="1500">
                <a:latin typeface="Montserrat Medium"/>
                <a:ea typeface="Montserrat Medium"/>
                <a:cs typeface="Montserrat Medium"/>
                <a:sym typeface="Montserrat Medium"/>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1" name="Google Shape;101;p40"/>
          <p:cNvSpPr txBox="1"/>
          <p:nvPr>
            <p:ph idx="2" type="title"/>
          </p:nvPr>
        </p:nvSpPr>
        <p:spPr>
          <a:xfrm>
            <a:off x="432025" y="83275"/>
            <a:ext cx="7145100" cy="399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500"/>
              <a:buFont typeface="Montserrat SemiBold"/>
              <a:buNone/>
              <a:defRPr sz="1500">
                <a:latin typeface="Montserrat SemiBold"/>
                <a:ea typeface="Montserrat SemiBold"/>
                <a:cs typeface="Montserrat SemiBold"/>
                <a:sym typeface="Montserrat SemiBol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02" name="Google Shape;102;p40"/>
          <p:cNvPicPr preferRelativeResize="0"/>
          <p:nvPr/>
        </p:nvPicPr>
        <p:blipFill rotWithShape="1">
          <a:blip r:embed="rId6">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72">
          <p15:clr>
            <a:srgbClr val="FA7B17"/>
          </p15:clr>
        </p15:guide>
        <p15:guide id="2" pos="5441">
          <p15:clr>
            <a:srgbClr val="FA7B17"/>
          </p15:clr>
        </p15:guide>
        <p15:guide id="3" orient="horz" pos="2551">
          <p15:clr>
            <a:srgbClr val="FA7B17"/>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tarea y consigna">
  <p:cSld name="BIG_NUMBER">
    <p:spTree>
      <p:nvGrpSpPr>
        <p:cNvPr id="103" name="Shape 103"/>
        <p:cNvGrpSpPr/>
        <p:nvPr/>
      </p:nvGrpSpPr>
      <p:grpSpPr>
        <a:xfrm>
          <a:off x="0" y="0"/>
          <a:ext cx="0" cy="0"/>
          <a:chOff x="0" y="0"/>
          <a:chExt cx="0" cy="0"/>
        </a:xfrm>
      </p:grpSpPr>
      <p:sp>
        <p:nvSpPr>
          <p:cNvPr id="104" name="Google Shape;104;p41"/>
          <p:cNvSpPr/>
          <p:nvPr/>
        </p:nvSpPr>
        <p:spPr>
          <a:xfrm>
            <a:off x="-13650" y="432892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pic>
        <p:nvPicPr>
          <p:cNvPr id="106" name="Google Shape;106;p41"/>
          <p:cNvPicPr preferRelativeResize="0"/>
          <p:nvPr/>
        </p:nvPicPr>
        <p:blipFill rotWithShape="1">
          <a:blip r:embed="rId2">
            <a:alphaModFix/>
          </a:blip>
          <a:srcRect b="0" l="0" r="0" t="0"/>
          <a:stretch/>
        </p:blipFill>
        <p:spPr>
          <a:xfrm>
            <a:off x="4026135" y="4508338"/>
            <a:ext cx="1091725" cy="497100"/>
          </a:xfrm>
          <a:prstGeom prst="rect">
            <a:avLst/>
          </a:prstGeom>
          <a:noFill/>
          <a:ln>
            <a:noFill/>
          </a:ln>
        </p:spPr>
      </p:pic>
      <p:pic>
        <p:nvPicPr>
          <p:cNvPr id="107" name="Google Shape;107;p41"/>
          <p:cNvPicPr preferRelativeResize="0"/>
          <p:nvPr/>
        </p:nvPicPr>
        <p:blipFill rotWithShape="1">
          <a:blip r:embed="rId3">
            <a:alphaModFix/>
          </a:blip>
          <a:srcRect b="0" l="0" r="0" t="0"/>
          <a:stretch/>
        </p:blipFill>
        <p:spPr>
          <a:xfrm>
            <a:off x="0" y="4264238"/>
            <a:ext cx="1163080" cy="792599"/>
          </a:xfrm>
          <a:prstGeom prst="rect">
            <a:avLst/>
          </a:prstGeom>
          <a:noFill/>
          <a:ln>
            <a:noFill/>
          </a:ln>
        </p:spPr>
      </p:pic>
      <p:pic>
        <p:nvPicPr>
          <p:cNvPr id="108" name="Google Shape;108;p41"/>
          <p:cNvPicPr preferRelativeResize="0"/>
          <p:nvPr/>
        </p:nvPicPr>
        <p:blipFill rotWithShape="1">
          <a:blip r:embed="rId4">
            <a:alphaModFix/>
          </a:blip>
          <a:srcRect b="0" l="0" r="0" t="0"/>
          <a:stretch/>
        </p:blipFill>
        <p:spPr>
          <a:xfrm>
            <a:off x="7910675" y="4073939"/>
            <a:ext cx="1365875" cy="1365875"/>
          </a:xfrm>
          <a:prstGeom prst="rect">
            <a:avLst/>
          </a:prstGeom>
          <a:noFill/>
          <a:ln>
            <a:noFill/>
          </a:ln>
        </p:spPr>
      </p:pic>
      <p:sp>
        <p:nvSpPr>
          <p:cNvPr id="109" name="Google Shape;109;p41"/>
          <p:cNvSpPr txBox="1"/>
          <p:nvPr>
            <p:ph type="title"/>
          </p:nvPr>
        </p:nvSpPr>
        <p:spPr>
          <a:xfrm>
            <a:off x="432025" y="187325"/>
            <a:ext cx="7982100" cy="4971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600"/>
              <a:buFont typeface="Montserrat Medium"/>
              <a:buNone/>
              <a:defRPr sz="2600">
                <a:latin typeface="Montserrat Medium"/>
                <a:ea typeface="Montserrat Medium"/>
                <a:cs typeface="Montserrat Medium"/>
                <a:sym typeface="Montserrat Medium"/>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10" name="Google Shape;110;p41"/>
          <p:cNvSpPr txBox="1"/>
          <p:nvPr>
            <p:ph idx="1" type="body"/>
          </p:nvPr>
        </p:nvSpPr>
        <p:spPr>
          <a:xfrm>
            <a:off x="432025" y="847675"/>
            <a:ext cx="8280000" cy="3318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Font typeface="Montserrat"/>
              <a:buChar char="●"/>
              <a:defRPr>
                <a:latin typeface="Montserrat"/>
                <a:ea typeface="Montserrat"/>
                <a:cs typeface="Montserrat"/>
                <a:sym typeface="Montserrat"/>
              </a:defRPr>
            </a:lvl1pPr>
            <a:lvl2pPr indent="-317500" lvl="1" marL="914400" algn="l">
              <a:lnSpc>
                <a:spcPct val="115000"/>
              </a:lnSpc>
              <a:spcBef>
                <a:spcPts val="0"/>
              </a:spcBef>
              <a:spcAft>
                <a:spcPts val="0"/>
              </a:spcAft>
              <a:buSzPts val="1400"/>
              <a:buFont typeface="Montserrat"/>
              <a:buChar char="○"/>
              <a:defRPr>
                <a:latin typeface="Montserrat"/>
                <a:ea typeface="Montserrat"/>
                <a:cs typeface="Montserrat"/>
                <a:sym typeface="Montserrat"/>
              </a:defRPr>
            </a:lvl2pPr>
            <a:lvl3pPr indent="-317500" lvl="2" marL="1371600" algn="l">
              <a:lnSpc>
                <a:spcPct val="115000"/>
              </a:lnSpc>
              <a:spcBef>
                <a:spcPts val="0"/>
              </a:spcBef>
              <a:spcAft>
                <a:spcPts val="0"/>
              </a:spcAft>
              <a:buSzPts val="1400"/>
              <a:buFont typeface="Montserrat"/>
              <a:buChar char="■"/>
              <a:defRPr>
                <a:latin typeface="Montserrat"/>
                <a:ea typeface="Montserrat"/>
                <a:cs typeface="Montserrat"/>
                <a:sym typeface="Montserrat"/>
              </a:defRPr>
            </a:lvl3pPr>
            <a:lvl4pPr indent="-317500" lvl="3" marL="1828800" algn="l">
              <a:lnSpc>
                <a:spcPct val="115000"/>
              </a:lnSpc>
              <a:spcBef>
                <a:spcPts val="0"/>
              </a:spcBef>
              <a:spcAft>
                <a:spcPts val="0"/>
              </a:spcAft>
              <a:buSzPts val="1400"/>
              <a:buFont typeface="Montserrat"/>
              <a:buChar char="●"/>
              <a:defRPr>
                <a:latin typeface="Montserrat"/>
                <a:ea typeface="Montserrat"/>
                <a:cs typeface="Montserrat"/>
                <a:sym typeface="Montserrat"/>
              </a:defRPr>
            </a:lvl4pPr>
            <a:lvl5pPr indent="-317500" lvl="4" marL="2286000" algn="l">
              <a:lnSpc>
                <a:spcPct val="115000"/>
              </a:lnSpc>
              <a:spcBef>
                <a:spcPts val="0"/>
              </a:spcBef>
              <a:spcAft>
                <a:spcPts val="0"/>
              </a:spcAft>
              <a:buSzPts val="1400"/>
              <a:buFont typeface="Montserrat"/>
              <a:buChar char="○"/>
              <a:defRPr>
                <a:latin typeface="Montserrat"/>
                <a:ea typeface="Montserrat"/>
                <a:cs typeface="Montserrat"/>
                <a:sym typeface="Montserrat"/>
              </a:defRPr>
            </a:lvl5pPr>
            <a:lvl6pPr indent="-317500" lvl="5" marL="2743200" algn="l">
              <a:lnSpc>
                <a:spcPct val="115000"/>
              </a:lnSpc>
              <a:spcBef>
                <a:spcPts val="0"/>
              </a:spcBef>
              <a:spcAft>
                <a:spcPts val="0"/>
              </a:spcAft>
              <a:buSzPts val="1400"/>
              <a:buFont typeface="Montserrat"/>
              <a:buChar char="■"/>
              <a:defRPr>
                <a:latin typeface="Montserrat"/>
                <a:ea typeface="Montserrat"/>
                <a:cs typeface="Montserrat"/>
                <a:sym typeface="Montserrat"/>
              </a:defRPr>
            </a:lvl6pPr>
            <a:lvl7pPr indent="-317500" lvl="6" marL="3200400" algn="l">
              <a:lnSpc>
                <a:spcPct val="115000"/>
              </a:lnSpc>
              <a:spcBef>
                <a:spcPts val="0"/>
              </a:spcBef>
              <a:spcAft>
                <a:spcPts val="0"/>
              </a:spcAft>
              <a:buSzPts val="1400"/>
              <a:buFont typeface="Montserrat"/>
              <a:buChar char="●"/>
              <a:defRPr>
                <a:latin typeface="Montserrat"/>
                <a:ea typeface="Montserrat"/>
                <a:cs typeface="Montserrat"/>
                <a:sym typeface="Montserrat"/>
              </a:defRPr>
            </a:lvl7pPr>
            <a:lvl8pPr indent="-317500" lvl="7" marL="3657600" algn="l">
              <a:lnSpc>
                <a:spcPct val="115000"/>
              </a:lnSpc>
              <a:spcBef>
                <a:spcPts val="0"/>
              </a:spcBef>
              <a:spcAft>
                <a:spcPts val="0"/>
              </a:spcAft>
              <a:buSzPts val="1400"/>
              <a:buFont typeface="Montserrat"/>
              <a:buChar char="○"/>
              <a:defRPr>
                <a:latin typeface="Montserrat"/>
                <a:ea typeface="Montserrat"/>
                <a:cs typeface="Montserrat"/>
                <a:sym typeface="Montserrat"/>
              </a:defRPr>
            </a:lvl8pPr>
            <a:lvl9pPr indent="-317500" lvl="8" marL="4114800" algn="l">
              <a:lnSpc>
                <a:spcPct val="115000"/>
              </a:lnSpc>
              <a:spcBef>
                <a:spcPts val="0"/>
              </a:spcBef>
              <a:spcAft>
                <a:spcPts val="0"/>
              </a:spcAft>
              <a:buSzPts val="1400"/>
              <a:buFont typeface="Montserrat"/>
              <a:buChar char="■"/>
              <a:defRPr>
                <a:latin typeface="Montserrat"/>
                <a:ea typeface="Montserrat"/>
                <a:cs typeface="Montserrat"/>
                <a:sym typeface="Montserrat"/>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ase 0">
  <p:cSld name="BLANK_1">
    <p:spTree>
      <p:nvGrpSpPr>
        <p:cNvPr id="111" name="Shape 111"/>
        <p:cNvGrpSpPr/>
        <p:nvPr/>
      </p:nvGrpSpPr>
      <p:grpSpPr>
        <a:xfrm>
          <a:off x="0" y="0"/>
          <a:ext cx="0" cy="0"/>
          <a:chOff x="0" y="0"/>
          <a:chExt cx="0" cy="0"/>
        </a:xfrm>
      </p:grpSpPr>
      <p:sp>
        <p:nvSpPr>
          <p:cNvPr id="112" name="Google Shape;112;p42"/>
          <p:cNvSpPr/>
          <p:nvPr/>
        </p:nvSpPr>
        <p:spPr>
          <a:xfrm>
            <a:off x="212425" y="1172325"/>
            <a:ext cx="8636100" cy="436800"/>
          </a:xfrm>
          <a:prstGeom prst="chevron">
            <a:avLst>
              <a:gd fmla="val 50000"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113" name="Google Shape;113;p42"/>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42"/>
          <p:cNvSpPr/>
          <p:nvPr/>
        </p:nvSpPr>
        <p:spPr>
          <a:xfrm>
            <a:off x="6745000" y="8084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42"/>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16" name="Google Shape;116;p42"/>
          <p:cNvSpPr txBox="1"/>
          <p:nvPr/>
        </p:nvSpPr>
        <p:spPr>
          <a:xfrm>
            <a:off x="6134350" y="2150250"/>
            <a:ext cx="2397900" cy="21216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17" name="Google Shape;117;p42"/>
          <p:cNvSpPr txBox="1"/>
          <p:nvPr>
            <p:ph type="title"/>
          </p:nvPr>
        </p:nvSpPr>
        <p:spPr>
          <a:xfrm>
            <a:off x="3331525" y="2159925"/>
            <a:ext cx="2397900" cy="2121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8" name="Google Shape;118;p42"/>
          <p:cNvSpPr txBox="1"/>
          <p:nvPr>
            <p:ph idx="2" type="title"/>
          </p:nvPr>
        </p:nvSpPr>
        <p:spPr>
          <a:xfrm>
            <a:off x="6134350" y="2196275"/>
            <a:ext cx="2397900" cy="2075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9" name="Google Shape;119;p42"/>
          <p:cNvSpPr txBox="1"/>
          <p:nvPr>
            <p:ph idx="3" type="title"/>
          </p:nvPr>
        </p:nvSpPr>
        <p:spPr>
          <a:xfrm>
            <a:off x="4039950" y="1164225"/>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400"/>
              <a:buFont typeface="Montserrat"/>
              <a:buNone/>
              <a:defRPr b="1" sz="14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0" name="Google Shape;120;p42"/>
          <p:cNvSpPr txBox="1"/>
          <p:nvPr>
            <p:ph idx="4" type="title"/>
          </p:nvPr>
        </p:nvSpPr>
        <p:spPr>
          <a:xfrm>
            <a:off x="6877450" y="1164225"/>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1" name="Google Shape;121;p42"/>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2" name="Google Shape;122;p42"/>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123" name="Google Shape;123;p42"/>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pic>
        <p:nvPicPr>
          <p:cNvPr id="124" name="Google Shape;124;p42"/>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Última clase">
  <p:cSld name="BLANK_1_1_1">
    <p:spTree>
      <p:nvGrpSpPr>
        <p:cNvPr id="125" name="Shape 125"/>
        <p:cNvGrpSpPr/>
        <p:nvPr/>
      </p:nvGrpSpPr>
      <p:grpSpPr>
        <a:xfrm>
          <a:off x="0" y="0"/>
          <a:ext cx="0" cy="0"/>
          <a:chOff x="0" y="0"/>
          <a:chExt cx="0" cy="0"/>
        </a:xfrm>
      </p:grpSpPr>
      <p:sp>
        <p:nvSpPr>
          <p:cNvPr id="126" name="Google Shape;126;p43"/>
          <p:cNvSpPr/>
          <p:nvPr/>
        </p:nvSpPr>
        <p:spPr>
          <a:xfrm>
            <a:off x="212425" y="1172325"/>
            <a:ext cx="4818000" cy="436800"/>
          </a:xfrm>
          <a:prstGeom prst="chevron">
            <a:avLst>
              <a:gd fmla="val 45084"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127" name="Google Shape;127;p43"/>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43"/>
          <p:cNvSpPr/>
          <p:nvPr/>
        </p:nvSpPr>
        <p:spPr>
          <a:xfrm>
            <a:off x="1139350" y="7922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43"/>
          <p:cNvSpPr txBox="1"/>
          <p:nvPr/>
        </p:nvSpPr>
        <p:spPr>
          <a:xfrm>
            <a:off x="528700" y="2150250"/>
            <a:ext cx="2397900" cy="21312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30" name="Google Shape;130;p43"/>
          <p:cNvSpPr txBox="1"/>
          <p:nvPr>
            <p:ph type="title"/>
          </p:nvPr>
        </p:nvSpPr>
        <p:spPr>
          <a:xfrm>
            <a:off x="1271800" y="1159375"/>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31" name="Google Shape;131;p43"/>
          <p:cNvSpPr txBox="1"/>
          <p:nvPr>
            <p:ph idx="2" type="title"/>
          </p:nvPr>
        </p:nvSpPr>
        <p:spPr>
          <a:xfrm>
            <a:off x="3938175" y="1159375"/>
            <a:ext cx="109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400"/>
              <a:buFont typeface="Montserrat"/>
              <a:buNone/>
              <a:defRPr b="1" sz="1400">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32" name="Google Shape;132;p43"/>
          <p:cNvSpPr txBox="1"/>
          <p:nvPr>
            <p:ph idx="3" type="title"/>
          </p:nvPr>
        </p:nvSpPr>
        <p:spPr>
          <a:xfrm>
            <a:off x="532575" y="2150850"/>
            <a:ext cx="2397900" cy="2112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3" name="Google Shape;133;p43"/>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34" name="Google Shape;134;p43"/>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135" name="Google Shape;135;p43"/>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sp>
        <p:nvSpPr>
          <p:cNvPr id="136" name="Google Shape;136;p43"/>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37" name="Google Shape;137;p43"/>
          <p:cNvSpPr txBox="1"/>
          <p:nvPr>
            <p:ph idx="4" type="title"/>
          </p:nvPr>
        </p:nvSpPr>
        <p:spPr>
          <a:xfrm>
            <a:off x="3331525" y="2159925"/>
            <a:ext cx="2397900" cy="2121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38" name="Google Shape;138;p43"/>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1" Type="http://schemas.openxmlformats.org/officeDocument/2006/relationships/hyperlink" Target="https://www.youtube.com/watch?v=xOhz-8PZmw0&amp;ab_channel=yacklyon" TargetMode="External"/><Relationship Id="rId10" Type="http://schemas.openxmlformats.org/officeDocument/2006/relationships/hyperlink" Target="https://www.youtube.com/watch?v=x5CY8fVyYLo&amp;list=PLU8oAlHdN5BlvPxziopYZRd55pdqFwkeS&amp;index=27" TargetMode="External"/><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hyperlink" Target="https://www.campusmvp.es/recursos/post/los-conceptos-fundamentales-sobre-programacion-orientada-objetos-explicados-de-manera-simple.aspx" TargetMode="External"/><Relationship Id="rId4" Type="http://schemas.openxmlformats.org/officeDocument/2006/relationships/hyperlink" Target="https://kinsta.com/es/blog/programacion-orientada-objetos-python/" TargetMode="External"/><Relationship Id="rId9" Type="http://schemas.openxmlformats.org/officeDocument/2006/relationships/hyperlink" Target="https://www.youtube.com/watch?v=Y_SiIgxc-xI&amp;list=PLU8oAlHdN5BlvPxziopYZRd55pdqFwkeS&amp;index=26" TargetMode="External"/><Relationship Id="rId5" Type="http://schemas.openxmlformats.org/officeDocument/2006/relationships/hyperlink" Target="https://docs.python.org/es/3/tutorial/classes.html" TargetMode="External"/><Relationship Id="rId6" Type="http://schemas.openxmlformats.org/officeDocument/2006/relationships/hyperlink" Target="https://docs.hektorprofe.net/python/funcionalidades-avanzadas/funcion-map/" TargetMode="External"/><Relationship Id="rId7" Type="http://schemas.openxmlformats.org/officeDocument/2006/relationships/hyperlink" Target="https://www.youtube.com/watch?v=5Ohme4A2Weg&amp;list=PLU8oAlHdN5BlvPxziopYZRd55pdqFwkeS&amp;index=24" TargetMode="External"/><Relationship Id="rId8" Type="http://schemas.openxmlformats.org/officeDocument/2006/relationships/hyperlink" Target="https://www.youtube.com/watch?v=2UNrSiKEI8w&amp;list=PLU8oAlHdN5BlvPxziopYZRd55pdqFwkeS&amp;index=25"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
          <p:cNvSpPr txBox="1"/>
          <p:nvPr/>
        </p:nvSpPr>
        <p:spPr>
          <a:xfrm>
            <a:off x="3335100" y="1617575"/>
            <a:ext cx="5497200" cy="1375200"/>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3700"/>
              <a:buFont typeface="Arial"/>
              <a:buNone/>
            </a:pPr>
            <a:r>
              <a:rPr b="1" i="0" lang="es" sz="3700" u="none" cap="none" strike="noStrike">
                <a:solidFill>
                  <a:srgbClr val="000000"/>
                </a:solidFill>
                <a:latin typeface="Montserrat"/>
                <a:ea typeface="Montserrat"/>
                <a:cs typeface="Montserrat"/>
                <a:sym typeface="Montserrat"/>
              </a:rPr>
              <a:t>FULL STACK PYTHON</a:t>
            </a:r>
            <a:endParaRPr b="1" i="0" sz="3700" u="none" cap="none" strike="noStrike">
              <a:solidFill>
                <a:srgbClr val="000000"/>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3700"/>
              <a:buFont typeface="Arial"/>
              <a:buNone/>
            </a:pPr>
            <a:r>
              <a:rPr b="1" i="0" lang="es" sz="3700" u="none" cap="none" strike="noStrike">
                <a:solidFill>
                  <a:srgbClr val="000000"/>
                </a:solidFill>
                <a:latin typeface="Montserrat"/>
                <a:ea typeface="Montserrat"/>
                <a:cs typeface="Montserrat"/>
                <a:sym typeface="Montserrat"/>
              </a:rPr>
              <a:t>Clase 29</a:t>
            </a:r>
            <a:endParaRPr b="1" i="0" sz="3700" u="none" cap="none" strike="noStrike">
              <a:solidFill>
                <a:srgbClr val="000000"/>
              </a:solidFill>
              <a:latin typeface="Montserrat"/>
              <a:ea typeface="Montserrat"/>
              <a:cs typeface="Montserrat"/>
              <a:sym typeface="Montserrat"/>
            </a:endParaRPr>
          </a:p>
        </p:txBody>
      </p:sp>
      <p:sp>
        <p:nvSpPr>
          <p:cNvPr id="144" name="Google Shape;144;p1"/>
          <p:cNvSpPr txBox="1"/>
          <p:nvPr/>
        </p:nvSpPr>
        <p:spPr>
          <a:xfrm>
            <a:off x="3335025" y="2986525"/>
            <a:ext cx="5534400" cy="792600"/>
          </a:xfrm>
          <a:prstGeom prst="rect">
            <a:avLst/>
          </a:prstGeom>
          <a:noFill/>
          <a:ln>
            <a:noFill/>
          </a:ln>
        </p:spPr>
        <p:txBody>
          <a:bodyPr anchorCtr="0" anchor="t"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2500"/>
              <a:buFont typeface="Arial"/>
              <a:buNone/>
            </a:pPr>
            <a:r>
              <a:rPr b="0" i="0" lang="es" sz="2500" u="none" cap="none" strike="noStrike">
                <a:solidFill>
                  <a:srgbClr val="595959"/>
                </a:solidFill>
                <a:latin typeface="Montserrat Medium"/>
                <a:ea typeface="Montserrat Medium"/>
                <a:cs typeface="Montserrat Medium"/>
                <a:sym typeface="Montserrat Medium"/>
              </a:rPr>
              <a:t>PYTHON 5</a:t>
            </a:r>
            <a:endParaRPr b="0" i="0" sz="2500" u="none" cap="none" strike="noStrike">
              <a:solidFill>
                <a:srgbClr val="595959"/>
              </a:solidFill>
              <a:latin typeface="Montserrat Medium"/>
              <a:ea typeface="Montserrat Medium"/>
              <a:cs typeface="Montserrat Medium"/>
              <a:sym typeface="Montserrat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
          <p:cNvSpPr txBox="1"/>
          <p:nvPr>
            <p:ph type="ctrTitle"/>
          </p:nvPr>
        </p:nvSpPr>
        <p:spPr>
          <a:xfrm>
            <a:off x="311700" y="1226800"/>
            <a:ext cx="8520600" cy="15705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900"/>
              <a:buNone/>
            </a:pPr>
            <a:r>
              <a:rPr b="0" lang="es"/>
              <a:t>Clases y objetos</a:t>
            </a:r>
            <a:endParaRPr b="0"/>
          </a:p>
        </p:txBody>
      </p:sp>
      <p:sp>
        <p:nvSpPr>
          <p:cNvPr id="150" name="Google Shape;150;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500"/>
              <a:buNone/>
            </a:pPr>
            <a:r>
              <a:t/>
            </a:r>
            <a:endParaRPr/>
          </a:p>
        </p:txBody>
      </p:sp>
      <p:pic>
        <p:nvPicPr>
          <p:cNvPr id="151" name="Google Shape;151;p2"/>
          <p:cNvPicPr preferRelativeResize="0"/>
          <p:nvPr/>
        </p:nvPicPr>
        <p:blipFill rotWithShape="1">
          <a:blip r:embed="rId3">
            <a:alphaModFix/>
          </a:blip>
          <a:srcRect b="0" l="0" r="0" t="0"/>
          <a:stretch/>
        </p:blipFill>
        <p:spPr>
          <a:xfrm>
            <a:off x="4219575" y="2868475"/>
            <a:ext cx="704850" cy="7239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
          <p:cNvSpPr txBox="1"/>
          <p:nvPr>
            <p:ph type="ctrTitle"/>
          </p:nvPr>
        </p:nvSpPr>
        <p:spPr>
          <a:xfrm>
            <a:off x="311700" y="1226800"/>
            <a:ext cx="8520600" cy="15705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Clr>
                <a:schemeClr val="dk1"/>
              </a:buClr>
              <a:buSzPts val="1100"/>
              <a:buFont typeface="Arial"/>
              <a:buNone/>
            </a:pPr>
            <a:r>
              <a:rPr lang="es"/>
              <a:t>Les damos la bienvenida</a:t>
            </a:r>
            <a:endParaRPr/>
          </a:p>
        </p:txBody>
      </p:sp>
      <p:sp>
        <p:nvSpPr>
          <p:cNvPr id="157" name="Google Shape;157;p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500"/>
              <a:buNone/>
            </a:pPr>
            <a:r>
              <a:rPr lang="es"/>
              <a:t>Vamos a comenzar a grabar la clase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4"/>
          <p:cNvSpPr txBox="1"/>
          <p:nvPr>
            <p:ph idx="2" type="title"/>
          </p:nvPr>
        </p:nvSpPr>
        <p:spPr>
          <a:xfrm>
            <a:off x="3938175" y="1159375"/>
            <a:ext cx="1091700" cy="3006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s"/>
              <a:t>Clase 29</a:t>
            </a:r>
            <a:endParaRPr/>
          </a:p>
        </p:txBody>
      </p:sp>
      <p:sp>
        <p:nvSpPr>
          <p:cNvPr id="163" name="Google Shape;163;p4"/>
          <p:cNvSpPr txBox="1"/>
          <p:nvPr>
            <p:ph type="title"/>
          </p:nvPr>
        </p:nvSpPr>
        <p:spPr>
          <a:xfrm>
            <a:off x="1275675" y="1159375"/>
            <a:ext cx="911700" cy="3006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s"/>
              <a:t>Clase 28</a:t>
            </a:r>
            <a:endParaRPr/>
          </a:p>
        </p:txBody>
      </p:sp>
      <p:sp>
        <p:nvSpPr>
          <p:cNvPr id="164" name="Google Shape;164;p4"/>
          <p:cNvSpPr txBox="1"/>
          <p:nvPr>
            <p:ph idx="3" type="title"/>
          </p:nvPr>
        </p:nvSpPr>
        <p:spPr>
          <a:xfrm>
            <a:off x="6877450" y="1159388"/>
            <a:ext cx="911700" cy="3006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Clr>
                <a:schemeClr val="dk1"/>
              </a:buClr>
              <a:buSzPct val="78571"/>
              <a:buFont typeface="Arial"/>
              <a:buNone/>
            </a:pPr>
            <a:r>
              <a:rPr lang="es"/>
              <a:t>Clase 30</a:t>
            </a:r>
            <a:endParaRPr/>
          </a:p>
        </p:txBody>
      </p:sp>
      <p:sp>
        <p:nvSpPr>
          <p:cNvPr id="165" name="Google Shape;165;p4"/>
          <p:cNvSpPr txBox="1"/>
          <p:nvPr>
            <p:ph idx="4" type="title"/>
          </p:nvPr>
        </p:nvSpPr>
        <p:spPr>
          <a:xfrm>
            <a:off x="532575" y="2150850"/>
            <a:ext cx="2397900" cy="2112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000"/>
              <a:buNone/>
            </a:pPr>
            <a:r>
              <a:rPr b="1" lang="es"/>
              <a:t>Funciones</a:t>
            </a:r>
            <a:endParaRPr b="1"/>
          </a:p>
          <a:p>
            <a:pPr indent="0" lvl="0" marL="457200" rtl="0" algn="l">
              <a:lnSpc>
                <a:spcPct val="115000"/>
              </a:lnSpc>
              <a:spcBef>
                <a:spcPts val="0"/>
              </a:spcBef>
              <a:spcAft>
                <a:spcPts val="0"/>
              </a:spcAft>
              <a:buSzPts val="1000"/>
              <a:buNone/>
            </a:pPr>
            <a:r>
              <a:t/>
            </a:r>
            <a:endParaRPr b="1"/>
          </a:p>
          <a:p>
            <a:pPr indent="-285750" lvl="0" marL="457200" rtl="0" algn="l">
              <a:lnSpc>
                <a:spcPct val="115000"/>
              </a:lnSpc>
              <a:spcBef>
                <a:spcPts val="0"/>
              </a:spcBef>
              <a:spcAft>
                <a:spcPts val="0"/>
              </a:spcAft>
              <a:buSzPts val="900"/>
              <a:buChar char="●"/>
            </a:pPr>
            <a:r>
              <a:rPr lang="es" sz="900"/>
              <a:t>Funciones. Concepto.</a:t>
            </a:r>
            <a:endParaRPr sz="900"/>
          </a:p>
          <a:p>
            <a:pPr indent="-285750" lvl="0" marL="457200" rtl="0" algn="l">
              <a:lnSpc>
                <a:spcPct val="115000"/>
              </a:lnSpc>
              <a:spcBef>
                <a:spcPts val="0"/>
              </a:spcBef>
              <a:spcAft>
                <a:spcPts val="0"/>
              </a:spcAft>
              <a:buSzPts val="900"/>
              <a:buChar char="●"/>
            </a:pPr>
            <a:r>
              <a:rPr lang="es" sz="900"/>
              <a:t>Llamada a función.</a:t>
            </a:r>
            <a:endParaRPr sz="900"/>
          </a:p>
          <a:p>
            <a:pPr indent="-285750" lvl="0" marL="457200" rtl="0" algn="l">
              <a:lnSpc>
                <a:spcPct val="115000"/>
              </a:lnSpc>
              <a:spcBef>
                <a:spcPts val="0"/>
              </a:spcBef>
              <a:spcAft>
                <a:spcPts val="0"/>
              </a:spcAft>
              <a:buSzPts val="900"/>
              <a:buChar char="●"/>
            </a:pPr>
            <a:r>
              <a:rPr lang="es" sz="900"/>
              <a:t>Retorno y envío de valores.</a:t>
            </a:r>
            <a:endParaRPr sz="900"/>
          </a:p>
          <a:p>
            <a:pPr indent="-285750" lvl="0" marL="457200" rtl="0" algn="l">
              <a:lnSpc>
                <a:spcPct val="115000"/>
              </a:lnSpc>
              <a:spcBef>
                <a:spcPts val="0"/>
              </a:spcBef>
              <a:spcAft>
                <a:spcPts val="0"/>
              </a:spcAft>
              <a:buSzPts val="900"/>
              <a:buChar char="●"/>
            </a:pPr>
            <a:r>
              <a:rPr lang="es" sz="900"/>
              <a:t>Parámetros, argumentos, valor y referencia.</a:t>
            </a:r>
            <a:endParaRPr sz="900"/>
          </a:p>
          <a:p>
            <a:pPr indent="-285750" lvl="0" marL="457200" rtl="0" algn="l">
              <a:lnSpc>
                <a:spcPct val="115000"/>
              </a:lnSpc>
              <a:spcBef>
                <a:spcPts val="0"/>
              </a:spcBef>
              <a:spcAft>
                <a:spcPts val="0"/>
              </a:spcAft>
              <a:buSzPts val="900"/>
              <a:buChar char="●"/>
            </a:pPr>
            <a:r>
              <a:rPr lang="es" sz="900"/>
              <a:t>Parámetros mutables e inmutables.</a:t>
            </a:r>
            <a:endParaRPr sz="900"/>
          </a:p>
          <a:p>
            <a:pPr indent="-285750" lvl="0" marL="457200" rtl="0" algn="l">
              <a:lnSpc>
                <a:spcPct val="115000"/>
              </a:lnSpc>
              <a:spcBef>
                <a:spcPts val="0"/>
              </a:spcBef>
              <a:spcAft>
                <a:spcPts val="0"/>
              </a:spcAft>
              <a:buSzPts val="900"/>
              <a:buChar char="●"/>
            </a:pPr>
            <a:r>
              <a:rPr lang="es" sz="900"/>
              <a:t>Parámetros por defecto</a:t>
            </a:r>
            <a:endParaRPr sz="900"/>
          </a:p>
          <a:p>
            <a:pPr indent="-285750" lvl="0" marL="457200" rtl="0" algn="l">
              <a:lnSpc>
                <a:spcPct val="115000"/>
              </a:lnSpc>
              <a:spcBef>
                <a:spcPts val="0"/>
              </a:spcBef>
              <a:spcAft>
                <a:spcPts val="0"/>
              </a:spcAft>
              <a:buSzPts val="900"/>
              <a:buChar char="●"/>
            </a:pPr>
            <a:r>
              <a:rPr lang="es" sz="900"/>
              <a:t>Docstring.</a:t>
            </a:r>
            <a:endParaRPr sz="900"/>
          </a:p>
          <a:p>
            <a:pPr indent="-285750" lvl="0" marL="457200" rtl="0" algn="l">
              <a:lnSpc>
                <a:spcPct val="115000"/>
              </a:lnSpc>
              <a:spcBef>
                <a:spcPts val="0"/>
              </a:spcBef>
              <a:spcAft>
                <a:spcPts val="0"/>
              </a:spcAft>
              <a:buSzPts val="900"/>
              <a:buChar char="●"/>
            </a:pPr>
            <a:r>
              <a:rPr lang="es" sz="900"/>
              <a:t>Funciones Lambda/Anónima.</a:t>
            </a:r>
            <a:endParaRPr b="1"/>
          </a:p>
          <a:p>
            <a:pPr indent="0" lvl="0" marL="457200" rtl="0" algn="l">
              <a:lnSpc>
                <a:spcPct val="115000"/>
              </a:lnSpc>
              <a:spcBef>
                <a:spcPts val="0"/>
              </a:spcBef>
              <a:spcAft>
                <a:spcPts val="0"/>
              </a:spcAft>
              <a:buSzPts val="1000"/>
              <a:buNone/>
            </a:pPr>
            <a:r>
              <a:t/>
            </a:r>
            <a:endParaRPr b="1"/>
          </a:p>
        </p:txBody>
      </p:sp>
      <p:sp>
        <p:nvSpPr>
          <p:cNvPr id="166" name="Google Shape;166;p4"/>
          <p:cNvSpPr txBox="1"/>
          <p:nvPr>
            <p:ph idx="5" type="title"/>
          </p:nvPr>
        </p:nvSpPr>
        <p:spPr>
          <a:xfrm>
            <a:off x="6130475" y="2159925"/>
            <a:ext cx="2454900" cy="2112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000"/>
              <a:buNone/>
            </a:pPr>
            <a:r>
              <a:rPr b="1" lang="es"/>
              <a:t>Colaboración entre clases y Encapsulamiento</a:t>
            </a:r>
            <a:endParaRPr b="1"/>
          </a:p>
          <a:p>
            <a:pPr indent="0" lvl="0" marL="0" rtl="0" algn="l">
              <a:lnSpc>
                <a:spcPct val="115000"/>
              </a:lnSpc>
              <a:spcBef>
                <a:spcPts val="0"/>
              </a:spcBef>
              <a:spcAft>
                <a:spcPts val="0"/>
              </a:spcAft>
              <a:buSzPts val="1000"/>
              <a:buNone/>
            </a:pPr>
            <a:r>
              <a:t/>
            </a:r>
            <a:endParaRPr b="1"/>
          </a:p>
          <a:p>
            <a:pPr indent="-279400" lvl="0" marL="457200" rtl="0" algn="l">
              <a:lnSpc>
                <a:spcPct val="115000"/>
              </a:lnSpc>
              <a:spcBef>
                <a:spcPts val="0"/>
              </a:spcBef>
              <a:spcAft>
                <a:spcPts val="0"/>
              </a:spcAft>
              <a:buSzPts val="800"/>
              <a:buChar char="●"/>
            </a:pPr>
            <a:r>
              <a:rPr lang="es" sz="900"/>
              <a:t>Mensajes y Métodos.</a:t>
            </a:r>
            <a:endParaRPr sz="900"/>
          </a:p>
          <a:p>
            <a:pPr indent="-279400" lvl="0" marL="457200" rtl="0" algn="l">
              <a:lnSpc>
                <a:spcPct val="115000"/>
              </a:lnSpc>
              <a:spcBef>
                <a:spcPts val="0"/>
              </a:spcBef>
              <a:spcAft>
                <a:spcPts val="0"/>
              </a:spcAft>
              <a:buSzPts val="800"/>
              <a:buChar char="●"/>
            </a:pPr>
            <a:r>
              <a:rPr lang="es" sz="900"/>
              <a:t>Colaboración entre clases.</a:t>
            </a:r>
            <a:endParaRPr sz="900"/>
          </a:p>
          <a:p>
            <a:pPr indent="-279400" lvl="0" marL="457200" rtl="0" algn="l">
              <a:lnSpc>
                <a:spcPct val="115000"/>
              </a:lnSpc>
              <a:spcBef>
                <a:spcPts val="0"/>
              </a:spcBef>
              <a:spcAft>
                <a:spcPts val="0"/>
              </a:spcAft>
              <a:buSzPts val="800"/>
              <a:buChar char="●"/>
            </a:pPr>
            <a:r>
              <a:rPr lang="es" sz="900"/>
              <a:t>Variables de clase.</a:t>
            </a:r>
            <a:endParaRPr sz="900"/>
          </a:p>
          <a:p>
            <a:pPr indent="-279400" lvl="0" marL="457200" rtl="0" algn="l">
              <a:lnSpc>
                <a:spcPct val="115000"/>
              </a:lnSpc>
              <a:spcBef>
                <a:spcPts val="0"/>
              </a:spcBef>
              <a:spcAft>
                <a:spcPts val="0"/>
              </a:spcAft>
              <a:buSzPts val="800"/>
              <a:buChar char="●"/>
            </a:pPr>
            <a:r>
              <a:rPr lang="es" sz="900"/>
              <a:t>Objetos dentro de objetos.</a:t>
            </a:r>
            <a:endParaRPr sz="900"/>
          </a:p>
          <a:p>
            <a:pPr indent="-279400" lvl="0" marL="457200" rtl="0" algn="l">
              <a:lnSpc>
                <a:spcPct val="115000"/>
              </a:lnSpc>
              <a:spcBef>
                <a:spcPts val="0"/>
              </a:spcBef>
              <a:spcAft>
                <a:spcPts val="0"/>
              </a:spcAft>
              <a:buSzPts val="800"/>
              <a:buChar char="●"/>
            </a:pPr>
            <a:r>
              <a:rPr lang="es" sz="900"/>
              <a:t>Encapsular atributos y métodos.</a:t>
            </a:r>
            <a:endParaRPr sz="900"/>
          </a:p>
          <a:p>
            <a:pPr indent="-279400" lvl="0" marL="457200" rtl="0" algn="l">
              <a:lnSpc>
                <a:spcPct val="115000"/>
              </a:lnSpc>
              <a:spcBef>
                <a:spcPts val="0"/>
              </a:spcBef>
              <a:spcAft>
                <a:spcPts val="0"/>
              </a:spcAft>
              <a:buSzPts val="800"/>
              <a:buChar char="●"/>
            </a:pPr>
            <a:r>
              <a:rPr lang="es" sz="900"/>
              <a:t>Decorators.</a:t>
            </a:r>
            <a:endParaRPr b="1"/>
          </a:p>
        </p:txBody>
      </p:sp>
      <p:sp>
        <p:nvSpPr>
          <p:cNvPr id="167" name="Google Shape;167;p4"/>
          <p:cNvSpPr txBox="1"/>
          <p:nvPr>
            <p:ph idx="6" type="title"/>
          </p:nvPr>
        </p:nvSpPr>
        <p:spPr>
          <a:xfrm>
            <a:off x="3331525" y="2155125"/>
            <a:ext cx="2397900" cy="2121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000"/>
              <a:buNone/>
            </a:pPr>
            <a:r>
              <a:rPr b="1" lang="es"/>
              <a:t>Clases y objetos</a:t>
            </a:r>
            <a:endParaRPr b="1"/>
          </a:p>
          <a:p>
            <a:pPr indent="0" lvl="0" marL="457200" rtl="0" algn="l">
              <a:lnSpc>
                <a:spcPct val="115000"/>
              </a:lnSpc>
              <a:spcBef>
                <a:spcPts val="0"/>
              </a:spcBef>
              <a:spcAft>
                <a:spcPts val="0"/>
              </a:spcAft>
              <a:buSzPts val="1000"/>
              <a:buNone/>
            </a:pPr>
            <a:r>
              <a:t/>
            </a:r>
            <a:endParaRPr b="1"/>
          </a:p>
          <a:p>
            <a:pPr indent="-285750" lvl="0" marL="457200" rtl="0" algn="l">
              <a:lnSpc>
                <a:spcPct val="115000"/>
              </a:lnSpc>
              <a:spcBef>
                <a:spcPts val="0"/>
              </a:spcBef>
              <a:spcAft>
                <a:spcPts val="0"/>
              </a:spcAft>
              <a:buSzPts val="900"/>
              <a:buChar char="●"/>
            </a:pPr>
            <a:r>
              <a:rPr lang="es" sz="900"/>
              <a:t>Paradigmas de programación. Programación estructurada vs POO.</a:t>
            </a:r>
            <a:endParaRPr sz="900"/>
          </a:p>
          <a:p>
            <a:pPr indent="-285750" lvl="0" marL="457200" rtl="0" algn="l">
              <a:lnSpc>
                <a:spcPct val="115000"/>
              </a:lnSpc>
              <a:spcBef>
                <a:spcPts val="0"/>
              </a:spcBef>
              <a:spcAft>
                <a:spcPts val="0"/>
              </a:spcAft>
              <a:buSzPts val="900"/>
              <a:buChar char="●"/>
            </a:pPr>
            <a:r>
              <a:rPr lang="es" sz="900"/>
              <a:t>Clases, objetos y atributos.</a:t>
            </a:r>
            <a:endParaRPr sz="900"/>
          </a:p>
          <a:p>
            <a:pPr indent="-285750" lvl="0" marL="457200" rtl="0" algn="l">
              <a:lnSpc>
                <a:spcPct val="115000"/>
              </a:lnSpc>
              <a:spcBef>
                <a:spcPts val="0"/>
              </a:spcBef>
              <a:spcAft>
                <a:spcPts val="0"/>
              </a:spcAft>
              <a:buSzPts val="900"/>
              <a:buChar char="●"/>
            </a:pPr>
            <a:r>
              <a:rPr lang="es" sz="900"/>
              <a:t>Métodos de clase y métodos especiales: init, del y str.</a:t>
            </a:r>
            <a:endParaRPr sz="900"/>
          </a:p>
          <a:p>
            <a:pPr indent="0" lvl="0" marL="457200" rtl="0" algn="l">
              <a:lnSpc>
                <a:spcPct val="115000"/>
              </a:lnSpc>
              <a:spcBef>
                <a:spcPts val="0"/>
              </a:spcBef>
              <a:spcAft>
                <a:spcPts val="0"/>
              </a:spcAft>
              <a:buSzPts val="1000"/>
              <a:buNone/>
            </a:pPr>
            <a:r>
              <a:t/>
            </a:r>
            <a:endParaRPr b="1"/>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5"/>
          <p:cNvSpPr txBox="1"/>
          <p:nvPr>
            <p:ph type="ctrTitle"/>
          </p:nvPr>
        </p:nvSpPr>
        <p:spPr>
          <a:xfrm>
            <a:off x="550375" y="7600"/>
            <a:ext cx="8043300" cy="1570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000"/>
              <a:buNone/>
            </a:pPr>
            <a:r>
              <a:rPr lang="es"/>
              <a:t>Prog. orientada a objetos</a:t>
            </a:r>
            <a:endParaRPr/>
          </a:p>
        </p:txBody>
      </p:sp>
      <p:sp>
        <p:nvSpPr>
          <p:cNvPr id="173" name="Google Shape;173;p5"/>
          <p:cNvSpPr txBox="1"/>
          <p:nvPr>
            <p:ph idx="1" type="subTitle"/>
          </p:nvPr>
        </p:nvSpPr>
        <p:spPr>
          <a:xfrm>
            <a:off x="550375" y="1614925"/>
            <a:ext cx="8043300" cy="27318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00000"/>
              </a:lnSpc>
              <a:spcBef>
                <a:spcPts val="0"/>
              </a:spcBef>
              <a:spcAft>
                <a:spcPts val="0"/>
              </a:spcAft>
              <a:buClr>
                <a:schemeClr val="dk1"/>
              </a:buClr>
              <a:buSzPct val="64705"/>
              <a:buFont typeface="Arial"/>
              <a:buNone/>
            </a:pPr>
            <a:r>
              <a:rPr lang="es"/>
              <a:t>En el</a:t>
            </a:r>
            <a:r>
              <a:rPr b="1" lang="es">
                <a:latin typeface="Montserrat"/>
                <a:ea typeface="Montserrat"/>
                <a:cs typeface="Montserrat"/>
                <a:sym typeface="Montserrat"/>
              </a:rPr>
              <a:t> paradigma de programación orientada a objetos (POO)</a:t>
            </a:r>
            <a:r>
              <a:rPr lang="es"/>
              <a:t> se utilizan entidades que representan elementos del problema a resolver y tienen </a:t>
            </a:r>
            <a:r>
              <a:rPr b="1" lang="es">
                <a:latin typeface="Montserrat"/>
                <a:ea typeface="Montserrat"/>
                <a:cs typeface="Montserrat"/>
                <a:sym typeface="Montserrat"/>
              </a:rPr>
              <a:t>atributos</a:t>
            </a:r>
            <a:r>
              <a:rPr lang="es"/>
              <a:t> y </a:t>
            </a:r>
            <a:r>
              <a:rPr b="1" lang="es">
                <a:latin typeface="Montserrat"/>
                <a:ea typeface="Montserrat"/>
                <a:cs typeface="Montserrat"/>
                <a:sym typeface="Montserrat"/>
              </a:rPr>
              <a:t>comportamientos</a:t>
            </a:r>
            <a:r>
              <a:rPr lang="es"/>
              <a:t> (pueden almacenar datos y realizar acciones). Estas entidades se denominan objetos, y Python proporciona soporte para este paradigma.</a:t>
            </a:r>
            <a:endParaRPr/>
          </a:p>
          <a:p>
            <a:pPr indent="0" lvl="0" marL="0" rtl="0" algn="l">
              <a:lnSpc>
                <a:spcPct val="100000"/>
              </a:lnSpc>
              <a:spcBef>
                <a:spcPts val="0"/>
              </a:spcBef>
              <a:spcAft>
                <a:spcPts val="0"/>
              </a:spcAft>
              <a:buClr>
                <a:schemeClr val="dk1"/>
              </a:buClr>
              <a:buSzPct val="64705"/>
              <a:buFont typeface="Arial"/>
              <a:buNone/>
            </a:pPr>
            <a:r>
              <a:rPr lang="es"/>
              <a:t>La POO permite que el desarrollo de grandes proyectos de software sea más fácil e intuitivo, al representar en el software objetos del mundo real y sus relaciones. </a:t>
            </a:r>
            <a:endParaRPr/>
          </a:p>
          <a:p>
            <a:pPr indent="0" lvl="0" marL="0" rtl="0" algn="l">
              <a:lnSpc>
                <a:spcPct val="100000"/>
              </a:lnSpc>
              <a:spcBef>
                <a:spcPts val="0"/>
              </a:spcBef>
              <a:spcAft>
                <a:spcPts val="0"/>
              </a:spcAft>
              <a:buClr>
                <a:schemeClr val="dk1"/>
              </a:buClr>
              <a:buSzPct val="64705"/>
              <a:buFont typeface="Arial"/>
              <a:buNone/>
            </a:pPr>
            <a:r>
              <a:rPr lang="es"/>
              <a:t>La programación orientada a objetos surge en los 70s y tiene un gran auge en los 90. Uno de los lenguajes destacados de este nuevo paradigma es Java.</a:t>
            </a:r>
            <a:endParaRPr/>
          </a:p>
          <a:p>
            <a:pPr indent="0" lvl="0" marL="0" rtl="0" algn="l">
              <a:lnSpc>
                <a:spcPct val="100000"/>
              </a:lnSpc>
              <a:spcBef>
                <a:spcPts val="0"/>
              </a:spcBef>
              <a:spcAft>
                <a:spcPts val="0"/>
              </a:spcAft>
              <a:buSzPct val="108108"/>
              <a:buNone/>
            </a:pPr>
            <a:r>
              <a:rPr lang="es"/>
              <a:t>Por supuesto, el concepto de la POO excede a Java y Python ya que se aplica a muchos lenguajes.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6"/>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Objetos y clases</a:t>
            </a:r>
            <a:endParaRPr/>
          </a:p>
        </p:txBody>
      </p:sp>
      <p:sp>
        <p:nvSpPr>
          <p:cNvPr id="179" name="Google Shape;179;p6"/>
          <p:cNvSpPr txBox="1"/>
          <p:nvPr/>
        </p:nvSpPr>
        <p:spPr>
          <a:xfrm>
            <a:off x="436425" y="1281700"/>
            <a:ext cx="8279700" cy="3275400"/>
          </a:xfrm>
          <a:prstGeom prst="rect">
            <a:avLst/>
          </a:prstGeom>
          <a:noFill/>
          <a:ln>
            <a:noFill/>
          </a:ln>
        </p:spPr>
        <p:txBody>
          <a:bodyPr anchorCtr="0" anchor="t" bIns="91425" lIns="0" spcFirstLastPara="1" rIns="0" wrap="square" tIns="91425">
            <a:normAutofit lnSpcReduction="10000"/>
          </a:bodyPr>
          <a:lstStyle/>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chemeClr val="dk2"/>
                </a:solidFill>
                <a:latin typeface="Montserrat"/>
                <a:ea typeface="Montserrat"/>
                <a:cs typeface="Montserrat"/>
                <a:sym typeface="Montserrat"/>
              </a:rPr>
              <a:t>A diferencia de la programación estructurada, que está centrada en las funciones, </a:t>
            </a:r>
            <a:r>
              <a:rPr b="1" i="0" lang="es" sz="1682" u="none" cap="none" strike="noStrike">
                <a:solidFill>
                  <a:schemeClr val="dk2"/>
                </a:solidFill>
                <a:latin typeface="Montserrat"/>
                <a:ea typeface="Montserrat"/>
                <a:cs typeface="Montserrat"/>
                <a:sym typeface="Montserrat"/>
              </a:rPr>
              <a:t>la </a:t>
            </a:r>
            <a:r>
              <a:rPr b="1" i="0" lang="es" sz="1682" u="none" cap="none" strike="noStrike">
                <a:solidFill>
                  <a:srgbClr val="595959"/>
                </a:solidFill>
                <a:latin typeface="Montserrat"/>
                <a:ea typeface="Montserrat"/>
                <a:cs typeface="Montserrat"/>
                <a:sym typeface="Montserrat"/>
              </a:rPr>
              <a:t> programación orientada (POO) </a:t>
            </a:r>
            <a:r>
              <a:rPr b="0" i="0" lang="es" sz="1682" u="none" cap="none" strike="noStrike">
                <a:solidFill>
                  <a:srgbClr val="595959"/>
                </a:solidFill>
                <a:latin typeface="Montserrat"/>
                <a:ea typeface="Montserrat"/>
                <a:cs typeface="Montserrat"/>
                <a:sym typeface="Montserrat"/>
              </a:rPr>
              <a:t>se basa en la definición de </a:t>
            </a:r>
            <a:r>
              <a:rPr b="1" i="0" lang="es" sz="1682" u="none" cap="none" strike="noStrike">
                <a:solidFill>
                  <a:srgbClr val="595959"/>
                </a:solidFill>
                <a:latin typeface="Montserrat"/>
                <a:ea typeface="Montserrat"/>
                <a:cs typeface="Montserrat"/>
                <a:sym typeface="Montserrat"/>
              </a:rPr>
              <a:t>clases y objetos</a:t>
            </a:r>
            <a:r>
              <a:rPr b="0" i="0" lang="es" sz="1682" u="none" cap="none" strike="noStrike">
                <a:solidFill>
                  <a:srgbClr val="595959"/>
                </a:solidFill>
                <a:latin typeface="Montserrat"/>
                <a:ea typeface="Montserrat"/>
                <a:cs typeface="Montserrat"/>
                <a:sym typeface="Montserrat"/>
              </a:rPr>
              <a:t>.</a:t>
            </a:r>
            <a:endParaRPr b="0"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rgbClr val="595959"/>
                </a:solidFill>
                <a:latin typeface="Montserrat"/>
                <a:ea typeface="Montserrat"/>
                <a:cs typeface="Montserrat"/>
                <a:sym typeface="Montserrat"/>
              </a:rPr>
              <a:t>Podemos pensar en las clases como plantillas. Definen de manera genérica cómo van a ser los objetos de determinado tipo. Por ejemplo, una clase para representar a las personas puede llamarse </a:t>
            </a:r>
            <a:r>
              <a:rPr b="0" i="1" lang="es" sz="1682" u="none" cap="none" strike="noStrike">
                <a:solidFill>
                  <a:srgbClr val="595959"/>
                </a:solidFill>
                <a:latin typeface="Montserrat"/>
                <a:ea typeface="Montserrat"/>
                <a:cs typeface="Montserrat"/>
                <a:sym typeface="Montserrat"/>
              </a:rPr>
              <a:t>Persona</a:t>
            </a:r>
            <a:r>
              <a:rPr b="0" i="0" lang="es" sz="1682" u="none" cap="none" strike="noStrike">
                <a:solidFill>
                  <a:srgbClr val="595959"/>
                </a:solidFill>
                <a:latin typeface="Montserrat"/>
                <a:ea typeface="Montserrat"/>
                <a:cs typeface="Montserrat"/>
                <a:sym typeface="Montserrat"/>
              </a:rPr>
              <a:t> y tener una serie de </a:t>
            </a:r>
            <a:r>
              <a:rPr b="1" i="0" lang="es" sz="1682" u="none" cap="none" strike="noStrike">
                <a:solidFill>
                  <a:schemeClr val="dk2"/>
                </a:solidFill>
                <a:latin typeface="Montserrat"/>
                <a:ea typeface="Montserrat"/>
                <a:cs typeface="Montserrat"/>
                <a:sym typeface="Montserrat"/>
              </a:rPr>
              <a:t>propiedades</a:t>
            </a:r>
            <a:r>
              <a:rPr b="0" i="0" lang="es" sz="1682" u="none" cap="none" strike="noStrike">
                <a:solidFill>
                  <a:srgbClr val="595959"/>
                </a:solidFill>
                <a:latin typeface="Montserrat"/>
                <a:ea typeface="Montserrat"/>
                <a:cs typeface="Montserrat"/>
                <a:sym typeface="Montserrat"/>
              </a:rPr>
              <a:t> como </a:t>
            </a:r>
            <a:r>
              <a:rPr b="0" i="1" lang="es" sz="1682" u="none" cap="none" strike="noStrike">
                <a:solidFill>
                  <a:srgbClr val="595959"/>
                </a:solidFill>
                <a:latin typeface="Montserrat"/>
                <a:ea typeface="Montserrat"/>
                <a:cs typeface="Montserrat"/>
                <a:sym typeface="Montserrat"/>
              </a:rPr>
              <a:t>Nombre</a:t>
            </a:r>
            <a:r>
              <a:rPr b="0" i="0" lang="es" sz="1682" u="none" cap="none" strike="noStrike">
                <a:solidFill>
                  <a:srgbClr val="595959"/>
                </a:solidFill>
                <a:latin typeface="Montserrat"/>
                <a:ea typeface="Montserrat"/>
                <a:cs typeface="Montserrat"/>
                <a:sym typeface="Montserrat"/>
              </a:rPr>
              <a:t>, </a:t>
            </a:r>
            <a:r>
              <a:rPr b="0" i="1" lang="es" sz="1682" u="none" cap="none" strike="noStrike">
                <a:solidFill>
                  <a:srgbClr val="595959"/>
                </a:solidFill>
                <a:latin typeface="Montserrat"/>
                <a:ea typeface="Montserrat"/>
                <a:cs typeface="Montserrat"/>
                <a:sym typeface="Montserrat"/>
              </a:rPr>
              <a:t>Edad</a:t>
            </a:r>
            <a:r>
              <a:rPr b="0" i="0" lang="es" sz="1682" u="none" cap="none" strike="noStrike">
                <a:solidFill>
                  <a:srgbClr val="595959"/>
                </a:solidFill>
                <a:latin typeface="Montserrat"/>
                <a:ea typeface="Montserrat"/>
                <a:cs typeface="Montserrat"/>
                <a:sym typeface="Montserrat"/>
              </a:rPr>
              <a:t> o </a:t>
            </a:r>
            <a:r>
              <a:rPr b="0" i="1" lang="es" sz="1682" u="none" cap="none" strike="noStrike">
                <a:solidFill>
                  <a:srgbClr val="595959"/>
                </a:solidFill>
                <a:latin typeface="Montserrat"/>
                <a:ea typeface="Montserrat"/>
                <a:cs typeface="Montserrat"/>
                <a:sym typeface="Montserrat"/>
              </a:rPr>
              <a:t>Nro de DNI </a:t>
            </a:r>
            <a:r>
              <a:rPr b="0" i="0" lang="es" sz="1682" u="none" cap="none" strike="noStrike">
                <a:solidFill>
                  <a:srgbClr val="595959"/>
                </a:solidFill>
                <a:latin typeface="Montserrat"/>
                <a:ea typeface="Montserrat"/>
                <a:cs typeface="Montserrat"/>
                <a:sym typeface="Montserrat"/>
              </a:rPr>
              <a:t>(similares a variables), y una serie de </a:t>
            </a:r>
            <a:r>
              <a:rPr b="1" i="0" lang="es" sz="1682" u="none" cap="none" strike="noStrike">
                <a:solidFill>
                  <a:srgbClr val="595959"/>
                </a:solidFill>
                <a:latin typeface="Montserrat"/>
                <a:ea typeface="Montserrat"/>
                <a:cs typeface="Montserrat"/>
                <a:sym typeface="Montserrat"/>
              </a:rPr>
              <a:t>comportamientos</a:t>
            </a:r>
            <a:r>
              <a:rPr b="0" i="0" lang="es" sz="1682" u="none" cap="none" strike="noStrike">
                <a:solidFill>
                  <a:srgbClr val="595959"/>
                </a:solidFill>
                <a:latin typeface="Montserrat"/>
                <a:ea typeface="Montserrat"/>
                <a:cs typeface="Montserrat"/>
                <a:sym typeface="Montserrat"/>
              </a:rPr>
              <a:t>, como </a:t>
            </a:r>
            <a:r>
              <a:rPr b="0" i="1" lang="es" sz="1682" u="none" cap="none" strike="noStrike">
                <a:solidFill>
                  <a:srgbClr val="595959"/>
                </a:solidFill>
                <a:latin typeface="Montserrat"/>
                <a:ea typeface="Montserrat"/>
                <a:cs typeface="Montserrat"/>
                <a:sym typeface="Montserrat"/>
              </a:rPr>
              <a:t>Hablar()</a:t>
            </a:r>
            <a:r>
              <a:rPr b="0" i="0" lang="es" sz="1682" u="none" cap="none" strike="noStrike">
                <a:solidFill>
                  <a:srgbClr val="595959"/>
                </a:solidFill>
                <a:latin typeface="Montserrat"/>
                <a:ea typeface="Montserrat"/>
                <a:cs typeface="Montserrat"/>
                <a:sym typeface="Montserrat"/>
              </a:rPr>
              <a:t>, </a:t>
            </a:r>
            <a:r>
              <a:rPr b="0" i="1" lang="es" sz="1682" u="none" cap="none" strike="noStrike">
                <a:solidFill>
                  <a:srgbClr val="595959"/>
                </a:solidFill>
                <a:latin typeface="Montserrat"/>
                <a:ea typeface="Montserrat"/>
                <a:cs typeface="Montserrat"/>
                <a:sym typeface="Montserrat"/>
              </a:rPr>
              <a:t>Caminar()</a:t>
            </a:r>
            <a:r>
              <a:rPr b="0" i="0" lang="es" sz="1682" u="none" cap="none" strike="noStrike">
                <a:solidFill>
                  <a:srgbClr val="595959"/>
                </a:solidFill>
                <a:latin typeface="Montserrat"/>
                <a:ea typeface="Montserrat"/>
                <a:cs typeface="Montserrat"/>
                <a:sym typeface="Montserrat"/>
              </a:rPr>
              <a:t> o </a:t>
            </a:r>
            <a:r>
              <a:rPr b="0" i="1" lang="es" sz="1682" u="none" cap="none" strike="noStrike">
                <a:solidFill>
                  <a:srgbClr val="595959"/>
                </a:solidFill>
                <a:latin typeface="Montserrat"/>
                <a:ea typeface="Montserrat"/>
                <a:cs typeface="Montserrat"/>
                <a:sym typeface="Montserrat"/>
              </a:rPr>
              <a:t>Comer(). </a:t>
            </a:r>
            <a:r>
              <a:rPr b="0" i="0" lang="es" sz="1682" u="none" cap="none" strike="noStrike">
                <a:solidFill>
                  <a:srgbClr val="595959"/>
                </a:solidFill>
                <a:latin typeface="Montserrat"/>
                <a:ea typeface="Montserrat"/>
                <a:cs typeface="Montserrat"/>
                <a:sym typeface="Montserrat"/>
              </a:rPr>
              <a:t>Estos comportamientos se implementan como </a:t>
            </a:r>
            <a:r>
              <a:rPr b="1" i="0" lang="es" sz="1682" u="none" cap="none" strike="noStrike">
                <a:solidFill>
                  <a:srgbClr val="595959"/>
                </a:solidFill>
                <a:latin typeface="Montserrat"/>
                <a:ea typeface="Montserrat"/>
                <a:cs typeface="Montserrat"/>
                <a:sym typeface="Montserrat"/>
              </a:rPr>
              <a:t>métodos</a:t>
            </a:r>
            <a:r>
              <a:rPr b="0" i="0" lang="es" sz="1682" u="none" cap="none" strike="noStrike">
                <a:solidFill>
                  <a:srgbClr val="595959"/>
                </a:solidFill>
                <a:latin typeface="Montserrat"/>
                <a:ea typeface="Montserrat"/>
                <a:cs typeface="Montserrat"/>
                <a:sym typeface="Montserrat"/>
              </a:rPr>
              <a:t> (similares a funciones).</a:t>
            </a:r>
            <a:endParaRPr b="0"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t/>
            </a:r>
            <a:endParaRPr b="0" i="0" sz="1682" u="none" cap="none" strike="noStrike">
              <a:solidFill>
                <a:srgbClr val="595959"/>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7"/>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Objetos y clases</a:t>
            </a:r>
            <a:endParaRPr/>
          </a:p>
        </p:txBody>
      </p:sp>
      <p:sp>
        <p:nvSpPr>
          <p:cNvPr id="185" name="Google Shape;185;p7"/>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chemeClr val="dk2"/>
                </a:solidFill>
                <a:latin typeface="Montserrat"/>
                <a:ea typeface="Montserrat"/>
                <a:cs typeface="Montserrat"/>
                <a:sym typeface="Montserrat"/>
              </a:rPr>
              <a:t>Una clase no es más que un concepto, sin entidad real. Para poder utilizarlas en un programa hay que </a:t>
            </a:r>
            <a:r>
              <a:rPr b="1" i="0" lang="es" sz="1682" u="none" cap="none" strike="noStrike">
                <a:solidFill>
                  <a:schemeClr val="dk2"/>
                </a:solidFill>
                <a:latin typeface="Montserrat"/>
                <a:ea typeface="Montserrat"/>
                <a:cs typeface="Montserrat"/>
                <a:sym typeface="Montserrat"/>
              </a:rPr>
              <a:t>instanciarla</a:t>
            </a:r>
            <a:r>
              <a:rPr b="0" i="0" lang="es" sz="1682" u="none" cap="none" strike="noStrike">
                <a:solidFill>
                  <a:schemeClr val="dk2"/>
                </a:solidFill>
                <a:latin typeface="Montserrat"/>
                <a:ea typeface="Montserrat"/>
                <a:cs typeface="Montserrat"/>
                <a:sym typeface="Montserrat"/>
              </a:rPr>
              <a:t>, es decir,</a:t>
            </a:r>
            <a:r>
              <a:rPr b="1" i="0" lang="es" sz="1682" u="none" cap="none" strike="noStrike">
                <a:solidFill>
                  <a:schemeClr val="dk2"/>
                </a:solidFill>
                <a:latin typeface="Montserrat"/>
                <a:ea typeface="Montserrat"/>
                <a:cs typeface="Montserrat"/>
                <a:sym typeface="Montserrat"/>
              </a:rPr>
              <a:t> crear un nuevo objeto concreto</a:t>
            </a:r>
            <a:r>
              <a:rPr b="0" i="0" lang="es" sz="1682" u="none" cap="none" strike="noStrike">
                <a:solidFill>
                  <a:schemeClr val="dk2"/>
                </a:solidFill>
                <a:latin typeface="Montserrat"/>
                <a:ea typeface="Montserrat"/>
                <a:cs typeface="Montserrat"/>
                <a:sym typeface="Montserrat"/>
              </a:rPr>
              <a:t> de la misma. Un objeto es una entidad concreta que se crea a partir de la plantilla que es la clase. Este nuevo objeto tiene "existencia" real, puesto que ocupa memoria y se puede utilizar en el programa. Así un objeto puede ser una persona que se llama </a:t>
            </a:r>
            <a:r>
              <a:rPr b="0" i="1" lang="es" sz="1682" u="none" cap="none" strike="noStrike">
                <a:solidFill>
                  <a:schemeClr val="dk2"/>
                </a:solidFill>
                <a:latin typeface="Montserrat"/>
                <a:ea typeface="Montserrat"/>
                <a:cs typeface="Montserrat"/>
                <a:sym typeface="Montserrat"/>
              </a:rPr>
              <a:t>Ivana</a:t>
            </a:r>
            <a:r>
              <a:rPr b="0" i="0" lang="es" sz="1682" u="none" cap="none" strike="noStrike">
                <a:solidFill>
                  <a:schemeClr val="dk2"/>
                </a:solidFill>
                <a:latin typeface="Montserrat"/>
                <a:ea typeface="Montserrat"/>
                <a:cs typeface="Montserrat"/>
                <a:sym typeface="Montserrat"/>
              </a:rPr>
              <a:t>, de </a:t>
            </a:r>
            <a:r>
              <a:rPr b="0" i="1" lang="es" sz="1682" u="none" cap="none" strike="noStrike">
                <a:solidFill>
                  <a:schemeClr val="dk2"/>
                </a:solidFill>
                <a:latin typeface="Montserrat"/>
                <a:ea typeface="Montserrat"/>
                <a:cs typeface="Montserrat"/>
                <a:sym typeface="Montserrat"/>
              </a:rPr>
              <a:t>37</a:t>
            </a:r>
            <a:r>
              <a:rPr b="0" i="0" lang="es" sz="1682" u="none" cap="none" strike="noStrike">
                <a:solidFill>
                  <a:schemeClr val="dk2"/>
                </a:solidFill>
                <a:latin typeface="Montserrat"/>
                <a:ea typeface="Montserrat"/>
                <a:cs typeface="Montserrat"/>
                <a:sym typeface="Montserrat"/>
              </a:rPr>
              <a:t> años y DNI nro </a:t>
            </a:r>
            <a:r>
              <a:rPr b="0" i="1" lang="es" sz="1682" u="none" cap="none" strike="noStrike">
                <a:solidFill>
                  <a:schemeClr val="dk2"/>
                </a:solidFill>
                <a:latin typeface="Montserrat"/>
                <a:ea typeface="Montserrat"/>
                <a:cs typeface="Montserrat"/>
                <a:sym typeface="Montserrat"/>
              </a:rPr>
              <a:t>32456822</a:t>
            </a:r>
            <a:r>
              <a:rPr b="0" i="0" lang="es" sz="1682" u="none" cap="none" strike="noStrike">
                <a:solidFill>
                  <a:schemeClr val="dk2"/>
                </a:solidFill>
                <a:latin typeface="Montserrat"/>
                <a:ea typeface="Montserrat"/>
                <a:cs typeface="Montserrat"/>
                <a:sym typeface="Montserrat"/>
              </a:rPr>
              <a:t>, que en nuestro programa podría </a:t>
            </a:r>
            <a:r>
              <a:rPr b="0" i="1" lang="es" sz="1682" u="none" cap="none" strike="noStrike">
                <a:solidFill>
                  <a:schemeClr val="dk2"/>
                </a:solidFill>
                <a:latin typeface="Montserrat"/>
                <a:ea typeface="Montserrat"/>
                <a:cs typeface="Montserrat"/>
                <a:sym typeface="Montserrat"/>
              </a:rPr>
              <a:t>hablar</a:t>
            </a:r>
            <a:r>
              <a:rPr b="0" i="0" lang="es" sz="1682" u="none" cap="none" strike="noStrike">
                <a:solidFill>
                  <a:schemeClr val="dk2"/>
                </a:solidFill>
                <a:latin typeface="Montserrat"/>
                <a:ea typeface="Montserrat"/>
                <a:cs typeface="Montserrat"/>
                <a:sym typeface="Montserrat"/>
              </a:rPr>
              <a:t>, </a:t>
            </a:r>
            <a:r>
              <a:rPr b="0" i="1" lang="es" sz="1682" u="none" cap="none" strike="noStrike">
                <a:solidFill>
                  <a:schemeClr val="dk2"/>
                </a:solidFill>
                <a:latin typeface="Montserrat"/>
                <a:ea typeface="Montserrat"/>
                <a:cs typeface="Montserrat"/>
                <a:sym typeface="Montserrat"/>
              </a:rPr>
              <a:t>caminar</a:t>
            </a:r>
            <a:r>
              <a:rPr b="0" i="0" lang="es" sz="1682" u="none" cap="none" strike="noStrike">
                <a:solidFill>
                  <a:schemeClr val="dk2"/>
                </a:solidFill>
                <a:latin typeface="Montserrat"/>
                <a:ea typeface="Montserrat"/>
                <a:cs typeface="Montserrat"/>
                <a:sym typeface="Montserrat"/>
              </a:rPr>
              <a:t> o </a:t>
            </a:r>
            <a:r>
              <a:rPr b="0" i="1" lang="es" sz="1682" u="none" cap="none" strike="noStrike">
                <a:solidFill>
                  <a:schemeClr val="dk2"/>
                </a:solidFill>
                <a:latin typeface="Montserrat"/>
                <a:ea typeface="Montserrat"/>
                <a:cs typeface="Montserrat"/>
                <a:sym typeface="Montserrat"/>
              </a:rPr>
              <a:t>comer</a:t>
            </a:r>
            <a:r>
              <a:rPr b="0" i="0" lang="es" sz="1682" u="none" cap="none" strike="noStrike">
                <a:solidFill>
                  <a:schemeClr val="dk2"/>
                </a:solidFill>
                <a:latin typeface="Montserrat"/>
                <a:ea typeface="Montserrat"/>
                <a:cs typeface="Montserrat"/>
                <a:sym typeface="Montserrat"/>
              </a:rPr>
              <a:t>, que son los comportamientos que están definidos en la clase.</a:t>
            </a:r>
            <a:endParaRPr b="0"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rgbClr val="595959"/>
                </a:solidFill>
                <a:latin typeface="Montserrat"/>
                <a:ea typeface="Montserrat"/>
                <a:cs typeface="Montserrat"/>
                <a:sym typeface="Montserrat"/>
              </a:rPr>
              <a:t>Una clase equivale a la </a:t>
            </a:r>
            <a:r>
              <a:rPr b="1" i="0" lang="es" sz="1682" u="none" cap="none" strike="noStrike">
                <a:solidFill>
                  <a:srgbClr val="595959"/>
                </a:solidFill>
                <a:latin typeface="Montserrat"/>
                <a:ea typeface="Montserrat"/>
                <a:cs typeface="Montserrat"/>
                <a:sym typeface="Montserrat"/>
              </a:rPr>
              <a:t>generalización de un tipo específico de objetos</a:t>
            </a:r>
            <a:r>
              <a:rPr b="0" i="0" lang="es" sz="1682" u="none" cap="none" strike="noStrike">
                <a:solidFill>
                  <a:srgbClr val="595959"/>
                </a:solidFill>
                <a:latin typeface="Montserrat"/>
                <a:ea typeface="Montserrat"/>
                <a:cs typeface="Montserrat"/>
                <a:sym typeface="Montserrat"/>
              </a:rPr>
              <a:t>. Y una </a:t>
            </a:r>
            <a:r>
              <a:rPr b="1" i="0" lang="es" sz="1682" u="none" cap="none" strike="noStrike">
                <a:solidFill>
                  <a:srgbClr val="595959"/>
                </a:solidFill>
                <a:latin typeface="Montserrat"/>
                <a:ea typeface="Montserrat"/>
                <a:cs typeface="Montserrat"/>
                <a:sym typeface="Montserrat"/>
              </a:rPr>
              <a:t>instancia</a:t>
            </a:r>
            <a:r>
              <a:rPr b="0" i="0" lang="es" sz="1682" u="none" cap="none" strike="noStrike">
                <a:solidFill>
                  <a:srgbClr val="595959"/>
                </a:solidFill>
                <a:latin typeface="Montserrat"/>
                <a:ea typeface="Montserrat"/>
                <a:cs typeface="Montserrat"/>
                <a:sym typeface="Montserrat"/>
              </a:rPr>
              <a:t> es la concreción de una clase en un objeto. </a:t>
            </a:r>
            <a:endParaRPr b="0" i="0" sz="1682" u="none" cap="none" strike="noStrike">
              <a:solidFill>
                <a:srgbClr val="595959"/>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8"/>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Objetos y clases</a:t>
            </a:r>
            <a:endParaRPr/>
          </a:p>
        </p:txBody>
      </p:sp>
      <p:sp>
        <p:nvSpPr>
          <p:cNvPr id="191" name="Google Shape;191;p8"/>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82"/>
              <a:buFont typeface="Arial"/>
              <a:buNone/>
            </a:pPr>
            <a:r>
              <a:t/>
            </a:r>
            <a:endParaRPr b="0" i="0" sz="1682" u="none" cap="none" strike="noStrike">
              <a:solidFill>
                <a:srgbClr val="595959"/>
              </a:solidFill>
              <a:latin typeface="Montserrat"/>
              <a:ea typeface="Montserrat"/>
              <a:cs typeface="Montserrat"/>
              <a:sym typeface="Montserrat"/>
            </a:endParaRPr>
          </a:p>
        </p:txBody>
      </p:sp>
      <p:pic>
        <p:nvPicPr>
          <p:cNvPr id="192" name="Google Shape;192;p8"/>
          <p:cNvPicPr preferRelativeResize="0"/>
          <p:nvPr/>
        </p:nvPicPr>
        <p:blipFill rotWithShape="1">
          <a:blip r:embed="rId3">
            <a:alphaModFix/>
          </a:blip>
          <a:srcRect b="0" l="0" r="0" t="0"/>
          <a:stretch/>
        </p:blipFill>
        <p:spPr>
          <a:xfrm>
            <a:off x="4195725" y="1361650"/>
            <a:ext cx="885400" cy="885400"/>
          </a:xfrm>
          <a:prstGeom prst="rect">
            <a:avLst/>
          </a:prstGeom>
          <a:noFill/>
          <a:ln>
            <a:noFill/>
          </a:ln>
        </p:spPr>
      </p:pic>
      <p:pic>
        <p:nvPicPr>
          <p:cNvPr id="193" name="Google Shape;193;p8"/>
          <p:cNvPicPr preferRelativeResize="0"/>
          <p:nvPr/>
        </p:nvPicPr>
        <p:blipFill rotWithShape="1">
          <a:blip r:embed="rId4">
            <a:alphaModFix/>
          </a:blip>
          <a:srcRect b="0" l="0" r="0" t="0"/>
          <a:stretch/>
        </p:blipFill>
        <p:spPr>
          <a:xfrm>
            <a:off x="1623575" y="2577575"/>
            <a:ext cx="1189669" cy="986750"/>
          </a:xfrm>
          <a:prstGeom prst="rect">
            <a:avLst/>
          </a:prstGeom>
          <a:noFill/>
          <a:ln>
            <a:noFill/>
          </a:ln>
        </p:spPr>
      </p:pic>
      <p:pic>
        <p:nvPicPr>
          <p:cNvPr id="194" name="Google Shape;194;p8"/>
          <p:cNvPicPr preferRelativeResize="0"/>
          <p:nvPr/>
        </p:nvPicPr>
        <p:blipFill rotWithShape="1">
          <a:blip r:embed="rId5">
            <a:alphaModFix/>
          </a:blip>
          <a:srcRect b="0" l="0" r="0" t="0"/>
          <a:stretch/>
        </p:blipFill>
        <p:spPr>
          <a:xfrm>
            <a:off x="3338493" y="2577575"/>
            <a:ext cx="1091120" cy="986750"/>
          </a:xfrm>
          <a:prstGeom prst="rect">
            <a:avLst/>
          </a:prstGeom>
          <a:noFill/>
          <a:ln>
            <a:noFill/>
          </a:ln>
        </p:spPr>
      </p:pic>
      <p:pic>
        <p:nvPicPr>
          <p:cNvPr id="195" name="Google Shape;195;p8"/>
          <p:cNvPicPr preferRelativeResize="0"/>
          <p:nvPr/>
        </p:nvPicPr>
        <p:blipFill rotWithShape="1">
          <a:blip r:embed="rId6">
            <a:alphaModFix/>
          </a:blip>
          <a:srcRect b="0" l="0" r="0" t="0"/>
          <a:stretch/>
        </p:blipFill>
        <p:spPr>
          <a:xfrm>
            <a:off x="4954861" y="2577575"/>
            <a:ext cx="1126573" cy="986750"/>
          </a:xfrm>
          <a:prstGeom prst="rect">
            <a:avLst/>
          </a:prstGeom>
          <a:noFill/>
          <a:ln>
            <a:noFill/>
          </a:ln>
        </p:spPr>
      </p:pic>
      <p:pic>
        <p:nvPicPr>
          <p:cNvPr id="196" name="Google Shape;196;p8"/>
          <p:cNvPicPr preferRelativeResize="0"/>
          <p:nvPr/>
        </p:nvPicPr>
        <p:blipFill rotWithShape="1">
          <a:blip r:embed="rId7">
            <a:alphaModFix/>
          </a:blip>
          <a:srcRect b="0" l="0" r="5032" t="0"/>
          <a:stretch/>
        </p:blipFill>
        <p:spPr>
          <a:xfrm>
            <a:off x="6606683" y="2577575"/>
            <a:ext cx="1046567" cy="986750"/>
          </a:xfrm>
          <a:prstGeom prst="rect">
            <a:avLst/>
          </a:prstGeom>
          <a:noFill/>
          <a:ln>
            <a:noFill/>
          </a:ln>
        </p:spPr>
      </p:pic>
      <p:cxnSp>
        <p:nvCxnSpPr>
          <p:cNvPr id="197" name="Google Shape;197;p8"/>
          <p:cNvCxnSpPr>
            <a:stCxn id="192" idx="2"/>
            <a:endCxn id="193" idx="0"/>
          </p:cNvCxnSpPr>
          <p:nvPr/>
        </p:nvCxnSpPr>
        <p:spPr>
          <a:xfrm flipH="1">
            <a:off x="2218325" y="2247050"/>
            <a:ext cx="2420100" cy="330600"/>
          </a:xfrm>
          <a:prstGeom prst="straightConnector1">
            <a:avLst/>
          </a:prstGeom>
          <a:noFill/>
          <a:ln cap="flat" cmpd="sng" w="28575">
            <a:solidFill>
              <a:schemeClr val="dk2"/>
            </a:solidFill>
            <a:prstDash val="solid"/>
            <a:round/>
            <a:headEnd len="sm" w="sm" type="none"/>
            <a:tailEnd len="med" w="med" type="triangle"/>
          </a:ln>
        </p:spPr>
      </p:cxnSp>
      <p:cxnSp>
        <p:nvCxnSpPr>
          <p:cNvPr id="198" name="Google Shape;198;p8"/>
          <p:cNvCxnSpPr>
            <a:stCxn id="192" idx="2"/>
            <a:endCxn id="194" idx="0"/>
          </p:cNvCxnSpPr>
          <p:nvPr/>
        </p:nvCxnSpPr>
        <p:spPr>
          <a:xfrm flipH="1">
            <a:off x="3883925" y="2247050"/>
            <a:ext cx="754500" cy="330600"/>
          </a:xfrm>
          <a:prstGeom prst="straightConnector1">
            <a:avLst/>
          </a:prstGeom>
          <a:noFill/>
          <a:ln cap="flat" cmpd="sng" w="28575">
            <a:solidFill>
              <a:schemeClr val="dk2"/>
            </a:solidFill>
            <a:prstDash val="solid"/>
            <a:round/>
            <a:headEnd len="sm" w="sm" type="none"/>
            <a:tailEnd len="med" w="med" type="triangle"/>
          </a:ln>
        </p:spPr>
      </p:cxnSp>
      <p:cxnSp>
        <p:nvCxnSpPr>
          <p:cNvPr id="199" name="Google Shape;199;p8"/>
          <p:cNvCxnSpPr>
            <a:stCxn id="192" idx="2"/>
            <a:endCxn id="195" idx="0"/>
          </p:cNvCxnSpPr>
          <p:nvPr/>
        </p:nvCxnSpPr>
        <p:spPr>
          <a:xfrm>
            <a:off x="4638425" y="2247050"/>
            <a:ext cx="879600" cy="330600"/>
          </a:xfrm>
          <a:prstGeom prst="straightConnector1">
            <a:avLst/>
          </a:prstGeom>
          <a:noFill/>
          <a:ln cap="flat" cmpd="sng" w="28575">
            <a:solidFill>
              <a:schemeClr val="dk2"/>
            </a:solidFill>
            <a:prstDash val="solid"/>
            <a:round/>
            <a:headEnd len="sm" w="sm" type="none"/>
            <a:tailEnd len="med" w="med" type="triangle"/>
          </a:ln>
        </p:spPr>
      </p:cxnSp>
      <p:cxnSp>
        <p:nvCxnSpPr>
          <p:cNvPr id="200" name="Google Shape;200;p8"/>
          <p:cNvCxnSpPr>
            <a:stCxn id="192" idx="2"/>
            <a:endCxn id="196" idx="0"/>
          </p:cNvCxnSpPr>
          <p:nvPr/>
        </p:nvCxnSpPr>
        <p:spPr>
          <a:xfrm>
            <a:off x="4638425" y="2247050"/>
            <a:ext cx="2491500" cy="330600"/>
          </a:xfrm>
          <a:prstGeom prst="straightConnector1">
            <a:avLst/>
          </a:prstGeom>
          <a:noFill/>
          <a:ln cap="flat" cmpd="sng" w="28575">
            <a:solidFill>
              <a:schemeClr val="dk2"/>
            </a:solidFill>
            <a:prstDash val="solid"/>
            <a:round/>
            <a:headEnd len="sm" w="sm" type="none"/>
            <a:tailEnd len="med" w="med" type="triangle"/>
          </a:ln>
        </p:spPr>
      </p:cxnSp>
      <p:sp>
        <p:nvSpPr>
          <p:cNvPr id="201" name="Google Shape;201;p8"/>
          <p:cNvSpPr/>
          <p:nvPr/>
        </p:nvSpPr>
        <p:spPr>
          <a:xfrm>
            <a:off x="3127000" y="1555900"/>
            <a:ext cx="1514100" cy="359700"/>
          </a:xfrm>
          <a:prstGeom prst="rect">
            <a:avLst/>
          </a:prstGeom>
          <a:noFill/>
          <a:ln>
            <a:noFill/>
          </a:ln>
        </p:spPr>
        <p:txBody>
          <a:bodyPr anchorCtr="0" anchor="t"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Ubuntu"/>
              <a:buNone/>
            </a:pPr>
            <a:r>
              <a:rPr b="1" i="0" lang="es" sz="1300" u="none" cap="none" strike="noStrike">
                <a:solidFill>
                  <a:schemeClr val="dk2"/>
                </a:solidFill>
                <a:latin typeface="Montserrat"/>
                <a:ea typeface="Montserrat"/>
                <a:cs typeface="Montserrat"/>
                <a:sym typeface="Montserrat"/>
              </a:rPr>
              <a:t>Clase</a:t>
            </a:r>
            <a:endParaRPr b="1" i="0" sz="1300" u="none" cap="none" strike="noStrike">
              <a:solidFill>
                <a:schemeClr val="dk2"/>
              </a:solidFill>
              <a:latin typeface="Montserrat"/>
              <a:ea typeface="Montserrat"/>
              <a:cs typeface="Montserrat"/>
              <a:sym typeface="Montserrat"/>
            </a:endParaRPr>
          </a:p>
        </p:txBody>
      </p:sp>
      <p:sp>
        <p:nvSpPr>
          <p:cNvPr id="202" name="Google Shape;202;p8"/>
          <p:cNvSpPr/>
          <p:nvPr/>
        </p:nvSpPr>
        <p:spPr>
          <a:xfrm>
            <a:off x="1437375" y="3663700"/>
            <a:ext cx="1429800" cy="619500"/>
          </a:xfrm>
          <a:prstGeom prst="rect">
            <a:avLst/>
          </a:prstGeom>
          <a:noFill/>
          <a:ln>
            <a:noFill/>
          </a:ln>
        </p:spPr>
        <p:txBody>
          <a:bodyPr anchorCtr="0" anchor="t"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Ubuntu"/>
              <a:buNone/>
            </a:pPr>
            <a:r>
              <a:rPr b="1" i="0" lang="es" sz="1300" u="none" cap="none" strike="noStrike">
                <a:solidFill>
                  <a:schemeClr val="dk2"/>
                </a:solidFill>
                <a:latin typeface="Montserrat"/>
                <a:ea typeface="Montserrat"/>
                <a:cs typeface="Montserrat"/>
                <a:sym typeface="Montserrat"/>
              </a:rPr>
              <a:t>Objeto 1</a:t>
            </a:r>
            <a:endParaRPr b="1" i="0" sz="1300" u="none" cap="none" strike="noStrike">
              <a:solidFill>
                <a:schemeClr val="dk2"/>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1800"/>
              <a:buFont typeface="Ubuntu"/>
              <a:buNone/>
            </a:pPr>
            <a:r>
              <a:rPr b="0" i="0" lang="es" sz="1200" u="none" cap="none" strike="noStrike">
                <a:solidFill>
                  <a:schemeClr val="dk2"/>
                </a:solidFill>
                <a:latin typeface="Montserrat"/>
                <a:ea typeface="Montserrat"/>
                <a:cs typeface="Montserrat"/>
                <a:sym typeface="Montserrat"/>
              </a:rPr>
              <a:t>Carlos, 33 años, DNI 35034150</a:t>
            </a:r>
            <a:endParaRPr b="0" i="0" sz="1200" u="none" cap="none" strike="noStrike">
              <a:solidFill>
                <a:schemeClr val="dk2"/>
              </a:solidFill>
              <a:latin typeface="Montserrat"/>
              <a:ea typeface="Montserrat"/>
              <a:cs typeface="Montserrat"/>
              <a:sym typeface="Montserrat"/>
            </a:endParaRPr>
          </a:p>
        </p:txBody>
      </p:sp>
      <p:sp>
        <p:nvSpPr>
          <p:cNvPr id="203" name="Google Shape;203;p8"/>
          <p:cNvSpPr txBox="1"/>
          <p:nvPr/>
        </p:nvSpPr>
        <p:spPr>
          <a:xfrm>
            <a:off x="5115200" y="1281700"/>
            <a:ext cx="32994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chemeClr val="dk2"/>
                </a:solidFill>
                <a:latin typeface="Montserrat"/>
                <a:ea typeface="Montserrat"/>
                <a:cs typeface="Montserrat"/>
                <a:sym typeface="Montserrat"/>
              </a:rPr>
              <a:t>La </a:t>
            </a:r>
            <a:r>
              <a:rPr b="1" i="0" lang="es" sz="1400" u="none" cap="none" strike="noStrike">
                <a:solidFill>
                  <a:schemeClr val="dk2"/>
                </a:solidFill>
                <a:latin typeface="Montserrat"/>
                <a:ea typeface="Montserrat"/>
                <a:cs typeface="Montserrat"/>
                <a:sym typeface="Montserrat"/>
              </a:rPr>
              <a:t>clase</a:t>
            </a:r>
            <a:r>
              <a:rPr b="0" i="0" lang="es" sz="1400" u="none" cap="none" strike="noStrike">
                <a:solidFill>
                  <a:schemeClr val="dk2"/>
                </a:solidFill>
                <a:latin typeface="Montserrat"/>
                <a:ea typeface="Montserrat"/>
                <a:cs typeface="Montserrat"/>
                <a:sym typeface="Montserrat"/>
              </a:rPr>
              <a:t> define de forma genérica cómo son las personas, con sus </a:t>
            </a:r>
            <a:r>
              <a:rPr b="1" i="0" lang="es" sz="1400" u="none" cap="none" strike="noStrike">
                <a:solidFill>
                  <a:schemeClr val="dk2"/>
                </a:solidFill>
                <a:latin typeface="Montserrat"/>
                <a:ea typeface="Montserrat"/>
                <a:cs typeface="Montserrat"/>
                <a:sym typeface="Montserrat"/>
              </a:rPr>
              <a:t>atributos</a:t>
            </a:r>
            <a:r>
              <a:rPr b="0" i="0" lang="es" sz="1400" u="none" cap="none" strike="noStrike">
                <a:solidFill>
                  <a:schemeClr val="dk2"/>
                </a:solidFill>
                <a:latin typeface="Montserrat"/>
                <a:ea typeface="Montserrat"/>
                <a:cs typeface="Montserrat"/>
                <a:sym typeface="Montserrat"/>
              </a:rPr>
              <a:t> y </a:t>
            </a:r>
            <a:r>
              <a:rPr b="1" i="0" lang="es" sz="1400" u="none" cap="none" strike="noStrike">
                <a:solidFill>
                  <a:schemeClr val="dk2"/>
                </a:solidFill>
                <a:latin typeface="Montserrat"/>
                <a:ea typeface="Montserrat"/>
                <a:cs typeface="Montserrat"/>
                <a:sym typeface="Montserrat"/>
              </a:rPr>
              <a:t>métodos</a:t>
            </a:r>
            <a:r>
              <a:rPr b="0" i="0" lang="es" sz="1400" u="none" cap="none" strike="noStrike">
                <a:solidFill>
                  <a:schemeClr val="dk2"/>
                </a:solidFill>
                <a:latin typeface="Montserrat"/>
                <a:ea typeface="Montserrat"/>
                <a:cs typeface="Montserrat"/>
                <a:sym typeface="Montserrat"/>
              </a:rPr>
              <a:t>.</a:t>
            </a:r>
            <a:endParaRPr b="0" i="0" sz="1400" u="none" cap="none" strike="noStrike">
              <a:solidFill>
                <a:schemeClr val="dk2"/>
              </a:solidFill>
              <a:latin typeface="Montserrat"/>
              <a:ea typeface="Montserrat"/>
              <a:cs typeface="Montserrat"/>
              <a:sym typeface="Montserrat"/>
            </a:endParaRPr>
          </a:p>
        </p:txBody>
      </p:sp>
      <p:sp>
        <p:nvSpPr>
          <p:cNvPr id="204" name="Google Shape;204;p8"/>
          <p:cNvSpPr txBox="1"/>
          <p:nvPr/>
        </p:nvSpPr>
        <p:spPr>
          <a:xfrm>
            <a:off x="529650" y="4244200"/>
            <a:ext cx="7916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chemeClr val="dk2"/>
                </a:solidFill>
                <a:latin typeface="Montserrat"/>
                <a:ea typeface="Montserrat"/>
                <a:cs typeface="Montserrat"/>
                <a:sym typeface="Montserrat"/>
              </a:rPr>
              <a:t>Los </a:t>
            </a:r>
            <a:r>
              <a:rPr b="1" i="0" lang="es" sz="1400" u="none" cap="none" strike="noStrike">
                <a:solidFill>
                  <a:schemeClr val="dk2"/>
                </a:solidFill>
                <a:latin typeface="Montserrat"/>
                <a:ea typeface="Montserrat"/>
                <a:cs typeface="Montserrat"/>
                <a:sym typeface="Montserrat"/>
              </a:rPr>
              <a:t>objetos</a:t>
            </a:r>
            <a:r>
              <a:rPr b="0" i="0" lang="es" sz="1400" u="none" cap="none" strike="noStrike">
                <a:solidFill>
                  <a:schemeClr val="dk2"/>
                </a:solidFill>
                <a:latin typeface="Montserrat"/>
                <a:ea typeface="Montserrat"/>
                <a:cs typeface="Montserrat"/>
                <a:sym typeface="Montserrat"/>
              </a:rPr>
              <a:t> son personas concretas, cada una con sus características propias.</a:t>
            </a:r>
            <a:endParaRPr b="0" i="0" sz="1400" u="none" cap="none" strike="noStrike">
              <a:solidFill>
                <a:srgbClr val="000000"/>
              </a:solidFill>
              <a:latin typeface="Arial"/>
              <a:ea typeface="Arial"/>
              <a:cs typeface="Arial"/>
              <a:sym typeface="Arial"/>
            </a:endParaRPr>
          </a:p>
        </p:txBody>
      </p:sp>
      <p:sp>
        <p:nvSpPr>
          <p:cNvPr id="205" name="Google Shape;205;p8"/>
          <p:cNvSpPr/>
          <p:nvPr/>
        </p:nvSpPr>
        <p:spPr>
          <a:xfrm>
            <a:off x="3169150" y="3663700"/>
            <a:ext cx="1429800" cy="619500"/>
          </a:xfrm>
          <a:prstGeom prst="rect">
            <a:avLst/>
          </a:prstGeom>
          <a:noFill/>
          <a:ln>
            <a:noFill/>
          </a:ln>
        </p:spPr>
        <p:txBody>
          <a:bodyPr anchorCtr="0" anchor="t"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Ubuntu"/>
              <a:buNone/>
            </a:pPr>
            <a:r>
              <a:rPr b="1" i="0" lang="es" sz="1300" u="none" cap="none" strike="noStrike">
                <a:solidFill>
                  <a:schemeClr val="dk2"/>
                </a:solidFill>
                <a:latin typeface="Montserrat"/>
                <a:ea typeface="Montserrat"/>
                <a:cs typeface="Montserrat"/>
                <a:sym typeface="Montserrat"/>
              </a:rPr>
              <a:t>Objeto 2</a:t>
            </a:r>
            <a:endParaRPr b="1" i="0" sz="1300" u="none" cap="none" strike="noStrike">
              <a:solidFill>
                <a:schemeClr val="dk2"/>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1800"/>
              <a:buFont typeface="Ubuntu"/>
              <a:buNone/>
            </a:pPr>
            <a:r>
              <a:rPr b="0" i="0" lang="es" sz="1200" u="none" cap="none" strike="noStrike">
                <a:solidFill>
                  <a:schemeClr val="dk2"/>
                </a:solidFill>
                <a:latin typeface="Montserrat"/>
                <a:ea typeface="Montserrat"/>
                <a:cs typeface="Montserrat"/>
                <a:sym typeface="Montserrat"/>
              </a:rPr>
              <a:t>Pedro, 16 años, DNI 43014030</a:t>
            </a:r>
            <a:endParaRPr b="0" i="0" sz="1200" u="none" cap="none" strike="noStrike">
              <a:solidFill>
                <a:schemeClr val="dk2"/>
              </a:solidFill>
              <a:latin typeface="Montserrat"/>
              <a:ea typeface="Montserrat"/>
              <a:cs typeface="Montserrat"/>
              <a:sym typeface="Montserrat"/>
            </a:endParaRPr>
          </a:p>
        </p:txBody>
      </p:sp>
      <p:sp>
        <p:nvSpPr>
          <p:cNvPr id="206" name="Google Shape;206;p8"/>
          <p:cNvSpPr/>
          <p:nvPr/>
        </p:nvSpPr>
        <p:spPr>
          <a:xfrm>
            <a:off x="4900925" y="3663700"/>
            <a:ext cx="1429800" cy="619500"/>
          </a:xfrm>
          <a:prstGeom prst="rect">
            <a:avLst/>
          </a:prstGeom>
          <a:noFill/>
          <a:ln>
            <a:noFill/>
          </a:ln>
        </p:spPr>
        <p:txBody>
          <a:bodyPr anchorCtr="0" anchor="t"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Ubuntu"/>
              <a:buNone/>
            </a:pPr>
            <a:r>
              <a:rPr b="1" i="0" lang="es" sz="1300" u="none" cap="none" strike="noStrike">
                <a:solidFill>
                  <a:schemeClr val="dk2"/>
                </a:solidFill>
                <a:latin typeface="Montserrat"/>
                <a:ea typeface="Montserrat"/>
                <a:cs typeface="Montserrat"/>
                <a:sym typeface="Montserrat"/>
              </a:rPr>
              <a:t>Objeto 3</a:t>
            </a:r>
            <a:endParaRPr b="1" i="0" sz="1300" u="none" cap="none" strike="noStrike">
              <a:solidFill>
                <a:schemeClr val="dk2"/>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1800"/>
              <a:buFont typeface="Ubuntu"/>
              <a:buNone/>
            </a:pPr>
            <a:r>
              <a:rPr b="0" i="0" lang="es" sz="1200" u="none" cap="none" strike="noStrike">
                <a:solidFill>
                  <a:schemeClr val="dk2"/>
                </a:solidFill>
                <a:latin typeface="Montserrat"/>
                <a:ea typeface="Montserrat"/>
                <a:cs typeface="Montserrat"/>
                <a:sym typeface="Montserrat"/>
              </a:rPr>
              <a:t>Ana, 19 años, DNI 41801477</a:t>
            </a:r>
            <a:endParaRPr b="0" i="0" sz="1200" u="none" cap="none" strike="noStrike">
              <a:solidFill>
                <a:schemeClr val="dk2"/>
              </a:solidFill>
              <a:latin typeface="Montserrat"/>
              <a:ea typeface="Montserrat"/>
              <a:cs typeface="Montserrat"/>
              <a:sym typeface="Montserrat"/>
            </a:endParaRPr>
          </a:p>
        </p:txBody>
      </p:sp>
      <p:sp>
        <p:nvSpPr>
          <p:cNvPr id="207" name="Google Shape;207;p8"/>
          <p:cNvSpPr/>
          <p:nvPr/>
        </p:nvSpPr>
        <p:spPr>
          <a:xfrm>
            <a:off x="6568400" y="3663700"/>
            <a:ext cx="1429800" cy="619500"/>
          </a:xfrm>
          <a:prstGeom prst="rect">
            <a:avLst/>
          </a:prstGeom>
          <a:noFill/>
          <a:ln>
            <a:noFill/>
          </a:ln>
        </p:spPr>
        <p:txBody>
          <a:bodyPr anchorCtr="0" anchor="t"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Ubuntu"/>
              <a:buNone/>
            </a:pPr>
            <a:r>
              <a:rPr b="1" i="0" lang="es" sz="1300" u="none" cap="none" strike="noStrike">
                <a:solidFill>
                  <a:schemeClr val="dk2"/>
                </a:solidFill>
                <a:latin typeface="Montserrat"/>
                <a:ea typeface="Montserrat"/>
                <a:cs typeface="Montserrat"/>
                <a:sym typeface="Montserrat"/>
              </a:rPr>
              <a:t>Objeto 4</a:t>
            </a:r>
            <a:endParaRPr b="1" i="0" sz="1300" u="none" cap="none" strike="noStrike">
              <a:solidFill>
                <a:schemeClr val="dk2"/>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1800"/>
              <a:buFont typeface="Ubuntu"/>
              <a:buNone/>
            </a:pPr>
            <a:r>
              <a:rPr b="0" i="0" lang="es" sz="1200" u="none" cap="none" strike="noStrike">
                <a:solidFill>
                  <a:schemeClr val="dk2"/>
                </a:solidFill>
                <a:latin typeface="Montserrat"/>
                <a:ea typeface="Montserrat"/>
                <a:cs typeface="Montserrat"/>
                <a:sym typeface="Montserrat"/>
              </a:rPr>
              <a:t>María, 22 años, DNI 40583221</a:t>
            </a:r>
            <a:endParaRPr b="0" i="0" sz="12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9"/>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Objetos y clases</a:t>
            </a:r>
            <a:endParaRPr/>
          </a:p>
        </p:txBody>
      </p:sp>
      <p:sp>
        <p:nvSpPr>
          <p:cNvPr id="213" name="Google Shape;213;p9"/>
          <p:cNvSpPr txBox="1"/>
          <p:nvPr/>
        </p:nvSpPr>
        <p:spPr>
          <a:xfrm>
            <a:off x="436425" y="1281700"/>
            <a:ext cx="8279700" cy="3275400"/>
          </a:xfrm>
          <a:prstGeom prst="rect">
            <a:avLst/>
          </a:prstGeom>
          <a:noFill/>
          <a:ln>
            <a:noFill/>
          </a:ln>
        </p:spPr>
        <p:txBody>
          <a:bodyPr anchorCtr="0" anchor="t" bIns="91425" lIns="0" spcFirstLastPara="1" rIns="0" wrap="square" tIns="91425">
            <a:normAutofit lnSpcReduction="20000"/>
          </a:bodyPr>
          <a:lstStyle/>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chemeClr val="dk2"/>
                </a:solidFill>
                <a:latin typeface="Montserrat"/>
                <a:ea typeface="Montserrat"/>
                <a:cs typeface="Montserrat"/>
                <a:sym typeface="Montserrat"/>
              </a:rPr>
              <a:t>Conceptos relacionados con clases y objetos:</a:t>
            </a:r>
            <a:endParaRPr b="0" i="0" sz="1682" u="none" cap="none" strike="noStrike">
              <a:solidFill>
                <a:schemeClr val="dk2"/>
              </a:solidFill>
              <a:latin typeface="Montserrat"/>
              <a:ea typeface="Montserrat"/>
              <a:cs typeface="Montserrat"/>
              <a:sym typeface="Montserrat"/>
            </a:endParaRPr>
          </a:p>
          <a:p>
            <a:pPr indent="-335429" lvl="0" marL="457200" marR="0" rtl="0" algn="l">
              <a:lnSpc>
                <a:spcPct val="115000"/>
              </a:lnSpc>
              <a:spcBef>
                <a:spcPts val="1199"/>
              </a:spcBef>
              <a:spcAft>
                <a:spcPts val="0"/>
              </a:spcAft>
              <a:buClr>
                <a:schemeClr val="dk2"/>
              </a:buClr>
              <a:buSzPts val="1682"/>
              <a:buFont typeface="Montserrat"/>
              <a:buChar char="●"/>
            </a:pPr>
            <a:r>
              <a:rPr b="1" i="0" lang="es" sz="1682" u="none" cap="none" strike="noStrike">
                <a:solidFill>
                  <a:schemeClr val="dk2"/>
                </a:solidFill>
                <a:latin typeface="Montserrat"/>
                <a:ea typeface="Montserrat"/>
                <a:cs typeface="Montserrat"/>
                <a:sym typeface="Montserrat"/>
              </a:rPr>
              <a:t>Atributos</a:t>
            </a:r>
            <a:r>
              <a:rPr b="0" i="0" lang="es" sz="1682" u="none" cap="none" strike="noStrike">
                <a:solidFill>
                  <a:schemeClr val="dk2"/>
                </a:solidFill>
                <a:latin typeface="Montserrat"/>
                <a:ea typeface="Montserrat"/>
                <a:cs typeface="Montserrat"/>
                <a:sym typeface="Montserrat"/>
              </a:rPr>
              <a:t>: Son datos que caracterizan al objeto, almacenan datos relacionados con su estado.</a:t>
            </a:r>
            <a:endParaRPr b="0" i="0" sz="1682" u="none" cap="none" strike="noStrike">
              <a:solidFill>
                <a:schemeClr val="dk2"/>
              </a:solidFill>
              <a:latin typeface="Montserrat"/>
              <a:ea typeface="Montserrat"/>
              <a:cs typeface="Montserrat"/>
              <a:sym typeface="Montserrat"/>
            </a:endParaRPr>
          </a:p>
          <a:p>
            <a:pPr indent="-335429" lvl="0" marL="457200" marR="0" rtl="0" algn="l">
              <a:lnSpc>
                <a:spcPct val="115000"/>
              </a:lnSpc>
              <a:spcBef>
                <a:spcPts val="0"/>
              </a:spcBef>
              <a:spcAft>
                <a:spcPts val="0"/>
              </a:spcAft>
              <a:buClr>
                <a:schemeClr val="dk2"/>
              </a:buClr>
              <a:buSzPts val="1682"/>
              <a:buFont typeface="Montserrat"/>
              <a:buChar char="●"/>
            </a:pPr>
            <a:r>
              <a:rPr b="1" i="0" lang="es" sz="1682" u="none" cap="none" strike="noStrike">
                <a:solidFill>
                  <a:schemeClr val="dk2"/>
                </a:solidFill>
                <a:latin typeface="Montserrat"/>
                <a:ea typeface="Montserrat"/>
                <a:cs typeface="Montserrat"/>
                <a:sym typeface="Montserrat"/>
              </a:rPr>
              <a:t>Métodos</a:t>
            </a:r>
            <a:r>
              <a:rPr b="0" i="0" lang="es" sz="1682" u="none" cap="none" strike="noStrike">
                <a:solidFill>
                  <a:schemeClr val="dk2"/>
                </a:solidFill>
                <a:latin typeface="Montserrat"/>
                <a:ea typeface="Montserrat"/>
                <a:cs typeface="Montserrat"/>
                <a:sym typeface="Montserrat"/>
              </a:rPr>
              <a:t>: Caracterizan el comportamiento del objeto. Son las acciones que el objeto puede realizar por sí mismo, como responder a solicitudes externas o actuar sobre otros objetos. Pueden depender de, o modificar los valores de un atributo.</a:t>
            </a:r>
            <a:endParaRPr b="0" i="0" sz="1682" u="none" cap="none" strike="noStrike">
              <a:solidFill>
                <a:schemeClr val="dk2"/>
              </a:solidFill>
              <a:latin typeface="Montserrat"/>
              <a:ea typeface="Montserrat"/>
              <a:cs typeface="Montserrat"/>
              <a:sym typeface="Montserrat"/>
            </a:endParaRPr>
          </a:p>
          <a:p>
            <a:pPr indent="-335429" lvl="0" marL="457200" marR="0" rtl="0" algn="l">
              <a:lnSpc>
                <a:spcPct val="115000"/>
              </a:lnSpc>
              <a:spcBef>
                <a:spcPts val="0"/>
              </a:spcBef>
              <a:spcAft>
                <a:spcPts val="0"/>
              </a:spcAft>
              <a:buClr>
                <a:schemeClr val="dk2"/>
              </a:buClr>
              <a:buSzPts val="1682"/>
              <a:buFont typeface="Montserrat"/>
              <a:buChar char="●"/>
            </a:pPr>
            <a:r>
              <a:rPr b="1" i="0" lang="es" sz="1682" u="none" cap="none" strike="noStrike">
                <a:solidFill>
                  <a:schemeClr val="dk2"/>
                </a:solidFill>
                <a:latin typeface="Montserrat"/>
                <a:ea typeface="Montserrat"/>
                <a:cs typeface="Montserrat"/>
                <a:sym typeface="Montserrat"/>
              </a:rPr>
              <a:t>Identidad</a:t>
            </a:r>
            <a:r>
              <a:rPr b="0" i="0" lang="es" sz="1682" u="none" cap="none" strike="noStrike">
                <a:solidFill>
                  <a:schemeClr val="dk2"/>
                </a:solidFill>
                <a:latin typeface="Montserrat"/>
                <a:ea typeface="Montserrat"/>
                <a:cs typeface="Montserrat"/>
                <a:sym typeface="Montserrat"/>
              </a:rPr>
              <a:t>: Cada objeto tiene una identidad que lo distingue de otros objetos, sin considerar su estado. Por lo general, esta identidad se crea mediante un identificador que deriva naturalmente de un problema (por ejemplo: un producto puede estar representado por un código, un automóvil por un número de modelo, etc.).</a:t>
            </a:r>
            <a:endParaRPr b="0" i="0" sz="1682" u="none" cap="none" strike="noStrike">
              <a:solidFill>
                <a:srgbClr val="595959"/>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0"/>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Objetos | Atributos y métodos - Ejemplo</a:t>
            </a:r>
            <a:endParaRPr/>
          </a:p>
        </p:txBody>
      </p:sp>
      <p:pic>
        <p:nvPicPr>
          <p:cNvPr id="219" name="Google Shape;219;p10"/>
          <p:cNvPicPr preferRelativeResize="0"/>
          <p:nvPr/>
        </p:nvPicPr>
        <p:blipFill rotWithShape="1">
          <a:blip r:embed="rId3">
            <a:alphaModFix/>
          </a:blip>
          <a:srcRect b="0" l="0" r="0" t="0"/>
          <a:stretch/>
        </p:blipFill>
        <p:spPr>
          <a:xfrm>
            <a:off x="1812423" y="1377100"/>
            <a:ext cx="5748300" cy="3322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1"/>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Objetos | Atributos y métodos - Ejemplo</a:t>
            </a:r>
            <a:endParaRPr/>
          </a:p>
        </p:txBody>
      </p:sp>
      <p:sp>
        <p:nvSpPr>
          <p:cNvPr id="225" name="Google Shape;225;p11"/>
          <p:cNvSpPr txBox="1"/>
          <p:nvPr/>
        </p:nvSpPr>
        <p:spPr>
          <a:xfrm>
            <a:off x="436425" y="1281700"/>
            <a:ext cx="8279700" cy="3275400"/>
          </a:xfrm>
          <a:prstGeom prst="rect">
            <a:avLst/>
          </a:prstGeom>
          <a:noFill/>
          <a:ln>
            <a:noFill/>
          </a:ln>
        </p:spPr>
        <p:txBody>
          <a:bodyPr anchorCtr="0" anchor="t" bIns="91425" lIns="0" spcFirstLastPara="1" rIns="0" wrap="square" tIns="91425">
            <a:normAutofit lnSpcReduction="10000"/>
          </a:bodyPr>
          <a:lstStyle/>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chemeClr val="dk2"/>
                </a:solidFill>
                <a:latin typeface="Montserrat"/>
                <a:ea typeface="Montserrat"/>
                <a:cs typeface="Montserrat"/>
                <a:sym typeface="Montserrat"/>
              </a:rPr>
              <a:t>Los objetos de la clase Bicicleta comparten atributos y métodos:</a:t>
            </a:r>
            <a:endParaRPr b="0" i="0" sz="1682" u="none" cap="none" strike="noStrike">
              <a:solidFill>
                <a:schemeClr val="dk2"/>
              </a:solidFill>
              <a:latin typeface="Montserrat"/>
              <a:ea typeface="Montserrat"/>
              <a:cs typeface="Montserrat"/>
              <a:sym typeface="Montserrat"/>
            </a:endParaRPr>
          </a:p>
          <a:p>
            <a:pPr indent="-335429" lvl="0" marL="457200" marR="0" rtl="0" algn="l">
              <a:lnSpc>
                <a:spcPct val="115000"/>
              </a:lnSpc>
              <a:spcBef>
                <a:spcPts val="1199"/>
              </a:spcBef>
              <a:spcAft>
                <a:spcPts val="0"/>
              </a:spcAft>
              <a:buClr>
                <a:schemeClr val="dk2"/>
              </a:buClr>
              <a:buSzPts val="1682"/>
              <a:buFont typeface="Montserrat"/>
              <a:buChar char="●"/>
            </a:pPr>
            <a:r>
              <a:rPr b="0" i="0" lang="es" sz="1682" u="none" cap="none" strike="noStrike">
                <a:solidFill>
                  <a:schemeClr val="dk2"/>
                </a:solidFill>
                <a:latin typeface="Montserrat"/>
                <a:ea typeface="Montserrat"/>
                <a:cs typeface="Montserrat"/>
                <a:sym typeface="Montserrat"/>
              </a:rPr>
              <a:t>Los</a:t>
            </a:r>
            <a:r>
              <a:rPr b="1" i="0" lang="es" sz="1682" u="none" cap="none" strike="noStrike">
                <a:solidFill>
                  <a:schemeClr val="dk2"/>
                </a:solidFill>
                <a:latin typeface="Montserrat"/>
                <a:ea typeface="Montserrat"/>
                <a:cs typeface="Montserrat"/>
                <a:sym typeface="Montserrat"/>
              </a:rPr>
              <a:t> atributos</a:t>
            </a:r>
            <a:r>
              <a:rPr b="0" i="0" lang="es" sz="1682" u="none" cap="none" strike="noStrike">
                <a:solidFill>
                  <a:schemeClr val="dk2"/>
                </a:solidFill>
                <a:latin typeface="Montserrat"/>
                <a:ea typeface="Montserrat"/>
                <a:cs typeface="Montserrat"/>
                <a:sym typeface="Montserrat"/>
              </a:rPr>
              <a:t> </a:t>
            </a:r>
            <a:r>
              <a:rPr b="0" i="1" lang="es" sz="1682" u="none" cap="none" strike="noStrike">
                <a:solidFill>
                  <a:schemeClr val="dk2"/>
                </a:solidFill>
                <a:latin typeface="Montserrat"/>
                <a:ea typeface="Montserrat"/>
                <a:cs typeface="Montserrat"/>
                <a:sym typeface="Montserrat"/>
              </a:rPr>
              <a:t>tipo_sillin</a:t>
            </a:r>
            <a:r>
              <a:rPr b="0" i="0" lang="es" sz="1682" u="none" cap="none" strike="noStrike">
                <a:solidFill>
                  <a:schemeClr val="dk2"/>
                </a:solidFill>
                <a:latin typeface="Montserrat"/>
                <a:ea typeface="Montserrat"/>
                <a:cs typeface="Montserrat"/>
                <a:sym typeface="Montserrat"/>
              </a:rPr>
              <a:t>, </a:t>
            </a:r>
            <a:r>
              <a:rPr b="0" i="1" lang="es" sz="1682" u="none" cap="none" strike="noStrike">
                <a:solidFill>
                  <a:schemeClr val="dk2"/>
                </a:solidFill>
                <a:latin typeface="Montserrat"/>
                <a:ea typeface="Montserrat"/>
                <a:cs typeface="Montserrat"/>
                <a:sym typeface="Montserrat"/>
              </a:rPr>
              <a:t>num_radios</a:t>
            </a:r>
            <a:r>
              <a:rPr b="0" i="0" lang="es" sz="1682" u="none" cap="none" strike="noStrike">
                <a:solidFill>
                  <a:schemeClr val="dk2"/>
                </a:solidFill>
                <a:latin typeface="Montserrat"/>
                <a:ea typeface="Montserrat"/>
                <a:cs typeface="Montserrat"/>
                <a:sym typeface="Montserrat"/>
              </a:rPr>
              <a:t> y </a:t>
            </a:r>
            <a:r>
              <a:rPr b="0" i="1" lang="es" sz="1682" u="none" cap="none" strike="noStrike">
                <a:solidFill>
                  <a:schemeClr val="dk2"/>
                </a:solidFill>
                <a:latin typeface="Montserrat"/>
                <a:ea typeface="Montserrat"/>
                <a:cs typeface="Montserrat"/>
                <a:sym typeface="Montserrat"/>
              </a:rPr>
              <a:t>diam_rueda</a:t>
            </a:r>
            <a:r>
              <a:rPr b="0" i="0" lang="es" sz="1682" u="none" cap="none" strike="noStrike">
                <a:solidFill>
                  <a:schemeClr val="dk2"/>
                </a:solidFill>
                <a:latin typeface="Montserrat"/>
                <a:ea typeface="Montserrat"/>
                <a:cs typeface="Montserrat"/>
                <a:sym typeface="Montserrat"/>
              </a:rPr>
              <a:t> están presentes en todos los objetos de la clase, pero posiblemente sus valores varían de un objeto Bicicleta a otro. </a:t>
            </a:r>
            <a:endParaRPr b="0" i="0" sz="1682" u="none" cap="none" strike="noStrike">
              <a:solidFill>
                <a:schemeClr val="dk2"/>
              </a:solidFill>
              <a:latin typeface="Montserrat"/>
              <a:ea typeface="Montserrat"/>
              <a:cs typeface="Montserrat"/>
              <a:sym typeface="Montserrat"/>
            </a:endParaRPr>
          </a:p>
          <a:p>
            <a:pPr indent="-335429" lvl="0" marL="457200" marR="0" rtl="0" algn="l">
              <a:lnSpc>
                <a:spcPct val="115000"/>
              </a:lnSpc>
              <a:spcBef>
                <a:spcPts val="0"/>
              </a:spcBef>
              <a:spcAft>
                <a:spcPts val="0"/>
              </a:spcAft>
              <a:buClr>
                <a:schemeClr val="dk2"/>
              </a:buClr>
              <a:buSzPts val="1682"/>
              <a:buFont typeface="Montserrat"/>
              <a:buChar char="●"/>
            </a:pPr>
            <a:r>
              <a:rPr b="0" i="0" lang="es" sz="1682" u="none" cap="none" strike="noStrike">
                <a:solidFill>
                  <a:schemeClr val="dk2"/>
                </a:solidFill>
                <a:latin typeface="Montserrat"/>
                <a:ea typeface="Montserrat"/>
                <a:cs typeface="Montserrat"/>
                <a:sym typeface="Montserrat"/>
              </a:rPr>
              <a:t>Los</a:t>
            </a:r>
            <a:r>
              <a:rPr b="1" i="0" lang="es" sz="1682" u="none" cap="none" strike="noStrike">
                <a:solidFill>
                  <a:schemeClr val="dk2"/>
                </a:solidFill>
                <a:latin typeface="Montserrat"/>
                <a:ea typeface="Montserrat"/>
                <a:cs typeface="Montserrat"/>
                <a:sym typeface="Montserrat"/>
              </a:rPr>
              <a:t> métodos </a:t>
            </a:r>
            <a:r>
              <a:rPr b="0" i="1" lang="es" sz="1682" u="none" cap="none" strike="noStrike">
                <a:solidFill>
                  <a:schemeClr val="dk2"/>
                </a:solidFill>
                <a:latin typeface="Montserrat"/>
                <a:ea typeface="Montserrat"/>
                <a:cs typeface="Montserrat"/>
                <a:sym typeface="Montserrat"/>
              </a:rPr>
              <a:t>frenar</a:t>
            </a:r>
            <a:r>
              <a:rPr b="0" i="0" lang="es" sz="1682" u="none" cap="none" strike="noStrike">
                <a:solidFill>
                  <a:schemeClr val="dk2"/>
                </a:solidFill>
                <a:latin typeface="Montserrat"/>
                <a:ea typeface="Montserrat"/>
                <a:cs typeface="Montserrat"/>
                <a:sym typeface="Montserrat"/>
              </a:rPr>
              <a:t>, </a:t>
            </a:r>
            <a:r>
              <a:rPr b="0" i="1" lang="es" sz="1682" u="none" cap="none" strike="noStrike">
                <a:solidFill>
                  <a:schemeClr val="dk2"/>
                </a:solidFill>
                <a:latin typeface="Montserrat"/>
                <a:ea typeface="Montserrat"/>
                <a:cs typeface="Montserrat"/>
                <a:sym typeface="Montserrat"/>
              </a:rPr>
              <a:t>girar</a:t>
            </a:r>
            <a:r>
              <a:rPr b="0" i="0" lang="es" sz="1682" u="none" cap="none" strike="noStrike">
                <a:solidFill>
                  <a:schemeClr val="dk2"/>
                </a:solidFill>
                <a:latin typeface="Montserrat"/>
                <a:ea typeface="Montserrat"/>
                <a:cs typeface="Montserrat"/>
                <a:sym typeface="Montserrat"/>
              </a:rPr>
              <a:t> y </a:t>
            </a:r>
            <a:r>
              <a:rPr b="0" i="1" lang="es" sz="1682" u="none" cap="none" strike="noStrike">
                <a:solidFill>
                  <a:schemeClr val="dk2"/>
                </a:solidFill>
                <a:latin typeface="Montserrat"/>
                <a:ea typeface="Montserrat"/>
                <a:cs typeface="Montserrat"/>
                <a:sym typeface="Montserrat"/>
              </a:rPr>
              <a:t>pedalear</a:t>
            </a:r>
            <a:r>
              <a:rPr b="0" i="0" lang="es" sz="1682" u="none" cap="none" strike="noStrike">
                <a:solidFill>
                  <a:schemeClr val="dk2"/>
                </a:solidFill>
                <a:latin typeface="Montserrat"/>
                <a:ea typeface="Montserrat"/>
                <a:cs typeface="Montserrat"/>
                <a:sym typeface="Montserrat"/>
              </a:rPr>
              <a:t> son compartidos por todas las instancias que se crean a partir de la clase bicicleta. Pero en cada instancia se invocan cuando sea necesario: no todas las instancias van a frenar o acelerar al mismo tiempo.</a:t>
            </a:r>
            <a:endParaRPr b="0" i="0" sz="1682" u="none" cap="none" strike="noStrike">
              <a:solidFill>
                <a:schemeClr val="dk2"/>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chemeClr val="dk2"/>
                </a:solidFill>
                <a:latin typeface="Montserrat"/>
                <a:ea typeface="Montserrat"/>
                <a:cs typeface="Montserrat"/>
                <a:sym typeface="Montserrat"/>
              </a:rPr>
              <a:t>Resumiendo, estas características están presentes en todas las bicicletas creadas a partir de la “plantilla” Bicicleta.</a:t>
            </a:r>
            <a:endParaRPr b="0" i="0" sz="1682"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2"/>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Clases | Definición</a:t>
            </a:r>
            <a:endParaRPr/>
          </a:p>
        </p:txBody>
      </p:sp>
      <p:sp>
        <p:nvSpPr>
          <p:cNvPr id="231" name="Google Shape;231;p12"/>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00000"/>
              </a:lnSpc>
              <a:spcBef>
                <a:spcPts val="0"/>
              </a:spcBef>
              <a:spcAft>
                <a:spcPts val="0"/>
              </a:spcAft>
              <a:buClr>
                <a:schemeClr val="dk1"/>
              </a:buClr>
              <a:buSzPts val="1100"/>
              <a:buFont typeface="Arial"/>
              <a:buNone/>
            </a:pPr>
            <a:r>
              <a:rPr b="0" i="0" lang="es" sz="1650" u="none" cap="none" strike="noStrike">
                <a:solidFill>
                  <a:schemeClr val="dk2"/>
                </a:solidFill>
                <a:latin typeface="Montserrat"/>
                <a:ea typeface="Montserrat"/>
                <a:cs typeface="Montserrat"/>
                <a:sym typeface="Montserrat"/>
              </a:rPr>
              <a:t>Los nombres de las clases se escriben camelCase. Se definen con la palabra clave </a:t>
            </a:r>
            <a:r>
              <a:rPr b="1" i="0" lang="es" sz="1650" u="none" cap="none" strike="noStrike">
                <a:solidFill>
                  <a:schemeClr val="dk2"/>
                </a:solidFill>
                <a:latin typeface="Montserrat"/>
                <a:ea typeface="Montserrat"/>
                <a:cs typeface="Montserrat"/>
                <a:sym typeface="Montserrat"/>
              </a:rPr>
              <a:t>class</a:t>
            </a:r>
            <a:r>
              <a:rPr b="0" i="0" lang="es" sz="1650" u="none" cap="none" strike="noStrike">
                <a:solidFill>
                  <a:schemeClr val="dk2"/>
                </a:solidFill>
                <a:latin typeface="Montserrat"/>
                <a:ea typeface="Montserrat"/>
                <a:cs typeface="Montserrat"/>
                <a:sym typeface="Montserrat"/>
              </a:rPr>
              <a:t>, seguida del nombre de la clase y dos puntos. Los objetos se declaran como variables, y se accede a sus atributos utilizando la notación punto:</a:t>
            </a:r>
            <a:endParaRPr b="0"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chemeClr val="dk1"/>
              </a:buClr>
              <a:buSzPts val="1100"/>
              <a:buFont typeface="Arial"/>
              <a:buNone/>
            </a:pPr>
            <a:r>
              <a:t/>
            </a:r>
            <a:endParaRPr b="0"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t/>
            </a:r>
            <a:endParaRPr b="0" i="0" sz="1682" u="none" cap="none" strike="noStrike">
              <a:solidFill>
                <a:srgbClr val="595959"/>
              </a:solidFill>
              <a:latin typeface="Montserrat"/>
              <a:ea typeface="Montserrat"/>
              <a:cs typeface="Montserrat"/>
              <a:sym typeface="Montserrat"/>
            </a:endParaRPr>
          </a:p>
        </p:txBody>
      </p:sp>
      <p:sp>
        <p:nvSpPr>
          <p:cNvPr id="232" name="Google Shape;232;p12"/>
          <p:cNvSpPr/>
          <p:nvPr/>
        </p:nvSpPr>
        <p:spPr>
          <a:xfrm>
            <a:off x="2229750" y="2614000"/>
            <a:ext cx="4684500" cy="19431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 Definimos la clase Persona</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C74DED"/>
                </a:solidFill>
                <a:highlight>
                  <a:srgbClr val="23262E"/>
                </a:highlight>
                <a:latin typeface="Consolas"/>
                <a:ea typeface="Consolas"/>
                <a:cs typeface="Consolas"/>
                <a:sym typeface="Consolas"/>
              </a:rPr>
              <a:t>class</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Persona</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Atributo, presente en todos</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los objetos que pertenecen a la clase</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piernas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2</a:t>
            </a:r>
            <a:endParaRPr b="0" i="0" sz="1200" u="none" cap="none" strike="noStrike">
              <a:solidFill>
                <a:srgbClr val="F39C1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 Instanciamos un objeto de la clase Persona</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juan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Persona</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 Imprimimos un atributo del objeto</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(juan.piernas)  </a:t>
            </a:r>
            <a:r>
              <a:rPr b="0" i="0" lang="es" sz="1200" u="none" cap="none" strike="noStrike">
                <a:solidFill>
                  <a:srgbClr val="5F6167"/>
                </a:solidFill>
                <a:highlight>
                  <a:srgbClr val="23262E"/>
                </a:highlight>
                <a:latin typeface="Consolas"/>
                <a:ea typeface="Consolas"/>
                <a:cs typeface="Consolas"/>
                <a:sym typeface="Consolas"/>
              </a:rPr>
              <a:t># 2</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5F6167"/>
              </a:solidFill>
              <a:highlight>
                <a:srgbClr val="23262E"/>
              </a:highlight>
              <a:latin typeface="Consolas"/>
              <a:ea typeface="Consolas"/>
              <a:cs typeface="Consolas"/>
              <a:sym typeface="Consolas"/>
            </a:endParaRPr>
          </a:p>
        </p:txBody>
      </p:sp>
      <p:sp>
        <p:nvSpPr>
          <p:cNvPr id="233" name="Google Shape;233;p12"/>
          <p:cNvSpPr/>
          <p:nvPr/>
        </p:nvSpPr>
        <p:spPr>
          <a:xfrm>
            <a:off x="2229750" y="2385100"/>
            <a:ext cx="46845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Creación de una clase y un objeto:</a:t>
            </a:r>
            <a:endParaRPr b="0" i="0" sz="1400" u="none" cap="none" strike="noStrike">
              <a:solidFill>
                <a:schemeClr val="dk2"/>
              </a:solidFill>
              <a:latin typeface="Montserrat"/>
              <a:ea typeface="Montserrat"/>
              <a:cs typeface="Montserrat"/>
              <a:sym typeface="Montserrat"/>
            </a:endParaRPr>
          </a:p>
        </p:txBody>
      </p:sp>
      <p:cxnSp>
        <p:nvCxnSpPr>
          <p:cNvPr id="234" name="Google Shape;234;p12"/>
          <p:cNvCxnSpPr/>
          <p:nvPr/>
        </p:nvCxnSpPr>
        <p:spPr>
          <a:xfrm>
            <a:off x="1690638" y="2951875"/>
            <a:ext cx="539100" cy="6600"/>
          </a:xfrm>
          <a:prstGeom prst="straightConnector1">
            <a:avLst/>
          </a:prstGeom>
          <a:noFill/>
          <a:ln cap="flat" cmpd="sng" w="28575">
            <a:solidFill>
              <a:schemeClr val="dk2"/>
            </a:solidFill>
            <a:prstDash val="solid"/>
            <a:round/>
            <a:headEnd len="sm" w="sm" type="none"/>
            <a:tailEnd len="med" w="med" type="triangle"/>
          </a:ln>
        </p:spPr>
      </p:cxnSp>
      <p:sp>
        <p:nvSpPr>
          <p:cNvPr id="235" name="Google Shape;235;p12"/>
          <p:cNvSpPr/>
          <p:nvPr/>
        </p:nvSpPr>
        <p:spPr>
          <a:xfrm>
            <a:off x="632125" y="2775613"/>
            <a:ext cx="1087200" cy="360000"/>
          </a:xfrm>
          <a:prstGeom prst="flowChartAlternateProcess">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Montserrat"/>
                <a:ea typeface="Montserrat"/>
                <a:cs typeface="Montserrat"/>
                <a:sym typeface="Montserrat"/>
              </a:rPr>
              <a:t>Clase</a:t>
            </a:r>
            <a:endParaRPr b="0" i="0" sz="1100" u="none" cap="none" strike="noStrike">
              <a:solidFill>
                <a:schemeClr val="dk2"/>
              </a:solidFill>
              <a:latin typeface="Montserrat"/>
              <a:ea typeface="Montserrat"/>
              <a:cs typeface="Montserrat"/>
              <a:sym typeface="Montserrat"/>
            </a:endParaRPr>
          </a:p>
        </p:txBody>
      </p:sp>
      <p:cxnSp>
        <p:nvCxnSpPr>
          <p:cNvPr id="236" name="Google Shape;236;p12"/>
          <p:cNvCxnSpPr>
            <a:stCxn id="237" idx="3"/>
          </p:cNvCxnSpPr>
          <p:nvPr/>
        </p:nvCxnSpPr>
        <p:spPr>
          <a:xfrm>
            <a:off x="1719325" y="3666363"/>
            <a:ext cx="501300" cy="352500"/>
          </a:xfrm>
          <a:prstGeom prst="straightConnector1">
            <a:avLst/>
          </a:prstGeom>
          <a:noFill/>
          <a:ln cap="flat" cmpd="sng" w="28575">
            <a:solidFill>
              <a:schemeClr val="dk2"/>
            </a:solidFill>
            <a:prstDash val="solid"/>
            <a:round/>
            <a:headEnd len="sm" w="sm" type="none"/>
            <a:tailEnd len="med" w="med" type="triangle"/>
          </a:ln>
        </p:spPr>
      </p:cxnSp>
      <p:sp>
        <p:nvSpPr>
          <p:cNvPr id="237" name="Google Shape;237;p12"/>
          <p:cNvSpPr/>
          <p:nvPr/>
        </p:nvSpPr>
        <p:spPr>
          <a:xfrm>
            <a:off x="632125" y="3486363"/>
            <a:ext cx="1087200" cy="360000"/>
          </a:xfrm>
          <a:prstGeom prst="flowChartAlternateProcess">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Montserrat"/>
                <a:ea typeface="Montserrat"/>
                <a:cs typeface="Montserrat"/>
                <a:sym typeface="Montserrat"/>
              </a:rPr>
              <a:t>Objeto</a:t>
            </a:r>
            <a:endParaRPr b="0" i="0" sz="1100" u="none" cap="none" strike="noStrike">
              <a:solidFill>
                <a:schemeClr val="dk2"/>
              </a:solidFill>
              <a:latin typeface="Montserrat"/>
              <a:ea typeface="Montserrat"/>
              <a:cs typeface="Montserrat"/>
              <a:sym typeface="Montserrat"/>
            </a:endParaRPr>
          </a:p>
        </p:txBody>
      </p:sp>
      <p:sp>
        <p:nvSpPr>
          <p:cNvPr id="238" name="Google Shape;238;p12"/>
          <p:cNvSpPr/>
          <p:nvPr/>
        </p:nvSpPr>
        <p:spPr>
          <a:xfrm>
            <a:off x="632125" y="4018875"/>
            <a:ext cx="1087200" cy="538200"/>
          </a:xfrm>
          <a:prstGeom prst="flowChartAlternateProcess">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Montserrat"/>
                <a:ea typeface="Montserrat"/>
                <a:cs typeface="Montserrat"/>
                <a:sym typeface="Montserrat"/>
              </a:rPr>
              <a:t>Notación punto</a:t>
            </a:r>
            <a:endParaRPr b="0" i="0" sz="1100" u="none" cap="none" strike="noStrike">
              <a:solidFill>
                <a:schemeClr val="dk2"/>
              </a:solidFill>
              <a:latin typeface="Montserrat"/>
              <a:ea typeface="Montserrat"/>
              <a:cs typeface="Montserrat"/>
              <a:sym typeface="Montserrat"/>
            </a:endParaRPr>
          </a:p>
        </p:txBody>
      </p:sp>
      <p:cxnSp>
        <p:nvCxnSpPr>
          <p:cNvPr id="239" name="Google Shape;239;p12"/>
          <p:cNvCxnSpPr>
            <a:stCxn id="238" idx="3"/>
          </p:cNvCxnSpPr>
          <p:nvPr/>
        </p:nvCxnSpPr>
        <p:spPr>
          <a:xfrm>
            <a:off x="1719325" y="4287975"/>
            <a:ext cx="510300" cy="92400"/>
          </a:xfrm>
          <a:prstGeom prst="straightConnector1">
            <a:avLst/>
          </a:prstGeom>
          <a:noFill/>
          <a:ln cap="flat" cmpd="sng" w="28575">
            <a:solidFill>
              <a:schemeClr val="dk2"/>
            </a:solidFill>
            <a:prstDash val="solid"/>
            <a:round/>
            <a:headEnd len="sm" w="sm" type="none"/>
            <a:tailEnd len="med" w="med" type="triangle"/>
          </a:ln>
        </p:spPr>
      </p:cxnSp>
      <p:cxnSp>
        <p:nvCxnSpPr>
          <p:cNvPr id="240" name="Google Shape;240;p12"/>
          <p:cNvCxnSpPr>
            <a:stCxn id="241" idx="1"/>
          </p:cNvCxnSpPr>
          <p:nvPr/>
        </p:nvCxnSpPr>
        <p:spPr>
          <a:xfrm rot="10800000">
            <a:off x="3639100" y="3517438"/>
            <a:ext cx="856200" cy="68100"/>
          </a:xfrm>
          <a:prstGeom prst="straightConnector1">
            <a:avLst/>
          </a:prstGeom>
          <a:noFill/>
          <a:ln cap="flat" cmpd="sng" w="28575">
            <a:solidFill>
              <a:schemeClr val="dk2"/>
            </a:solidFill>
            <a:prstDash val="solid"/>
            <a:round/>
            <a:headEnd len="sm" w="sm" type="none"/>
            <a:tailEnd len="med" w="med" type="triangle"/>
          </a:ln>
        </p:spPr>
      </p:cxnSp>
      <p:sp>
        <p:nvSpPr>
          <p:cNvPr id="241" name="Google Shape;241;p12"/>
          <p:cNvSpPr/>
          <p:nvPr/>
        </p:nvSpPr>
        <p:spPr>
          <a:xfrm>
            <a:off x="4495300" y="3405538"/>
            <a:ext cx="1087200" cy="360000"/>
          </a:xfrm>
          <a:prstGeom prst="flowChartAlternateProcess">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Montserrat"/>
                <a:ea typeface="Montserrat"/>
                <a:cs typeface="Montserrat"/>
                <a:sym typeface="Montserrat"/>
              </a:rPr>
              <a:t>Atributo</a:t>
            </a:r>
            <a:endParaRPr b="0" i="0" sz="11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3"/>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Clases | Definición</a:t>
            </a:r>
            <a:endParaRPr/>
          </a:p>
        </p:txBody>
      </p:sp>
      <p:sp>
        <p:nvSpPr>
          <p:cNvPr id="247" name="Google Shape;247;p13"/>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00000"/>
              </a:lnSpc>
              <a:spcBef>
                <a:spcPts val="0"/>
              </a:spcBef>
              <a:spcAft>
                <a:spcPts val="0"/>
              </a:spcAft>
              <a:buClr>
                <a:schemeClr val="dk1"/>
              </a:buClr>
              <a:buSzPts val="1100"/>
              <a:buFont typeface="Arial"/>
              <a:buNone/>
            </a:pPr>
            <a:r>
              <a:rPr b="0" i="0" lang="es" sz="1650" u="none" cap="none" strike="noStrike">
                <a:solidFill>
                  <a:schemeClr val="dk2"/>
                </a:solidFill>
                <a:latin typeface="Montserrat"/>
                <a:ea typeface="Montserrat"/>
                <a:cs typeface="Montserrat"/>
                <a:sym typeface="Montserrat"/>
              </a:rPr>
              <a:t>Los objetos pueden tener sus propios atributos, llamados </a:t>
            </a:r>
            <a:r>
              <a:rPr b="1" i="0" lang="es" sz="1650" u="none" cap="none" strike="noStrike">
                <a:solidFill>
                  <a:schemeClr val="dk2"/>
                </a:solidFill>
                <a:latin typeface="Montserrat"/>
                <a:ea typeface="Montserrat"/>
                <a:cs typeface="Montserrat"/>
                <a:sym typeface="Montserrat"/>
              </a:rPr>
              <a:t>atributos de instancia</a:t>
            </a:r>
            <a:r>
              <a:rPr b="0" i="0" lang="es" sz="1650" u="none" cap="none" strike="noStrike">
                <a:solidFill>
                  <a:schemeClr val="dk2"/>
                </a:solidFill>
                <a:latin typeface="Montserrat"/>
                <a:ea typeface="Montserrat"/>
                <a:cs typeface="Montserrat"/>
                <a:sym typeface="Montserrat"/>
              </a:rPr>
              <a:t>. Una manera de crearlos es usar directamente la notación punto:</a:t>
            </a:r>
            <a:endParaRPr b="0" i="0" sz="1650" u="none" cap="none" strike="noStrike">
              <a:solidFill>
                <a:schemeClr val="dk2"/>
              </a:solidFill>
              <a:latin typeface="Arial"/>
              <a:ea typeface="Arial"/>
              <a:cs typeface="Arial"/>
              <a:sym typeface="Arial"/>
            </a:endParaRPr>
          </a:p>
          <a:p>
            <a:pPr indent="0" lvl="0" marL="0" marR="0" rtl="0" algn="l">
              <a:lnSpc>
                <a:spcPct val="115000"/>
              </a:lnSpc>
              <a:spcBef>
                <a:spcPts val="1199"/>
              </a:spcBef>
              <a:spcAft>
                <a:spcPts val="0"/>
              </a:spcAft>
              <a:buClr>
                <a:schemeClr val="dk1"/>
              </a:buClr>
              <a:buSzPts val="1100"/>
              <a:buFont typeface="Arial"/>
              <a:buNone/>
            </a:pPr>
            <a:r>
              <a:t/>
            </a:r>
            <a:endParaRPr b="0"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chemeClr val="dk1"/>
              </a:buClr>
              <a:buSzPts val="1100"/>
              <a:buFont typeface="Arial"/>
              <a:buNone/>
            </a:pPr>
            <a:r>
              <a:t/>
            </a:r>
            <a:endParaRPr b="0"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t/>
            </a:r>
            <a:endParaRPr b="0" i="0" sz="1682" u="none" cap="none" strike="noStrike">
              <a:solidFill>
                <a:srgbClr val="595959"/>
              </a:solidFill>
              <a:latin typeface="Montserrat"/>
              <a:ea typeface="Montserrat"/>
              <a:cs typeface="Montserrat"/>
              <a:sym typeface="Montserrat"/>
            </a:endParaRPr>
          </a:p>
        </p:txBody>
      </p:sp>
      <p:sp>
        <p:nvSpPr>
          <p:cNvPr id="248" name="Google Shape;248;p13"/>
          <p:cNvSpPr/>
          <p:nvPr/>
        </p:nvSpPr>
        <p:spPr>
          <a:xfrm>
            <a:off x="3028575" y="2348875"/>
            <a:ext cx="4684500" cy="18489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C74DED"/>
                </a:solidFill>
                <a:highlight>
                  <a:srgbClr val="23262E"/>
                </a:highlight>
                <a:latin typeface="Consolas"/>
                <a:ea typeface="Consolas"/>
                <a:cs typeface="Consolas"/>
                <a:sym typeface="Consolas"/>
              </a:rPr>
              <a:t>class</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Persona</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piernas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2</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Atributo de clase</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 Instanciamos un objeto de la clase Persona</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juan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Persona</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 creamos un atributo para el objeto</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juan.edad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34</a:t>
            </a:r>
            <a:endParaRPr b="0" i="0" sz="1200" u="none" cap="none" strike="noStrike">
              <a:solidFill>
                <a:srgbClr val="F39C1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 Mostramos el atributo creado</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(juan.edad)  </a:t>
            </a:r>
            <a:r>
              <a:rPr b="0" i="0" lang="es" sz="1200" u="none" cap="none" strike="noStrike">
                <a:solidFill>
                  <a:srgbClr val="5F6167"/>
                </a:solidFill>
                <a:highlight>
                  <a:srgbClr val="23262E"/>
                </a:highlight>
                <a:latin typeface="Consolas"/>
                <a:ea typeface="Consolas"/>
                <a:cs typeface="Consolas"/>
                <a:sym typeface="Consolas"/>
              </a:rPr>
              <a:t># 34</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5F6167"/>
              </a:solidFill>
              <a:highlight>
                <a:srgbClr val="23262E"/>
              </a:highlight>
              <a:latin typeface="Consolas"/>
              <a:ea typeface="Consolas"/>
              <a:cs typeface="Consolas"/>
              <a:sym typeface="Consolas"/>
            </a:endParaRPr>
          </a:p>
        </p:txBody>
      </p:sp>
      <p:sp>
        <p:nvSpPr>
          <p:cNvPr id="249" name="Google Shape;249;p13"/>
          <p:cNvSpPr/>
          <p:nvPr/>
        </p:nvSpPr>
        <p:spPr>
          <a:xfrm>
            <a:off x="3028563" y="2119975"/>
            <a:ext cx="46845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Creación de atributos de instancia:</a:t>
            </a:r>
            <a:endParaRPr b="0" i="0" sz="1400" u="none" cap="none" strike="noStrike">
              <a:solidFill>
                <a:schemeClr val="dk2"/>
              </a:solidFill>
              <a:latin typeface="Montserrat"/>
              <a:ea typeface="Montserrat"/>
              <a:cs typeface="Montserrat"/>
              <a:sym typeface="Montserrat"/>
            </a:endParaRPr>
          </a:p>
        </p:txBody>
      </p:sp>
      <p:sp>
        <p:nvSpPr>
          <p:cNvPr id="250" name="Google Shape;250;p13"/>
          <p:cNvSpPr txBox="1"/>
          <p:nvPr>
            <p:ph idx="1" type="body"/>
          </p:nvPr>
        </p:nvSpPr>
        <p:spPr>
          <a:xfrm>
            <a:off x="423300" y="4146925"/>
            <a:ext cx="8280000" cy="37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1800"/>
              <a:buNone/>
            </a:pPr>
            <a:r>
              <a:rPr lang="es" sz="1650"/>
              <a:t>Pero veremos que existe una manera más ordenada de hacer esto.</a:t>
            </a:r>
            <a:endParaRPr sz="1650"/>
          </a:p>
        </p:txBody>
      </p:sp>
      <p:cxnSp>
        <p:nvCxnSpPr>
          <p:cNvPr id="251" name="Google Shape;251;p13"/>
          <p:cNvCxnSpPr/>
          <p:nvPr/>
        </p:nvCxnSpPr>
        <p:spPr>
          <a:xfrm>
            <a:off x="2489450" y="2525125"/>
            <a:ext cx="539100" cy="6600"/>
          </a:xfrm>
          <a:prstGeom prst="straightConnector1">
            <a:avLst/>
          </a:prstGeom>
          <a:noFill/>
          <a:ln cap="flat" cmpd="sng" w="28575">
            <a:solidFill>
              <a:schemeClr val="dk2"/>
            </a:solidFill>
            <a:prstDash val="solid"/>
            <a:round/>
            <a:headEnd len="sm" w="sm" type="none"/>
            <a:tailEnd len="med" w="med" type="triangle"/>
          </a:ln>
        </p:spPr>
      </p:cxnSp>
      <p:sp>
        <p:nvSpPr>
          <p:cNvPr id="252" name="Google Shape;252;p13"/>
          <p:cNvSpPr/>
          <p:nvPr/>
        </p:nvSpPr>
        <p:spPr>
          <a:xfrm>
            <a:off x="1430938" y="2348863"/>
            <a:ext cx="1087200" cy="360000"/>
          </a:xfrm>
          <a:prstGeom prst="flowChartAlternateProcess">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Montserrat"/>
                <a:ea typeface="Montserrat"/>
                <a:cs typeface="Montserrat"/>
                <a:sym typeface="Montserrat"/>
              </a:rPr>
              <a:t>Clase</a:t>
            </a:r>
            <a:endParaRPr b="0" i="0" sz="1100" u="none" cap="none" strike="noStrike">
              <a:solidFill>
                <a:schemeClr val="dk2"/>
              </a:solidFill>
              <a:latin typeface="Montserrat"/>
              <a:ea typeface="Montserrat"/>
              <a:cs typeface="Montserrat"/>
              <a:sym typeface="Montserrat"/>
            </a:endParaRPr>
          </a:p>
        </p:txBody>
      </p:sp>
      <p:cxnSp>
        <p:nvCxnSpPr>
          <p:cNvPr id="253" name="Google Shape;253;p13"/>
          <p:cNvCxnSpPr/>
          <p:nvPr/>
        </p:nvCxnSpPr>
        <p:spPr>
          <a:xfrm>
            <a:off x="2489450" y="3240488"/>
            <a:ext cx="539100" cy="6600"/>
          </a:xfrm>
          <a:prstGeom prst="straightConnector1">
            <a:avLst/>
          </a:prstGeom>
          <a:noFill/>
          <a:ln cap="flat" cmpd="sng" w="28575">
            <a:solidFill>
              <a:schemeClr val="dk2"/>
            </a:solidFill>
            <a:prstDash val="solid"/>
            <a:round/>
            <a:headEnd len="sm" w="sm" type="none"/>
            <a:tailEnd len="med" w="med" type="triangle"/>
          </a:ln>
        </p:spPr>
      </p:cxnSp>
      <p:sp>
        <p:nvSpPr>
          <p:cNvPr id="254" name="Google Shape;254;p13"/>
          <p:cNvSpPr/>
          <p:nvPr/>
        </p:nvSpPr>
        <p:spPr>
          <a:xfrm>
            <a:off x="1430938" y="3064225"/>
            <a:ext cx="1087200" cy="360000"/>
          </a:xfrm>
          <a:prstGeom prst="flowChartAlternateProcess">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Montserrat"/>
                <a:ea typeface="Montserrat"/>
                <a:cs typeface="Montserrat"/>
                <a:sym typeface="Montserrat"/>
              </a:rPr>
              <a:t>Objeto</a:t>
            </a:r>
            <a:endParaRPr b="0" i="0" sz="1100" u="none" cap="none" strike="noStrike">
              <a:solidFill>
                <a:schemeClr val="dk2"/>
              </a:solidFill>
              <a:latin typeface="Montserrat"/>
              <a:ea typeface="Montserrat"/>
              <a:cs typeface="Montserrat"/>
              <a:sym typeface="Montserrat"/>
            </a:endParaRPr>
          </a:p>
        </p:txBody>
      </p:sp>
      <p:cxnSp>
        <p:nvCxnSpPr>
          <p:cNvPr id="255" name="Google Shape;255;p13"/>
          <p:cNvCxnSpPr/>
          <p:nvPr/>
        </p:nvCxnSpPr>
        <p:spPr>
          <a:xfrm flipH="1" rot="10800000">
            <a:off x="2391100" y="3607650"/>
            <a:ext cx="630000" cy="138600"/>
          </a:xfrm>
          <a:prstGeom prst="straightConnector1">
            <a:avLst/>
          </a:prstGeom>
          <a:noFill/>
          <a:ln cap="flat" cmpd="sng" w="28575">
            <a:solidFill>
              <a:schemeClr val="dk2"/>
            </a:solidFill>
            <a:prstDash val="solid"/>
            <a:round/>
            <a:headEnd len="sm" w="sm" type="none"/>
            <a:tailEnd len="med" w="med" type="triangle"/>
          </a:ln>
        </p:spPr>
      </p:cxnSp>
      <p:sp>
        <p:nvSpPr>
          <p:cNvPr id="256" name="Google Shape;256;p13"/>
          <p:cNvSpPr/>
          <p:nvPr/>
        </p:nvSpPr>
        <p:spPr>
          <a:xfrm>
            <a:off x="1430938" y="3463200"/>
            <a:ext cx="1087200" cy="572700"/>
          </a:xfrm>
          <a:prstGeom prst="flowChartAlternateProcess">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Montserrat"/>
                <a:ea typeface="Montserrat"/>
                <a:cs typeface="Montserrat"/>
                <a:sym typeface="Montserrat"/>
              </a:rPr>
              <a:t>Creamos un atributo</a:t>
            </a:r>
            <a:endParaRPr b="0" i="0" sz="11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4"/>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Clases | Atributos de clase</a:t>
            </a:r>
            <a:endParaRPr/>
          </a:p>
        </p:txBody>
      </p:sp>
      <p:sp>
        <p:nvSpPr>
          <p:cNvPr id="262" name="Google Shape;262;p14"/>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00000"/>
              </a:lnSpc>
              <a:spcBef>
                <a:spcPts val="0"/>
              </a:spcBef>
              <a:spcAft>
                <a:spcPts val="0"/>
              </a:spcAft>
              <a:buClr>
                <a:schemeClr val="dk1"/>
              </a:buClr>
              <a:buSzPts val="1100"/>
              <a:buFont typeface="Arial"/>
              <a:buNone/>
            </a:pPr>
            <a:r>
              <a:rPr b="0" i="0" lang="es" sz="1650" u="none" cap="none" strike="noStrike">
                <a:solidFill>
                  <a:schemeClr val="dk2"/>
                </a:solidFill>
                <a:latin typeface="Montserrat"/>
                <a:ea typeface="Montserrat"/>
                <a:cs typeface="Montserrat"/>
                <a:sym typeface="Montserrat"/>
              </a:rPr>
              <a:t>Las variables dentro de la clase (</a:t>
            </a:r>
            <a:r>
              <a:rPr b="1" i="0" lang="es" sz="1650" u="none" cap="none" strike="noStrike">
                <a:solidFill>
                  <a:schemeClr val="dk2"/>
                </a:solidFill>
                <a:latin typeface="Montserrat"/>
                <a:ea typeface="Montserrat"/>
                <a:cs typeface="Montserrat"/>
                <a:sym typeface="Montserrat"/>
              </a:rPr>
              <a:t>atributos de clase</a:t>
            </a:r>
            <a:r>
              <a:rPr b="0" i="0" lang="es" sz="1650" u="none" cap="none" strike="noStrike">
                <a:solidFill>
                  <a:schemeClr val="dk2"/>
                </a:solidFill>
                <a:latin typeface="Montserrat"/>
                <a:ea typeface="Montserrat"/>
                <a:cs typeface="Montserrat"/>
                <a:sym typeface="Montserrat"/>
              </a:rPr>
              <a:t>) son compartidas por todos los objetos instanciados. Se definen dentro de la clase pero fuera de sus</a:t>
            </a:r>
            <a:endParaRPr b="0" i="0" sz="165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0" i="0" lang="es" sz="1650" u="none" cap="none" strike="noStrike">
                <a:solidFill>
                  <a:schemeClr val="dk2"/>
                </a:solidFill>
                <a:latin typeface="Montserrat"/>
                <a:ea typeface="Montserrat"/>
                <a:cs typeface="Montserrat"/>
                <a:sym typeface="Montserrat"/>
              </a:rPr>
              <a:t>métodos:</a:t>
            </a:r>
            <a:endParaRPr b="0" i="0" sz="165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t/>
            </a:r>
            <a:endParaRPr b="0" i="0" sz="1650" u="none" cap="none" strike="noStrike">
              <a:solidFill>
                <a:schemeClr val="dk2"/>
              </a:solidFill>
              <a:latin typeface="Montserrat"/>
              <a:ea typeface="Montserrat"/>
              <a:cs typeface="Montserrat"/>
              <a:sym typeface="Montserrat"/>
            </a:endParaRPr>
          </a:p>
          <a:p>
            <a:pPr indent="0" lvl="0" marL="0" marR="0" rtl="0" algn="l">
              <a:lnSpc>
                <a:spcPct val="115000"/>
              </a:lnSpc>
              <a:spcBef>
                <a:spcPts val="1199"/>
              </a:spcBef>
              <a:spcAft>
                <a:spcPts val="0"/>
              </a:spcAft>
              <a:buClr>
                <a:schemeClr val="dk1"/>
              </a:buClr>
              <a:buSzPts val="1100"/>
              <a:buFont typeface="Arial"/>
              <a:buNone/>
            </a:pPr>
            <a:r>
              <a:t/>
            </a:r>
            <a:endParaRPr b="0"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t/>
            </a:r>
            <a:endParaRPr b="0" i="0" sz="1682" u="none" cap="none" strike="noStrike">
              <a:solidFill>
                <a:srgbClr val="595959"/>
              </a:solidFill>
              <a:latin typeface="Montserrat"/>
              <a:ea typeface="Montserrat"/>
              <a:cs typeface="Montserrat"/>
              <a:sym typeface="Montserrat"/>
            </a:endParaRPr>
          </a:p>
        </p:txBody>
      </p:sp>
      <p:sp>
        <p:nvSpPr>
          <p:cNvPr id="263" name="Google Shape;263;p14"/>
          <p:cNvSpPr/>
          <p:nvPr/>
        </p:nvSpPr>
        <p:spPr>
          <a:xfrm>
            <a:off x="3019850" y="2384700"/>
            <a:ext cx="4684500" cy="17916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C74DED"/>
                </a:solidFill>
                <a:highlight>
                  <a:srgbClr val="23262E"/>
                </a:highlight>
                <a:latin typeface="Consolas"/>
                <a:ea typeface="Consolas"/>
                <a:cs typeface="Consolas"/>
                <a:sym typeface="Consolas"/>
              </a:rPr>
              <a:t>class</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Persona</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piernas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2</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Atributo de clase</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juan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Persona</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Instanciamos un objeto</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juan.edad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34</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creamos un atributo</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 Mostramos el atributo de instancia (objeto)</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(juan.edad) </a:t>
            </a:r>
            <a:r>
              <a:rPr b="0" i="0" lang="es" sz="1200" u="none" cap="none" strike="noStrike">
                <a:solidFill>
                  <a:srgbClr val="5F6167"/>
                </a:solidFill>
                <a:highlight>
                  <a:srgbClr val="23262E"/>
                </a:highlight>
                <a:latin typeface="Consolas"/>
                <a:ea typeface="Consolas"/>
                <a:cs typeface="Consolas"/>
                <a:sym typeface="Consolas"/>
              </a:rPr>
              <a:t># 34</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 Mostramos el atributo de clase</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(Persona.piernas) </a:t>
            </a:r>
            <a:r>
              <a:rPr b="0" i="0" lang="es" sz="1200" u="none" cap="none" strike="noStrike">
                <a:solidFill>
                  <a:srgbClr val="5F6167"/>
                </a:solidFill>
                <a:highlight>
                  <a:srgbClr val="23262E"/>
                </a:highlight>
                <a:latin typeface="Consolas"/>
                <a:ea typeface="Consolas"/>
                <a:cs typeface="Consolas"/>
                <a:sym typeface="Consolas"/>
              </a:rPr>
              <a:t># 2</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5F6167"/>
              </a:solidFill>
              <a:highlight>
                <a:srgbClr val="23262E"/>
              </a:highlight>
              <a:latin typeface="Consolas"/>
              <a:ea typeface="Consolas"/>
              <a:cs typeface="Consolas"/>
              <a:sym typeface="Consolas"/>
            </a:endParaRPr>
          </a:p>
        </p:txBody>
      </p:sp>
      <p:sp>
        <p:nvSpPr>
          <p:cNvPr id="264" name="Google Shape;264;p14"/>
          <p:cNvSpPr/>
          <p:nvPr/>
        </p:nvSpPr>
        <p:spPr>
          <a:xfrm>
            <a:off x="3019850" y="2155800"/>
            <a:ext cx="46845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Atributos de clase</a:t>
            </a:r>
            <a:endParaRPr b="0" i="0" sz="1400" u="none" cap="none" strike="noStrike">
              <a:solidFill>
                <a:schemeClr val="dk2"/>
              </a:solidFill>
              <a:latin typeface="Montserrat"/>
              <a:ea typeface="Montserrat"/>
              <a:cs typeface="Montserrat"/>
              <a:sym typeface="Montserrat"/>
            </a:endParaRPr>
          </a:p>
        </p:txBody>
      </p:sp>
      <p:sp>
        <p:nvSpPr>
          <p:cNvPr id="265" name="Google Shape;265;p14"/>
          <p:cNvSpPr txBox="1"/>
          <p:nvPr>
            <p:ph idx="1" type="body"/>
          </p:nvPr>
        </p:nvSpPr>
        <p:spPr>
          <a:xfrm>
            <a:off x="436275" y="4270650"/>
            <a:ext cx="8280000" cy="37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1800"/>
              <a:buNone/>
            </a:pPr>
            <a:r>
              <a:rPr lang="es" sz="1650"/>
              <a:t>Podemos acceder a ellos mediante la notación punto: </a:t>
            </a:r>
            <a:r>
              <a:rPr i="1" lang="es" sz="1650"/>
              <a:t>clase.atributo</a:t>
            </a:r>
            <a:endParaRPr i="1" sz="1650"/>
          </a:p>
        </p:txBody>
      </p:sp>
      <p:cxnSp>
        <p:nvCxnSpPr>
          <p:cNvPr id="266" name="Google Shape;266;p14"/>
          <p:cNvCxnSpPr/>
          <p:nvPr/>
        </p:nvCxnSpPr>
        <p:spPr>
          <a:xfrm>
            <a:off x="2480738" y="2560950"/>
            <a:ext cx="539100" cy="6600"/>
          </a:xfrm>
          <a:prstGeom prst="straightConnector1">
            <a:avLst/>
          </a:prstGeom>
          <a:noFill/>
          <a:ln cap="flat" cmpd="sng" w="28575">
            <a:solidFill>
              <a:schemeClr val="dk2"/>
            </a:solidFill>
            <a:prstDash val="solid"/>
            <a:round/>
            <a:headEnd len="sm" w="sm" type="none"/>
            <a:tailEnd len="med" w="med" type="triangle"/>
          </a:ln>
        </p:spPr>
      </p:cxnSp>
      <p:sp>
        <p:nvSpPr>
          <p:cNvPr id="267" name="Google Shape;267;p14"/>
          <p:cNvSpPr/>
          <p:nvPr/>
        </p:nvSpPr>
        <p:spPr>
          <a:xfrm>
            <a:off x="1422225" y="2384688"/>
            <a:ext cx="1087200" cy="360000"/>
          </a:xfrm>
          <a:prstGeom prst="flowChartAlternateProcess">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Montserrat"/>
                <a:ea typeface="Montserrat"/>
                <a:cs typeface="Montserrat"/>
                <a:sym typeface="Montserrat"/>
              </a:rPr>
              <a:t>Clase</a:t>
            </a:r>
            <a:endParaRPr b="0" i="0" sz="1100" u="none" cap="none" strike="noStrike">
              <a:solidFill>
                <a:schemeClr val="dk2"/>
              </a:solidFill>
              <a:latin typeface="Montserrat"/>
              <a:ea typeface="Montserrat"/>
              <a:cs typeface="Montserrat"/>
              <a:sym typeface="Montserrat"/>
            </a:endParaRPr>
          </a:p>
        </p:txBody>
      </p:sp>
      <p:cxnSp>
        <p:nvCxnSpPr>
          <p:cNvPr id="268" name="Google Shape;268;p14"/>
          <p:cNvCxnSpPr/>
          <p:nvPr/>
        </p:nvCxnSpPr>
        <p:spPr>
          <a:xfrm>
            <a:off x="2480738" y="3100200"/>
            <a:ext cx="539100" cy="6600"/>
          </a:xfrm>
          <a:prstGeom prst="straightConnector1">
            <a:avLst/>
          </a:prstGeom>
          <a:noFill/>
          <a:ln cap="flat" cmpd="sng" w="28575">
            <a:solidFill>
              <a:schemeClr val="dk2"/>
            </a:solidFill>
            <a:prstDash val="solid"/>
            <a:round/>
            <a:headEnd len="sm" w="sm" type="none"/>
            <a:tailEnd len="med" w="med" type="triangle"/>
          </a:ln>
        </p:spPr>
      </p:cxnSp>
      <p:sp>
        <p:nvSpPr>
          <p:cNvPr id="269" name="Google Shape;269;p14"/>
          <p:cNvSpPr/>
          <p:nvPr/>
        </p:nvSpPr>
        <p:spPr>
          <a:xfrm>
            <a:off x="1422225" y="2923938"/>
            <a:ext cx="1087200" cy="360000"/>
          </a:xfrm>
          <a:prstGeom prst="flowChartAlternateProcess">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Montserrat"/>
                <a:ea typeface="Montserrat"/>
                <a:cs typeface="Montserrat"/>
                <a:sym typeface="Montserrat"/>
              </a:rPr>
              <a:t>Objeto</a:t>
            </a:r>
            <a:endParaRPr b="0" i="0" sz="1100" u="none" cap="none" strike="noStrike">
              <a:solidFill>
                <a:schemeClr val="dk2"/>
              </a:solidFill>
              <a:latin typeface="Montserrat"/>
              <a:ea typeface="Montserrat"/>
              <a:cs typeface="Montserrat"/>
              <a:sym typeface="Montserrat"/>
            </a:endParaRPr>
          </a:p>
        </p:txBody>
      </p:sp>
      <p:sp>
        <p:nvSpPr>
          <p:cNvPr id="270" name="Google Shape;270;p14"/>
          <p:cNvSpPr/>
          <p:nvPr/>
        </p:nvSpPr>
        <p:spPr>
          <a:xfrm>
            <a:off x="1393550" y="3738100"/>
            <a:ext cx="1087200" cy="572700"/>
          </a:xfrm>
          <a:prstGeom prst="flowChartAlternateProcess">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Montserrat"/>
                <a:ea typeface="Montserrat"/>
                <a:cs typeface="Montserrat"/>
                <a:sym typeface="Montserrat"/>
              </a:rPr>
              <a:t>Atributo de clase</a:t>
            </a:r>
            <a:endParaRPr b="0" i="0" sz="1100" u="none" cap="none" strike="noStrike">
              <a:solidFill>
                <a:schemeClr val="dk2"/>
              </a:solidFill>
              <a:latin typeface="Montserrat"/>
              <a:ea typeface="Montserrat"/>
              <a:cs typeface="Montserrat"/>
              <a:sym typeface="Montserrat"/>
            </a:endParaRPr>
          </a:p>
        </p:txBody>
      </p:sp>
      <p:cxnSp>
        <p:nvCxnSpPr>
          <p:cNvPr id="271" name="Google Shape;271;p14"/>
          <p:cNvCxnSpPr/>
          <p:nvPr/>
        </p:nvCxnSpPr>
        <p:spPr>
          <a:xfrm>
            <a:off x="2480738" y="4021150"/>
            <a:ext cx="539100" cy="6600"/>
          </a:xfrm>
          <a:prstGeom prst="straightConnector1">
            <a:avLst/>
          </a:prstGeom>
          <a:noFill/>
          <a:ln cap="flat" cmpd="sng" w="28575">
            <a:solidFill>
              <a:schemeClr val="dk2"/>
            </a:solidFill>
            <a:prstDash val="solid"/>
            <a:round/>
            <a:headEnd len="sm" w="sm" type="none"/>
            <a:tailEnd len="med" w="med" type="triangl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15"/>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Clases | Métodos</a:t>
            </a:r>
            <a:endParaRPr/>
          </a:p>
        </p:txBody>
      </p:sp>
      <p:sp>
        <p:nvSpPr>
          <p:cNvPr id="277" name="Google Shape;277;p15"/>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00000"/>
              </a:lnSpc>
              <a:spcBef>
                <a:spcPts val="0"/>
              </a:spcBef>
              <a:spcAft>
                <a:spcPts val="0"/>
              </a:spcAft>
              <a:buClr>
                <a:schemeClr val="dk1"/>
              </a:buClr>
              <a:buSzPts val="1100"/>
              <a:buFont typeface="Arial"/>
              <a:buNone/>
            </a:pPr>
            <a:r>
              <a:rPr b="0" i="0" lang="es" sz="1650" u="none" cap="none" strike="noStrike">
                <a:solidFill>
                  <a:schemeClr val="dk2"/>
                </a:solidFill>
                <a:latin typeface="Montserrat"/>
                <a:ea typeface="Montserrat"/>
                <a:cs typeface="Montserrat"/>
                <a:sym typeface="Montserrat"/>
              </a:rPr>
              <a:t>Los </a:t>
            </a:r>
            <a:r>
              <a:rPr b="1" i="0" lang="es" sz="1650" u="none" cap="none" strike="noStrike">
                <a:solidFill>
                  <a:schemeClr val="dk2"/>
                </a:solidFill>
                <a:latin typeface="Montserrat"/>
                <a:ea typeface="Montserrat"/>
                <a:cs typeface="Montserrat"/>
                <a:sym typeface="Montserrat"/>
              </a:rPr>
              <a:t>métodos</a:t>
            </a:r>
            <a:r>
              <a:rPr b="0" i="0" lang="es" sz="1650" u="none" cap="none" strike="noStrike">
                <a:solidFill>
                  <a:schemeClr val="dk2"/>
                </a:solidFill>
                <a:latin typeface="Montserrat"/>
                <a:ea typeface="Montserrat"/>
                <a:cs typeface="Montserrat"/>
                <a:sym typeface="Montserrat"/>
              </a:rPr>
              <a:t> permiten a los objetos de una clase realizar acciones. Se declaran con </a:t>
            </a:r>
            <a:r>
              <a:rPr b="1" i="0" lang="es" sz="1650" u="none" cap="none" strike="noStrike">
                <a:solidFill>
                  <a:schemeClr val="dk2"/>
                </a:solidFill>
                <a:latin typeface="Montserrat"/>
                <a:ea typeface="Montserrat"/>
                <a:cs typeface="Montserrat"/>
                <a:sym typeface="Montserrat"/>
              </a:rPr>
              <a:t>def:</a:t>
            </a:r>
            <a:r>
              <a:rPr b="0" i="0" lang="es" sz="1650" u="none" cap="none" strike="noStrike">
                <a:solidFill>
                  <a:schemeClr val="dk2"/>
                </a:solidFill>
                <a:latin typeface="Montserrat"/>
                <a:ea typeface="Montserrat"/>
                <a:cs typeface="Montserrat"/>
                <a:sym typeface="Montserrat"/>
              </a:rPr>
              <a:t>, como las funciones, dentro de la clase. Reciben parámetros y uno de ellos, el primero (</a:t>
            </a:r>
            <a:r>
              <a:rPr b="1" i="0" lang="es" sz="1650" u="none" cap="none" strike="noStrike">
                <a:solidFill>
                  <a:schemeClr val="dk2"/>
                </a:solidFill>
                <a:latin typeface="Montserrat"/>
                <a:ea typeface="Montserrat"/>
                <a:cs typeface="Montserrat"/>
                <a:sym typeface="Montserrat"/>
              </a:rPr>
              <a:t>self</a:t>
            </a:r>
            <a:r>
              <a:rPr b="0" i="0" lang="es" sz="1650" u="none" cap="none" strike="noStrike">
                <a:solidFill>
                  <a:schemeClr val="dk2"/>
                </a:solidFill>
                <a:latin typeface="Montserrat"/>
                <a:ea typeface="Montserrat"/>
                <a:cs typeface="Montserrat"/>
                <a:sym typeface="Montserrat"/>
              </a:rPr>
              <a:t>) es obligatorio:</a:t>
            </a:r>
            <a:endParaRPr b="0" i="0" sz="1650" u="none" cap="none" strike="noStrike">
              <a:solidFill>
                <a:schemeClr val="dk2"/>
              </a:solidFill>
              <a:latin typeface="Arial"/>
              <a:ea typeface="Arial"/>
              <a:cs typeface="Arial"/>
              <a:sym typeface="Arial"/>
            </a:endParaRPr>
          </a:p>
          <a:p>
            <a:pPr indent="0" lvl="0" marL="0" marR="0" rtl="0" algn="l">
              <a:lnSpc>
                <a:spcPct val="115000"/>
              </a:lnSpc>
              <a:spcBef>
                <a:spcPts val="1199"/>
              </a:spcBef>
              <a:spcAft>
                <a:spcPts val="0"/>
              </a:spcAft>
              <a:buClr>
                <a:schemeClr val="dk1"/>
              </a:buClr>
              <a:buSzPts val="1100"/>
              <a:buFont typeface="Arial"/>
              <a:buNone/>
            </a:pPr>
            <a:r>
              <a:t/>
            </a:r>
            <a:endParaRPr b="0"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chemeClr val="dk1"/>
              </a:buClr>
              <a:buSzPts val="1100"/>
              <a:buFont typeface="Arial"/>
              <a:buNone/>
            </a:pPr>
            <a:r>
              <a:t/>
            </a:r>
            <a:endParaRPr b="0"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t/>
            </a:r>
            <a:endParaRPr b="0" i="0" sz="1682" u="none" cap="none" strike="noStrike">
              <a:solidFill>
                <a:srgbClr val="595959"/>
              </a:solidFill>
              <a:latin typeface="Montserrat"/>
              <a:ea typeface="Montserrat"/>
              <a:cs typeface="Montserrat"/>
              <a:sym typeface="Montserrat"/>
            </a:endParaRPr>
          </a:p>
        </p:txBody>
      </p:sp>
      <p:sp>
        <p:nvSpPr>
          <p:cNvPr id="278" name="Google Shape;278;p15"/>
          <p:cNvSpPr/>
          <p:nvPr/>
        </p:nvSpPr>
        <p:spPr>
          <a:xfrm>
            <a:off x="2221050" y="2470650"/>
            <a:ext cx="4684500" cy="14478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C74DED"/>
                </a:solidFill>
                <a:highlight>
                  <a:srgbClr val="23262E"/>
                </a:highlight>
                <a:latin typeface="Consolas"/>
                <a:ea typeface="Consolas"/>
                <a:cs typeface="Consolas"/>
                <a:sym typeface="Consolas"/>
              </a:rPr>
              <a:t>class</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Persona</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piernas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2</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Atributo DE CLASE</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def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caminar</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Definimos un método</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"Está caminando."</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juan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Persona</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Instanciamos un objeto</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juan.</a:t>
            </a:r>
            <a:r>
              <a:rPr b="0" i="0" lang="es" sz="1200" u="none" cap="none" strike="noStrike">
                <a:solidFill>
                  <a:srgbClr val="FFE66D"/>
                </a:solidFill>
                <a:highlight>
                  <a:srgbClr val="23262E"/>
                </a:highlight>
                <a:latin typeface="Consolas"/>
                <a:ea typeface="Consolas"/>
                <a:cs typeface="Consolas"/>
                <a:sym typeface="Consolas"/>
              </a:rPr>
              <a:t>caminar</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Invocamos el método caminar()</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5F6167"/>
              </a:solidFill>
              <a:highlight>
                <a:srgbClr val="23262E"/>
              </a:highlight>
              <a:latin typeface="Consolas"/>
              <a:ea typeface="Consolas"/>
              <a:cs typeface="Consolas"/>
              <a:sym typeface="Consolas"/>
            </a:endParaRPr>
          </a:p>
        </p:txBody>
      </p:sp>
      <p:sp>
        <p:nvSpPr>
          <p:cNvPr id="279" name="Google Shape;279;p15"/>
          <p:cNvSpPr/>
          <p:nvPr/>
        </p:nvSpPr>
        <p:spPr>
          <a:xfrm>
            <a:off x="2221050" y="2241750"/>
            <a:ext cx="46845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Creación de atributos de instancia;</a:t>
            </a:r>
            <a:endParaRPr b="0" i="0" sz="1400" u="none" cap="none" strike="noStrike">
              <a:solidFill>
                <a:schemeClr val="dk2"/>
              </a:solidFill>
              <a:latin typeface="Montserrat"/>
              <a:ea typeface="Montserrat"/>
              <a:cs typeface="Montserrat"/>
              <a:sym typeface="Montserrat"/>
            </a:endParaRPr>
          </a:p>
        </p:txBody>
      </p:sp>
      <p:sp>
        <p:nvSpPr>
          <p:cNvPr id="280" name="Google Shape;280;p15"/>
          <p:cNvSpPr txBox="1"/>
          <p:nvPr>
            <p:ph idx="1" type="body"/>
          </p:nvPr>
        </p:nvSpPr>
        <p:spPr>
          <a:xfrm>
            <a:off x="436275" y="4126250"/>
            <a:ext cx="8280000" cy="523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1800"/>
              <a:buNone/>
            </a:pPr>
            <a:r>
              <a:rPr b="1" lang="es" sz="1650"/>
              <a:t>self</a:t>
            </a:r>
            <a:r>
              <a:rPr lang="es" sz="1650"/>
              <a:t> hace referencia a la instancia perteneciente a la clase. </a:t>
            </a:r>
            <a:endParaRPr sz="1650"/>
          </a:p>
        </p:txBody>
      </p:sp>
      <p:sp>
        <p:nvSpPr>
          <p:cNvPr id="281" name="Google Shape;281;p15"/>
          <p:cNvSpPr/>
          <p:nvPr/>
        </p:nvSpPr>
        <p:spPr>
          <a:xfrm>
            <a:off x="7066550" y="2472650"/>
            <a:ext cx="1135800" cy="14478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200"/>
              <a:buFont typeface="Consolas"/>
              <a:buNone/>
            </a:pPr>
            <a:r>
              <a:rPr b="0" i="0" lang="es" sz="1200" u="none" cap="none" strike="noStrike">
                <a:solidFill>
                  <a:srgbClr val="D5CED9"/>
                </a:solidFill>
                <a:latin typeface="Consolas"/>
                <a:ea typeface="Consolas"/>
                <a:cs typeface="Consolas"/>
                <a:sym typeface="Consolas"/>
              </a:rPr>
              <a:t>Está caminando.</a:t>
            </a:r>
            <a:endParaRPr b="0" i="0" sz="1200" u="none" cap="none" strike="noStrike">
              <a:solidFill>
                <a:srgbClr val="D5CED9"/>
              </a:solidFill>
              <a:latin typeface="Consolas"/>
              <a:ea typeface="Consolas"/>
              <a:cs typeface="Consolas"/>
              <a:sym typeface="Consolas"/>
            </a:endParaRPr>
          </a:p>
        </p:txBody>
      </p:sp>
      <p:sp>
        <p:nvSpPr>
          <p:cNvPr id="282" name="Google Shape;282;p15"/>
          <p:cNvSpPr/>
          <p:nvPr/>
        </p:nvSpPr>
        <p:spPr>
          <a:xfrm>
            <a:off x="7066525" y="2241750"/>
            <a:ext cx="1135800" cy="2283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Terminal</a:t>
            </a:r>
            <a:endParaRPr b="0" i="0" sz="1400" u="none" cap="none" strike="noStrike">
              <a:solidFill>
                <a:schemeClr val="dk2"/>
              </a:solidFill>
              <a:latin typeface="Montserrat"/>
              <a:ea typeface="Montserrat"/>
              <a:cs typeface="Montserrat"/>
              <a:sym typeface="Montserrat"/>
            </a:endParaRPr>
          </a:p>
        </p:txBody>
      </p:sp>
      <p:sp>
        <p:nvSpPr>
          <p:cNvPr id="283" name="Google Shape;283;p15"/>
          <p:cNvSpPr/>
          <p:nvPr/>
        </p:nvSpPr>
        <p:spPr>
          <a:xfrm>
            <a:off x="795175" y="3070950"/>
            <a:ext cx="1087200" cy="360000"/>
          </a:xfrm>
          <a:prstGeom prst="flowChartAlternateProcess">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Montserrat"/>
                <a:ea typeface="Montserrat"/>
                <a:cs typeface="Montserrat"/>
                <a:sym typeface="Montserrat"/>
              </a:rPr>
              <a:t>Método</a:t>
            </a:r>
            <a:endParaRPr b="0" i="0" sz="1100" u="none" cap="none" strike="noStrike">
              <a:solidFill>
                <a:schemeClr val="dk2"/>
              </a:solidFill>
              <a:latin typeface="Montserrat"/>
              <a:ea typeface="Montserrat"/>
              <a:cs typeface="Montserrat"/>
              <a:sym typeface="Montserrat"/>
            </a:endParaRPr>
          </a:p>
        </p:txBody>
      </p:sp>
      <p:cxnSp>
        <p:nvCxnSpPr>
          <p:cNvPr id="284" name="Google Shape;284;p15"/>
          <p:cNvCxnSpPr/>
          <p:nvPr/>
        </p:nvCxnSpPr>
        <p:spPr>
          <a:xfrm>
            <a:off x="1853688" y="2830075"/>
            <a:ext cx="539100" cy="6600"/>
          </a:xfrm>
          <a:prstGeom prst="straightConnector1">
            <a:avLst/>
          </a:prstGeom>
          <a:noFill/>
          <a:ln cap="flat" cmpd="sng" w="28575">
            <a:solidFill>
              <a:schemeClr val="dk2"/>
            </a:solidFill>
            <a:prstDash val="solid"/>
            <a:round/>
            <a:headEnd len="sm" w="sm" type="none"/>
            <a:tailEnd len="med" w="med" type="triangle"/>
          </a:ln>
        </p:spPr>
      </p:cxnSp>
      <p:cxnSp>
        <p:nvCxnSpPr>
          <p:cNvPr id="285" name="Google Shape;285;p15"/>
          <p:cNvCxnSpPr>
            <a:stCxn id="283" idx="3"/>
          </p:cNvCxnSpPr>
          <p:nvPr/>
        </p:nvCxnSpPr>
        <p:spPr>
          <a:xfrm flipH="1" rot="10800000">
            <a:off x="1882375" y="3037350"/>
            <a:ext cx="481500" cy="213600"/>
          </a:xfrm>
          <a:prstGeom prst="straightConnector1">
            <a:avLst/>
          </a:prstGeom>
          <a:noFill/>
          <a:ln cap="flat" cmpd="sng" w="28575">
            <a:solidFill>
              <a:schemeClr val="dk2"/>
            </a:solidFill>
            <a:prstDash val="solid"/>
            <a:round/>
            <a:headEnd len="sm" w="sm" type="none"/>
            <a:tailEnd len="med" w="med" type="triangle"/>
          </a:ln>
        </p:spPr>
      </p:cxnSp>
      <p:sp>
        <p:nvSpPr>
          <p:cNvPr id="286" name="Google Shape;286;p15"/>
          <p:cNvSpPr/>
          <p:nvPr/>
        </p:nvSpPr>
        <p:spPr>
          <a:xfrm>
            <a:off x="795175" y="2653813"/>
            <a:ext cx="1087200" cy="360000"/>
          </a:xfrm>
          <a:prstGeom prst="flowChartAlternateProcess">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Montserrat"/>
                <a:ea typeface="Montserrat"/>
                <a:cs typeface="Montserrat"/>
                <a:sym typeface="Montserrat"/>
              </a:rPr>
              <a:t>Atributo</a:t>
            </a:r>
            <a:endParaRPr b="0" i="0" sz="1100" u="none" cap="none" strike="noStrike">
              <a:solidFill>
                <a:schemeClr val="dk2"/>
              </a:solidFill>
              <a:latin typeface="Montserrat"/>
              <a:ea typeface="Montserrat"/>
              <a:cs typeface="Montserrat"/>
              <a:sym typeface="Montserrat"/>
            </a:endParaRPr>
          </a:p>
        </p:txBody>
      </p:sp>
      <p:sp>
        <p:nvSpPr>
          <p:cNvPr id="287" name="Google Shape;287;p15"/>
          <p:cNvSpPr/>
          <p:nvPr/>
        </p:nvSpPr>
        <p:spPr>
          <a:xfrm>
            <a:off x="393975" y="3670800"/>
            <a:ext cx="1347000" cy="360000"/>
          </a:xfrm>
          <a:prstGeom prst="flowChartAlternateProcess">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Montserrat"/>
                <a:ea typeface="Montserrat"/>
                <a:cs typeface="Montserrat"/>
                <a:sym typeface="Montserrat"/>
              </a:rPr>
              <a:t>Notación punto</a:t>
            </a:r>
            <a:endParaRPr b="0" i="0" sz="1100" u="none" cap="none" strike="noStrike">
              <a:solidFill>
                <a:schemeClr val="dk2"/>
              </a:solidFill>
              <a:latin typeface="Montserrat"/>
              <a:ea typeface="Montserrat"/>
              <a:cs typeface="Montserrat"/>
              <a:sym typeface="Montserrat"/>
            </a:endParaRPr>
          </a:p>
        </p:txBody>
      </p:sp>
      <p:cxnSp>
        <p:nvCxnSpPr>
          <p:cNvPr id="288" name="Google Shape;288;p15"/>
          <p:cNvCxnSpPr>
            <a:stCxn id="287" idx="3"/>
          </p:cNvCxnSpPr>
          <p:nvPr/>
        </p:nvCxnSpPr>
        <p:spPr>
          <a:xfrm flipH="1" rot="10800000">
            <a:off x="1740975" y="3744000"/>
            <a:ext cx="531600" cy="106800"/>
          </a:xfrm>
          <a:prstGeom prst="straightConnector1">
            <a:avLst/>
          </a:prstGeom>
          <a:noFill/>
          <a:ln cap="flat" cmpd="sng" w="28575">
            <a:solidFill>
              <a:schemeClr val="dk2"/>
            </a:solidFill>
            <a:prstDash val="solid"/>
            <a:round/>
            <a:headEnd len="sm" w="sm" type="none"/>
            <a:tailEnd len="med" w="med" type="triangl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16"/>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Clases | Métodos</a:t>
            </a:r>
            <a:endParaRPr/>
          </a:p>
        </p:txBody>
      </p:sp>
      <p:sp>
        <p:nvSpPr>
          <p:cNvPr id="294" name="Google Shape;294;p16"/>
          <p:cNvSpPr txBox="1"/>
          <p:nvPr>
            <p:ph idx="1" type="body"/>
          </p:nvPr>
        </p:nvSpPr>
        <p:spPr>
          <a:xfrm>
            <a:off x="432025" y="1304875"/>
            <a:ext cx="4102500" cy="3294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s" sz="1650"/>
              <a:t>En el ejemplo los </a:t>
            </a:r>
            <a:r>
              <a:rPr b="1" lang="es" sz="1650"/>
              <a:t>métodos</a:t>
            </a:r>
            <a:r>
              <a:rPr lang="es" sz="1650"/>
              <a:t> </a:t>
            </a:r>
            <a:r>
              <a:rPr i="1" lang="es" sz="1650"/>
              <a:t>caminar()</a:t>
            </a:r>
            <a:r>
              <a:rPr lang="es" sz="1650"/>
              <a:t> y </a:t>
            </a:r>
            <a:r>
              <a:rPr i="1" lang="es" sz="1650"/>
              <a:t>detener() </a:t>
            </a:r>
            <a:r>
              <a:rPr lang="es" sz="1650"/>
              <a:t>modifican el valor del </a:t>
            </a:r>
            <a:r>
              <a:rPr b="1" lang="es" sz="1650"/>
              <a:t>atributo</a:t>
            </a:r>
            <a:r>
              <a:rPr lang="es" sz="1650"/>
              <a:t> </a:t>
            </a:r>
            <a:r>
              <a:rPr i="1" lang="es" sz="1650"/>
              <a:t>caminando</a:t>
            </a:r>
            <a:r>
              <a:rPr lang="es" sz="1650"/>
              <a:t>. Necesitamos utilizar </a:t>
            </a:r>
            <a:r>
              <a:rPr b="1" lang="es" sz="1650"/>
              <a:t>self</a:t>
            </a:r>
            <a:r>
              <a:rPr lang="es" sz="1650"/>
              <a:t> para referirnos al atributo, ya que </a:t>
            </a:r>
            <a:r>
              <a:rPr b="1" lang="es" sz="1650"/>
              <a:t>self</a:t>
            </a:r>
            <a:r>
              <a:rPr lang="es" sz="1650"/>
              <a:t> hace referencia a la instancia del objeto.</a:t>
            </a:r>
            <a:endParaRPr sz="1650"/>
          </a:p>
          <a:p>
            <a:pPr indent="0" lvl="0" marL="0" rtl="0" algn="l">
              <a:lnSpc>
                <a:spcPct val="115000"/>
              </a:lnSpc>
              <a:spcBef>
                <a:spcPts val="1200"/>
              </a:spcBef>
              <a:spcAft>
                <a:spcPts val="0"/>
              </a:spcAft>
              <a:buSzPts val="1800"/>
              <a:buNone/>
            </a:pPr>
            <a:r>
              <a:rPr lang="es" sz="1650"/>
              <a:t>Si creamos varios objetos de la misma clase, cada uno posee su propio valor en el atributo </a:t>
            </a:r>
            <a:r>
              <a:rPr i="1" lang="es" sz="1650"/>
              <a:t>caminando</a:t>
            </a:r>
            <a:r>
              <a:rPr lang="es" sz="1650"/>
              <a:t>.</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1200"/>
              </a:spcAft>
              <a:buSzPts val="1800"/>
              <a:buNone/>
            </a:pPr>
            <a:r>
              <a:t/>
            </a:r>
            <a:endParaRPr sz="1650"/>
          </a:p>
        </p:txBody>
      </p:sp>
      <p:sp>
        <p:nvSpPr>
          <p:cNvPr id="295" name="Google Shape;295;p16"/>
          <p:cNvSpPr/>
          <p:nvPr/>
        </p:nvSpPr>
        <p:spPr>
          <a:xfrm>
            <a:off x="4843050" y="1609500"/>
            <a:ext cx="3869100" cy="28830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C74DED"/>
                </a:solidFill>
                <a:highlight>
                  <a:srgbClr val="23262E"/>
                </a:highlight>
                <a:latin typeface="Consolas"/>
                <a:ea typeface="Consolas"/>
                <a:cs typeface="Consolas"/>
                <a:sym typeface="Consolas"/>
              </a:rPr>
              <a:t>class</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Persona</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def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caminar</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Método caminar</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00AA"/>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.caminando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EE5D43"/>
                </a:solidFill>
                <a:highlight>
                  <a:srgbClr val="23262E"/>
                </a:highlight>
                <a:latin typeface="Consolas"/>
                <a:ea typeface="Consolas"/>
                <a:cs typeface="Consolas"/>
                <a:sym typeface="Consolas"/>
              </a:rPr>
              <a:t>True </a:t>
            </a:r>
            <a:r>
              <a:rPr b="0" i="0" lang="es" sz="1200" u="none" cap="none" strike="noStrike">
                <a:solidFill>
                  <a:srgbClr val="5F6167"/>
                </a:solidFill>
                <a:highlight>
                  <a:srgbClr val="23262E"/>
                </a:highlight>
                <a:latin typeface="Consolas"/>
                <a:ea typeface="Consolas"/>
                <a:cs typeface="Consolas"/>
                <a:sym typeface="Consolas"/>
              </a:rPr>
              <a:t># Atributo</a:t>
            </a:r>
            <a:endParaRPr b="0" i="0" sz="1200" u="none" cap="none" strike="noStrike">
              <a:solidFill>
                <a:srgbClr val="EE5D43"/>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"Estoy caminando."</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def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detener</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Método detener</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00AA"/>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.caminando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EE5D43"/>
                </a:solidFill>
                <a:highlight>
                  <a:srgbClr val="23262E"/>
                </a:highlight>
                <a:latin typeface="Consolas"/>
                <a:ea typeface="Consolas"/>
                <a:cs typeface="Consolas"/>
                <a:sym typeface="Consolas"/>
              </a:rPr>
              <a:t>False</a:t>
            </a:r>
            <a:endParaRPr b="0" i="0" sz="1200" u="none" cap="none" strike="noStrike">
              <a:solidFill>
                <a:srgbClr val="EE5D43"/>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"Estoy detenido."</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juan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Persona</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Instanciamos</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juan.</a:t>
            </a:r>
            <a:r>
              <a:rPr b="0" i="0" lang="es" sz="1200" u="none" cap="none" strike="noStrike">
                <a:solidFill>
                  <a:srgbClr val="FFE66D"/>
                </a:solidFill>
                <a:highlight>
                  <a:srgbClr val="23262E"/>
                </a:highlight>
                <a:latin typeface="Consolas"/>
                <a:ea typeface="Consolas"/>
                <a:cs typeface="Consolas"/>
                <a:sym typeface="Consolas"/>
              </a:rPr>
              <a:t>caminar</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Estoy caminando</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(juan.caminando) </a:t>
            </a:r>
            <a:r>
              <a:rPr b="0" i="0" lang="es" sz="1200" u="none" cap="none" strike="noStrike">
                <a:solidFill>
                  <a:srgbClr val="5F6167"/>
                </a:solidFill>
                <a:highlight>
                  <a:srgbClr val="23262E"/>
                </a:highlight>
                <a:latin typeface="Consolas"/>
                <a:ea typeface="Consolas"/>
                <a:cs typeface="Consolas"/>
                <a:sym typeface="Consolas"/>
              </a:rPr>
              <a:t># True</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juan.</a:t>
            </a:r>
            <a:r>
              <a:rPr b="0" i="0" lang="es" sz="1200" u="none" cap="none" strike="noStrike">
                <a:solidFill>
                  <a:srgbClr val="FFE66D"/>
                </a:solidFill>
                <a:highlight>
                  <a:srgbClr val="23262E"/>
                </a:highlight>
                <a:latin typeface="Consolas"/>
                <a:ea typeface="Consolas"/>
                <a:cs typeface="Consolas"/>
                <a:sym typeface="Consolas"/>
              </a:rPr>
              <a:t>detener</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Estoy detenido</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(juan.caminando) </a:t>
            </a:r>
            <a:r>
              <a:rPr b="0" i="0" lang="es" sz="1200" u="none" cap="none" strike="noStrike">
                <a:solidFill>
                  <a:srgbClr val="5F6167"/>
                </a:solidFill>
                <a:highlight>
                  <a:srgbClr val="23262E"/>
                </a:highlight>
                <a:latin typeface="Consolas"/>
                <a:ea typeface="Consolas"/>
                <a:cs typeface="Consolas"/>
                <a:sym typeface="Consolas"/>
              </a:rPr>
              <a:t># False</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5F6167"/>
              </a:solidFill>
              <a:highlight>
                <a:srgbClr val="23262E"/>
              </a:highlight>
              <a:latin typeface="Consolas"/>
              <a:ea typeface="Consolas"/>
              <a:cs typeface="Consolas"/>
              <a:sym typeface="Consolas"/>
            </a:endParaRPr>
          </a:p>
        </p:txBody>
      </p:sp>
      <p:sp>
        <p:nvSpPr>
          <p:cNvPr id="296" name="Google Shape;296;p16"/>
          <p:cNvSpPr/>
          <p:nvPr/>
        </p:nvSpPr>
        <p:spPr>
          <a:xfrm>
            <a:off x="4843050" y="1380600"/>
            <a:ext cx="3869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Métodos</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7"/>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Clases | Método constructor</a:t>
            </a:r>
            <a:endParaRPr/>
          </a:p>
        </p:txBody>
      </p:sp>
      <p:sp>
        <p:nvSpPr>
          <p:cNvPr id="302" name="Google Shape;302;p17"/>
          <p:cNvSpPr txBox="1"/>
          <p:nvPr>
            <p:ph idx="1" type="body"/>
          </p:nvPr>
        </p:nvSpPr>
        <p:spPr>
          <a:xfrm>
            <a:off x="432025" y="1304875"/>
            <a:ext cx="4102500" cy="3294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s" sz="1650"/>
              <a:t>Un </a:t>
            </a:r>
            <a:r>
              <a:rPr b="1" lang="es" sz="1650"/>
              <a:t>constructor</a:t>
            </a:r>
            <a:r>
              <a:rPr lang="es" sz="1650"/>
              <a:t> es un </a:t>
            </a:r>
            <a:r>
              <a:rPr b="1" lang="es" sz="1650"/>
              <a:t>método</a:t>
            </a:r>
            <a:r>
              <a:rPr lang="es" sz="1650"/>
              <a:t> que permite a la clase asignar valores a los atributos. Su primer parámetro es </a:t>
            </a:r>
            <a:r>
              <a:rPr b="1" lang="es" sz="1650"/>
              <a:t>self</a:t>
            </a:r>
            <a:r>
              <a:rPr lang="es" sz="1650"/>
              <a:t>, y los demás los requeridos para la inicialización.</a:t>
            </a:r>
            <a:endParaRPr sz="1650"/>
          </a:p>
          <a:p>
            <a:pPr indent="0" lvl="0" marL="0" rtl="0" algn="l">
              <a:lnSpc>
                <a:spcPct val="115000"/>
              </a:lnSpc>
              <a:spcBef>
                <a:spcPts val="1200"/>
              </a:spcBef>
              <a:spcAft>
                <a:spcPts val="0"/>
              </a:spcAft>
              <a:buClr>
                <a:schemeClr val="dk1"/>
              </a:buClr>
              <a:buSzPts val="1100"/>
              <a:buFont typeface="Arial"/>
              <a:buNone/>
            </a:pPr>
            <a:r>
              <a:rPr lang="es" sz="1650"/>
              <a:t>Luego de </a:t>
            </a:r>
            <a:r>
              <a:rPr b="1" lang="es" sz="1650"/>
              <a:t>instanciar</a:t>
            </a:r>
            <a:r>
              <a:rPr lang="es" sz="1650"/>
              <a:t> el objeto, establecemos los valores de los </a:t>
            </a:r>
            <a:r>
              <a:rPr b="1" lang="es" sz="1650"/>
              <a:t>atributos</a:t>
            </a:r>
            <a:r>
              <a:rPr lang="es" sz="1650"/>
              <a:t> mediante el constructor, y ya podemos utilizarlos normalmente. Veamos un ejemplo:</a:t>
            </a:r>
            <a:endParaRPr sz="1650"/>
          </a:p>
          <a:p>
            <a:pPr indent="0" lvl="0" marL="0" rtl="0" algn="l">
              <a:lnSpc>
                <a:spcPct val="115000"/>
              </a:lnSpc>
              <a:spcBef>
                <a:spcPts val="1200"/>
              </a:spcBef>
              <a:spcAft>
                <a:spcPts val="0"/>
              </a:spcAft>
              <a:buClr>
                <a:schemeClr val="dk1"/>
              </a:buClr>
              <a:buSzPts val="1100"/>
              <a:buFont typeface="Arial"/>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1200"/>
              </a:spcAft>
              <a:buSzPts val="1800"/>
              <a:buNone/>
            </a:pPr>
            <a:r>
              <a:t/>
            </a:r>
            <a:endParaRPr sz="1650"/>
          </a:p>
        </p:txBody>
      </p:sp>
      <p:sp>
        <p:nvSpPr>
          <p:cNvPr id="303" name="Google Shape;303;p17"/>
          <p:cNvSpPr/>
          <p:nvPr/>
        </p:nvSpPr>
        <p:spPr>
          <a:xfrm>
            <a:off x="4843050" y="1609500"/>
            <a:ext cx="3869100" cy="28830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C74DED"/>
                </a:solidFill>
                <a:highlight>
                  <a:srgbClr val="23262E"/>
                </a:highlight>
                <a:latin typeface="Consolas"/>
                <a:ea typeface="Consolas"/>
                <a:cs typeface="Consolas"/>
                <a:sym typeface="Consolas"/>
              </a:rPr>
              <a:t>class</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Persona</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Método constructor</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def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constructor</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00E8C6"/>
                </a:solidFill>
                <a:highlight>
                  <a:srgbClr val="23262E"/>
                </a:highlight>
                <a:latin typeface="Consolas"/>
                <a:ea typeface="Consolas"/>
                <a:cs typeface="Consolas"/>
                <a:sym typeface="Consolas"/>
              </a:rPr>
              <a:t>nombre</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00E8C6"/>
                </a:solidFill>
                <a:highlight>
                  <a:srgbClr val="23262E"/>
                </a:highlight>
                <a:latin typeface="Consolas"/>
                <a:ea typeface="Consolas"/>
                <a:cs typeface="Consolas"/>
                <a:sym typeface="Consolas"/>
              </a:rPr>
              <a:t>edad</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00AA"/>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.nombre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nombre</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00AA"/>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.edad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edad</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def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identificarse</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Método normal</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C74DED"/>
                </a:solidFill>
                <a:highlight>
                  <a:srgbClr val="23262E"/>
                </a:highlight>
                <a:latin typeface="Consolas"/>
                <a:ea typeface="Consolas"/>
                <a:cs typeface="Consolas"/>
                <a:sym typeface="Consolas"/>
              </a:rPr>
              <a:t>f</a:t>
            </a:r>
            <a:r>
              <a:rPr b="0" i="0" lang="es" sz="1200" u="none" cap="none" strike="noStrike">
                <a:solidFill>
                  <a:srgbClr val="96E072"/>
                </a:solidFill>
                <a:highlight>
                  <a:srgbClr val="23262E"/>
                </a:highlight>
                <a:latin typeface="Consolas"/>
                <a:ea typeface="Consolas"/>
                <a:cs typeface="Consolas"/>
                <a:sym typeface="Consolas"/>
              </a:rPr>
              <a:t>"Hola. Soy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FF00AA"/>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.nombre</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 y tengo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FF00AA"/>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.edad</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 años."</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persona1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Persona</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Instanciamos</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persona1.</a:t>
            </a:r>
            <a:r>
              <a:rPr b="0" i="0" lang="es" sz="1200" u="none" cap="none" strike="noStrike">
                <a:solidFill>
                  <a:srgbClr val="FFE66D"/>
                </a:solidFill>
                <a:highlight>
                  <a:srgbClr val="23262E"/>
                </a:highlight>
                <a:latin typeface="Consolas"/>
                <a:ea typeface="Consolas"/>
                <a:cs typeface="Consolas"/>
                <a:sym typeface="Consolas"/>
              </a:rPr>
              <a:t>constructor</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"Juan"</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42</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persona1.</a:t>
            </a:r>
            <a:r>
              <a:rPr b="0" i="0" lang="es" sz="1200" u="none" cap="none" strike="noStrike">
                <a:solidFill>
                  <a:srgbClr val="FFE66D"/>
                </a:solidFill>
                <a:highlight>
                  <a:srgbClr val="23262E"/>
                </a:highlight>
                <a:latin typeface="Consolas"/>
                <a:ea typeface="Consolas"/>
                <a:cs typeface="Consolas"/>
                <a:sym typeface="Consolas"/>
              </a:rPr>
              <a:t>identificarse</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persona1.edad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43</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Modificamos la edad</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persona1.</a:t>
            </a:r>
            <a:r>
              <a:rPr b="0" i="0" lang="es" sz="1200" u="none" cap="none" strike="noStrike">
                <a:solidFill>
                  <a:srgbClr val="FFE66D"/>
                </a:solidFill>
                <a:highlight>
                  <a:srgbClr val="23262E"/>
                </a:highlight>
                <a:latin typeface="Consolas"/>
                <a:ea typeface="Consolas"/>
                <a:cs typeface="Consolas"/>
                <a:sym typeface="Consolas"/>
              </a:rPr>
              <a:t>identificarse</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5F6167"/>
              </a:solidFill>
              <a:highlight>
                <a:srgbClr val="23262E"/>
              </a:highlight>
              <a:latin typeface="Consolas"/>
              <a:ea typeface="Consolas"/>
              <a:cs typeface="Consolas"/>
              <a:sym typeface="Consolas"/>
            </a:endParaRPr>
          </a:p>
        </p:txBody>
      </p:sp>
      <p:sp>
        <p:nvSpPr>
          <p:cNvPr id="304" name="Google Shape;304;p17"/>
          <p:cNvSpPr/>
          <p:nvPr/>
        </p:nvSpPr>
        <p:spPr>
          <a:xfrm>
            <a:off x="4843050" y="1380600"/>
            <a:ext cx="3869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Constructor</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18"/>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Clases | Método constructor</a:t>
            </a:r>
            <a:endParaRPr/>
          </a:p>
        </p:txBody>
      </p:sp>
      <p:sp>
        <p:nvSpPr>
          <p:cNvPr id="310" name="Google Shape;310;p18"/>
          <p:cNvSpPr txBox="1"/>
          <p:nvPr/>
        </p:nvSpPr>
        <p:spPr>
          <a:xfrm>
            <a:off x="436425" y="1281700"/>
            <a:ext cx="8279700" cy="3275400"/>
          </a:xfrm>
          <a:prstGeom prst="rect">
            <a:avLst/>
          </a:prstGeom>
          <a:noFill/>
          <a:ln>
            <a:noFill/>
          </a:ln>
        </p:spPr>
        <p:txBody>
          <a:bodyPr anchorCtr="0" anchor="t" bIns="91425" lIns="0" spcFirstLastPara="1" rIns="0" wrap="square" tIns="91425">
            <a:noAutofit/>
          </a:bodyPr>
          <a:lstStyle/>
          <a:p>
            <a:pPr indent="0" lvl="0" marL="0" marR="0" rtl="0" algn="l">
              <a:lnSpc>
                <a:spcPct val="115000"/>
              </a:lnSpc>
              <a:spcBef>
                <a:spcPts val="0"/>
              </a:spcBef>
              <a:spcAft>
                <a:spcPts val="0"/>
              </a:spcAft>
              <a:buClr>
                <a:schemeClr val="dk1"/>
              </a:buClr>
              <a:buSzPts val="1100"/>
              <a:buFont typeface="Arial"/>
              <a:buNone/>
            </a:pPr>
            <a:r>
              <a:rPr b="0" i="0" lang="es" sz="1650" u="none" cap="none" strike="noStrike">
                <a:solidFill>
                  <a:schemeClr val="dk2"/>
                </a:solidFill>
                <a:latin typeface="Montserrat"/>
                <a:ea typeface="Montserrat"/>
                <a:cs typeface="Montserrat"/>
                <a:sym typeface="Montserrat"/>
              </a:rPr>
              <a:t>En el ejemplo anterior tenemos una clase con </a:t>
            </a:r>
            <a:r>
              <a:rPr b="1" i="0" lang="es" sz="1650" u="none" cap="none" strike="noStrike">
                <a:solidFill>
                  <a:schemeClr val="dk2"/>
                </a:solidFill>
                <a:latin typeface="Montserrat"/>
                <a:ea typeface="Montserrat"/>
                <a:cs typeface="Montserrat"/>
                <a:sym typeface="Montserrat"/>
              </a:rPr>
              <a:t>dos métodos</a:t>
            </a:r>
            <a:r>
              <a:rPr b="0" i="0" lang="es" sz="1650" u="none" cap="none" strike="noStrike">
                <a:solidFill>
                  <a:schemeClr val="dk2"/>
                </a:solidFill>
                <a:latin typeface="Montserrat"/>
                <a:ea typeface="Montserrat"/>
                <a:cs typeface="Montserrat"/>
                <a:sym typeface="Montserrat"/>
              </a:rPr>
              <a:t> y </a:t>
            </a:r>
            <a:r>
              <a:rPr b="1" i="0" lang="es" sz="1650" u="none" cap="none" strike="noStrike">
                <a:solidFill>
                  <a:schemeClr val="dk2"/>
                </a:solidFill>
                <a:latin typeface="Montserrat"/>
                <a:ea typeface="Montserrat"/>
                <a:cs typeface="Montserrat"/>
                <a:sym typeface="Montserrat"/>
              </a:rPr>
              <a:t>dos atributos</a:t>
            </a:r>
            <a:r>
              <a:rPr b="0" i="0" lang="es" sz="1650" u="none" cap="none" strike="noStrike">
                <a:solidFill>
                  <a:schemeClr val="dk2"/>
                </a:solidFill>
                <a:latin typeface="Montserrat"/>
                <a:ea typeface="Montserrat"/>
                <a:cs typeface="Montserrat"/>
                <a:sym typeface="Montserrat"/>
              </a:rPr>
              <a:t> (</a:t>
            </a:r>
            <a:r>
              <a:rPr b="0" i="1" lang="es" sz="1650" u="none" cap="none" strike="noStrike">
                <a:solidFill>
                  <a:schemeClr val="dk2"/>
                </a:solidFill>
                <a:latin typeface="Montserrat"/>
                <a:ea typeface="Montserrat"/>
                <a:cs typeface="Montserrat"/>
                <a:sym typeface="Montserrat"/>
              </a:rPr>
              <a:t>nombre</a:t>
            </a:r>
            <a:r>
              <a:rPr b="0" i="0" lang="es" sz="1650" u="none" cap="none" strike="noStrike">
                <a:solidFill>
                  <a:schemeClr val="dk2"/>
                </a:solidFill>
                <a:latin typeface="Montserrat"/>
                <a:ea typeface="Montserrat"/>
                <a:cs typeface="Montserrat"/>
                <a:sym typeface="Montserrat"/>
              </a:rPr>
              <a:t> y edad). El valor de los atributos para cada objeto se establecen luego de la instancia, mediante el constructor. El método constructor puede tener cualquier nombre.</a:t>
            </a:r>
            <a:endParaRPr b="0" i="0" sz="1650" u="none" cap="none" strike="noStrike">
              <a:solidFill>
                <a:schemeClr val="dk2"/>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1100"/>
              <a:buFont typeface="Arial"/>
              <a:buNone/>
            </a:pPr>
            <a:r>
              <a:rPr b="0" i="0" lang="es" sz="1650" u="none" cap="none" strike="noStrike">
                <a:solidFill>
                  <a:schemeClr val="dk2"/>
                </a:solidFill>
                <a:latin typeface="Montserrat"/>
                <a:ea typeface="Montserrat"/>
                <a:cs typeface="Montserrat"/>
                <a:sym typeface="Montserrat"/>
              </a:rPr>
              <a:t>Es muy importante el uso de </a:t>
            </a:r>
            <a:r>
              <a:rPr b="1" i="0" lang="es" sz="1650" u="none" cap="none" strike="noStrike">
                <a:solidFill>
                  <a:schemeClr val="dk2"/>
                </a:solidFill>
                <a:latin typeface="Montserrat"/>
                <a:ea typeface="Montserrat"/>
                <a:cs typeface="Montserrat"/>
                <a:sym typeface="Montserrat"/>
              </a:rPr>
              <a:t>self</a:t>
            </a:r>
            <a:r>
              <a:rPr b="0" i="0" lang="es" sz="1650" u="none" cap="none" strike="noStrike">
                <a:solidFill>
                  <a:schemeClr val="dk2"/>
                </a:solidFill>
                <a:latin typeface="Montserrat"/>
                <a:ea typeface="Montserrat"/>
                <a:cs typeface="Montserrat"/>
                <a:sym typeface="Montserrat"/>
              </a:rPr>
              <a:t>. El constructor crea los atributos, cuyo nombre comienza por </a:t>
            </a:r>
            <a:r>
              <a:rPr b="1" i="0" lang="es" sz="1650" u="none" cap="none" strike="noStrike">
                <a:solidFill>
                  <a:schemeClr val="dk2"/>
                </a:solidFill>
                <a:latin typeface="Montserrat"/>
                <a:ea typeface="Montserrat"/>
                <a:cs typeface="Montserrat"/>
                <a:sym typeface="Montserrat"/>
              </a:rPr>
              <a:t>self</a:t>
            </a:r>
            <a:r>
              <a:rPr b="0" i="0" lang="es" sz="1650" u="none" cap="none" strike="noStrike">
                <a:solidFill>
                  <a:schemeClr val="dk2"/>
                </a:solidFill>
                <a:latin typeface="Montserrat"/>
                <a:ea typeface="Montserrat"/>
                <a:cs typeface="Montserrat"/>
                <a:sym typeface="Montserrat"/>
              </a:rPr>
              <a:t> y copia en ellos los valores pasados mediante los parámetros. Los atributos y los parámetros suelen tener el mismo nombre, pero esto no es obligatorio.</a:t>
            </a:r>
            <a:endParaRPr b="0" i="0" sz="1650" u="none" cap="none" strike="noStrike">
              <a:solidFill>
                <a:schemeClr val="dk2"/>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1100"/>
              <a:buFont typeface="Arial"/>
              <a:buNone/>
            </a:pPr>
            <a:r>
              <a:rPr b="0" i="0" lang="es" sz="1650" u="none" cap="none" strike="noStrike">
                <a:solidFill>
                  <a:schemeClr val="dk2"/>
                </a:solidFill>
                <a:latin typeface="Montserrat"/>
                <a:ea typeface="Montserrat"/>
                <a:cs typeface="Montserrat"/>
                <a:sym typeface="Montserrat"/>
              </a:rPr>
              <a:t>Python ofrece un </a:t>
            </a:r>
            <a:r>
              <a:rPr b="1" i="0" lang="es" sz="1650" u="none" cap="none" strike="noStrike">
                <a:solidFill>
                  <a:schemeClr val="dk2"/>
                </a:solidFill>
                <a:latin typeface="Montserrat"/>
                <a:ea typeface="Montserrat"/>
                <a:cs typeface="Montserrat"/>
                <a:sym typeface="Montserrat"/>
              </a:rPr>
              <a:t>método especial</a:t>
            </a:r>
            <a:r>
              <a:rPr b="0" i="0" lang="es" sz="1650" u="none" cap="none" strike="noStrike">
                <a:solidFill>
                  <a:schemeClr val="dk2"/>
                </a:solidFill>
                <a:latin typeface="Montserrat"/>
                <a:ea typeface="Montserrat"/>
                <a:cs typeface="Montserrat"/>
                <a:sym typeface="Montserrat"/>
              </a:rPr>
              <a:t> denominado </a:t>
            </a:r>
            <a:r>
              <a:rPr b="1" i="0" lang="es" sz="1650" u="none" cap="none" strike="noStrike">
                <a:solidFill>
                  <a:schemeClr val="dk2"/>
                </a:solidFill>
                <a:latin typeface="Montserrat"/>
                <a:ea typeface="Montserrat"/>
                <a:cs typeface="Montserrat"/>
                <a:sym typeface="Montserrat"/>
              </a:rPr>
              <a:t>__init__()</a:t>
            </a:r>
            <a:r>
              <a:rPr b="0" i="0" lang="es" sz="1650" u="none" cap="none" strike="noStrike">
                <a:solidFill>
                  <a:schemeClr val="dk2"/>
                </a:solidFill>
                <a:latin typeface="Montserrat"/>
                <a:ea typeface="Montserrat"/>
                <a:cs typeface="Montserrat"/>
                <a:sym typeface="Montserrat"/>
              </a:rPr>
              <a:t> que simplifica el proceso de instancia y asignación de valores a los atributos.</a:t>
            </a:r>
            <a:endParaRPr b="0" i="0" sz="1650" u="none" cap="none" strike="noStrike">
              <a:solidFill>
                <a:schemeClr val="dk2"/>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1100"/>
              <a:buFont typeface="Arial"/>
              <a:buNone/>
            </a:pPr>
            <a:r>
              <a:t/>
            </a:r>
            <a:endParaRPr b="0" i="0" sz="1650" u="none" cap="none" strike="noStrike">
              <a:solidFill>
                <a:schemeClr val="dk2"/>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1100"/>
              <a:buFont typeface="Arial"/>
              <a:buNone/>
            </a:pPr>
            <a:r>
              <a:rPr b="0" i="0" lang="es" sz="1650" u="none" cap="none" strike="noStrike">
                <a:solidFill>
                  <a:schemeClr val="dk2"/>
                </a:solidFill>
                <a:latin typeface="Montserrat"/>
                <a:ea typeface="Montserrat"/>
                <a:cs typeface="Montserrat"/>
                <a:sym typeface="Montserrat"/>
              </a:rPr>
              <a:t> </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chemeClr val="dk1"/>
              </a:buClr>
              <a:buSzPts val="1100"/>
              <a:buFont typeface="Arial"/>
              <a:buNone/>
            </a:pPr>
            <a:r>
              <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t/>
            </a:r>
            <a:endParaRPr b="0" i="0" sz="1682" u="none" cap="none" strike="noStrike">
              <a:solidFill>
                <a:srgbClr val="595959"/>
              </a:solidFill>
              <a:latin typeface="Montserrat"/>
              <a:ea typeface="Montserrat"/>
              <a:cs typeface="Montserrat"/>
              <a:sym typeface="Montserra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19"/>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Clases | Método __init__()</a:t>
            </a:r>
            <a:endParaRPr/>
          </a:p>
        </p:txBody>
      </p:sp>
      <p:sp>
        <p:nvSpPr>
          <p:cNvPr id="316" name="Google Shape;316;p19"/>
          <p:cNvSpPr txBox="1"/>
          <p:nvPr>
            <p:ph idx="1" type="body"/>
          </p:nvPr>
        </p:nvSpPr>
        <p:spPr>
          <a:xfrm>
            <a:off x="432025" y="1304875"/>
            <a:ext cx="4102500" cy="3294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s" sz="1650"/>
              <a:t>__init__() </a:t>
            </a:r>
            <a:r>
              <a:rPr lang="es" sz="1650"/>
              <a:t>permite que en el momento de la instancia se asignen valores a los atributos. </a:t>
            </a:r>
            <a:endParaRPr sz="1650"/>
          </a:p>
          <a:p>
            <a:pPr indent="0" lvl="0" marL="0" rtl="0" algn="l">
              <a:lnSpc>
                <a:spcPct val="115000"/>
              </a:lnSpc>
              <a:spcBef>
                <a:spcPts val="1200"/>
              </a:spcBef>
              <a:spcAft>
                <a:spcPts val="0"/>
              </a:spcAft>
              <a:buSzPts val="1800"/>
              <a:buNone/>
            </a:pPr>
            <a:r>
              <a:rPr lang="es" sz="1650"/>
              <a:t>El ejemplo de la derecha muestra cómo utilizar </a:t>
            </a:r>
            <a:r>
              <a:rPr b="1" lang="es" sz="1650"/>
              <a:t>__init__()</a:t>
            </a:r>
            <a:r>
              <a:rPr lang="es" sz="1650"/>
              <a:t>. En el momento de instanciar el objeto </a:t>
            </a:r>
            <a:r>
              <a:rPr i="1" lang="es" sz="1650"/>
              <a:t>persona1</a:t>
            </a:r>
            <a:r>
              <a:rPr lang="es" sz="1650"/>
              <a:t> pasamos como argumentos los valores del </a:t>
            </a:r>
            <a:r>
              <a:rPr i="1" lang="es" sz="1650"/>
              <a:t>nombre</a:t>
            </a:r>
            <a:r>
              <a:rPr lang="es" sz="1650"/>
              <a:t> y la </a:t>
            </a:r>
            <a:r>
              <a:rPr i="1" lang="es" sz="1650"/>
              <a:t>edad</a:t>
            </a:r>
            <a:r>
              <a:rPr lang="es" sz="1650"/>
              <a:t>, para que el constructor los asigne a la instancia creada.</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1200"/>
              </a:spcAft>
              <a:buSzPts val="1800"/>
              <a:buNone/>
            </a:pPr>
            <a:r>
              <a:t/>
            </a:r>
            <a:endParaRPr sz="1650"/>
          </a:p>
        </p:txBody>
      </p:sp>
      <p:sp>
        <p:nvSpPr>
          <p:cNvPr id="317" name="Google Shape;317;p19"/>
          <p:cNvSpPr/>
          <p:nvPr/>
        </p:nvSpPr>
        <p:spPr>
          <a:xfrm>
            <a:off x="4843050" y="1609500"/>
            <a:ext cx="3869100" cy="28830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C74DED"/>
                </a:solidFill>
                <a:highlight>
                  <a:srgbClr val="23262E"/>
                </a:highlight>
                <a:latin typeface="Consolas"/>
                <a:ea typeface="Consolas"/>
                <a:cs typeface="Consolas"/>
                <a:sym typeface="Consolas"/>
              </a:rPr>
              <a:t>class</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Persona</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Método constructor</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def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EE5D43"/>
                </a:solidFill>
                <a:highlight>
                  <a:srgbClr val="23262E"/>
                </a:highlight>
                <a:latin typeface="Consolas"/>
                <a:ea typeface="Consolas"/>
                <a:cs typeface="Consolas"/>
                <a:sym typeface="Consolas"/>
              </a:rPr>
              <a:t>__init__</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00E8C6"/>
                </a:solidFill>
                <a:highlight>
                  <a:srgbClr val="23262E"/>
                </a:highlight>
                <a:latin typeface="Consolas"/>
                <a:ea typeface="Consolas"/>
                <a:cs typeface="Consolas"/>
                <a:sym typeface="Consolas"/>
              </a:rPr>
              <a:t>nombre</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00E8C6"/>
                </a:solidFill>
                <a:highlight>
                  <a:srgbClr val="23262E"/>
                </a:highlight>
                <a:latin typeface="Consolas"/>
                <a:ea typeface="Consolas"/>
                <a:cs typeface="Consolas"/>
                <a:sym typeface="Consolas"/>
              </a:rPr>
              <a:t>edad</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00AA"/>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.nombre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nombre</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00AA"/>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.edad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edad</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def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identificarse</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Método normal</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C74DED"/>
                </a:solidFill>
                <a:highlight>
                  <a:srgbClr val="23262E"/>
                </a:highlight>
                <a:latin typeface="Consolas"/>
                <a:ea typeface="Consolas"/>
                <a:cs typeface="Consolas"/>
                <a:sym typeface="Consolas"/>
              </a:rPr>
              <a:t>f</a:t>
            </a:r>
            <a:r>
              <a:rPr b="0" i="0" lang="es" sz="1200" u="none" cap="none" strike="noStrike">
                <a:solidFill>
                  <a:srgbClr val="96E072"/>
                </a:solidFill>
                <a:highlight>
                  <a:srgbClr val="23262E"/>
                </a:highlight>
                <a:latin typeface="Consolas"/>
                <a:ea typeface="Consolas"/>
                <a:cs typeface="Consolas"/>
                <a:sym typeface="Consolas"/>
              </a:rPr>
              <a:t>"Hola. Soy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FF00AA"/>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.nombre</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 y tengo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FF00AA"/>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.edad</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 años."</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 Instanciamos</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persona1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Persona</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"Juan"</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42</a:t>
            </a:r>
            <a:r>
              <a:rPr b="0" i="0" lang="es" sz="1200" u="none" cap="none" strike="noStrike">
                <a:solidFill>
                  <a:srgbClr val="D5CED9"/>
                </a:solidFill>
                <a:highlight>
                  <a:srgbClr val="23262E"/>
                </a:highlight>
                <a:latin typeface="Consolas"/>
                <a:ea typeface="Consolas"/>
                <a:cs typeface="Consolas"/>
                <a:sym typeface="Consolas"/>
              </a:rPr>
              <a:t>)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persona1.</a:t>
            </a:r>
            <a:r>
              <a:rPr b="0" i="0" lang="es" sz="1200" u="none" cap="none" strike="noStrike">
                <a:solidFill>
                  <a:srgbClr val="FFE66D"/>
                </a:solidFill>
                <a:highlight>
                  <a:srgbClr val="23262E"/>
                </a:highlight>
                <a:latin typeface="Consolas"/>
                <a:ea typeface="Consolas"/>
                <a:cs typeface="Consolas"/>
                <a:sym typeface="Consolas"/>
              </a:rPr>
              <a:t>identificarse</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persona1.edad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43</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Modificamos la edad</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persona1.</a:t>
            </a:r>
            <a:r>
              <a:rPr b="0" i="0" lang="es" sz="1200" u="none" cap="none" strike="noStrike">
                <a:solidFill>
                  <a:srgbClr val="FFE66D"/>
                </a:solidFill>
                <a:highlight>
                  <a:srgbClr val="23262E"/>
                </a:highlight>
                <a:latin typeface="Consolas"/>
                <a:ea typeface="Consolas"/>
                <a:cs typeface="Consolas"/>
                <a:sym typeface="Consolas"/>
              </a:rPr>
              <a:t>identificarse</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5F6167"/>
              </a:solidFill>
              <a:highlight>
                <a:srgbClr val="23262E"/>
              </a:highlight>
              <a:latin typeface="Consolas"/>
              <a:ea typeface="Consolas"/>
              <a:cs typeface="Consolas"/>
              <a:sym typeface="Consolas"/>
            </a:endParaRPr>
          </a:p>
        </p:txBody>
      </p:sp>
      <p:sp>
        <p:nvSpPr>
          <p:cNvPr id="318" name="Google Shape;318;p19"/>
          <p:cNvSpPr/>
          <p:nvPr/>
        </p:nvSpPr>
        <p:spPr>
          <a:xfrm>
            <a:off x="4843050" y="1380600"/>
            <a:ext cx="3869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__init__()</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20"/>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Clases | Ejemplo</a:t>
            </a:r>
            <a:endParaRPr/>
          </a:p>
        </p:txBody>
      </p:sp>
      <p:sp>
        <p:nvSpPr>
          <p:cNvPr id="324" name="Google Shape;324;p20"/>
          <p:cNvSpPr/>
          <p:nvPr/>
        </p:nvSpPr>
        <p:spPr>
          <a:xfrm>
            <a:off x="503825" y="1609500"/>
            <a:ext cx="3869100" cy="27675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C74DED"/>
                </a:solidFill>
                <a:highlight>
                  <a:srgbClr val="23262E"/>
                </a:highlight>
                <a:latin typeface="Consolas"/>
                <a:ea typeface="Consolas"/>
                <a:cs typeface="Consolas"/>
                <a:sym typeface="Consolas"/>
              </a:rPr>
              <a:t>class</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Cuadrado</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def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EE5D43"/>
                </a:solidFill>
                <a:highlight>
                  <a:srgbClr val="23262E"/>
                </a:highlight>
                <a:latin typeface="Consolas"/>
                <a:ea typeface="Consolas"/>
                <a:cs typeface="Consolas"/>
                <a:sym typeface="Consolas"/>
              </a:rPr>
              <a:t>__init__</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00E8C6"/>
                </a:solidFill>
                <a:highlight>
                  <a:srgbClr val="23262E"/>
                </a:highlight>
                <a:latin typeface="Consolas"/>
                <a:ea typeface="Consolas"/>
                <a:cs typeface="Consolas"/>
                <a:sym typeface="Consolas"/>
              </a:rPr>
              <a:t>lado</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00AA"/>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.lado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lado</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def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calcular_area</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return</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00AA"/>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.lado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4</a:t>
            </a:r>
            <a:endParaRPr b="0" i="0" sz="1200" u="none" cap="none" strike="noStrike">
              <a:solidFill>
                <a:srgbClr val="F39C1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def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calcular_perimetro</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return</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00AA"/>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.lado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2</a:t>
            </a:r>
            <a:endParaRPr b="0" i="0" sz="1200" u="none" cap="none" strike="noStrike">
              <a:solidFill>
                <a:srgbClr val="F39C1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cuad1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Cuadrado</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15</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Instanciamos</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(cuad1.</a:t>
            </a:r>
            <a:r>
              <a:rPr b="0" i="0" lang="es" sz="1200" u="none" cap="none" strike="noStrike">
                <a:solidFill>
                  <a:srgbClr val="FFE66D"/>
                </a:solidFill>
                <a:highlight>
                  <a:srgbClr val="23262E"/>
                </a:highlight>
                <a:latin typeface="Consolas"/>
                <a:ea typeface="Consolas"/>
                <a:cs typeface="Consolas"/>
                <a:sym typeface="Consolas"/>
              </a:rPr>
              <a:t>calcular_area</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60</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(cuad1.</a:t>
            </a:r>
            <a:r>
              <a:rPr b="0" i="0" lang="es" sz="1200" u="none" cap="none" strike="noStrike">
                <a:solidFill>
                  <a:srgbClr val="FFE66D"/>
                </a:solidFill>
                <a:highlight>
                  <a:srgbClr val="23262E"/>
                </a:highlight>
                <a:latin typeface="Consolas"/>
                <a:ea typeface="Consolas"/>
                <a:cs typeface="Consolas"/>
                <a:sym typeface="Consolas"/>
              </a:rPr>
              <a:t>calcular_perimetro</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225</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cuad1.lado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12  </a:t>
            </a:r>
            <a:r>
              <a:rPr b="0" i="0" lang="es" sz="1200" u="none" cap="none" strike="noStrike">
                <a:solidFill>
                  <a:srgbClr val="5F6167"/>
                </a:solidFill>
                <a:highlight>
                  <a:srgbClr val="23262E"/>
                </a:highlight>
                <a:latin typeface="Consolas"/>
                <a:ea typeface="Consolas"/>
                <a:cs typeface="Consolas"/>
                <a:sym typeface="Consolas"/>
              </a:rPr>
              <a:t># Modificamos el atributo</a:t>
            </a:r>
            <a:endParaRPr b="0" i="0" sz="1200" u="none" cap="none" strike="noStrike">
              <a:solidFill>
                <a:srgbClr val="F39C1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(cuad1.</a:t>
            </a:r>
            <a:r>
              <a:rPr b="0" i="0" lang="es" sz="1200" u="none" cap="none" strike="noStrike">
                <a:solidFill>
                  <a:srgbClr val="FFE66D"/>
                </a:solidFill>
                <a:highlight>
                  <a:srgbClr val="23262E"/>
                </a:highlight>
                <a:latin typeface="Consolas"/>
                <a:ea typeface="Consolas"/>
                <a:cs typeface="Consolas"/>
                <a:sym typeface="Consolas"/>
              </a:rPr>
              <a:t>calcular_area</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48</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(cuad1.</a:t>
            </a:r>
            <a:r>
              <a:rPr b="0" i="0" lang="es" sz="1200" u="none" cap="none" strike="noStrike">
                <a:solidFill>
                  <a:srgbClr val="FFE66D"/>
                </a:solidFill>
                <a:highlight>
                  <a:srgbClr val="23262E"/>
                </a:highlight>
                <a:latin typeface="Consolas"/>
                <a:ea typeface="Consolas"/>
                <a:cs typeface="Consolas"/>
                <a:sym typeface="Consolas"/>
              </a:rPr>
              <a:t>calcular_perimetro</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144</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5F6167"/>
              </a:solidFill>
              <a:highlight>
                <a:srgbClr val="23262E"/>
              </a:highlight>
              <a:latin typeface="Consolas"/>
              <a:ea typeface="Consolas"/>
              <a:cs typeface="Consolas"/>
              <a:sym typeface="Consolas"/>
            </a:endParaRPr>
          </a:p>
        </p:txBody>
      </p:sp>
      <p:sp>
        <p:nvSpPr>
          <p:cNvPr id="325" name="Google Shape;325;p20"/>
          <p:cNvSpPr/>
          <p:nvPr/>
        </p:nvSpPr>
        <p:spPr>
          <a:xfrm>
            <a:off x="503825" y="1380600"/>
            <a:ext cx="3869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Ejemplo de la clase Cuadrado</a:t>
            </a:r>
            <a:endParaRPr b="0" i="0" sz="1400" u="none" cap="none" strike="noStrike">
              <a:solidFill>
                <a:schemeClr val="dk2"/>
              </a:solidFill>
              <a:latin typeface="Montserrat"/>
              <a:ea typeface="Montserrat"/>
              <a:cs typeface="Montserrat"/>
              <a:sym typeface="Montserrat"/>
            </a:endParaRPr>
          </a:p>
        </p:txBody>
      </p:sp>
      <p:sp>
        <p:nvSpPr>
          <p:cNvPr id="326" name="Google Shape;326;p20"/>
          <p:cNvSpPr txBox="1"/>
          <p:nvPr>
            <p:ph idx="1" type="body"/>
          </p:nvPr>
        </p:nvSpPr>
        <p:spPr>
          <a:xfrm>
            <a:off x="4639050" y="1271025"/>
            <a:ext cx="4102500" cy="3294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s" sz="1650"/>
              <a:t>La clase </a:t>
            </a:r>
            <a:r>
              <a:rPr b="1" lang="es" sz="1650"/>
              <a:t>Cuadrado</a:t>
            </a:r>
            <a:r>
              <a:rPr lang="es" sz="1650"/>
              <a:t> incluye un constructor que en la inicialización establece el valor del </a:t>
            </a:r>
            <a:r>
              <a:rPr b="1" lang="es" sz="1650"/>
              <a:t>atributo</a:t>
            </a:r>
            <a:r>
              <a:rPr lang="es" sz="1650"/>
              <a:t> </a:t>
            </a:r>
            <a:r>
              <a:rPr i="1" lang="es" sz="1650"/>
              <a:t>lado</a:t>
            </a:r>
            <a:r>
              <a:rPr lang="es" sz="1650"/>
              <a:t>. Posee métodos para calcular el área y el perímetro ( </a:t>
            </a:r>
            <a:r>
              <a:rPr i="1" lang="es" sz="1650"/>
              <a:t>calcular_area() </a:t>
            </a:r>
            <a:r>
              <a:rPr lang="es" sz="1650"/>
              <a:t>y </a:t>
            </a:r>
            <a:r>
              <a:rPr i="1" lang="es" sz="1650"/>
              <a:t>calcular_perimetro()</a:t>
            </a:r>
            <a:r>
              <a:rPr lang="es" sz="1650"/>
              <a:t> ).</a:t>
            </a:r>
            <a:endParaRPr sz="1650"/>
          </a:p>
          <a:p>
            <a:pPr indent="0" lvl="0" marL="0" rtl="0" algn="l">
              <a:lnSpc>
                <a:spcPct val="115000"/>
              </a:lnSpc>
              <a:spcBef>
                <a:spcPts val="1200"/>
              </a:spcBef>
              <a:spcAft>
                <a:spcPts val="0"/>
              </a:spcAft>
              <a:buSzPts val="1800"/>
              <a:buNone/>
            </a:pPr>
            <a:r>
              <a:rPr lang="es" sz="1650"/>
              <a:t>Es posible modificar el valor del </a:t>
            </a:r>
            <a:r>
              <a:rPr b="1" lang="es" sz="1650"/>
              <a:t>atributo</a:t>
            </a:r>
            <a:r>
              <a:rPr lang="es" sz="1650"/>
              <a:t> </a:t>
            </a:r>
            <a:r>
              <a:rPr i="1" lang="es" sz="1650"/>
              <a:t>lado</a:t>
            </a:r>
            <a:r>
              <a:rPr lang="es" sz="1650"/>
              <a:t> mediante la notación punto, y los </a:t>
            </a:r>
            <a:r>
              <a:rPr b="1" lang="es" sz="1650"/>
              <a:t>métodos</a:t>
            </a:r>
            <a:r>
              <a:rPr lang="es" sz="1650"/>
              <a:t> mencionados devuelven los valores recalculados.</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1200"/>
              </a:spcAft>
              <a:buSzPts val="1800"/>
              <a:buNone/>
            </a:pPr>
            <a:r>
              <a:t/>
            </a:r>
            <a:endParaRPr sz="165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21"/>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Clases | Método __str__()</a:t>
            </a:r>
            <a:endParaRPr/>
          </a:p>
        </p:txBody>
      </p:sp>
      <p:sp>
        <p:nvSpPr>
          <p:cNvPr id="332" name="Google Shape;332;p21"/>
          <p:cNvSpPr txBox="1"/>
          <p:nvPr>
            <p:ph idx="1" type="body"/>
          </p:nvPr>
        </p:nvSpPr>
        <p:spPr>
          <a:xfrm>
            <a:off x="432025" y="1304875"/>
            <a:ext cx="4102500" cy="3294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s" sz="1650"/>
              <a:t>Para mostrar objetos, Python provee otro método especial, llamado </a:t>
            </a:r>
            <a:r>
              <a:rPr b="1" lang="es" sz="1650"/>
              <a:t>__str__</a:t>
            </a:r>
            <a:r>
              <a:rPr lang="es" sz="1650"/>
              <a:t> , que debe devolver una cadena de caracteres con lo que queremos mostrar. Este método se invoca cada vez que se llama a la función </a:t>
            </a:r>
            <a:r>
              <a:rPr b="1" lang="es" sz="1650"/>
              <a:t>str</a:t>
            </a:r>
            <a:r>
              <a:rPr lang="es" sz="1650"/>
              <a:t>, por ejemplo, al imprimir el objeto.</a:t>
            </a:r>
            <a:endParaRPr sz="1650"/>
          </a:p>
          <a:p>
            <a:pPr indent="0" lvl="0" marL="0" rtl="0" algn="l">
              <a:lnSpc>
                <a:spcPct val="115000"/>
              </a:lnSpc>
              <a:spcBef>
                <a:spcPts val="1200"/>
              </a:spcBef>
              <a:spcAft>
                <a:spcPts val="0"/>
              </a:spcAft>
              <a:buSzPts val="1800"/>
              <a:buNone/>
            </a:pPr>
            <a:r>
              <a:rPr lang="es" sz="1650"/>
              <a:t>El método </a:t>
            </a:r>
            <a:r>
              <a:rPr b="1" lang="es" sz="1650"/>
              <a:t>__str__</a:t>
            </a:r>
            <a:r>
              <a:rPr lang="es" sz="1650"/>
              <a:t> tiene un solo parámetro, </a:t>
            </a:r>
            <a:r>
              <a:rPr b="1" lang="es" sz="1650"/>
              <a:t>self</a:t>
            </a:r>
            <a:r>
              <a:rPr lang="es" sz="1650"/>
              <a:t>.</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1200"/>
              </a:spcAft>
              <a:buSzPts val="1800"/>
              <a:buNone/>
            </a:pPr>
            <a:r>
              <a:t/>
            </a:r>
            <a:endParaRPr sz="1650"/>
          </a:p>
        </p:txBody>
      </p:sp>
      <p:sp>
        <p:nvSpPr>
          <p:cNvPr id="333" name="Google Shape;333;p21"/>
          <p:cNvSpPr/>
          <p:nvPr/>
        </p:nvSpPr>
        <p:spPr>
          <a:xfrm>
            <a:off x="4843050" y="1609500"/>
            <a:ext cx="3869100" cy="28830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 Creamos la clase "Alumno":</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C74DED"/>
                </a:solidFill>
                <a:highlight>
                  <a:srgbClr val="23262E"/>
                </a:highlight>
                <a:latin typeface="Consolas"/>
                <a:ea typeface="Consolas"/>
                <a:cs typeface="Consolas"/>
                <a:sym typeface="Consolas"/>
              </a:rPr>
              <a:t>class</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Alumno</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def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EE5D43"/>
                </a:solidFill>
                <a:highlight>
                  <a:srgbClr val="23262E"/>
                </a:highlight>
                <a:latin typeface="Consolas"/>
                <a:ea typeface="Consolas"/>
                <a:cs typeface="Consolas"/>
                <a:sym typeface="Consolas"/>
              </a:rPr>
              <a:t>__init__</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00E8C6"/>
                </a:solidFill>
                <a:highlight>
                  <a:srgbClr val="23262E"/>
                </a:highlight>
                <a:latin typeface="Consolas"/>
                <a:ea typeface="Consolas"/>
                <a:cs typeface="Consolas"/>
                <a:sym typeface="Consolas"/>
              </a:rPr>
              <a:t>nombre</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00E8C6"/>
                </a:solidFill>
                <a:highlight>
                  <a:srgbClr val="23262E"/>
                </a:highlight>
                <a:latin typeface="Consolas"/>
                <a:ea typeface="Consolas"/>
                <a:cs typeface="Consolas"/>
                <a:sym typeface="Consolas"/>
              </a:rPr>
              <a:t>nota</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00AA"/>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.nombre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nombre</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00AA"/>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.nota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nota</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def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EE5D43"/>
                </a:solidFill>
                <a:highlight>
                  <a:srgbClr val="23262E"/>
                </a:highlight>
                <a:latin typeface="Consolas"/>
                <a:ea typeface="Consolas"/>
                <a:cs typeface="Consolas"/>
                <a:sym typeface="Consolas"/>
              </a:rPr>
              <a:t>__str__</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return</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f</a:t>
            </a:r>
            <a:r>
              <a:rPr b="0" i="0" lang="es" sz="1200" u="none" cap="none" strike="noStrike">
                <a:solidFill>
                  <a:srgbClr val="96E072"/>
                </a:solidFill>
                <a:highlight>
                  <a:srgbClr val="23262E"/>
                </a:highlight>
                <a:latin typeface="Consolas"/>
                <a:ea typeface="Consolas"/>
                <a:cs typeface="Consolas"/>
                <a:sym typeface="Consolas"/>
              </a:rPr>
              <a:t>"La nota de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FF00AA"/>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.nombre</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 es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FF00AA"/>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.nota</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a:t>
            </a:r>
            <a:endParaRPr b="0" i="0" sz="12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alumno1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Alumno</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"Pedro"</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7</a:t>
            </a:r>
            <a:r>
              <a:rPr b="0" i="0" lang="es" sz="1200" u="none" cap="none" strike="noStrike">
                <a:solidFill>
                  <a:srgbClr val="D5CED9"/>
                </a:solidFill>
                <a:highlight>
                  <a:srgbClr val="23262E"/>
                </a:highlight>
                <a:latin typeface="Consolas"/>
                <a:ea typeface="Consolas"/>
                <a:cs typeface="Consolas"/>
                <a:sym typeface="Consolas"/>
              </a:rPr>
              <a:t>)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(alumno1)    </a:t>
            </a:r>
            <a:r>
              <a:rPr b="0" i="0" lang="es" sz="1200" u="none" cap="none" strike="noStrike">
                <a:solidFill>
                  <a:srgbClr val="5F6167"/>
                </a:solidFill>
                <a:highlight>
                  <a:srgbClr val="23262E"/>
                </a:highlight>
                <a:latin typeface="Consolas"/>
                <a:ea typeface="Consolas"/>
                <a:cs typeface="Consolas"/>
                <a:sym typeface="Consolas"/>
              </a:rPr>
              <a:t># La nota de Pedro es 7</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alumno1.nota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10</a:t>
            </a:r>
            <a:endParaRPr b="0" i="0" sz="1200" u="none" cap="none" strike="noStrike">
              <a:solidFill>
                <a:srgbClr val="F39C1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(alumno1)    </a:t>
            </a:r>
            <a:r>
              <a:rPr b="0" i="0" lang="es" sz="1200" u="none" cap="none" strike="noStrike">
                <a:solidFill>
                  <a:srgbClr val="5F6167"/>
                </a:solidFill>
                <a:highlight>
                  <a:srgbClr val="23262E"/>
                </a:highlight>
                <a:latin typeface="Consolas"/>
                <a:ea typeface="Consolas"/>
                <a:cs typeface="Consolas"/>
                <a:sym typeface="Consolas"/>
              </a:rPr>
              <a:t># La nota de Pedro es 10</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5F6167"/>
              </a:solidFill>
              <a:highlight>
                <a:srgbClr val="23262E"/>
              </a:highlight>
              <a:latin typeface="Consolas"/>
              <a:ea typeface="Consolas"/>
              <a:cs typeface="Consolas"/>
              <a:sym typeface="Consolas"/>
            </a:endParaRPr>
          </a:p>
        </p:txBody>
      </p:sp>
      <p:sp>
        <p:nvSpPr>
          <p:cNvPr id="334" name="Google Shape;334;p21"/>
          <p:cNvSpPr/>
          <p:nvPr/>
        </p:nvSpPr>
        <p:spPr>
          <a:xfrm>
            <a:off x="4843050" y="1380600"/>
            <a:ext cx="3869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__init__()</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22"/>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Clases | Método __del__()</a:t>
            </a:r>
            <a:endParaRPr/>
          </a:p>
          <a:p>
            <a:pPr indent="0" lvl="0" marL="0" rtl="0" algn="l">
              <a:lnSpc>
                <a:spcPct val="100000"/>
              </a:lnSpc>
              <a:spcBef>
                <a:spcPts val="0"/>
              </a:spcBef>
              <a:spcAft>
                <a:spcPts val="0"/>
              </a:spcAft>
              <a:buSzPct val="111111"/>
              <a:buNone/>
            </a:pPr>
            <a:r>
              <a:t/>
            </a:r>
            <a:endParaRPr/>
          </a:p>
        </p:txBody>
      </p:sp>
      <p:sp>
        <p:nvSpPr>
          <p:cNvPr id="340" name="Google Shape;340;p22"/>
          <p:cNvSpPr/>
          <p:nvPr/>
        </p:nvSpPr>
        <p:spPr>
          <a:xfrm>
            <a:off x="503825" y="1609500"/>
            <a:ext cx="3869100" cy="23949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C74DED"/>
                </a:solidFill>
                <a:highlight>
                  <a:srgbClr val="23262E"/>
                </a:highlight>
                <a:latin typeface="Consolas"/>
                <a:ea typeface="Consolas"/>
                <a:cs typeface="Consolas"/>
                <a:sym typeface="Consolas"/>
              </a:rPr>
              <a:t>class</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Perro</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def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EE5D43"/>
                </a:solidFill>
                <a:highlight>
                  <a:srgbClr val="23262E"/>
                </a:highlight>
                <a:latin typeface="Consolas"/>
                <a:ea typeface="Consolas"/>
                <a:cs typeface="Consolas"/>
                <a:sym typeface="Consolas"/>
              </a:rPr>
              <a:t>__init__</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00E8C6"/>
                </a:solidFill>
                <a:highlight>
                  <a:srgbClr val="23262E"/>
                </a:highlight>
                <a:latin typeface="Consolas"/>
                <a:ea typeface="Consolas"/>
                <a:cs typeface="Consolas"/>
                <a:sym typeface="Consolas"/>
              </a:rPr>
              <a:t>nombre</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00E8C6"/>
                </a:solidFill>
                <a:highlight>
                  <a:srgbClr val="23262E"/>
                </a:highlight>
                <a:latin typeface="Consolas"/>
                <a:ea typeface="Consolas"/>
                <a:cs typeface="Consolas"/>
                <a:sym typeface="Consolas"/>
              </a:rPr>
              <a:t>raza</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00AA"/>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.nombre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nombre</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00AA"/>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.raza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raza</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def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EE5D43"/>
                </a:solidFill>
                <a:highlight>
                  <a:srgbClr val="23262E"/>
                </a:highlight>
                <a:latin typeface="Consolas"/>
                <a:ea typeface="Consolas"/>
                <a:cs typeface="Consolas"/>
                <a:sym typeface="Consolas"/>
              </a:rPr>
              <a:t>__del__</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'Objeto eliminado.'</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perro1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Perro</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"Lassie"</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"Collie"</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(perro1.nombre) </a:t>
            </a:r>
            <a:r>
              <a:rPr b="0" i="0" lang="es" sz="1200" u="none" cap="none" strike="noStrike">
                <a:solidFill>
                  <a:srgbClr val="5F6167"/>
                </a:solidFill>
                <a:highlight>
                  <a:srgbClr val="23262E"/>
                </a:highlight>
                <a:latin typeface="Consolas"/>
                <a:ea typeface="Consolas"/>
                <a:cs typeface="Consolas"/>
                <a:sym typeface="Consolas"/>
              </a:rPr>
              <a:t># Lassie</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(perro1.raza)   </a:t>
            </a:r>
            <a:r>
              <a:rPr b="0" i="0" lang="es" sz="1200" u="none" cap="none" strike="noStrike">
                <a:solidFill>
                  <a:srgbClr val="5F6167"/>
                </a:solidFill>
                <a:highlight>
                  <a:srgbClr val="23262E"/>
                </a:highlight>
                <a:latin typeface="Consolas"/>
                <a:ea typeface="Consolas"/>
                <a:cs typeface="Consolas"/>
                <a:sym typeface="Consolas"/>
              </a:rPr>
              <a:t># Collie</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C74DED"/>
                </a:solidFill>
                <a:highlight>
                  <a:srgbClr val="23262E"/>
                </a:highlight>
                <a:latin typeface="Consolas"/>
                <a:ea typeface="Consolas"/>
                <a:cs typeface="Consolas"/>
                <a:sym typeface="Consolas"/>
              </a:rPr>
              <a:t>del</a:t>
            </a:r>
            <a:r>
              <a:rPr b="0" i="0" lang="es" sz="1200" u="none" cap="none" strike="noStrike">
                <a:solidFill>
                  <a:srgbClr val="D5CED9"/>
                </a:solidFill>
                <a:highlight>
                  <a:srgbClr val="23262E"/>
                </a:highlight>
                <a:latin typeface="Consolas"/>
                <a:ea typeface="Consolas"/>
                <a:cs typeface="Consolas"/>
                <a:sym typeface="Consolas"/>
              </a:rPr>
              <a:t> perro1           </a:t>
            </a:r>
            <a:r>
              <a:rPr b="0" i="0" lang="es" sz="1200" u="none" cap="none" strike="noStrike">
                <a:solidFill>
                  <a:srgbClr val="5F6167"/>
                </a:solidFill>
                <a:highlight>
                  <a:srgbClr val="23262E"/>
                </a:highlight>
                <a:latin typeface="Consolas"/>
                <a:ea typeface="Consolas"/>
                <a:cs typeface="Consolas"/>
                <a:sym typeface="Consolas"/>
              </a:rPr>
              <a:t># Objeto eliminado.</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5F6167"/>
              </a:solidFill>
              <a:highlight>
                <a:srgbClr val="23262E"/>
              </a:highlight>
              <a:latin typeface="Consolas"/>
              <a:ea typeface="Consolas"/>
              <a:cs typeface="Consolas"/>
              <a:sym typeface="Consolas"/>
            </a:endParaRPr>
          </a:p>
        </p:txBody>
      </p:sp>
      <p:sp>
        <p:nvSpPr>
          <p:cNvPr id="341" name="Google Shape;341;p22"/>
          <p:cNvSpPr/>
          <p:nvPr/>
        </p:nvSpPr>
        <p:spPr>
          <a:xfrm>
            <a:off x="503825" y="1380600"/>
            <a:ext cx="3869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Método __del__()</a:t>
            </a:r>
            <a:endParaRPr b="0" i="0" sz="1400" u="none" cap="none" strike="noStrike">
              <a:solidFill>
                <a:schemeClr val="dk2"/>
              </a:solidFill>
              <a:latin typeface="Montserrat"/>
              <a:ea typeface="Montserrat"/>
              <a:cs typeface="Montserrat"/>
              <a:sym typeface="Montserrat"/>
            </a:endParaRPr>
          </a:p>
        </p:txBody>
      </p:sp>
      <p:sp>
        <p:nvSpPr>
          <p:cNvPr id="342" name="Google Shape;342;p22"/>
          <p:cNvSpPr txBox="1"/>
          <p:nvPr>
            <p:ph idx="1" type="body"/>
          </p:nvPr>
        </p:nvSpPr>
        <p:spPr>
          <a:xfrm>
            <a:off x="4639050" y="1271025"/>
            <a:ext cx="4102500" cy="3294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s" sz="1650"/>
              <a:t>El método especial </a:t>
            </a:r>
            <a:r>
              <a:rPr b="1" lang="es" sz="1650"/>
              <a:t>__del__()</a:t>
            </a:r>
            <a:r>
              <a:rPr lang="es" sz="1650"/>
              <a:t> se invoca automáticamente cuando el objeto se elimina de la memoria. Se puede utilizar para realizar alguna acción especial cuando tiene lugar este evento. Su sintaxis es la que vemos en el ejemplo, y tiene como único parámetro </a:t>
            </a:r>
            <a:r>
              <a:rPr b="1" lang="es" sz="1650"/>
              <a:t>self</a:t>
            </a:r>
            <a:r>
              <a:rPr lang="es" sz="1650"/>
              <a:t>.</a:t>
            </a:r>
            <a:endParaRPr sz="1650"/>
          </a:p>
          <a:p>
            <a:pPr indent="0" lvl="0" marL="0" rtl="0" algn="l">
              <a:lnSpc>
                <a:spcPct val="115000"/>
              </a:lnSpc>
              <a:spcBef>
                <a:spcPts val="1200"/>
              </a:spcBef>
              <a:spcAft>
                <a:spcPts val="0"/>
              </a:spcAft>
              <a:buSzPts val="1800"/>
              <a:buNone/>
            </a:pPr>
            <a:r>
              <a:rPr lang="es" sz="1650"/>
              <a:t>Los objetos se borran con </a:t>
            </a:r>
            <a:r>
              <a:rPr b="1" lang="es" sz="1650"/>
              <a:t>del</a:t>
            </a:r>
            <a:r>
              <a:rPr lang="es" sz="1650"/>
              <a:t>, o se eliminan al finalizar el programa.</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1200"/>
              </a:spcAft>
              <a:buSzPts val="1800"/>
              <a:buNone/>
            </a:pPr>
            <a:r>
              <a:t/>
            </a:r>
            <a:endParaRPr sz="1650"/>
          </a:p>
        </p:txBody>
      </p:sp>
      <p:sp>
        <p:nvSpPr>
          <p:cNvPr id="343" name="Google Shape;343;p22"/>
          <p:cNvSpPr/>
          <p:nvPr/>
        </p:nvSpPr>
        <p:spPr>
          <a:xfrm>
            <a:off x="1618975" y="4004400"/>
            <a:ext cx="1977300" cy="360000"/>
          </a:xfrm>
          <a:prstGeom prst="flowChartAlternateProcess">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Montserrat"/>
                <a:ea typeface="Montserrat"/>
                <a:cs typeface="Montserrat"/>
                <a:sym typeface="Montserrat"/>
              </a:rPr>
              <a:t>Eliminación del objeto</a:t>
            </a:r>
            <a:endParaRPr b="0" i="0" sz="1100" u="none" cap="none" strike="noStrike">
              <a:solidFill>
                <a:schemeClr val="dk2"/>
              </a:solidFill>
              <a:latin typeface="Montserrat"/>
              <a:ea typeface="Montserrat"/>
              <a:cs typeface="Montserrat"/>
              <a:sym typeface="Montserrat"/>
            </a:endParaRPr>
          </a:p>
        </p:txBody>
      </p:sp>
      <p:cxnSp>
        <p:nvCxnSpPr>
          <p:cNvPr id="344" name="Google Shape;344;p22"/>
          <p:cNvCxnSpPr/>
          <p:nvPr/>
        </p:nvCxnSpPr>
        <p:spPr>
          <a:xfrm rot="10800000">
            <a:off x="974275" y="3911100"/>
            <a:ext cx="644700" cy="286800"/>
          </a:xfrm>
          <a:prstGeom prst="straightConnector1">
            <a:avLst/>
          </a:prstGeom>
          <a:noFill/>
          <a:ln cap="flat" cmpd="sng" w="28575">
            <a:solidFill>
              <a:schemeClr val="dk2"/>
            </a:solidFill>
            <a:prstDash val="solid"/>
            <a:round/>
            <a:headEnd len="sm" w="sm" type="none"/>
            <a:tailEnd len="med" w="med" type="triangl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23"/>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Clases | Ejemplo de uso de clases y objetos </a:t>
            </a:r>
            <a:endParaRPr/>
          </a:p>
        </p:txBody>
      </p:sp>
      <p:sp>
        <p:nvSpPr>
          <p:cNvPr id="350" name="Google Shape;350;p23"/>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0"/>
              </a:spcBef>
              <a:spcAft>
                <a:spcPts val="0"/>
              </a:spcAft>
              <a:buClr>
                <a:schemeClr val="dk1"/>
              </a:buClr>
              <a:buSzPts val="1100"/>
              <a:buFont typeface="Arial"/>
              <a:buNone/>
            </a:pPr>
            <a:r>
              <a:rPr b="0" i="0" lang="es" sz="1650" u="none" cap="none" strike="noStrike">
                <a:solidFill>
                  <a:schemeClr val="dk2"/>
                </a:solidFill>
                <a:latin typeface="Montserrat"/>
                <a:ea typeface="Montserrat"/>
                <a:cs typeface="Montserrat"/>
                <a:sym typeface="Montserrat"/>
              </a:rPr>
              <a:t>El siguiente ejemplo implementa todo lo explicado hasta aquí:</a:t>
            </a:r>
            <a:endParaRPr b="0" i="0" sz="1650" u="none" cap="none" strike="noStrike">
              <a:solidFill>
                <a:schemeClr val="dk2"/>
              </a:solidFill>
              <a:latin typeface="Montserrat"/>
              <a:ea typeface="Montserrat"/>
              <a:cs typeface="Montserrat"/>
              <a:sym typeface="Montserrat"/>
            </a:endParaRPr>
          </a:p>
          <a:p>
            <a:pPr indent="-327025" lvl="0" marL="457200" marR="0" rtl="0" algn="l">
              <a:lnSpc>
                <a:spcPct val="115000"/>
              </a:lnSpc>
              <a:spcBef>
                <a:spcPts val="0"/>
              </a:spcBef>
              <a:spcAft>
                <a:spcPts val="0"/>
              </a:spcAft>
              <a:buClr>
                <a:schemeClr val="dk2"/>
              </a:buClr>
              <a:buSzPts val="1550"/>
              <a:buFont typeface="Montserrat"/>
              <a:buChar char="●"/>
            </a:pPr>
            <a:r>
              <a:rPr b="0" i="0" lang="es" sz="1550" u="none" cap="none" strike="noStrike">
                <a:solidFill>
                  <a:schemeClr val="dk2"/>
                </a:solidFill>
                <a:latin typeface="Montserrat"/>
                <a:ea typeface="Montserrat"/>
                <a:cs typeface="Montserrat"/>
                <a:sym typeface="Montserrat"/>
              </a:rPr>
              <a:t>Se implementa una clase llamada Alumno, que posee un atributo de clase (</a:t>
            </a:r>
            <a:r>
              <a:rPr b="0" i="1" lang="es" sz="1550" u="none" cap="none" strike="noStrike">
                <a:solidFill>
                  <a:schemeClr val="dk2"/>
                </a:solidFill>
                <a:latin typeface="Montserrat"/>
                <a:ea typeface="Montserrat"/>
                <a:cs typeface="Montserrat"/>
                <a:sym typeface="Montserrat"/>
              </a:rPr>
              <a:t>nro_alumnos</a:t>
            </a:r>
            <a:r>
              <a:rPr b="0" i="0" lang="es" sz="1550" u="none" cap="none" strike="noStrike">
                <a:solidFill>
                  <a:schemeClr val="dk2"/>
                </a:solidFill>
                <a:latin typeface="Montserrat"/>
                <a:ea typeface="Montserrat"/>
                <a:cs typeface="Montserrat"/>
                <a:sym typeface="Montserrat"/>
              </a:rPr>
              <a:t>) que lleva la cuenta de los objetos instanciados.</a:t>
            </a:r>
            <a:endParaRPr b="0" i="0" sz="1550" u="none" cap="none" strike="noStrike">
              <a:solidFill>
                <a:schemeClr val="dk2"/>
              </a:solidFill>
              <a:latin typeface="Montserrat"/>
              <a:ea typeface="Montserrat"/>
              <a:cs typeface="Montserrat"/>
              <a:sym typeface="Montserrat"/>
            </a:endParaRPr>
          </a:p>
          <a:p>
            <a:pPr indent="-327025" lvl="0" marL="457200" marR="0" rtl="0" algn="l">
              <a:lnSpc>
                <a:spcPct val="115000"/>
              </a:lnSpc>
              <a:spcBef>
                <a:spcPts val="0"/>
              </a:spcBef>
              <a:spcAft>
                <a:spcPts val="0"/>
              </a:spcAft>
              <a:buClr>
                <a:schemeClr val="dk2"/>
              </a:buClr>
              <a:buSzPts val="1550"/>
              <a:buFont typeface="Montserrat"/>
              <a:buChar char="●"/>
            </a:pPr>
            <a:r>
              <a:rPr b="0" i="0" lang="es" sz="1550" u="none" cap="none" strike="noStrike">
                <a:solidFill>
                  <a:schemeClr val="dk2"/>
                </a:solidFill>
                <a:latin typeface="Montserrat"/>
                <a:ea typeface="Montserrat"/>
                <a:cs typeface="Montserrat"/>
                <a:sym typeface="Montserrat"/>
              </a:rPr>
              <a:t>Cada objeto posee un </a:t>
            </a:r>
            <a:r>
              <a:rPr b="0" i="1" lang="es" sz="1550" u="none" cap="none" strike="noStrike">
                <a:solidFill>
                  <a:schemeClr val="dk2"/>
                </a:solidFill>
                <a:latin typeface="Montserrat"/>
                <a:ea typeface="Montserrat"/>
                <a:cs typeface="Montserrat"/>
                <a:sym typeface="Montserrat"/>
              </a:rPr>
              <a:t>nombre</a:t>
            </a:r>
            <a:r>
              <a:rPr b="0" i="0" lang="es" sz="1550" u="none" cap="none" strike="noStrike">
                <a:solidFill>
                  <a:schemeClr val="dk2"/>
                </a:solidFill>
                <a:latin typeface="Montserrat"/>
                <a:ea typeface="Montserrat"/>
                <a:cs typeface="Montserrat"/>
                <a:sym typeface="Montserrat"/>
              </a:rPr>
              <a:t> y una </a:t>
            </a:r>
            <a:r>
              <a:rPr b="0" i="1" lang="es" sz="1550" u="none" cap="none" strike="noStrike">
                <a:solidFill>
                  <a:schemeClr val="dk2"/>
                </a:solidFill>
                <a:latin typeface="Montserrat"/>
                <a:ea typeface="Montserrat"/>
                <a:cs typeface="Montserrat"/>
                <a:sym typeface="Montserrat"/>
              </a:rPr>
              <a:t>nota</a:t>
            </a:r>
            <a:r>
              <a:rPr b="0" i="0" lang="es" sz="1550" u="none" cap="none" strike="noStrike">
                <a:solidFill>
                  <a:schemeClr val="dk2"/>
                </a:solidFill>
                <a:latin typeface="Montserrat"/>
                <a:ea typeface="Montserrat"/>
                <a:cs typeface="Montserrat"/>
                <a:sym typeface="Montserrat"/>
              </a:rPr>
              <a:t>.  </a:t>
            </a:r>
            <a:endParaRPr b="0" i="0" sz="1550" u="none" cap="none" strike="noStrike">
              <a:solidFill>
                <a:schemeClr val="dk2"/>
              </a:solidFill>
              <a:latin typeface="Montserrat"/>
              <a:ea typeface="Montserrat"/>
              <a:cs typeface="Montserrat"/>
              <a:sym typeface="Montserrat"/>
            </a:endParaRPr>
          </a:p>
          <a:p>
            <a:pPr indent="-327025" lvl="0" marL="457200" marR="0" rtl="0" algn="l">
              <a:lnSpc>
                <a:spcPct val="115000"/>
              </a:lnSpc>
              <a:spcBef>
                <a:spcPts val="0"/>
              </a:spcBef>
              <a:spcAft>
                <a:spcPts val="0"/>
              </a:spcAft>
              <a:buClr>
                <a:schemeClr val="dk2"/>
              </a:buClr>
              <a:buSzPts val="1550"/>
              <a:buFont typeface="Montserrat"/>
              <a:buChar char="●"/>
            </a:pPr>
            <a:r>
              <a:rPr b="0" i="0" lang="es" sz="1550" u="none" cap="none" strike="noStrike">
                <a:solidFill>
                  <a:schemeClr val="dk2"/>
                </a:solidFill>
                <a:latin typeface="Montserrat"/>
                <a:ea typeface="Montserrat"/>
                <a:cs typeface="Montserrat"/>
                <a:sym typeface="Montserrat"/>
              </a:rPr>
              <a:t>Se definen métodos para inicializar sus atributos, imprimir el estado del objeto, procesar su eliminación de la memoria y para mostrar un texto con su estado. El estado es “</a:t>
            </a:r>
            <a:r>
              <a:rPr b="0" i="1" lang="es" sz="1550" u="none" cap="none" strike="noStrike">
                <a:solidFill>
                  <a:schemeClr val="dk2"/>
                </a:solidFill>
                <a:latin typeface="Montserrat"/>
                <a:ea typeface="Montserrat"/>
                <a:cs typeface="Montserrat"/>
                <a:sym typeface="Montserrat"/>
              </a:rPr>
              <a:t>regular</a:t>
            </a:r>
            <a:r>
              <a:rPr b="0" i="0" lang="es" sz="1550" u="none" cap="none" strike="noStrike">
                <a:solidFill>
                  <a:schemeClr val="dk2"/>
                </a:solidFill>
                <a:latin typeface="Montserrat"/>
                <a:ea typeface="Montserrat"/>
                <a:cs typeface="Montserrat"/>
                <a:sym typeface="Montserrat"/>
              </a:rPr>
              <a:t>” (nota menor o igual a 4), “</a:t>
            </a:r>
            <a:r>
              <a:rPr b="0" i="1" lang="es" sz="1550" u="none" cap="none" strike="noStrike">
                <a:solidFill>
                  <a:schemeClr val="dk2"/>
                </a:solidFill>
                <a:latin typeface="Montserrat"/>
                <a:ea typeface="Montserrat"/>
                <a:cs typeface="Montserrat"/>
                <a:sym typeface="Montserrat"/>
              </a:rPr>
              <a:t>bueno</a:t>
            </a:r>
            <a:r>
              <a:rPr b="0" i="0" lang="es" sz="1550" u="none" cap="none" strike="noStrike">
                <a:solidFill>
                  <a:schemeClr val="dk2"/>
                </a:solidFill>
                <a:latin typeface="Montserrat"/>
                <a:ea typeface="Montserrat"/>
                <a:cs typeface="Montserrat"/>
                <a:sym typeface="Montserrat"/>
              </a:rPr>
              <a:t>” (nota mayor a 4 y menor que 9) o “</a:t>
            </a:r>
            <a:r>
              <a:rPr b="0" i="1" lang="es" sz="1550" u="none" cap="none" strike="noStrike">
                <a:solidFill>
                  <a:schemeClr val="dk2"/>
                </a:solidFill>
                <a:latin typeface="Montserrat"/>
                <a:ea typeface="Montserrat"/>
                <a:cs typeface="Montserrat"/>
                <a:sym typeface="Montserrat"/>
              </a:rPr>
              <a:t>excelente</a:t>
            </a:r>
            <a:r>
              <a:rPr b="0" i="0" lang="es" sz="1550" u="none" cap="none" strike="noStrike">
                <a:solidFill>
                  <a:schemeClr val="dk2"/>
                </a:solidFill>
                <a:latin typeface="Montserrat"/>
                <a:ea typeface="Montserrat"/>
                <a:cs typeface="Montserrat"/>
                <a:sym typeface="Montserrat"/>
              </a:rPr>
              <a:t>” (nota mayor que 9).</a:t>
            </a:r>
            <a:endParaRPr b="0" i="0" sz="1550" u="none" cap="none" strike="noStrike">
              <a:solidFill>
                <a:schemeClr val="dk2"/>
              </a:solidFill>
              <a:latin typeface="Montserrat"/>
              <a:ea typeface="Montserrat"/>
              <a:cs typeface="Montserrat"/>
              <a:sym typeface="Montserrat"/>
            </a:endParaRPr>
          </a:p>
          <a:p>
            <a:pPr indent="-327025" lvl="0" marL="457200" marR="0" rtl="0" algn="l">
              <a:lnSpc>
                <a:spcPct val="115000"/>
              </a:lnSpc>
              <a:spcBef>
                <a:spcPts val="0"/>
              </a:spcBef>
              <a:spcAft>
                <a:spcPts val="0"/>
              </a:spcAft>
              <a:buClr>
                <a:schemeClr val="dk2"/>
              </a:buClr>
              <a:buSzPts val="1550"/>
              <a:buFont typeface="Montserrat"/>
              <a:buChar char="●"/>
            </a:pPr>
            <a:r>
              <a:rPr b="0" i="0" lang="es" sz="1550" u="none" cap="none" strike="noStrike">
                <a:solidFill>
                  <a:schemeClr val="dk2"/>
                </a:solidFill>
                <a:latin typeface="Montserrat"/>
                <a:ea typeface="Montserrat"/>
                <a:cs typeface="Montserrat"/>
                <a:sym typeface="Montserrat"/>
              </a:rPr>
              <a:t>En el programa principal se instancian dos objetos de la clase Alumno y se muestran algunas de sus características. Al salir del programa se ve como son eliminados de la memoria.</a:t>
            </a:r>
            <a:endParaRPr b="0" i="0" sz="1582" u="none" cap="none" strike="noStrike">
              <a:solidFill>
                <a:srgbClr val="595959"/>
              </a:solidFill>
              <a:latin typeface="Montserrat"/>
              <a:ea typeface="Montserrat"/>
              <a:cs typeface="Montserrat"/>
              <a:sym typeface="Montserra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24"/>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Clases | Ejemplo de uso de clases y objetos </a:t>
            </a:r>
            <a:endParaRPr/>
          </a:p>
        </p:txBody>
      </p:sp>
      <p:sp>
        <p:nvSpPr>
          <p:cNvPr id="356" name="Google Shape;356;p24"/>
          <p:cNvSpPr txBox="1"/>
          <p:nvPr>
            <p:ph idx="1" type="body"/>
          </p:nvPr>
        </p:nvSpPr>
        <p:spPr>
          <a:xfrm>
            <a:off x="432025" y="1304875"/>
            <a:ext cx="4102500" cy="3294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s" sz="1650"/>
              <a:t>Para mostrar objetos, Python provee otro método especial, llamado </a:t>
            </a:r>
            <a:r>
              <a:rPr b="1" lang="es" sz="1650"/>
              <a:t>__str__</a:t>
            </a:r>
            <a:r>
              <a:rPr lang="es" sz="1650"/>
              <a:t> que debe devolver una cadena de caracteres con lo que queremos mostrar. Este método se invoca cada vez que se llama a la función </a:t>
            </a:r>
            <a:r>
              <a:rPr b="1" lang="es" sz="1650"/>
              <a:t>str</a:t>
            </a:r>
            <a:r>
              <a:rPr lang="es" sz="1650"/>
              <a:t>, por ejemplo, al imprimir el objeto.</a:t>
            </a:r>
            <a:endParaRPr sz="1650"/>
          </a:p>
          <a:p>
            <a:pPr indent="0" lvl="0" marL="0" rtl="0" algn="l">
              <a:lnSpc>
                <a:spcPct val="115000"/>
              </a:lnSpc>
              <a:spcBef>
                <a:spcPts val="1200"/>
              </a:spcBef>
              <a:spcAft>
                <a:spcPts val="0"/>
              </a:spcAft>
              <a:buSzPts val="1800"/>
              <a:buNone/>
            </a:pPr>
            <a:r>
              <a:rPr lang="es" sz="1650"/>
              <a:t>El método </a:t>
            </a:r>
            <a:r>
              <a:rPr b="1" lang="es" sz="1650"/>
              <a:t>__str__</a:t>
            </a:r>
            <a:r>
              <a:rPr lang="es" sz="1650"/>
              <a:t> tiene un solo parámetro, </a:t>
            </a:r>
            <a:r>
              <a:rPr b="1" lang="es" sz="1650"/>
              <a:t>self</a:t>
            </a:r>
            <a:r>
              <a:rPr lang="es" sz="1650"/>
              <a:t>.</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1200"/>
              </a:spcAft>
              <a:buSzPts val="1800"/>
              <a:buNone/>
            </a:pPr>
            <a:r>
              <a:t/>
            </a:r>
            <a:endParaRPr sz="1650"/>
          </a:p>
        </p:txBody>
      </p:sp>
      <p:sp>
        <p:nvSpPr>
          <p:cNvPr id="357" name="Google Shape;357;p24"/>
          <p:cNvSpPr/>
          <p:nvPr/>
        </p:nvSpPr>
        <p:spPr>
          <a:xfrm>
            <a:off x="4699350" y="1533775"/>
            <a:ext cx="4043700" cy="28830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C74DED"/>
                </a:solidFill>
                <a:highlight>
                  <a:srgbClr val="23262E"/>
                </a:highlight>
                <a:latin typeface="Consolas"/>
                <a:ea typeface="Consolas"/>
                <a:cs typeface="Consolas"/>
                <a:sym typeface="Consolas"/>
              </a:rPr>
              <a:t>def</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FE66D"/>
                </a:solidFill>
                <a:highlight>
                  <a:srgbClr val="23262E"/>
                </a:highlight>
                <a:latin typeface="Consolas"/>
                <a:ea typeface="Consolas"/>
                <a:cs typeface="Consolas"/>
                <a:sym typeface="Consolas"/>
              </a:rPr>
              <a:t>mostrar_estado</a:t>
            </a:r>
            <a:r>
              <a:rPr b="0" i="0" lang="es" sz="1000" u="none" cap="none" strike="noStrike">
                <a:solidFill>
                  <a:srgbClr val="D5CED9"/>
                </a:solidFill>
                <a:highlight>
                  <a:srgbClr val="23262E"/>
                </a:highlight>
                <a:latin typeface="Consolas"/>
                <a:ea typeface="Consolas"/>
                <a:cs typeface="Consolas"/>
                <a:sym typeface="Consolas"/>
              </a:rPr>
              <a:t>(</a:t>
            </a:r>
            <a:r>
              <a:rPr b="0" i="0" lang="es" sz="1000" u="none" cap="none" strike="noStrike">
                <a:solidFill>
                  <a:srgbClr val="00E8C6"/>
                </a:solidFill>
                <a:highlight>
                  <a:srgbClr val="23262E"/>
                </a:highlight>
                <a:latin typeface="Consolas"/>
                <a:ea typeface="Consolas"/>
                <a:cs typeface="Consolas"/>
                <a:sym typeface="Consolas"/>
              </a:rPr>
              <a:t>self</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5F6167"/>
                </a:solidFill>
                <a:highlight>
                  <a:srgbClr val="23262E"/>
                </a:highlight>
                <a:latin typeface="Consolas"/>
                <a:ea typeface="Consolas"/>
                <a:cs typeface="Consolas"/>
                <a:sym typeface="Consolas"/>
              </a:rPr>
              <a:t># ¿está aprobado?</a:t>
            </a:r>
            <a:endParaRPr b="0" i="0" sz="10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FE66D"/>
                </a:solidFill>
                <a:highlight>
                  <a:srgbClr val="23262E"/>
                </a:highlight>
                <a:latin typeface="Consolas"/>
                <a:ea typeface="Consolas"/>
                <a:cs typeface="Consolas"/>
                <a:sym typeface="Consolas"/>
              </a:rPr>
              <a:t>print</a:t>
            </a:r>
            <a:r>
              <a:rPr b="0" i="0" lang="es" sz="1000" u="none" cap="none" strike="noStrike">
                <a:solidFill>
                  <a:srgbClr val="D5CED9"/>
                </a:solidFill>
                <a:highlight>
                  <a:srgbClr val="23262E"/>
                </a:highlight>
                <a:latin typeface="Consolas"/>
                <a:ea typeface="Consolas"/>
                <a:cs typeface="Consolas"/>
                <a:sym typeface="Consolas"/>
              </a:rPr>
              <a:t>(</a:t>
            </a:r>
            <a:r>
              <a:rPr b="0" i="0" lang="es" sz="1000" u="none" cap="none" strike="noStrike">
                <a:solidFill>
                  <a:srgbClr val="C74DED"/>
                </a:solidFill>
                <a:highlight>
                  <a:srgbClr val="23262E"/>
                </a:highlight>
                <a:latin typeface="Consolas"/>
                <a:ea typeface="Consolas"/>
                <a:cs typeface="Consolas"/>
                <a:sym typeface="Consolas"/>
              </a:rPr>
              <a:t>f</a:t>
            </a:r>
            <a:r>
              <a:rPr b="0" i="0" lang="es" sz="1000" u="none" cap="none" strike="noStrike">
                <a:solidFill>
                  <a:srgbClr val="96E072"/>
                </a:solidFill>
                <a:highlight>
                  <a:srgbClr val="23262E"/>
                </a:highlight>
                <a:latin typeface="Consolas"/>
                <a:ea typeface="Consolas"/>
                <a:cs typeface="Consolas"/>
                <a:sym typeface="Consolas"/>
              </a:rPr>
              <a:t>"El estado de </a:t>
            </a:r>
            <a:r>
              <a:rPr b="0" i="0" lang="es" sz="1000" u="none" cap="none" strike="noStrike">
                <a:solidFill>
                  <a:srgbClr val="EE5D43"/>
                </a:solidFill>
                <a:highlight>
                  <a:srgbClr val="23262E"/>
                </a:highlight>
                <a:latin typeface="Consolas"/>
                <a:ea typeface="Consolas"/>
                <a:cs typeface="Consolas"/>
                <a:sym typeface="Consolas"/>
              </a:rPr>
              <a:t>{</a:t>
            </a:r>
            <a:r>
              <a:rPr b="0" i="0" lang="es" sz="1000" u="none" cap="none" strike="noStrike">
                <a:solidFill>
                  <a:srgbClr val="FF00AA"/>
                </a:solidFill>
                <a:highlight>
                  <a:srgbClr val="23262E"/>
                </a:highlight>
                <a:latin typeface="Consolas"/>
                <a:ea typeface="Consolas"/>
                <a:cs typeface="Consolas"/>
                <a:sym typeface="Consolas"/>
              </a:rPr>
              <a:t>self</a:t>
            </a:r>
            <a:r>
              <a:rPr b="0" i="0" lang="es" sz="1000" u="none" cap="none" strike="noStrike">
                <a:solidFill>
                  <a:srgbClr val="D5CED9"/>
                </a:solidFill>
                <a:highlight>
                  <a:srgbClr val="23262E"/>
                </a:highlight>
                <a:latin typeface="Consolas"/>
                <a:ea typeface="Consolas"/>
                <a:cs typeface="Consolas"/>
                <a:sym typeface="Consolas"/>
              </a:rPr>
              <a:t>.nombre</a:t>
            </a:r>
            <a:r>
              <a:rPr b="0" i="0" lang="es" sz="1000" u="none" cap="none" strike="noStrike">
                <a:solidFill>
                  <a:srgbClr val="EE5D43"/>
                </a:solidFill>
                <a:highlight>
                  <a:srgbClr val="23262E"/>
                </a:highlight>
                <a:latin typeface="Consolas"/>
                <a:ea typeface="Consolas"/>
                <a:cs typeface="Consolas"/>
                <a:sym typeface="Consolas"/>
              </a:rPr>
              <a:t>}</a:t>
            </a:r>
            <a:r>
              <a:rPr b="0" i="0" lang="es" sz="1000" u="none" cap="none" strike="noStrike">
                <a:solidFill>
                  <a:srgbClr val="96E072"/>
                </a:solidFill>
                <a:highlight>
                  <a:srgbClr val="23262E"/>
                </a:highlight>
                <a:latin typeface="Consolas"/>
                <a:ea typeface="Consolas"/>
                <a:cs typeface="Consolas"/>
                <a:sym typeface="Consolas"/>
              </a:rPr>
              <a:t> es "</a:t>
            </a:r>
            <a:r>
              <a:rPr b="0" i="0" lang="es" sz="1000" u="none" cap="none" strike="noStrike">
                <a:solidFill>
                  <a:srgbClr val="D5CED9"/>
                </a:solidFill>
                <a:highlight>
                  <a:srgbClr val="23262E"/>
                </a:highlight>
                <a:latin typeface="Consolas"/>
                <a:ea typeface="Consolas"/>
                <a:cs typeface="Consolas"/>
                <a:sym typeface="Consolas"/>
              </a:rPr>
              <a:t>,</a:t>
            </a:r>
            <a:r>
              <a:rPr b="0" i="0" lang="es" sz="1000" u="none" cap="none" strike="noStrike">
                <a:solidFill>
                  <a:srgbClr val="00E8C6"/>
                </a:solidFill>
                <a:highlight>
                  <a:srgbClr val="23262E"/>
                </a:highlight>
                <a:latin typeface="Consolas"/>
                <a:ea typeface="Consolas"/>
                <a:cs typeface="Consolas"/>
                <a:sym typeface="Consolas"/>
              </a:rPr>
              <a:t>end</a:t>
            </a:r>
            <a:r>
              <a:rPr b="0" i="0" lang="es" sz="1000" u="none" cap="none" strike="noStrike">
                <a:solidFill>
                  <a:srgbClr val="EE5D43"/>
                </a:solidFill>
                <a:highlight>
                  <a:srgbClr val="23262E"/>
                </a:highlight>
                <a:latin typeface="Consolas"/>
                <a:ea typeface="Consolas"/>
                <a:cs typeface="Consolas"/>
                <a:sym typeface="Consolas"/>
              </a:rPr>
              <a:t>=</a:t>
            </a:r>
            <a:r>
              <a:rPr b="0" i="0" lang="es" sz="1000" u="none" cap="none" strike="noStrike">
                <a:solidFill>
                  <a:srgbClr val="96E072"/>
                </a:solidFill>
                <a:highlight>
                  <a:srgbClr val="23262E"/>
                </a:highlight>
                <a:latin typeface="Consolas"/>
                <a:ea typeface="Consolas"/>
                <a:cs typeface="Consolas"/>
                <a:sym typeface="Consolas"/>
              </a:rPr>
              <a:t>""</a:t>
            </a:r>
            <a:r>
              <a:rPr b="0" i="0" lang="es" sz="1000" u="none" cap="none" strike="noStrike">
                <a:solidFill>
                  <a:srgbClr val="D5CED9"/>
                </a:solidFill>
                <a:highlight>
                  <a:srgbClr val="23262E"/>
                </a:highlight>
                <a:latin typeface="Consolas"/>
                <a:ea typeface="Consolas"/>
                <a:cs typeface="Consolas"/>
                <a:sym typeface="Consolas"/>
              </a:rPr>
              <a:t> )</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C74DED"/>
                </a:solidFill>
                <a:highlight>
                  <a:srgbClr val="23262E"/>
                </a:highlight>
                <a:latin typeface="Consolas"/>
                <a:ea typeface="Consolas"/>
                <a:cs typeface="Consolas"/>
                <a:sym typeface="Consolas"/>
              </a:rPr>
              <a:t>if</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F00AA"/>
                </a:solidFill>
                <a:highlight>
                  <a:srgbClr val="23262E"/>
                </a:highlight>
                <a:latin typeface="Consolas"/>
                <a:ea typeface="Consolas"/>
                <a:cs typeface="Consolas"/>
                <a:sym typeface="Consolas"/>
              </a:rPr>
              <a:t>self</a:t>
            </a:r>
            <a:r>
              <a:rPr b="0" i="0" lang="es" sz="1000" u="none" cap="none" strike="noStrike">
                <a:solidFill>
                  <a:srgbClr val="D5CED9"/>
                </a:solidFill>
                <a:highlight>
                  <a:srgbClr val="23262E"/>
                </a:highlight>
                <a:latin typeface="Consolas"/>
                <a:ea typeface="Consolas"/>
                <a:cs typeface="Consolas"/>
                <a:sym typeface="Consolas"/>
              </a:rPr>
              <a:t>.nota </a:t>
            </a:r>
            <a:r>
              <a:rPr b="0" i="0" lang="es" sz="1000" u="none" cap="none" strike="noStrike">
                <a:solidFill>
                  <a:srgbClr val="EE5D43"/>
                </a:solidFill>
                <a:highlight>
                  <a:srgbClr val="23262E"/>
                </a:highlight>
                <a:latin typeface="Consolas"/>
                <a:ea typeface="Consolas"/>
                <a:cs typeface="Consolas"/>
                <a:sym typeface="Consolas"/>
              </a:rPr>
              <a:t>&lt;=</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39C12"/>
                </a:solidFill>
                <a:highlight>
                  <a:srgbClr val="23262E"/>
                </a:highlight>
                <a:latin typeface="Consolas"/>
                <a:ea typeface="Consolas"/>
                <a:cs typeface="Consolas"/>
                <a:sym typeface="Consolas"/>
              </a:rPr>
              <a:t>4</a:t>
            </a:r>
            <a:r>
              <a:rPr b="0" i="0" lang="es" sz="1000" u="none" cap="none" strike="noStrike">
                <a:solidFill>
                  <a:srgbClr val="D5CED9"/>
                </a:solidFill>
                <a:highlight>
                  <a:srgbClr val="23262E"/>
                </a:highlight>
                <a:latin typeface="Consolas"/>
                <a:ea typeface="Consolas"/>
                <a:cs typeface="Consolas"/>
                <a:sym typeface="Consolas"/>
              </a:rPr>
              <a: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FE66D"/>
                </a:solidFill>
                <a:highlight>
                  <a:srgbClr val="23262E"/>
                </a:highlight>
                <a:latin typeface="Consolas"/>
                <a:ea typeface="Consolas"/>
                <a:cs typeface="Consolas"/>
                <a:sym typeface="Consolas"/>
              </a:rPr>
              <a:t>print</a:t>
            </a:r>
            <a:r>
              <a:rPr b="0" i="0" lang="es" sz="1000" u="none" cap="none" strike="noStrike">
                <a:solidFill>
                  <a:srgbClr val="D5CED9"/>
                </a:solidFill>
                <a:highlight>
                  <a:srgbClr val="23262E"/>
                </a:highlight>
                <a:latin typeface="Consolas"/>
                <a:ea typeface="Consolas"/>
                <a:cs typeface="Consolas"/>
                <a:sym typeface="Consolas"/>
              </a:rPr>
              <a:t>(</a:t>
            </a:r>
            <a:r>
              <a:rPr b="0" i="0" lang="es" sz="1000" u="none" cap="none" strike="noStrike">
                <a:solidFill>
                  <a:srgbClr val="96E072"/>
                </a:solidFill>
                <a:highlight>
                  <a:srgbClr val="23262E"/>
                </a:highlight>
                <a:latin typeface="Consolas"/>
                <a:ea typeface="Consolas"/>
                <a:cs typeface="Consolas"/>
                <a:sym typeface="Consolas"/>
              </a:rPr>
              <a:t>"regular"</a:t>
            </a:r>
            <a:r>
              <a:rPr b="0" i="0" lang="es" sz="1000" u="none" cap="none" strike="noStrike">
                <a:solidFill>
                  <a:srgbClr val="D5CED9"/>
                </a:solidFill>
                <a:highlight>
                  <a:srgbClr val="23262E"/>
                </a:highlight>
                <a:latin typeface="Consolas"/>
                <a:ea typeface="Consolas"/>
                <a:cs typeface="Consolas"/>
                <a:sym typeface="Consolas"/>
              </a:rPr>
              <a: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C74DED"/>
                </a:solidFill>
                <a:highlight>
                  <a:srgbClr val="23262E"/>
                </a:highlight>
                <a:latin typeface="Consolas"/>
                <a:ea typeface="Consolas"/>
                <a:cs typeface="Consolas"/>
                <a:sym typeface="Consolas"/>
              </a:rPr>
              <a:t>elif</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F00AA"/>
                </a:solidFill>
                <a:highlight>
                  <a:srgbClr val="23262E"/>
                </a:highlight>
                <a:latin typeface="Consolas"/>
                <a:ea typeface="Consolas"/>
                <a:cs typeface="Consolas"/>
                <a:sym typeface="Consolas"/>
              </a:rPr>
              <a:t>self</a:t>
            </a:r>
            <a:r>
              <a:rPr b="0" i="0" lang="es" sz="1000" u="none" cap="none" strike="noStrike">
                <a:solidFill>
                  <a:srgbClr val="D5CED9"/>
                </a:solidFill>
                <a:highlight>
                  <a:srgbClr val="23262E"/>
                </a:highlight>
                <a:latin typeface="Consolas"/>
                <a:ea typeface="Consolas"/>
                <a:cs typeface="Consolas"/>
                <a:sym typeface="Consolas"/>
              </a:rPr>
              <a:t>.nota </a:t>
            </a:r>
            <a:r>
              <a:rPr b="0" i="0" lang="es" sz="1000" u="none" cap="none" strike="noStrike">
                <a:solidFill>
                  <a:srgbClr val="EE5D43"/>
                </a:solidFill>
                <a:highlight>
                  <a:srgbClr val="23262E"/>
                </a:highlight>
                <a:latin typeface="Consolas"/>
                <a:ea typeface="Consolas"/>
                <a:cs typeface="Consolas"/>
                <a:sym typeface="Consolas"/>
              </a:rPr>
              <a:t>&lt;</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39C12"/>
                </a:solidFill>
                <a:highlight>
                  <a:srgbClr val="23262E"/>
                </a:highlight>
                <a:latin typeface="Consolas"/>
                <a:ea typeface="Consolas"/>
                <a:cs typeface="Consolas"/>
                <a:sym typeface="Consolas"/>
              </a:rPr>
              <a:t>9</a:t>
            </a:r>
            <a:r>
              <a:rPr b="0" i="0" lang="es" sz="1000" u="none" cap="none" strike="noStrike">
                <a:solidFill>
                  <a:srgbClr val="D5CED9"/>
                </a:solidFill>
                <a:highlight>
                  <a:srgbClr val="23262E"/>
                </a:highlight>
                <a:latin typeface="Consolas"/>
                <a:ea typeface="Consolas"/>
                <a:cs typeface="Consolas"/>
                <a:sym typeface="Consolas"/>
              </a:rPr>
              <a: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FE66D"/>
                </a:solidFill>
                <a:highlight>
                  <a:srgbClr val="23262E"/>
                </a:highlight>
                <a:latin typeface="Consolas"/>
                <a:ea typeface="Consolas"/>
                <a:cs typeface="Consolas"/>
                <a:sym typeface="Consolas"/>
              </a:rPr>
              <a:t>print</a:t>
            </a:r>
            <a:r>
              <a:rPr b="0" i="0" lang="es" sz="1000" u="none" cap="none" strike="noStrike">
                <a:solidFill>
                  <a:srgbClr val="D5CED9"/>
                </a:solidFill>
                <a:highlight>
                  <a:srgbClr val="23262E"/>
                </a:highlight>
                <a:latin typeface="Consolas"/>
                <a:ea typeface="Consolas"/>
                <a:cs typeface="Consolas"/>
                <a:sym typeface="Consolas"/>
              </a:rPr>
              <a:t>(</a:t>
            </a:r>
            <a:r>
              <a:rPr b="0" i="0" lang="es" sz="1000" u="none" cap="none" strike="noStrike">
                <a:solidFill>
                  <a:srgbClr val="96E072"/>
                </a:solidFill>
                <a:highlight>
                  <a:srgbClr val="23262E"/>
                </a:highlight>
                <a:latin typeface="Consolas"/>
                <a:ea typeface="Consolas"/>
                <a:cs typeface="Consolas"/>
                <a:sym typeface="Consolas"/>
              </a:rPr>
              <a:t>"bueno"</a:t>
            </a:r>
            <a:r>
              <a:rPr b="0" i="0" lang="es" sz="1000" u="none" cap="none" strike="noStrike">
                <a:solidFill>
                  <a:srgbClr val="D5CED9"/>
                </a:solidFill>
                <a:highlight>
                  <a:srgbClr val="23262E"/>
                </a:highlight>
                <a:latin typeface="Consolas"/>
                <a:ea typeface="Consolas"/>
                <a:cs typeface="Consolas"/>
                <a:sym typeface="Consolas"/>
              </a:rPr>
              <a: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C74DED"/>
                </a:solidFill>
                <a:highlight>
                  <a:srgbClr val="23262E"/>
                </a:highlight>
                <a:latin typeface="Consolas"/>
                <a:ea typeface="Consolas"/>
                <a:cs typeface="Consolas"/>
                <a:sym typeface="Consolas"/>
              </a:rPr>
              <a:t>else</a:t>
            </a:r>
            <a:r>
              <a:rPr b="0" i="0" lang="es" sz="1000" u="none" cap="none" strike="noStrike">
                <a:solidFill>
                  <a:srgbClr val="D5CED9"/>
                </a:solidFill>
                <a:highlight>
                  <a:srgbClr val="23262E"/>
                </a:highlight>
                <a:latin typeface="Consolas"/>
                <a:ea typeface="Consolas"/>
                <a:cs typeface="Consolas"/>
                <a:sym typeface="Consolas"/>
              </a:rPr>
              <a: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FE66D"/>
                </a:solidFill>
                <a:highlight>
                  <a:srgbClr val="23262E"/>
                </a:highlight>
                <a:latin typeface="Consolas"/>
                <a:ea typeface="Consolas"/>
                <a:cs typeface="Consolas"/>
                <a:sym typeface="Consolas"/>
              </a:rPr>
              <a:t>print</a:t>
            </a:r>
            <a:r>
              <a:rPr b="0" i="0" lang="es" sz="1000" u="none" cap="none" strike="noStrike">
                <a:solidFill>
                  <a:srgbClr val="D5CED9"/>
                </a:solidFill>
                <a:highlight>
                  <a:srgbClr val="23262E"/>
                </a:highlight>
                <a:latin typeface="Consolas"/>
                <a:ea typeface="Consolas"/>
                <a:cs typeface="Consolas"/>
                <a:sym typeface="Consolas"/>
              </a:rPr>
              <a:t>(</a:t>
            </a:r>
            <a:r>
              <a:rPr b="0" i="0" lang="es" sz="1000" u="none" cap="none" strike="noStrike">
                <a:solidFill>
                  <a:srgbClr val="96E072"/>
                </a:solidFill>
                <a:highlight>
                  <a:srgbClr val="23262E"/>
                </a:highlight>
                <a:latin typeface="Consolas"/>
                <a:ea typeface="Consolas"/>
                <a:cs typeface="Consolas"/>
                <a:sym typeface="Consolas"/>
              </a:rPr>
              <a:t>"excelente"</a:t>
            </a:r>
            <a:r>
              <a:rPr b="0" i="0" lang="es" sz="1000" u="none" cap="none" strike="noStrike">
                <a:solidFill>
                  <a:srgbClr val="D5CED9"/>
                </a:solidFill>
                <a:highlight>
                  <a:srgbClr val="23262E"/>
                </a:highlight>
                <a:latin typeface="Consolas"/>
                <a:ea typeface="Consolas"/>
                <a:cs typeface="Consolas"/>
                <a:sym typeface="Consolas"/>
              </a:rPr>
              <a: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5F6167"/>
                </a:solidFill>
                <a:highlight>
                  <a:srgbClr val="23262E"/>
                </a:highlight>
                <a:latin typeface="Consolas"/>
                <a:ea typeface="Consolas"/>
                <a:cs typeface="Consolas"/>
                <a:sym typeface="Consolas"/>
              </a:rPr>
              <a:t># Programa principal</a:t>
            </a:r>
            <a:endParaRPr b="0" i="0" sz="10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alumno1 </a:t>
            </a:r>
            <a:r>
              <a:rPr b="0" i="0" lang="es" sz="1000" u="none" cap="none" strike="noStrike">
                <a:solidFill>
                  <a:srgbClr val="EE5D43"/>
                </a:solidFill>
                <a:highlight>
                  <a:srgbClr val="23262E"/>
                </a:highlight>
                <a:latin typeface="Consolas"/>
                <a:ea typeface="Consolas"/>
                <a:cs typeface="Consolas"/>
                <a:sym typeface="Consolas"/>
              </a:rPr>
              <a:t>=</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FE66D"/>
                </a:solidFill>
                <a:highlight>
                  <a:srgbClr val="23262E"/>
                </a:highlight>
                <a:latin typeface="Consolas"/>
                <a:ea typeface="Consolas"/>
                <a:cs typeface="Consolas"/>
                <a:sym typeface="Consolas"/>
              </a:rPr>
              <a:t>Alumno</a:t>
            </a:r>
            <a:r>
              <a:rPr b="0" i="0" lang="es" sz="1000" u="none" cap="none" strike="noStrike">
                <a:solidFill>
                  <a:srgbClr val="D5CED9"/>
                </a:solidFill>
                <a:highlight>
                  <a:srgbClr val="23262E"/>
                </a:highlight>
                <a:latin typeface="Consolas"/>
                <a:ea typeface="Consolas"/>
                <a:cs typeface="Consolas"/>
                <a:sym typeface="Consolas"/>
              </a:rPr>
              <a:t>(</a:t>
            </a:r>
            <a:r>
              <a:rPr b="0" i="0" lang="es" sz="1000" u="none" cap="none" strike="noStrike">
                <a:solidFill>
                  <a:srgbClr val="96E072"/>
                </a:solidFill>
                <a:highlight>
                  <a:srgbClr val="23262E"/>
                </a:highlight>
                <a:latin typeface="Consolas"/>
                <a:ea typeface="Consolas"/>
                <a:cs typeface="Consolas"/>
                <a:sym typeface="Consolas"/>
              </a:rPr>
              <a:t>"Aldo López"</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39C12"/>
                </a:solidFill>
                <a:highlight>
                  <a:srgbClr val="23262E"/>
                </a:highlight>
                <a:latin typeface="Consolas"/>
                <a:ea typeface="Consolas"/>
                <a:cs typeface="Consolas"/>
                <a:sym typeface="Consolas"/>
              </a:rPr>
              <a:t>8</a:t>
            </a:r>
            <a:r>
              <a:rPr b="0" i="0" lang="es" sz="1000" u="none" cap="none" strike="noStrike">
                <a:solidFill>
                  <a:srgbClr val="D5CED9"/>
                </a:solidFill>
                <a:highlight>
                  <a:srgbClr val="23262E"/>
                </a:highlight>
                <a:latin typeface="Consolas"/>
                <a:ea typeface="Consolas"/>
                <a:cs typeface="Consolas"/>
                <a:sym typeface="Consolas"/>
              </a:rPr>
              <a: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alumno2 </a:t>
            </a:r>
            <a:r>
              <a:rPr b="0" i="0" lang="es" sz="1000" u="none" cap="none" strike="noStrike">
                <a:solidFill>
                  <a:srgbClr val="EE5D43"/>
                </a:solidFill>
                <a:highlight>
                  <a:srgbClr val="23262E"/>
                </a:highlight>
                <a:latin typeface="Consolas"/>
                <a:ea typeface="Consolas"/>
                <a:cs typeface="Consolas"/>
                <a:sym typeface="Consolas"/>
              </a:rPr>
              <a:t>=</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FE66D"/>
                </a:solidFill>
                <a:highlight>
                  <a:srgbClr val="23262E"/>
                </a:highlight>
                <a:latin typeface="Consolas"/>
                <a:ea typeface="Consolas"/>
                <a:cs typeface="Consolas"/>
                <a:sym typeface="Consolas"/>
              </a:rPr>
              <a:t>Alumno</a:t>
            </a:r>
            <a:r>
              <a:rPr b="0" i="0" lang="es" sz="1000" u="none" cap="none" strike="noStrike">
                <a:solidFill>
                  <a:srgbClr val="D5CED9"/>
                </a:solidFill>
                <a:highlight>
                  <a:srgbClr val="23262E"/>
                </a:highlight>
                <a:latin typeface="Consolas"/>
                <a:ea typeface="Consolas"/>
                <a:cs typeface="Consolas"/>
                <a:sym typeface="Consolas"/>
              </a:rPr>
              <a:t>(</a:t>
            </a:r>
            <a:r>
              <a:rPr b="0" i="0" lang="es" sz="1000" u="none" cap="none" strike="noStrike">
                <a:solidFill>
                  <a:srgbClr val="96E072"/>
                </a:solidFill>
                <a:highlight>
                  <a:srgbClr val="23262E"/>
                </a:highlight>
                <a:latin typeface="Consolas"/>
                <a:ea typeface="Consolas"/>
                <a:cs typeface="Consolas"/>
                <a:sym typeface="Consolas"/>
              </a:rPr>
              <a:t>"Juana Martín"</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39C12"/>
                </a:solidFill>
                <a:highlight>
                  <a:srgbClr val="23262E"/>
                </a:highlight>
                <a:latin typeface="Consolas"/>
                <a:ea typeface="Consolas"/>
                <a:cs typeface="Consolas"/>
                <a:sym typeface="Consolas"/>
              </a:rPr>
              <a:t>3</a:t>
            </a:r>
            <a:r>
              <a:rPr b="0" i="0" lang="es" sz="1000" u="none" cap="none" strike="noStrike">
                <a:solidFill>
                  <a:srgbClr val="D5CED9"/>
                </a:solidFill>
                <a:highlight>
                  <a:srgbClr val="23262E"/>
                </a:highlight>
                <a:latin typeface="Consolas"/>
                <a:ea typeface="Consolas"/>
                <a:cs typeface="Consolas"/>
                <a:sym typeface="Consolas"/>
              </a:rPr>
              <a: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FFE66D"/>
                </a:solidFill>
                <a:highlight>
                  <a:srgbClr val="23262E"/>
                </a:highlight>
                <a:latin typeface="Consolas"/>
                <a:ea typeface="Consolas"/>
                <a:cs typeface="Consolas"/>
                <a:sym typeface="Consolas"/>
              </a:rPr>
              <a:t>print</a:t>
            </a:r>
            <a:r>
              <a:rPr b="0" i="0" lang="es" sz="1000" u="none" cap="none" strike="noStrike">
                <a:solidFill>
                  <a:srgbClr val="D5CED9"/>
                </a:solidFill>
                <a:highlight>
                  <a:srgbClr val="23262E"/>
                </a:highlight>
                <a:latin typeface="Consolas"/>
                <a:ea typeface="Consolas"/>
                <a:cs typeface="Consolas"/>
                <a:sym typeface="Consolas"/>
              </a:rPr>
              <a:t>(alumno1) </a:t>
            </a:r>
            <a:r>
              <a:rPr b="0" i="0" lang="es" sz="1000" u="none" cap="none" strike="noStrike">
                <a:solidFill>
                  <a:srgbClr val="5F6167"/>
                </a:solidFill>
                <a:highlight>
                  <a:srgbClr val="23262E"/>
                </a:highlight>
                <a:latin typeface="Consolas"/>
                <a:ea typeface="Consolas"/>
                <a:cs typeface="Consolas"/>
                <a:sym typeface="Consolas"/>
              </a:rPr>
              <a:t># Nombre: Aldo López (nota: 8) </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FFE66D"/>
                </a:solidFill>
                <a:highlight>
                  <a:srgbClr val="23262E"/>
                </a:highlight>
                <a:latin typeface="Consolas"/>
                <a:ea typeface="Consolas"/>
                <a:cs typeface="Consolas"/>
                <a:sym typeface="Consolas"/>
              </a:rPr>
              <a:t>print</a:t>
            </a:r>
            <a:r>
              <a:rPr b="0" i="0" lang="es" sz="1000" u="none" cap="none" strike="noStrike">
                <a:solidFill>
                  <a:srgbClr val="D5CED9"/>
                </a:solidFill>
                <a:highlight>
                  <a:srgbClr val="23262E"/>
                </a:highlight>
                <a:latin typeface="Consolas"/>
                <a:ea typeface="Consolas"/>
                <a:cs typeface="Consolas"/>
                <a:sym typeface="Consolas"/>
              </a:rPr>
              <a:t>(alumno2) </a:t>
            </a:r>
            <a:r>
              <a:rPr b="0" i="0" lang="es" sz="1000" u="none" cap="none" strike="noStrike">
                <a:solidFill>
                  <a:srgbClr val="5F6167"/>
                </a:solidFill>
                <a:highlight>
                  <a:srgbClr val="23262E"/>
                </a:highlight>
                <a:latin typeface="Consolas"/>
                <a:ea typeface="Consolas"/>
                <a:cs typeface="Consolas"/>
                <a:sym typeface="Consolas"/>
              </a:rPr>
              <a:t># Nombre: Juana Martín (nota: 3)</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alumno1.</a:t>
            </a:r>
            <a:r>
              <a:rPr b="0" i="0" lang="es" sz="1000" u="none" cap="none" strike="noStrike">
                <a:solidFill>
                  <a:srgbClr val="FFE66D"/>
                </a:solidFill>
                <a:highlight>
                  <a:srgbClr val="23262E"/>
                </a:highlight>
                <a:latin typeface="Consolas"/>
                <a:ea typeface="Consolas"/>
                <a:cs typeface="Consolas"/>
                <a:sym typeface="Consolas"/>
              </a:rPr>
              <a:t>mostrar_estado</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5F6167"/>
                </a:solidFill>
                <a:highlight>
                  <a:srgbClr val="23262E"/>
                </a:highlight>
                <a:latin typeface="Consolas"/>
                <a:ea typeface="Consolas"/>
                <a:cs typeface="Consolas"/>
                <a:sym typeface="Consolas"/>
              </a:rPr>
              <a:t># El…de Aldo López es bueno</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alumno2.</a:t>
            </a:r>
            <a:r>
              <a:rPr b="0" i="0" lang="es" sz="1000" u="none" cap="none" strike="noStrike">
                <a:solidFill>
                  <a:srgbClr val="FFE66D"/>
                </a:solidFill>
                <a:highlight>
                  <a:srgbClr val="23262E"/>
                </a:highlight>
                <a:latin typeface="Consolas"/>
                <a:ea typeface="Consolas"/>
                <a:cs typeface="Consolas"/>
                <a:sym typeface="Consolas"/>
              </a:rPr>
              <a:t>mostrar_estado</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5F6167"/>
                </a:solidFill>
                <a:highlight>
                  <a:srgbClr val="23262E"/>
                </a:highlight>
                <a:latin typeface="Consolas"/>
                <a:ea typeface="Consolas"/>
                <a:cs typeface="Consolas"/>
                <a:sym typeface="Consolas"/>
              </a:rPr>
              <a:t># El…Juana Martín es regular</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FFE66D"/>
                </a:solidFill>
                <a:highlight>
                  <a:srgbClr val="23262E"/>
                </a:highlight>
                <a:latin typeface="Consolas"/>
                <a:ea typeface="Consolas"/>
                <a:cs typeface="Consolas"/>
                <a:sym typeface="Consolas"/>
              </a:rPr>
              <a:t>input</a:t>
            </a:r>
            <a:r>
              <a:rPr b="0" i="0" lang="es" sz="1000" u="none" cap="none" strike="noStrike">
                <a:solidFill>
                  <a:srgbClr val="D5CED9"/>
                </a:solidFill>
                <a:highlight>
                  <a:srgbClr val="23262E"/>
                </a:highlight>
                <a:latin typeface="Consolas"/>
                <a:ea typeface="Consolas"/>
                <a:cs typeface="Consolas"/>
                <a:sym typeface="Consolas"/>
              </a:rPr>
              <a:t>(</a:t>
            </a:r>
            <a:r>
              <a:rPr b="0" i="0" lang="es" sz="1000" u="none" cap="none" strike="noStrike">
                <a:solidFill>
                  <a:srgbClr val="96E072"/>
                </a:solidFill>
                <a:highlight>
                  <a:srgbClr val="23262E"/>
                </a:highlight>
                <a:latin typeface="Consolas"/>
                <a:ea typeface="Consolas"/>
                <a:cs typeface="Consolas"/>
                <a:sym typeface="Consolas"/>
              </a:rPr>
              <a:t>"Pulse enter para salir"</a:t>
            </a:r>
            <a:r>
              <a:rPr b="0" i="0" lang="es" sz="1000" u="none" cap="none" strike="noStrike">
                <a:solidFill>
                  <a:srgbClr val="D5CED9"/>
                </a:solidFill>
                <a:highlight>
                  <a:srgbClr val="23262E"/>
                </a:highlight>
                <a:latin typeface="Consolas"/>
                <a:ea typeface="Consolas"/>
                <a:cs typeface="Consolas"/>
                <a:sym typeface="Consolas"/>
              </a:rPr>
              <a: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5F6167"/>
              </a:solidFill>
              <a:highlight>
                <a:srgbClr val="23262E"/>
              </a:highlight>
              <a:latin typeface="Consolas"/>
              <a:ea typeface="Consolas"/>
              <a:cs typeface="Consolas"/>
              <a:sym typeface="Consolas"/>
            </a:endParaRPr>
          </a:p>
        </p:txBody>
      </p:sp>
      <p:sp>
        <p:nvSpPr>
          <p:cNvPr id="358" name="Google Shape;358;p24"/>
          <p:cNvSpPr/>
          <p:nvPr/>
        </p:nvSpPr>
        <p:spPr>
          <a:xfrm>
            <a:off x="311700" y="1533775"/>
            <a:ext cx="4043700" cy="28830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C74DED"/>
                </a:solidFill>
                <a:highlight>
                  <a:srgbClr val="23262E"/>
                </a:highlight>
                <a:latin typeface="Consolas"/>
                <a:ea typeface="Consolas"/>
                <a:cs typeface="Consolas"/>
                <a:sym typeface="Consolas"/>
              </a:rPr>
              <a:t>class</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FE66D"/>
                </a:solidFill>
                <a:highlight>
                  <a:srgbClr val="23262E"/>
                </a:highlight>
                <a:latin typeface="Consolas"/>
                <a:ea typeface="Consolas"/>
                <a:cs typeface="Consolas"/>
                <a:sym typeface="Consolas"/>
              </a:rPr>
              <a:t>Alumno</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5F6167"/>
                </a:solidFill>
                <a:highlight>
                  <a:srgbClr val="23262E"/>
                </a:highlight>
                <a:latin typeface="Consolas"/>
                <a:ea typeface="Consolas"/>
                <a:cs typeface="Consolas"/>
                <a:sym typeface="Consolas"/>
              </a:rPr>
              <a:t># Creamos la clase</a:t>
            </a:r>
            <a:endParaRPr b="0" i="0" sz="10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nro_alumnos </a:t>
            </a:r>
            <a:r>
              <a:rPr b="0" i="0" lang="es" sz="1000" u="none" cap="none" strike="noStrike">
                <a:solidFill>
                  <a:srgbClr val="EE5D43"/>
                </a:solidFill>
                <a:highlight>
                  <a:srgbClr val="23262E"/>
                </a:highlight>
                <a:latin typeface="Consolas"/>
                <a:ea typeface="Consolas"/>
                <a:cs typeface="Consolas"/>
                <a:sym typeface="Consolas"/>
              </a:rPr>
              <a:t>=</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39C12"/>
                </a:solidFill>
                <a:highlight>
                  <a:srgbClr val="23262E"/>
                </a:highlight>
                <a:latin typeface="Consolas"/>
                <a:ea typeface="Consolas"/>
                <a:cs typeface="Consolas"/>
                <a:sym typeface="Consolas"/>
              </a:rPr>
              <a:t>0 </a:t>
            </a:r>
            <a:r>
              <a:rPr b="0" i="0" lang="es" sz="1000" u="none" cap="none" strike="noStrike">
                <a:solidFill>
                  <a:srgbClr val="5F6167"/>
                </a:solidFill>
                <a:highlight>
                  <a:srgbClr val="23262E"/>
                </a:highlight>
                <a:latin typeface="Consolas"/>
                <a:ea typeface="Consolas"/>
                <a:cs typeface="Consolas"/>
                <a:sym typeface="Consolas"/>
              </a:rPr>
              <a:t># Cantidad de legajos existentes</a:t>
            </a:r>
            <a:endParaRPr b="0" i="0" sz="1000" u="none" cap="none" strike="noStrike">
              <a:solidFill>
                <a:srgbClr val="F39C1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5F6167"/>
                </a:solidFill>
                <a:highlight>
                  <a:srgbClr val="23262E"/>
                </a:highlight>
                <a:latin typeface="Consolas"/>
                <a:ea typeface="Consolas"/>
                <a:cs typeface="Consolas"/>
                <a:sym typeface="Consolas"/>
              </a:rPr>
              <a:t>#Constructor</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C74DED"/>
                </a:solidFill>
                <a:highlight>
                  <a:srgbClr val="23262E"/>
                </a:highlight>
                <a:latin typeface="Consolas"/>
                <a:ea typeface="Consolas"/>
                <a:cs typeface="Consolas"/>
                <a:sym typeface="Consolas"/>
              </a:rPr>
              <a:t>def</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EE5D43"/>
                </a:solidFill>
                <a:highlight>
                  <a:srgbClr val="23262E"/>
                </a:highlight>
                <a:latin typeface="Consolas"/>
                <a:ea typeface="Consolas"/>
                <a:cs typeface="Consolas"/>
                <a:sym typeface="Consolas"/>
              </a:rPr>
              <a:t>__init__</a:t>
            </a:r>
            <a:r>
              <a:rPr b="0" i="0" lang="es" sz="1000" u="none" cap="none" strike="noStrike">
                <a:solidFill>
                  <a:srgbClr val="D5CED9"/>
                </a:solidFill>
                <a:highlight>
                  <a:srgbClr val="23262E"/>
                </a:highlight>
                <a:latin typeface="Consolas"/>
                <a:ea typeface="Consolas"/>
                <a:cs typeface="Consolas"/>
                <a:sym typeface="Consolas"/>
              </a:rPr>
              <a:t>(</a:t>
            </a:r>
            <a:r>
              <a:rPr b="0" i="0" lang="es" sz="1000" u="none" cap="none" strike="noStrike">
                <a:solidFill>
                  <a:srgbClr val="00E8C6"/>
                </a:solidFill>
                <a:highlight>
                  <a:srgbClr val="23262E"/>
                </a:highlight>
                <a:latin typeface="Consolas"/>
                <a:ea typeface="Consolas"/>
                <a:cs typeface="Consolas"/>
                <a:sym typeface="Consolas"/>
              </a:rPr>
              <a:t>self</a:t>
            </a:r>
            <a:r>
              <a:rPr b="0" i="0" lang="es" sz="1000" u="none" cap="none" strike="noStrike">
                <a:solidFill>
                  <a:srgbClr val="D5CED9"/>
                </a:solidFill>
                <a:highlight>
                  <a:srgbClr val="23262E"/>
                </a:highlight>
                <a:latin typeface="Consolas"/>
                <a:ea typeface="Consolas"/>
                <a:cs typeface="Consolas"/>
                <a:sym typeface="Consolas"/>
              </a:rPr>
              <a:t>,</a:t>
            </a:r>
            <a:r>
              <a:rPr b="0" i="0" lang="es" sz="1000" u="none" cap="none" strike="noStrike">
                <a:solidFill>
                  <a:srgbClr val="00E8C6"/>
                </a:solidFill>
                <a:highlight>
                  <a:srgbClr val="23262E"/>
                </a:highlight>
                <a:latin typeface="Consolas"/>
                <a:ea typeface="Consolas"/>
                <a:cs typeface="Consolas"/>
                <a:sym typeface="Consolas"/>
              </a:rPr>
              <a:t>nombre</a:t>
            </a:r>
            <a:r>
              <a:rPr b="0" i="0" lang="es" sz="1000" u="none" cap="none" strike="noStrike">
                <a:solidFill>
                  <a:srgbClr val="D5CED9"/>
                </a:solidFill>
                <a:highlight>
                  <a:srgbClr val="23262E"/>
                </a:highlight>
                <a:latin typeface="Consolas"/>
                <a:ea typeface="Consolas"/>
                <a:cs typeface="Consolas"/>
                <a:sym typeface="Consolas"/>
              </a:rPr>
              <a:t>,</a:t>
            </a:r>
            <a:r>
              <a:rPr b="0" i="0" lang="es" sz="1000" u="none" cap="none" strike="noStrike">
                <a:solidFill>
                  <a:srgbClr val="00E8C6"/>
                </a:solidFill>
                <a:highlight>
                  <a:srgbClr val="23262E"/>
                </a:highlight>
                <a:latin typeface="Consolas"/>
                <a:ea typeface="Consolas"/>
                <a:cs typeface="Consolas"/>
                <a:sym typeface="Consolas"/>
              </a:rPr>
              <a:t>nota</a:t>
            </a:r>
            <a:r>
              <a:rPr b="0" i="0" lang="es" sz="1000" u="none" cap="none" strike="noStrike">
                <a:solidFill>
                  <a:srgbClr val="D5CED9"/>
                </a:solidFill>
                <a:highlight>
                  <a:srgbClr val="23262E"/>
                </a:highlight>
                <a:latin typeface="Consolas"/>
                <a:ea typeface="Consolas"/>
                <a:cs typeface="Consolas"/>
                <a:sym typeface="Consolas"/>
              </a:rPr>
              <a:t>): </a:t>
            </a:r>
            <a:endParaRPr b="0" i="0" sz="10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F00AA"/>
                </a:solidFill>
                <a:highlight>
                  <a:srgbClr val="23262E"/>
                </a:highlight>
                <a:latin typeface="Consolas"/>
                <a:ea typeface="Consolas"/>
                <a:cs typeface="Consolas"/>
                <a:sym typeface="Consolas"/>
              </a:rPr>
              <a:t>self</a:t>
            </a:r>
            <a:r>
              <a:rPr b="0" i="0" lang="es" sz="1000" u="none" cap="none" strike="noStrike">
                <a:solidFill>
                  <a:srgbClr val="D5CED9"/>
                </a:solidFill>
                <a:highlight>
                  <a:srgbClr val="23262E"/>
                </a:highlight>
                <a:latin typeface="Consolas"/>
                <a:ea typeface="Consolas"/>
                <a:cs typeface="Consolas"/>
                <a:sym typeface="Consolas"/>
              </a:rPr>
              <a:t>.nombre </a:t>
            </a:r>
            <a:r>
              <a:rPr b="0" i="0" lang="es" sz="1000" u="none" cap="none" strike="noStrike">
                <a:solidFill>
                  <a:srgbClr val="EE5D43"/>
                </a:solidFill>
                <a:highlight>
                  <a:srgbClr val="23262E"/>
                </a:highlight>
                <a:latin typeface="Consolas"/>
                <a:ea typeface="Consolas"/>
                <a:cs typeface="Consolas"/>
                <a:sym typeface="Consolas"/>
              </a:rPr>
              <a:t>=</a:t>
            </a:r>
            <a:r>
              <a:rPr b="0" i="0" lang="es" sz="1000" u="none" cap="none" strike="noStrike">
                <a:solidFill>
                  <a:srgbClr val="D5CED9"/>
                </a:solidFill>
                <a:highlight>
                  <a:srgbClr val="23262E"/>
                </a:highlight>
                <a:latin typeface="Consolas"/>
                <a:ea typeface="Consolas"/>
                <a:cs typeface="Consolas"/>
                <a:sym typeface="Consolas"/>
              </a:rPr>
              <a:t> nombre</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F00AA"/>
                </a:solidFill>
                <a:highlight>
                  <a:srgbClr val="23262E"/>
                </a:highlight>
                <a:latin typeface="Consolas"/>
                <a:ea typeface="Consolas"/>
                <a:cs typeface="Consolas"/>
                <a:sym typeface="Consolas"/>
              </a:rPr>
              <a:t>self</a:t>
            </a:r>
            <a:r>
              <a:rPr b="0" i="0" lang="es" sz="1000" u="none" cap="none" strike="noStrike">
                <a:solidFill>
                  <a:srgbClr val="D5CED9"/>
                </a:solidFill>
                <a:highlight>
                  <a:srgbClr val="23262E"/>
                </a:highlight>
                <a:latin typeface="Consolas"/>
                <a:ea typeface="Consolas"/>
                <a:cs typeface="Consolas"/>
                <a:sym typeface="Consolas"/>
              </a:rPr>
              <a:t>.nota </a:t>
            </a:r>
            <a:r>
              <a:rPr b="0" i="0" lang="es" sz="1000" u="none" cap="none" strike="noStrike">
                <a:solidFill>
                  <a:srgbClr val="EE5D43"/>
                </a:solidFill>
                <a:highlight>
                  <a:srgbClr val="23262E"/>
                </a:highlight>
                <a:latin typeface="Consolas"/>
                <a:ea typeface="Consolas"/>
                <a:cs typeface="Consolas"/>
                <a:sym typeface="Consolas"/>
              </a:rPr>
              <a:t>=</a:t>
            </a:r>
            <a:r>
              <a:rPr b="0" i="0" lang="es" sz="1000" u="none" cap="none" strike="noStrike">
                <a:solidFill>
                  <a:srgbClr val="D5CED9"/>
                </a:solidFill>
                <a:highlight>
                  <a:srgbClr val="23262E"/>
                </a:highlight>
                <a:latin typeface="Consolas"/>
                <a:ea typeface="Consolas"/>
                <a:cs typeface="Consolas"/>
                <a:sym typeface="Consolas"/>
              </a:rPr>
              <a:t> nota</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Alumno.nro_alumnos </a:t>
            </a:r>
            <a:r>
              <a:rPr b="0" i="0" lang="es" sz="1000" u="none" cap="none" strike="noStrike">
                <a:solidFill>
                  <a:srgbClr val="EE5D43"/>
                </a:solidFill>
                <a:highlight>
                  <a:srgbClr val="23262E"/>
                </a:highlight>
                <a:latin typeface="Consolas"/>
                <a:ea typeface="Consolas"/>
                <a:cs typeface="Consolas"/>
                <a:sym typeface="Consolas"/>
              </a:rPr>
              <a:t>+=</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39C12"/>
                </a:solidFill>
                <a:highlight>
                  <a:srgbClr val="23262E"/>
                </a:highlight>
                <a:latin typeface="Consolas"/>
                <a:ea typeface="Consolas"/>
                <a:cs typeface="Consolas"/>
                <a:sym typeface="Consolas"/>
              </a:rPr>
              <a:t>1 </a:t>
            </a:r>
            <a:r>
              <a:rPr b="0" i="0" lang="es" sz="1000" u="none" cap="none" strike="noStrike">
                <a:solidFill>
                  <a:srgbClr val="5F6167"/>
                </a:solidFill>
                <a:highlight>
                  <a:srgbClr val="23262E"/>
                </a:highlight>
                <a:latin typeface="Consolas"/>
                <a:ea typeface="Consolas"/>
                <a:cs typeface="Consolas"/>
                <a:sym typeface="Consolas"/>
              </a:rPr>
              <a:t># Agregamos un legajo</a:t>
            </a:r>
            <a:endParaRPr b="0" i="0" sz="1000" u="none" cap="none" strike="noStrike">
              <a:solidFill>
                <a:srgbClr val="F39C1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F39C1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F39C12"/>
                </a:solidFill>
                <a:highlight>
                  <a:srgbClr val="23262E"/>
                </a:highlight>
                <a:latin typeface="Consolas"/>
                <a:ea typeface="Consolas"/>
                <a:cs typeface="Consolas"/>
                <a:sym typeface="Consolas"/>
              </a:rPr>
              <a:t>  </a:t>
            </a:r>
            <a:r>
              <a:rPr b="0" i="0" lang="es" sz="1000" u="none" cap="none" strike="noStrike">
                <a:solidFill>
                  <a:srgbClr val="5F6167"/>
                </a:solidFill>
                <a:highlight>
                  <a:srgbClr val="23262E"/>
                </a:highlight>
                <a:latin typeface="Consolas"/>
                <a:ea typeface="Consolas"/>
                <a:cs typeface="Consolas"/>
                <a:sym typeface="Consolas"/>
              </a:rPr>
              <a:t># Mostrar datos del objeto</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C74DED"/>
                </a:solidFill>
                <a:highlight>
                  <a:srgbClr val="23262E"/>
                </a:highlight>
                <a:latin typeface="Consolas"/>
                <a:ea typeface="Consolas"/>
                <a:cs typeface="Consolas"/>
                <a:sym typeface="Consolas"/>
              </a:rPr>
              <a:t>def</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EE5D43"/>
                </a:solidFill>
                <a:highlight>
                  <a:srgbClr val="23262E"/>
                </a:highlight>
                <a:latin typeface="Consolas"/>
                <a:ea typeface="Consolas"/>
                <a:cs typeface="Consolas"/>
                <a:sym typeface="Consolas"/>
              </a:rPr>
              <a:t>__str__</a:t>
            </a:r>
            <a:r>
              <a:rPr b="0" i="0" lang="es" sz="1000" u="none" cap="none" strike="noStrike">
                <a:solidFill>
                  <a:srgbClr val="D5CED9"/>
                </a:solidFill>
                <a:highlight>
                  <a:srgbClr val="23262E"/>
                </a:highlight>
                <a:latin typeface="Consolas"/>
                <a:ea typeface="Consolas"/>
                <a:cs typeface="Consolas"/>
                <a:sym typeface="Consolas"/>
              </a:rPr>
              <a:t>(</a:t>
            </a:r>
            <a:r>
              <a:rPr b="0" i="0" lang="es" sz="1000" u="none" cap="none" strike="noStrike">
                <a:solidFill>
                  <a:srgbClr val="00E8C6"/>
                </a:solidFill>
                <a:highlight>
                  <a:srgbClr val="23262E"/>
                </a:highlight>
                <a:latin typeface="Consolas"/>
                <a:ea typeface="Consolas"/>
                <a:cs typeface="Consolas"/>
                <a:sym typeface="Consolas"/>
              </a:rPr>
              <a:t>self</a:t>
            </a:r>
            <a:r>
              <a:rPr b="0" i="0" lang="es" sz="1000" u="none" cap="none" strike="noStrike">
                <a:solidFill>
                  <a:srgbClr val="D5CED9"/>
                </a:solidFill>
                <a:highlight>
                  <a:srgbClr val="23262E"/>
                </a:highlight>
                <a:latin typeface="Consolas"/>
                <a:ea typeface="Consolas"/>
                <a:cs typeface="Consolas"/>
                <a:sym typeface="Consolas"/>
              </a:rPr>
              <a:t>): </a:t>
            </a:r>
            <a:endParaRPr b="0" i="0" sz="10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C74DED"/>
                </a:solidFill>
                <a:highlight>
                  <a:srgbClr val="23262E"/>
                </a:highlight>
                <a:latin typeface="Consolas"/>
                <a:ea typeface="Consolas"/>
                <a:cs typeface="Consolas"/>
                <a:sym typeface="Consolas"/>
              </a:rPr>
              <a:t>return</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C74DED"/>
                </a:solidFill>
                <a:highlight>
                  <a:srgbClr val="23262E"/>
                </a:highlight>
                <a:latin typeface="Consolas"/>
                <a:ea typeface="Consolas"/>
                <a:cs typeface="Consolas"/>
                <a:sym typeface="Consolas"/>
              </a:rPr>
              <a:t>f</a:t>
            </a:r>
            <a:r>
              <a:rPr b="0" i="0" lang="es" sz="1000" u="none" cap="none" strike="noStrike">
                <a:solidFill>
                  <a:srgbClr val="96E072"/>
                </a:solidFill>
                <a:highlight>
                  <a:srgbClr val="23262E"/>
                </a:highlight>
                <a:latin typeface="Consolas"/>
                <a:ea typeface="Consolas"/>
                <a:cs typeface="Consolas"/>
                <a:sym typeface="Consolas"/>
              </a:rPr>
              <a:t>"Nombre: </a:t>
            </a:r>
            <a:r>
              <a:rPr b="0" i="0" lang="es" sz="1000" u="none" cap="none" strike="noStrike">
                <a:solidFill>
                  <a:srgbClr val="EE5D43"/>
                </a:solidFill>
                <a:highlight>
                  <a:srgbClr val="23262E"/>
                </a:highlight>
                <a:latin typeface="Consolas"/>
                <a:ea typeface="Consolas"/>
                <a:cs typeface="Consolas"/>
                <a:sym typeface="Consolas"/>
              </a:rPr>
              <a:t>{</a:t>
            </a:r>
            <a:r>
              <a:rPr b="0" i="0" lang="es" sz="1000" u="none" cap="none" strike="noStrike">
                <a:solidFill>
                  <a:srgbClr val="FF00AA"/>
                </a:solidFill>
                <a:highlight>
                  <a:srgbClr val="23262E"/>
                </a:highlight>
                <a:latin typeface="Consolas"/>
                <a:ea typeface="Consolas"/>
                <a:cs typeface="Consolas"/>
                <a:sym typeface="Consolas"/>
              </a:rPr>
              <a:t>self</a:t>
            </a:r>
            <a:r>
              <a:rPr b="0" i="0" lang="es" sz="1000" u="none" cap="none" strike="noStrike">
                <a:solidFill>
                  <a:srgbClr val="D5CED9"/>
                </a:solidFill>
                <a:highlight>
                  <a:srgbClr val="23262E"/>
                </a:highlight>
                <a:latin typeface="Consolas"/>
                <a:ea typeface="Consolas"/>
                <a:cs typeface="Consolas"/>
                <a:sym typeface="Consolas"/>
              </a:rPr>
              <a:t>.nombre</a:t>
            </a:r>
            <a:r>
              <a:rPr b="0" i="0" lang="es" sz="1000" u="none" cap="none" strike="noStrike">
                <a:solidFill>
                  <a:srgbClr val="EE5D43"/>
                </a:solidFill>
                <a:highlight>
                  <a:srgbClr val="23262E"/>
                </a:highlight>
                <a:latin typeface="Consolas"/>
                <a:ea typeface="Consolas"/>
                <a:cs typeface="Consolas"/>
                <a:sym typeface="Consolas"/>
              </a:rPr>
              <a:t>}</a:t>
            </a:r>
            <a:r>
              <a:rPr b="0" i="0" lang="es" sz="1000" u="none" cap="none" strike="noStrike">
                <a:solidFill>
                  <a:srgbClr val="96E072"/>
                </a:solidFill>
                <a:highlight>
                  <a:srgbClr val="23262E"/>
                </a:highlight>
                <a:latin typeface="Consolas"/>
                <a:ea typeface="Consolas"/>
                <a:cs typeface="Consolas"/>
                <a:sym typeface="Consolas"/>
              </a:rPr>
              <a:t> (nota: </a:t>
            </a:r>
            <a:r>
              <a:rPr b="0" i="0" lang="es" sz="1000" u="none" cap="none" strike="noStrike">
                <a:solidFill>
                  <a:srgbClr val="EE5D43"/>
                </a:solidFill>
                <a:highlight>
                  <a:srgbClr val="23262E"/>
                </a:highlight>
                <a:latin typeface="Consolas"/>
                <a:ea typeface="Consolas"/>
                <a:cs typeface="Consolas"/>
                <a:sym typeface="Consolas"/>
              </a:rPr>
              <a:t>{</a:t>
            </a:r>
            <a:r>
              <a:rPr b="0" i="0" lang="es" sz="1000" u="none" cap="none" strike="noStrike">
                <a:solidFill>
                  <a:srgbClr val="FF00AA"/>
                </a:solidFill>
                <a:highlight>
                  <a:srgbClr val="23262E"/>
                </a:highlight>
                <a:latin typeface="Consolas"/>
                <a:ea typeface="Consolas"/>
                <a:cs typeface="Consolas"/>
                <a:sym typeface="Consolas"/>
              </a:rPr>
              <a:t>self</a:t>
            </a:r>
            <a:r>
              <a:rPr b="0" i="0" lang="es" sz="1000" u="none" cap="none" strike="noStrike">
                <a:solidFill>
                  <a:srgbClr val="D5CED9"/>
                </a:solidFill>
                <a:highlight>
                  <a:srgbClr val="23262E"/>
                </a:highlight>
                <a:latin typeface="Consolas"/>
                <a:ea typeface="Consolas"/>
                <a:cs typeface="Consolas"/>
                <a:sym typeface="Consolas"/>
              </a:rPr>
              <a:t>.nota</a:t>
            </a:r>
            <a:r>
              <a:rPr b="0" i="0" lang="es" sz="1000" u="none" cap="none" strike="noStrike">
                <a:solidFill>
                  <a:srgbClr val="EE5D43"/>
                </a:solidFill>
                <a:highlight>
                  <a:srgbClr val="23262E"/>
                </a:highlight>
                <a:latin typeface="Consolas"/>
                <a:ea typeface="Consolas"/>
                <a:cs typeface="Consolas"/>
                <a:sym typeface="Consolas"/>
              </a:rPr>
              <a:t>}</a:t>
            </a:r>
            <a:r>
              <a:rPr b="0" i="0" lang="es" sz="1000" u="none" cap="none" strike="noStrike">
                <a:solidFill>
                  <a:srgbClr val="96E072"/>
                </a:solidFill>
                <a:highlight>
                  <a:srgbClr val="23262E"/>
                </a:highlight>
                <a:latin typeface="Consolas"/>
                <a:ea typeface="Consolas"/>
                <a:cs typeface="Consolas"/>
                <a:sym typeface="Consolas"/>
              </a:rPr>
              <a:t>)"</a:t>
            </a:r>
            <a:endParaRPr b="0" i="0" sz="10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5F6167"/>
                </a:solidFill>
                <a:highlight>
                  <a:srgbClr val="23262E"/>
                </a:highlight>
                <a:latin typeface="Consolas"/>
                <a:ea typeface="Consolas"/>
                <a:cs typeface="Consolas"/>
                <a:sym typeface="Consolas"/>
              </a:rPr>
              <a:t># Damos de baja el alumno</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C74DED"/>
                </a:solidFill>
                <a:highlight>
                  <a:srgbClr val="23262E"/>
                </a:highlight>
                <a:latin typeface="Consolas"/>
                <a:ea typeface="Consolas"/>
                <a:cs typeface="Consolas"/>
                <a:sym typeface="Consolas"/>
              </a:rPr>
              <a:t>def</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EE5D43"/>
                </a:solidFill>
                <a:highlight>
                  <a:srgbClr val="23262E"/>
                </a:highlight>
                <a:latin typeface="Consolas"/>
                <a:ea typeface="Consolas"/>
                <a:cs typeface="Consolas"/>
                <a:sym typeface="Consolas"/>
              </a:rPr>
              <a:t>__del__</a:t>
            </a:r>
            <a:r>
              <a:rPr b="0" i="0" lang="es" sz="1000" u="none" cap="none" strike="noStrike">
                <a:solidFill>
                  <a:srgbClr val="D5CED9"/>
                </a:solidFill>
                <a:highlight>
                  <a:srgbClr val="23262E"/>
                </a:highlight>
                <a:latin typeface="Consolas"/>
                <a:ea typeface="Consolas"/>
                <a:cs typeface="Consolas"/>
                <a:sym typeface="Consolas"/>
              </a:rPr>
              <a:t>(</a:t>
            </a:r>
            <a:r>
              <a:rPr b="0" i="0" lang="es" sz="1000" u="none" cap="none" strike="noStrike">
                <a:solidFill>
                  <a:srgbClr val="00E8C6"/>
                </a:solidFill>
                <a:highlight>
                  <a:srgbClr val="23262E"/>
                </a:highlight>
                <a:latin typeface="Consolas"/>
                <a:ea typeface="Consolas"/>
                <a:cs typeface="Consolas"/>
                <a:sym typeface="Consolas"/>
              </a:rPr>
              <a:t>self</a:t>
            </a:r>
            <a:r>
              <a:rPr b="0" i="0" lang="es" sz="1000" u="none" cap="none" strike="noStrike">
                <a:solidFill>
                  <a:srgbClr val="D5CED9"/>
                </a:solidFill>
                <a:highlight>
                  <a:srgbClr val="23262E"/>
                </a:highlight>
                <a:latin typeface="Consolas"/>
                <a:ea typeface="Consolas"/>
                <a:cs typeface="Consolas"/>
                <a:sym typeface="Consolas"/>
              </a:rPr>
              <a:t>): </a:t>
            </a:r>
            <a:endParaRPr b="0" i="0" sz="10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Alumno.nro_alumnos </a:t>
            </a:r>
            <a:r>
              <a:rPr b="0" i="0" lang="es" sz="1000" u="none" cap="none" strike="noStrike">
                <a:solidFill>
                  <a:srgbClr val="EE5D43"/>
                </a:solidFill>
                <a:highlight>
                  <a:srgbClr val="23262E"/>
                </a:highlight>
                <a:latin typeface="Consolas"/>
                <a:ea typeface="Consolas"/>
                <a:cs typeface="Consolas"/>
                <a:sym typeface="Consolas"/>
              </a:rPr>
              <a:t>-=</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39C12"/>
                </a:solidFill>
                <a:highlight>
                  <a:srgbClr val="23262E"/>
                </a:highlight>
                <a:latin typeface="Consolas"/>
                <a:ea typeface="Consolas"/>
                <a:cs typeface="Consolas"/>
                <a:sym typeface="Consolas"/>
              </a:rPr>
              <a:t>1 </a:t>
            </a:r>
            <a:r>
              <a:rPr b="0" i="0" lang="es" sz="1000" u="none" cap="none" strike="noStrike">
                <a:solidFill>
                  <a:srgbClr val="5F6167"/>
                </a:solidFill>
                <a:highlight>
                  <a:srgbClr val="23262E"/>
                </a:highlight>
                <a:latin typeface="Consolas"/>
                <a:ea typeface="Consolas"/>
                <a:cs typeface="Consolas"/>
                <a:sym typeface="Consolas"/>
              </a:rPr>
              <a:t># Restamos un legajo</a:t>
            </a:r>
            <a:endParaRPr b="0" i="0" sz="1000" u="none" cap="none" strike="noStrike">
              <a:solidFill>
                <a:srgbClr val="F39C1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FE66D"/>
                </a:solidFill>
                <a:highlight>
                  <a:srgbClr val="23262E"/>
                </a:highlight>
                <a:latin typeface="Consolas"/>
                <a:ea typeface="Consolas"/>
                <a:cs typeface="Consolas"/>
                <a:sym typeface="Consolas"/>
              </a:rPr>
              <a:t>print</a:t>
            </a:r>
            <a:r>
              <a:rPr b="0" i="0" lang="es" sz="1000" u="none" cap="none" strike="noStrike">
                <a:solidFill>
                  <a:srgbClr val="D5CED9"/>
                </a:solidFill>
                <a:highlight>
                  <a:srgbClr val="23262E"/>
                </a:highlight>
                <a:latin typeface="Consolas"/>
                <a:ea typeface="Consolas"/>
                <a:cs typeface="Consolas"/>
                <a:sym typeface="Consolas"/>
              </a:rPr>
              <a:t>(</a:t>
            </a:r>
            <a:r>
              <a:rPr b="0" i="0" lang="es" sz="1000" u="none" cap="none" strike="noStrike">
                <a:solidFill>
                  <a:srgbClr val="96E072"/>
                </a:solidFill>
                <a:highlight>
                  <a:srgbClr val="23262E"/>
                </a:highlight>
                <a:latin typeface="Consolas"/>
                <a:ea typeface="Consolas"/>
                <a:cs typeface="Consolas"/>
                <a:sym typeface="Consolas"/>
              </a:rPr>
              <a:t>"Alumno dado de baja."</a:t>
            </a:r>
            <a:r>
              <a:rPr b="0" i="0" lang="es" sz="1000" u="none" cap="none" strike="noStrike">
                <a:solidFill>
                  <a:srgbClr val="D5CED9"/>
                </a:solidFill>
                <a:highlight>
                  <a:srgbClr val="23262E"/>
                </a:highlight>
                <a:latin typeface="Consolas"/>
                <a:ea typeface="Consolas"/>
                <a:cs typeface="Consolas"/>
                <a:sym typeface="Consolas"/>
              </a:rPr>
              <a: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FE66D"/>
                </a:solidFill>
                <a:highlight>
                  <a:srgbClr val="23262E"/>
                </a:highlight>
                <a:latin typeface="Consolas"/>
                <a:ea typeface="Consolas"/>
                <a:cs typeface="Consolas"/>
                <a:sym typeface="Consolas"/>
              </a:rPr>
              <a:t>print</a:t>
            </a:r>
            <a:r>
              <a:rPr b="0" i="0" lang="es" sz="1000" u="none" cap="none" strike="noStrike">
                <a:solidFill>
                  <a:srgbClr val="D5CED9"/>
                </a:solidFill>
                <a:highlight>
                  <a:srgbClr val="23262E"/>
                </a:highlight>
                <a:latin typeface="Consolas"/>
                <a:ea typeface="Consolas"/>
                <a:cs typeface="Consolas"/>
                <a:sym typeface="Consolas"/>
              </a:rPr>
              <a:t>(</a:t>
            </a:r>
            <a:r>
              <a:rPr b="0" i="0" lang="es" sz="1000" u="none" cap="none" strike="noStrike">
                <a:solidFill>
                  <a:srgbClr val="C74DED"/>
                </a:solidFill>
                <a:highlight>
                  <a:srgbClr val="23262E"/>
                </a:highlight>
                <a:latin typeface="Consolas"/>
                <a:ea typeface="Consolas"/>
                <a:cs typeface="Consolas"/>
                <a:sym typeface="Consolas"/>
              </a:rPr>
              <a:t>f</a:t>
            </a:r>
            <a:r>
              <a:rPr b="0" i="0" lang="es" sz="1000" u="none" cap="none" strike="noStrike">
                <a:solidFill>
                  <a:srgbClr val="96E072"/>
                </a:solidFill>
                <a:highlight>
                  <a:srgbClr val="23262E"/>
                </a:highlight>
                <a:latin typeface="Consolas"/>
                <a:ea typeface="Consolas"/>
                <a:cs typeface="Consolas"/>
                <a:sym typeface="Consolas"/>
              </a:rPr>
              <a:t>"</a:t>
            </a:r>
            <a:r>
              <a:rPr b="0" i="0" lang="es" sz="1000" u="none" cap="none" strike="noStrike">
                <a:solidFill>
                  <a:srgbClr val="EE5D43"/>
                </a:solidFill>
                <a:highlight>
                  <a:srgbClr val="23262E"/>
                </a:highlight>
                <a:latin typeface="Consolas"/>
                <a:ea typeface="Consolas"/>
                <a:cs typeface="Consolas"/>
                <a:sym typeface="Consolas"/>
              </a:rPr>
              <a:t>{</a:t>
            </a:r>
            <a:r>
              <a:rPr b="0" i="0" lang="es" sz="1000" u="none" cap="none" strike="noStrike">
                <a:solidFill>
                  <a:srgbClr val="D5CED9"/>
                </a:solidFill>
                <a:highlight>
                  <a:srgbClr val="23262E"/>
                </a:highlight>
                <a:latin typeface="Consolas"/>
                <a:ea typeface="Consolas"/>
                <a:cs typeface="Consolas"/>
                <a:sym typeface="Consolas"/>
              </a:rPr>
              <a:t>Alumno.nro_alumnos</a:t>
            </a:r>
            <a:r>
              <a:rPr b="0" i="0" lang="es" sz="1000" u="none" cap="none" strike="noStrike">
                <a:solidFill>
                  <a:srgbClr val="EE5D43"/>
                </a:solidFill>
                <a:highlight>
                  <a:srgbClr val="23262E"/>
                </a:highlight>
                <a:latin typeface="Consolas"/>
                <a:ea typeface="Consolas"/>
                <a:cs typeface="Consolas"/>
                <a:sym typeface="Consolas"/>
              </a:rPr>
              <a:t>}</a:t>
            </a:r>
            <a:r>
              <a:rPr b="0" i="0" lang="es" sz="1000" u="none" cap="none" strike="noStrike">
                <a:solidFill>
                  <a:srgbClr val="96E072"/>
                </a:solidFill>
                <a:highlight>
                  <a:srgbClr val="23262E"/>
                </a:highlight>
                <a:latin typeface="Consolas"/>
                <a:ea typeface="Consolas"/>
                <a:cs typeface="Consolas"/>
                <a:sym typeface="Consolas"/>
              </a:rPr>
              <a:t> legajos restantes."</a:t>
            </a:r>
            <a:r>
              <a:rPr b="0" i="0" lang="es" sz="1000" u="none" cap="none" strike="noStrike">
                <a:solidFill>
                  <a:srgbClr val="D5CED9"/>
                </a:solidFill>
                <a:highlight>
                  <a:srgbClr val="23262E"/>
                </a:highlight>
                <a:latin typeface="Consolas"/>
                <a:ea typeface="Consolas"/>
                <a:cs typeface="Consolas"/>
                <a:sym typeface="Consolas"/>
              </a:rPr>
              <a: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5F6167"/>
              </a:solidFill>
              <a:highlight>
                <a:srgbClr val="23262E"/>
              </a:highlight>
              <a:latin typeface="Consolas"/>
              <a:ea typeface="Consolas"/>
              <a:cs typeface="Consolas"/>
              <a:sym typeface="Consolas"/>
            </a:endParaRPr>
          </a:p>
        </p:txBody>
      </p:sp>
      <p:sp>
        <p:nvSpPr>
          <p:cNvPr id="359" name="Google Shape;359;p24"/>
          <p:cNvSpPr/>
          <p:nvPr/>
        </p:nvSpPr>
        <p:spPr>
          <a:xfrm>
            <a:off x="311700" y="1304875"/>
            <a:ext cx="40437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Clase Alumno (parte I )</a:t>
            </a:r>
            <a:endParaRPr b="0" i="0" sz="1400" u="none" cap="none" strike="noStrike">
              <a:solidFill>
                <a:schemeClr val="dk2"/>
              </a:solidFill>
              <a:latin typeface="Montserrat"/>
              <a:ea typeface="Montserrat"/>
              <a:cs typeface="Montserrat"/>
              <a:sym typeface="Montserrat"/>
            </a:endParaRPr>
          </a:p>
        </p:txBody>
      </p:sp>
      <p:sp>
        <p:nvSpPr>
          <p:cNvPr id="360" name="Google Shape;360;p24"/>
          <p:cNvSpPr/>
          <p:nvPr/>
        </p:nvSpPr>
        <p:spPr>
          <a:xfrm>
            <a:off x="4699350" y="1304875"/>
            <a:ext cx="40437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Clase Alumno (parte II )</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25"/>
          <p:cNvSpPr txBox="1"/>
          <p:nvPr>
            <p:ph type="ctrTitle"/>
          </p:nvPr>
        </p:nvSpPr>
        <p:spPr>
          <a:xfrm>
            <a:off x="311700" y="1226800"/>
            <a:ext cx="8520600" cy="15705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Clr>
                <a:schemeClr val="dk1"/>
              </a:buClr>
              <a:buSzPts val="1100"/>
              <a:buFont typeface="Arial"/>
              <a:buNone/>
            </a:pPr>
            <a:r>
              <a:rPr lang="es"/>
              <a:t>Material extra</a:t>
            </a:r>
            <a:endParaRPr/>
          </a:p>
        </p:txBody>
      </p:sp>
      <p:sp>
        <p:nvSpPr>
          <p:cNvPr id="366" name="Google Shape;366;p2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500"/>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26"/>
          <p:cNvSpPr txBox="1"/>
          <p:nvPr/>
        </p:nvSpPr>
        <p:spPr>
          <a:xfrm>
            <a:off x="311700" y="597425"/>
            <a:ext cx="8503200" cy="572700"/>
          </a:xfrm>
          <a:prstGeom prst="rect">
            <a:avLst/>
          </a:prstGeom>
          <a:noFill/>
          <a:ln>
            <a:noFill/>
          </a:ln>
        </p:spPr>
        <p:txBody>
          <a:bodyPr anchorCtr="0" anchor="t" bIns="91425" lIns="91425" spcFirstLastPara="1" rIns="91425" wrap="square" tIns="91425">
            <a:normAutofit lnSpcReduction="10000"/>
          </a:bodyPr>
          <a:lstStyle/>
          <a:p>
            <a:pPr indent="0" lvl="0" marL="0" marR="0" rtl="0" algn="l">
              <a:lnSpc>
                <a:spcPct val="100000"/>
              </a:lnSpc>
              <a:spcBef>
                <a:spcPts val="0"/>
              </a:spcBef>
              <a:spcAft>
                <a:spcPts val="0"/>
              </a:spcAft>
              <a:buClr>
                <a:srgbClr val="000000"/>
              </a:buClr>
              <a:buSzPts val="2700"/>
              <a:buFont typeface="Arial"/>
              <a:buNone/>
            </a:pPr>
            <a:r>
              <a:rPr b="0" i="0" lang="es" sz="2700" u="none" cap="none" strike="noStrike">
                <a:solidFill>
                  <a:srgbClr val="000000"/>
                </a:solidFill>
                <a:latin typeface="Montserrat Medium"/>
                <a:ea typeface="Montserrat Medium"/>
                <a:cs typeface="Montserrat Medium"/>
                <a:sym typeface="Montserrat Medium"/>
              </a:rPr>
              <a:t>Artículos de interés</a:t>
            </a:r>
            <a:endParaRPr b="0" i="0" sz="2700" u="none" cap="none" strike="noStrike">
              <a:solidFill>
                <a:srgbClr val="000000"/>
              </a:solidFill>
              <a:latin typeface="Montserrat Medium"/>
              <a:ea typeface="Montserrat Medium"/>
              <a:cs typeface="Montserrat Medium"/>
              <a:sym typeface="Montserrat Medium"/>
            </a:endParaRPr>
          </a:p>
        </p:txBody>
      </p:sp>
      <p:sp>
        <p:nvSpPr>
          <p:cNvPr id="372" name="Google Shape;372;p26"/>
          <p:cNvSpPr txBox="1"/>
          <p:nvPr/>
        </p:nvSpPr>
        <p:spPr>
          <a:xfrm>
            <a:off x="432000" y="1297200"/>
            <a:ext cx="8280000" cy="33180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0"/>
              </a:spcAft>
              <a:buClr>
                <a:srgbClr val="000000"/>
              </a:buClr>
              <a:buSzPts val="1500"/>
              <a:buFont typeface="Arial"/>
              <a:buNone/>
            </a:pPr>
            <a:r>
              <a:rPr b="0" i="0" lang="es" sz="1500" u="none" cap="none" strike="noStrike">
                <a:solidFill>
                  <a:srgbClr val="595959"/>
                </a:solidFill>
                <a:latin typeface="Montserrat"/>
                <a:ea typeface="Montserrat"/>
                <a:cs typeface="Montserrat"/>
                <a:sym typeface="Montserrat"/>
              </a:rPr>
              <a:t>Material extra:</a:t>
            </a:r>
            <a:endParaRPr b="0" i="0" sz="1500" u="none" cap="none" strike="noStrike">
              <a:solidFill>
                <a:srgbClr val="595959"/>
              </a:solidFill>
              <a:latin typeface="Montserrat"/>
              <a:ea typeface="Montserrat"/>
              <a:cs typeface="Montserrat"/>
              <a:sym typeface="Montserrat"/>
            </a:endParaRPr>
          </a:p>
          <a:p>
            <a:pPr indent="-323850" lvl="0" marL="457200" marR="0" rtl="0" algn="l">
              <a:lnSpc>
                <a:spcPct val="115000"/>
              </a:lnSpc>
              <a:spcBef>
                <a:spcPts val="1200"/>
              </a:spcBef>
              <a:spcAft>
                <a:spcPts val="0"/>
              </a:spcAft>
              <a:buClr>
                <a:srgbClr val="595959"/>
              </a:buClr>
              <a:buSzPts val="1500"/>
              <a:buFont typeface="Montserrat"/>
              <a:buChar char="●"/>
            </a:pPr>
            <a:r>
              <a:rPr b="0" i="0" lang="es" sz="1500" u="sng" cap="none" strike="noStrike">
                <a:solidFill>
                  <a:schemeClr val="hlink"/>
                </a:solidFill>
                <a:latin typeface="Montserrat"/>
                <a:ea typeface="Montserrat"/>
                <a:cs typeface="Montserrat"/>
                <a:sym typeface="Montserrat"/>
                <a:hlinkClick r:id="rId3"/>
              </a:rPr>
              <a:t>Conceptos fundamentales sobre POO</a:t>
            </a:r>
            <a:r>
              <a:rPr b="0" i="0" lang="es" sz="1500" u="none" cap="none" strike="noStrike">
                <a:solidFill>
                  <a:srgbClr val="595959"/>
                </a:solidFill>
                <a:latin typeface="Montserrat"/>
                <a:ea typeface="Montserrat"/>
                <a:cs typeface="Montserrat"/>
                <a:sym typeface="Montserrat"/>
              </a:rPr>
              <a:t> explicados de manera simple</a:t>
            </a:r>
            <a:endParaRPr b="0" i="0" sz="1500" u="none" cap="none" strike="noStrike">
              <a:solidFill>
                <a:srgbClr val="595959"/>
              </a:solidFill>
              <a:latin typeface="Montserrat"/>
              <a:ea typeface="Montserrat"/>
              <a:cs typeface="Montserrat"/>
              <a:sym typeface="Montserrat"/>
            </a:endParaRPr>
          </a:p>
          <a:p>
            <a:pPr indent="-323850" lvl="0" marL="457200" marR="0" rtl="0" algn="l">
              <a:lnSpc>
                <a:spcPct val="115000"/>
              </a:lnSpc>
              <a:spcBef>
                <a:spcPts val="0"/>
              </a:spcBef>
              <a:spcAft>
                <a:spcPts val="0"/>
              </a:spcAft>
              <a:buClr>
                <a:srgbClr val="595959"/>
              </a:buClr>
              <a:buSzPts val="1500"/>
              <a:buFont typeface="Montserrat"/>
              <a:buChar char="●"/>
            </a:pPr>
            <a:r>
              <a:rPr b="0" i="0" lang="es" sz="1500" u="sng" cap="none" strike="noStrike">
                <a:solidFill>
                  <a:schemeClr val="hlink"/>
                </a:solidFill>
                <a:latin typeface="Montserrat"/>
                <a:ea typeface="Montserrat"/>
                <a:cs typeface="Montserrat"/>
                <a:sym typeface="Montserrat"/>
                <a:hlinkClick r:id="rId4"/>
              </a:rPr>
              <a:t>Guía para Principiantes de la POO</a:t>
            </a:r>
            <a:r>
              <a:rPr b="0" i="0" lang="es" sz="1500" u="none" cap="none" strike="noStrike">
                <a:solidFill>
                  <a:srgbClr val="595959"/>
                </a:solidFill>
                <a:latin typeface="Montserrat"/>
                <a:ea typeface="Montserrat"/>
                <a:cs typeface="Montserrat"/>
                <a:sym typeface="Montserrat"/>
              </a:rPr>
              <a:t>, en kinsta</a:t>
            </a:r>
            <a:endParaRPr b="0" i="0" sz="1500" u="none" cap="none" strike="noStrike">
              <a:solidFill>
                <a:srgbClr val="595959"/>
              </a:solidFill>
              <a:latin typeface="Montserrat"/>
              <a:ea typeface="Montserrat"/>
              <a:cs typeface="Montserrat"/>
              <a:sym typeface="Montserrat"/>
            </a:endParaRPr>
          </a:p>
          <a:p>
            <a:pPr indent="-323850" lvl="0" marL="457200" marR="0" rtl="0" algn="l">
              <a:lnSpc>
                <a:spcPct val="115000"/>
              </a:lnSpc>
              <a:spcBef>
                <a:spcPts val="0"/>
              </a:spcBef>
              <a:spcAft>
                <a:spcPts val="0"/>
              </a:spcAft>
              <a:buClr>
                <a:srgbClr val="595959"/>
              </a:buClr>
              <a:buSzPts val="1500"/>
              <a:buFont typeface="Montserrat"/>
              <a:buChar char="●"/>
            </a:pPr>
            <a:r>
              <a:rPr b="0" i="0" lang="es" sz="1500" u="sng" cap="none" strike="noStrike">
                <a:solidFill>
                  <a:schemeClr val="hlink"/>
                </a:solidFill>
                <a:latin typeface="Montserrat"/>
                <a:ea typeface="Montserrat"/>
                <a:cs typeface="Montserrat"/>
                <a:sym typeface="Montserrat"/>
                <a:hlinkClick r:id="rId5"/>
              </a:rPr>
              <a:t>Clases y objetos</a:t>
            </a:r>
            <a:r>
              <a:rPr b="0" i="0" lang="es" sz="1500" u="none" cap="none" strike="noStrike">
                <a:solidFill>
                  <a:schemeClr val="dk2"/>
                </a:solidFill>
                <a:latin typeface="Montserrat"/>
                <a:ea typeface="Montserrat"/>
                <a:cs typeface="Montserrat"/>
                <a:sym typeface="Montserrat"/>
              </a:rPr>
              <a:t>, en la documentación de Python</a:t>
            </a:r>
            <a:endParaRPr b="0" i="0" sz="1500" u="none" cap="none" strike="noStrike">
              <a:solidFill>
                <a:srgbClr val="595959"/>
              </a:solidFill>
              <a:latin typeface="Montserrat"/>
              <a:ea typeface="Montserrat"/>
              <a:cs typeface="Montserrat"/>
              <a:sym typeface="Montserrat"/>
            </a:endParaRPr>
          </a:p>
          <a:p>
            <a:pPr indent="-323850" lvl="0" marL="457200" marR="0" rtl="0" algn="l">
              <a:lnSpc>
                <a:spcPct val="115000"/>
              </a:lnSpc>
              <a:spcBef>
                <a:spcPts val="0"/>
              </a:spcBef>
              <a:spcAft>
                <a:spcPts val="0"/>
              </a:spcAft>
              <a:buClr>
                <a:srgbClr val="595959"/>
              </a:buClr>
              <a:buSzPts val="1500"/>
              <a:buFont typeface="Montserrat"/>
              <a:buChar char="●"/>
            </a:pPr>
            <a:r>
              <a:rPr b="0" i="0" lang="es" sz="1500" u="sng" cap="none" strike="noStrike">
                <a:solidFill>
                  <a:schemeClr val="hlink"/>
                </a:solidFill>
                <a:latin typeface="Montserrat"/>
                <a:ea typeface="Montserrat"/>
                <a:cs typeface="Montserrat"/>
                <a:sym typeface="Montserrat"/>
                <a:hlinkClick r:id="rId6"/>
              </a:rPr>
              <a:t>La función map()</a:t>
            </a:r>
            <a:r>
              <a:rPr b="0" i="0" lang="es" sz="1500" u="none" cap="none" strike="noStrike">
                <a:solidFill>
                  <a:schemeClr val="dk2"/>
                </a:solidFill>
                <a:latin typeface="Montserrat"/>
                <a:ea typeface="Montserrat"/>
                <a:cs typeface="Montserrat"/>
                <a:sym typeface="Montserrat"/>
              </a:rPr>
              <a:t>, en Hektor Docs</a:t>
            </a:r>
            <a:endParaRPr b="0" i="0" sz="1500" u="none" cap="none" strike="noStrike">
              <a:solidFill>
                <a:schemeClr val="dk2"/>
              </a:solidFill>
              <a:latin typeface="Montserrat"/>
              <a:ea typeface="Montserrat"/>
              <a:cs typeface="Montserrat"/>
              <a:sym typeface="Montserrat"/>
            </a:endParaRPr>
          </a:p>
          <a:p>
            <a:pPr indent="0" lvl="0" marL="0" marR="0" rtl="0" algn="l">
              <a:lnSpc>
                <a:spcPct val="115000"/>
              </a:lnSpc>
              <a:spcBef>
                <a:spcPts val="1200"/>
              </a:spcBef>
              <a:spcAft>
                <a:spcPts val="0"/>
              </a:spcAft>
              <a:buClr>
                <a:srgbClr val="000000"/>
              </a:buClr>
              <a:buSzPts val="1500"/>
              <a:buFont typeface="Arial"/>
              <a:buNone/>
            </a:pPr>
            <a:r>
              <a:rPr b="0" i="0" lang="es" sz="1500" u="none" cap="none" strike="noStrike">
                <a:solidFill>
                  <a:srgbClr val="595959"/>
                </a:solidFill>
                <a:latin typeface="Montserrat"/>
                <a:ea typeface="Montserrat"/>
                <a:cs typeface="Montserrat"/>
                <a:sym typeface="Montserrat"/>
              </a:rPr>
              <a:t>Videos:</a:t>
            </a:r>
            <a:endParaRPr b="0" i="0" sz="1500" u="none" cap="none" strike="noStrike">
              <a:solidFill>
                <a:srgbClr val="595959"/>
              </a:solidFill>
              <a:latin typeface="Montserrat"/>
              <a:ea typeface="Montserrat"/>
              <a:cs typeface="Montserrat"/>
              <a:sym typeface="Montserrat"/>
            </a:endParaRPr>
          </a:p>
          <a:p>
            <a:pPr indent="-323850" lvl="0" marL="457200" marR="0" rtl="0" algn="l">
              <a:lnSpc>
                <a:spcPct val="115000"/>
              </a:lnSpc>
              <a:spcBef>
                <a:spcPts val="1200"/>
              </a:spcBef>
              <a:spcAft>
                <a:spcPts val="0"/>
              </a:spcAft>
              <a:buClr>
                <a:srgbClr val="595959"/>
              </a:buClr>
              <a:buSzPts val="1500"/>
              <a:buFont typeface="Montserrat"/>
              <a:buChar char="●"/>
            </a:pPr>
            <a:r>
              <a:rPr b="0" i="0" lang="es" sz="1500" u="none" cap="none" strike="noStrike">
                <a:solidFill>
                  <a:srgbClr val="595959"/>
                </a:solidFill>
                <a:latin typeface="Montserrat"/>
                <a:ea typeface="Montserrat"/>
                <a:cs typeface="Montserrat"/>
                <a:sym typeface="Montserrat"/>
              </a:rPr>
              <a:t>Objetos </a:t>
            </a:r>
            <a:r>
              <a:rPr b="0" i="0" lang="es" sz="1500" u="sng" cap="none" strike="noStrike">
                <a:solidFill>
                  <a:schemeClr val="hlink"/>
                </a:solidFill>
                <a:latin typeface="Montserrat"/>
                <a:ea typeface="Montserrat"/>
                <a:cs typeface="Montserrat"/>
                <a:sym typeface="Montserrat"/>
                <a:hlinkClick r:id="rId7"/>
              </a:rPr>
              <a:t>parte I</a:t>
            </a:r>
            <a:r>
              <a:rPr b="0" i="0" lang="es" sz="1500" u="none" cap="none" strike="noStrike">
                <a:solidFill>
                  <a:srgbClr val="595959"/>
                </a:solidFill>
                <a:latin typeface="Montserrat"/>
                <a:ea typeface="Montserrat"/>
                <a:cs typeface="Montserrat"/>
                <a:sym typeface="Montserrat"/>
              </a:rPr>
              <a:t>, </a:t>
            </a:r>
            <a:r>
              <a:rPr b="0" i="0" lang="es" sz="1500" u="sng" cap="none" strike="noStrike">
                <a:solidFill>
                  <a:schemeClr val="hlink"/>
                </a:solidFill>
                <a:latin typeface="Montserrat"/>
                <a:ea typeface="Montserrat"/>
                <a:cs typeface="Montserrat"/>
                <a:sym typeface="Montserrat"/>
                <a:hlinkClick r:id="rId8"/>
              </a:rPr>
              <a:t>parte II</a:t>
            </a:r>
            <a:r>
              <a:rPr b="0" i="0" lang="es" sz="1500" u="none" cap="none" strike="noStrike">
                <a:solidFill>
                  <a:srgbClr val="595959"/>
                </a:solidFill>
                <a:latin typeface="Montserrat"/>
                <a:ea typeface="Montserrat"/>
                <a:cs typeface="Montserrat"/>
                <a:sym typeface="Montserrat"/>
              </a:rPr>
              <a:t>, </a:t>
            </a:r>
            <a:r>
              <a:rPr b="0" i="0" lang="es" sz="1500" u="sng" cap="none" strike="noStrike">
                <a:solidFill>
                  <a:schemeClr val="hlink"/>
                </a:solidFill>
                <a:latin typeface="Montserrat"/>
                <a:ea typeface="Montserrat"/>
                <a:cs typeface="Montserrat"/>
                <a:sym typeface="Montserrat"/>
                <a:hlinkClick r:id="rId9"/>
              </a:rPr>
              <a:t>parte III</a:t>
            </a:r>
            <a:r>
              <a:rPr b="0" i="0" lang="es" sz="1500" u="none" cap="none" strike="noStrike">
                <a:solidFill>
                  <a:srgbClr val="595959"/>
                </a:solidFill>
                <a:latin typeface="Montserrat"/>
                <a:ea typeface="Montserrat"/>
                <a:cs typeface="Montserrat"/>
                <a:sym typeface="Montserrat"/>
              </a:rPr>
              <a:t> y </a:t>
            </a:r>
            <a:r>
              <a:rPr b="0" i="0" lang="es" sz="1500" u="sng" cap="none" strike="noStrike">
                <a:solidFill>
                  <a:schemeClr val="hlink"/>
                </a:solidFill>
                <a:latin typeface="Montserrat"/>
                <a:ea typeface="Montserrat"/>
                <a:cs typeface="Montserrat"/>
                <a:sym typeface="Montserrat"/>
                <a:hlinkClick r:id="rId10"/>
              </a:rPr>
              <a:t>parte IV</a:t>
            </a:r>
            <a:r>
              <a:rPr b="0" i="0" lang="es" sz="1500" u="none" cap="none" strike="noStrike">
                <a:solidFill>
                  <a:srgbClr val="595959"/>
                </a:solidFill>
                <a:latin typeface="Montserrat"/>
                <a:ea typeface="Montserrat"/>
                <a:cs typeface="Montserrat"/>
                <a:sym typeface="Montserrat"/>
              </a:rPr>
              <a:t> en Píldoras informáticas</a:t>
            </a:r>
            <a:endParaRPr b="0" i="0" sz="1500" u="none" cap="none" strike="noStrike">
              <a:solidFill>
                <a:srgbClr val="595959"/>
              </a:solidFill>
              <a:latin typeface="Montserrat"/>
              <a:ea typeface="Montserrat"/>
              <a:cs typeface="Montserrat"/>
              <a:sym typeface="Montserrat"/>
            </a:endParaRPr>
          </a:p>
          <a:p>
            <a:pPr indent="-323850" lvl="0" marL="457200" marR="0" rtl="0" algn="l">
              <a:lnSpc>
                <a:spcPct val="115000"/>
              </a:lnSpc>
              <a:spcBef>
                <a:spcPts val="0"/>
              </a:spcBef>
              <a:spcAft>
                <a:spcPts val="0"/>
              </a:spcAft>
              <a:buClr>
                <a:srgbClr val="595959"/>
              </a:buClr>
              <a:buSzPts val="1500"/>
              <a:buFont typeface="Montserrat"/>
              <a:buChar char="●"/>
            </a:pPr>
            <a:r>
              <a:rPr b="0" i="0" lang="es" sz="1500" u="sng" cap="none" strike="noStrike">
                <a:solidFill>
                  <a:schemeClr val="hlink"/>
                </a:solidFill>
                <a:latin typeface="Montserrat"/>
                <a:ea typeface="Montserrat"/>
                <a:cs typeface="Montserrat"/>
                <a:sym typeface="Montserrat"/>
                <a:hlinkClick r:id="rId11"/>
              </a:rPr>
              <a:t>Clases y Objetos</a:t>
            </a:r>
            <a:r>
              <a:rPr b="0" i="0" lang="es" sz="1500" u="none" cap="none" strike="noStrike">
                <a:solidFill>
                  <a:srgbClr val="595959"/>
                </a:solidFill>
                <a:latin typeface="Montserrat"/>
                <a:ea typeface="Montserrat"/>
                <a:cs typeface="Montserrat"/>
                <a:sym typeface="Montserrat"/>
              </a:rPr>
              <a:t> en Python, por yacklyon</a:t>
            </a:r>
            <a:endParaRPr b="0" i="0" sz="1500" u="none" cap="none" strike="noStrike">
              <a:solidFill>
                <a:srgbClr val="595959"/>
              </a:solidFill>
              <a:latin typeface="Montserrat"/>
              <a:ea typeface="Montserrat"/>
              <a:cs typeface="Montserrat"/>
              <a:sym typeface="Montserrat"/>
            </a:endParaRPr>
          </a:p>
          <a:p>
            <a:pPr indent="0" lvl="0" marL="457200" marR="0" rtl="0" algn="l">
              <a:lnSpc>
                <a:spcPct val="115000"/>
              </a:lnSpc>
              <a:spcBef>
                <a:spcPts val="1200"/>
              </a:spcBef>
              <a:spcAft>
                <a:spcPts val="1200"/>
              </a:spcAft>
              <a:buClr>
                <a:srgbClr val="000000"/>
              </a:buClr>
              <a:buSzPts val="1500"/>
              <a:buFont typeface="Arial"/>
              <a:buNone/>
            </a:pPr>
            <a:r>
              <a:t/>
            </a:r>
            <a:endParaRPr b="0" i="0" sz="1500" u="none" cap="none" strike="noStrike">
              <a:solidFill>
                <a:srgbClr val="595959"/>
              </a:solidFill>
              <a:latin typeface="Montserrat"/>
              <a:ea typeface="Montserrat"/>
              <a:cs typeface="Montserrat"/>
              <a:sym typeface="Montserra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27"/>
          <p:cNvSpPr txBox="1"/>
          <p:nvPr>
            <p:ph type="title"/>
          </p:nvPr>
        </p:nvSpPr>
        <p:spPr>
          <a:xfrm>
            <a:off x="490250" y="1135950"/>
            <a:ext cx="8097300" cy="36237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3700"/>
              <a:buNone/>
            </a:pPr>
            <a:r>
              <a:rPr lang="es"/>
              <a:t>No te olvides de dar el presente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28"/>
          <p:cNvSpPr txBox="1"/>
          <p:nvPr>
            <p:ph type="title"/>
          </p:nvPr>
        </p:nvSpPr>
        <p:spPr>
          <a:xfrm>
            <a:off x="490250" y="1135950"/>
            <a:ext cx="8097300" cy="36237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3700"/>
              <a:buNone/>
            </a:pPr>
            <a:r>
              <a:rPr lang="es"/>
              <a:t>Recordá: </a:t>
            </a:r>
            <a:endParaRPr/>
          </a:p>
          <a:p>
            <a:pPr indent="-431800" lvl="0" marL="457200" rtl="0" algn="l">
              <a:lnSpc>
                <a:spcPct val="100000"/>
              </a:lnSpc>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Revisar la Cartelera de Novedades.</a:t>
            </a:r>
            <a:endParaRPr b="0" sz="3200">
              <a:latin typeface="Montserrat SemiBold"/>
              <a:ea typeface="Montserrat SemiBold"/>
              <a:cs typeface="Montserrat SemiBold"/>
              <a:sym typeface="Montserrat SemiBold"/>
            </a:endParaRPr>
          </a:p>
          <a:p>
            <a:pPr indent="-431800" lvl="0" marL="457200" rtl="0" algn="l">
              <a:lnSpc>
                <a:spcPct val="100000"/>
              </a:lnSpc>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Hacer tus consultas en el Foro.</a:t>
            </a:r>
            <a:endParaRPr b="0" sz="3200">
              <a:latin typeface="Montserrat SemiBold"/>
              <a:ea typeface="Montserrat SemiBold"/>
              <a:cs typeface="Montserrat SemiBold"/>
              <a:sym typeface="Montserrat SemiBold"/>
            </a:endParaRPr>
          </a:p>
          <a:p>
            <a:pPr indent="-431800" lvl="0" marL="457200" rtl="0" algn="l">
              <a:lnSpc>
                <a:spcPct val="100000"/>
              </a:lnSpc>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Realizar los Ejercicios obligatorios.</a:t>
            </a:r>
            <a:endParaRPr b="0" sz="3200">
              <a:latin typeface="Montserrat SemiBold"/>
              <a:ea typeface="Montserrat SemiBold"/>
              <a:cs typeface="Montserrat SemiBold"/>
              <a:sym typeface="Montserrat SemiBold"/>
            </a:endParaRPr>
          </a:p>
          <a:p>
            <a:pPr indent="0" lvl="0" marL="0" rtl="0" algn="l">
              <a:lnSpc>
                <a:spcPct val="100000"/>
              </a:lnSpc>
              <a:spcBef>
                <a:spcPts val="0"/>
              </a:spcBef>
              <a:spcAft>
                <a:spcPts val="0"/>
              </a:spcAft>
              <a:buSzPts val="3700"/>
              <a:buNone/>
            </a:pPr>
            <a:r>
              <a:t/>
            </a:r>
            <a:endParaRPr sz="3200"/>
          </a:p>
          <a:p>
            <a:pPr indent="0" lvl="0" marL="0" rtl="0" algn="l">
              <a:lnSpc>
                <a:spcPct val="100000"/>
              </a:lnSpc>
              <a:spcBef>
                <a:spcPts val="0"/>
              </a:spcBef>
              <a:spcAft>
                <a:spcPts val="0"/>
              </a:spcAft>
              <a:buSzPts val="3700"/>
              <a:buNone/>
            </a:pPr>
            <a:r>
              <a:rPr lang="es" sz="3200"/>
              <a:t>Todo en el Aula Virtual.</a:t>
            </a:r>
            <a:endParaRPr sz="32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