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Montserrat Medium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3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49" roundtripDataSignature="AMtx7mh7LHcpa0XE5Ftc648bo7RiA4+I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58D347-25AF-4164-8218-80A83A59D2C8}">
  <a:tblStyle styleId="{5C58D347-25AF-4164-8218-80A83A59D2C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37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boldItalic.fntdata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MontserratMedium-bold.fntdata"/><Relationship Id="rId45" Type="http://schemas.openxmlformats.org/officeDocument/2006/relationships/font" Target="fonts/Montserra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Medium-boldItalic.fntdata"/><Relationship Id="rId47" Type="http://schemas.openxmlformats.org/officeDocument/2006/relationships/font" Target="fonts/MontserratMedium-italic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MontserratSemiBold-regular.fntdata"/><Relationship Id="rId36" Type="http://schemas.openxmlformats.org/officeDocument/2006/relationships/slide" Target="slides/slide30.xml"/><Relationship Id="rId39" Type="http://schemas.openxmlformats.org/officeDocument/2006/relationships/font" Target="fonts/MontserratSemiBold-italic.fntdata"/><Relationship Id="rId38" Type="http://schemas.openxmlformats.org/officeDocument/2006/relationships/font" Target="fonts/MontserratSemiBold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mozilla.org/en-US/docs/Web/HTML/Element/ul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anerbarrena.com/atributo-download-html5-5691/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ressroom.hostalia.com/contents/ui/theme/images/wp-hostalia-enlaces-absolutos-y-relativos.pdf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Más info: Listas con formato: </a:t>
            </a:r>
            <a:r>
              <a:rPr lang="es" u="sng">
                <a:solidFill>
                  <a:schemeClr val="hlink"/>
                </a:solidFill>
                <a:hlinkClick r:id="rId2"/>
              </a:rPr>
              <a:t>https://developer.mozilla.org/en-US/docs/Web/HTML/Element/ul</a:t>
            </a:r>
            <a:r>
              <a:rPr lang="es"/>
              <a:t> (de igual forma, lo vemos en CSS)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Más info: </a:t>
            </a:r>
            <a:r>
              <a:rPr lang="es" u="sng">
                <a:solidFill>
                  <a:schemeClr val="hlink"/>
                </a:solidFill>
                <a:hlinkClick r:id="rId2"/>
              </a:rPr>
              <a:t>https://www.anerbarrena.com/atributo-download-html5-5691/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Más info: </a:t>
            </a:r>
            <a:r>
              <a:rPr lang="es" u="sng">
                <a:solidFill>
                  <a:schemeClr val="hlink"/>
                </a:solidFill>
                <a:hlinkClick r:id="rId2"/>
              </a:rPr>
              <a:t>https://pressroom.hostalia.com/contents/ui/theme/images/wp-hostalia-enlaces-absolutos-y-relativos.pdf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3335100" y="1617575"/>
            <a:ext cx="54972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b="1" sz="3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1" name="Google Shape;1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90050"/>
            <a:ext cx="3040999" cy="20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2877" y="4573625"/>
            <a:ext cx="741498" cy="399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2"/>
          <p:cNvSpPr txBox="1"/>
          <p:nvPr/>
        </p:nvSpPr>
        <p:spPr>
          <a:xfrm>
            <a:off x="3326000" y="3062475"/>
            <a:ext cx="55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" name="Google Shape;14;p32"/>
          <p:cNvSpPr txBox="1"/>
          <p:nvPr>
            <p:ph idx="1" type="subTitle"/>
          </p:nvPr>
        </p:nvSpPr>
        <p:spPr>
          <a:xfrm>
            <a:off x="3335025" y="2986525"/>
            <a:ext cx="553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2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y sub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3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900"/>
              <a:buFont typeface="Montserrat"/>
              <a:buNone/>
              <a:defRPr b="1" sz="49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21" name="Google Shape;2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3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2 - 37">
  <p:cSld name="BLANK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4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4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4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4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4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4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3" name="Google Shape;33;p34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4" name="Google Shape;34;p34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5" name="Google Shape;35;p34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5" type="title"/>
          </p:nvPr>
        </p:nvSpPr>
        <p:spPr>
          <a:xfrm>
            <a:off x="6130475" y="2159925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34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4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4"/>
          <p:cNvSpPr txBox="1"/>
          <p:nvPr>
            <p:ph idx="6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" name="Google Shape;42;p34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/>
          <p:nvPr>
            <p:ph type="title"/>
          </p:nvPr>
        </p:nvSpPr>
        <p:spPr>
          <a:xfrm>
            <a:off x="311700" y="597425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Montserrat Medium"/>
              <a:buNone/>
              <a:defRPr sz="2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" type="body"/>
          </p:nvPr>
        </p:nvSpPr>
        <p:spPr>
          <a:xfrm>
            <a:off x="432025" y="13048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46" name="Google Shape;4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35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88">
          <p15:clr>
            <a:srgbClr val="FA7B17"/>
          </p15:clr>
        </p15:guide>
        <p15:guide id="3" orient="horz" pos="2960">
          <p15:clr>
            <a:srgbClr val="FA7B17"/>
          </p15:clr>
        </p15:guide>
        <p15:guide id="4" orient="horz" pos="314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6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4" name="Google Shape;54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55" name="Google Shape;5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6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ágenes o gráficos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311700" y="-12175"/>
            <a:ext cx="774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 Medium"/>
              <a:buNone/>
              <a:defRPr sz="2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" name="Google Shape;6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7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tarea y consigna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8"/>
          <p:cNvSpPr/>
          <p:nvPr/>
        </p:nvSpPr>
        <p:spPr>
          <a:xfrm>
            <a:off x="-13650" y="432892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6" name="Google Shape;6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26135" y="4508338"/>
            <a:ext cx="1091725" cy="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8"/>
          <p:cNvSpPr txBox="1"/>
          <p:nvPr>
            <p:ph type="title"/>
          </p:nvPr>
        </p:nvSpPr>
        <p:spPr>
          <a:xfrm>
            <a:off x="432025" y="187325"/>
            <a:ext cx="7982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Montserrat Medium"/>
              <a:buNone/>
              <a:defRPr sz="2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432025" y="8476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e o recordatorio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9"/>
          <p:cNvSpPr/>
          <p:nvPr/>
        </p:nvSpPr>
        <p:spPr>
          <a:xfrm>
            <a:off x="-13650" y="-5775"/>
            <a:ext cx="9171300" cy="8559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0675" y="-260761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38"/>
            <a:ext cx="1163080" cy="7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6135" y="164938"/>
            <a:ext cx="1091725" cy="4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9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700"/>
              <a:buFont typeface="Montserrat"/>
              <a:buNone/>
              <a:defRPr b="1" sz="3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o destacado y explicación">
  <p:cSld name="TITLE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0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0"/>
          <p:cNvSpPr txBox="1"/>
          <p:nvPr>
            <p:ph type="ctrTitle"/>
          </p:nvPr>
        </p:nvSpPr>
        <p:spPr>
          <a:xfrm>
            <a:off x="550375" y="7600"/>
            <a:ext cx="8043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b="1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40"/>
          <p:cNvSpPr txBox="1"/>
          <p:nvPr>
            <p:ph idx="1" type="subTitle"/>
          </p:nvPr>
        </p:nvSpPr>
        <p:spPr>
          <a:xfrm>
            <a:off x="550375" y="1614925"/>
            <a:ext cx="8043300" cy="26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None/>
              <a:defRPr sz="1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81" name="Google Shape;81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413">
          <p15:clr>
            <a:srgbClr val="FA7B17"/>
          </p15:clr>
        </p15:guide>
        <p15:guide id="2" pos="347">
          <p15:clr>
            <a:srgbClr val="FA7B17"/>
          </p15:clr>
        </p15:guide>
        <p15:guide id="3" orient="horz" pos="277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1"/>
          <p:cNvSpPr/>
          <p:nvPr/>
        </p:nvSpPr>
        <p:spPr>
          <a:xfrm>
            <a:off x="-27250" y="-18175"/>
            <a:ext cx="91713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1"/>
          <p:cNvSpPr txBox="1"/>
          <p:nvPr>
            <p:ph type="title"/>
          </p:nvPr>
        </p:nvSpPr>
        <p:spPr>
          <a:xfrm>
            <a:off x="490250" y="450150"/>
            <a:ext cx="8061000" cy="37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4000"/>
              <a:buFont typeface="Montserrat"/>
              <a:buNone/>
              <a:defRPr b="1" sz="4000">
                <a:solidFill>
                  <a:srgbClr val="41414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8" name="Google Shape;8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0675" y="4073939"/>
            <a:ext cx="1365875" cy="13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264238"/>
            <a:ext cx="1163080" cy="7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jercicios e image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2"/>
          <p:cNvSpPr txBox="1"/>
          <p:nvPr>
            <p:ph type="title"/>
          </p:nvPr>
        </p:nvSpPr>
        <p:spPr>
          <a:xfrm>
            <a:off x="265500" y="7759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"/>
              <a:buNone/>
              <a:defRPr sz="3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42"/>
          <p:cNvSpPr txBox="1"/>
          <p:nvPr>
            <p:ph idx="1" type="subTitle"/>
          </p:nvPr>
        </p:nvSpPr>
        <p:spPr>
          <a:xfrm>
            <a:off x="265500" y="24982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6" name="Google Shape;96;p42"/>
          <p:cNvSpPr/>
          <p:nvPr/>
        </p:nvSpPr>
        <p:spPr>
          <a:xfrm>
            <a:off x="4572150" y="-18175"/>
            <a:ext cx="4572000" cy="51618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6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2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s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3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3"/>
          <p:cNvSpPr txBox="1"/>
          <p:nvPr>
            <p:ph idx="1" type="body"/>
          </p:nvPr>
        </p:nvSpPr>
        <p:spPr>
          <a:xfrm>
            <a:off x="433800" y="1715975"/>
            <a:ext cx="82038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i="1" sz="2000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pic>
        <p:nvPicPr>
          <p:cNvPr id="103" name="Google Shape;10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7225" y="906000"/>
            <a:ext cx="1429649" cy="9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800" y="2758064"/>
            <a:ext cx="1385650" cy="907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3"/>
          <p:cNvSpPr txBox="1"/>
          <p:nvPr/>
        </p:nvSpPr>
        <p:spPr>
          <a:xfrm>
            <a:off x="432025" y="3792225"/>
            <a:ext cx="84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Autor/as/es: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3"/>
          <p:cNvSpPr txBox="1"/>
          <p:nvPr>
            <p:ph type="title"/>
          </p:nvPr>
        </p:nvSpPr>
        <p:spPr>
          <a:xfrm>
            <a:off x="1766475" y="3773600"/>
            <a:ext cx="71451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1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43"/>
          <p:cNvSpPr txBox="1"/>
          <p:nvPr>
            <p:ph idx="2" type="title"/>
          </p:nvPr>
        </p:nvSpPr>
        <p:spPr>
          <a:xfrm>
            <a:off x="432025" y="83275"/>
            <a:ext cx="71451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SemiBold"/>
              <a:buNone/>
              <a:defRPr sz="15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0" name="Google Shape;110;p43"/>
          <p:cNvPicPr preferRelativeResize="0"/>
          <p:nvPr/>
        </p:nvPicPr>
        <p:blipFill rotWithShape="1">
          <a:blip r:embed="rId6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41">
          <p15:clr>
            <a:srgbClr val="FA7B17"/>
          </p15:clr>
        </p15:guide>
        <p15:guide id="3" orient="horz" pos="2551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e 0">
  <p:cSld name="BLANK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4"/>
          <p:cNvSpPr/>
          <p:nvPr/>
        </p:nvSpPr>
        <p:spPr>
          <a:xfrm>
            <a:off x="212425" y="1172325"/>
            <a:ext cx="8636100" cy="436800"/>
          </a:xfrm>
          <a:prstGeom prst="chevron">
            <a:avLst>
              <a:gd fmla="val 50000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4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4"/>
          <p:cNvSpPr/>
          <p:nvPr/>
        </p:nvSpPr>
        <p:spPr>
          <a:xfrm>
            <a:off x="6745000" y="8084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4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4"/>
          <p:cNvSpPr txBox="1"/>
          <p:nvPr/>
        </p:nvSpPr>
        <p:spPr>
          <a:xfrm>
            <a:off x="6134350" y="2150250"/>
            <a:ext cx="2397900" cy="21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4"/>
          <p:cNvSpPr txBox="1"/>
          <p:nvPr>
            <p:ph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44"/>
          <p:cNvSpPr txBox="1"/>
          <p:nvPr>
            <p:ph idx="2" type="title"/>
          </p:nvPr>
        </p:nvSpPr>
        <p:spPr>
          <a:xfrm>
            <a:off x="6134350" y="2196275"/>
            <a:ext cx="2397900" cy="2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44"/>
          <p:cNvSpPr txBox="1"/>
          <p:nvPr>
            <p:ph idx="3" type="title"/>
          </p:nvPr>
        </p:nvSpPr>
        <p:spPr>
          <a:xfrm>
            <a:off x="4039950" y="116422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44"/>
          <p:cNvSpPr txBox="1"/>
          <p:nvPr>
            <p:ph idx="4" type="title"/>
          </p:nvPr>
        </p:nvSpPr>
        <p:spPr>
          <a:xfrm>
            <a:off x="6877450" y="116422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44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4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ltima clase">
  <p:cSld name="BLANK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5"/>
          <p:cNvSpPr/>
          <p:nvPr/>
        </p:nvSpPr>
        <p:spPr>
          <a:xfrm>
            <a:off x="212425" y="1172325"/>
            <a:ext cx="4818000" cy="436800"/>
          </a:xfrm>
          <a:prstGeom prst="chevron">
            <a:avLst>
              <a:gd fmla="val 45084" name="adj"/>
            </a:avLst>
          </a:prstGeom>
          <a:solidFill>
            <a:srgbClr val="7685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5"/>
          <p:cNvSpPr/>
          <p:nvPr/>
        </p:nvSpPr>
        <p:spPr>
          <a:xfrm>
            <a:off x="3907500" y="792225"/>
            <a:ext cx="1176600" cy="11646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5"/>
          <p:cNvSpPr/>
          <p:nvPr/>
        </p:nvSpPr>
        <p:spPr>
          <a:xfrm>
            <a:off x="1139350" y="792225"/>
            <a:ext cx="1176600" cy="1164600"/>
          </a:xfrm>
          <a:prstGeom prst="ellipse">
            <a:avLst/>
          </a:prstGeom>
          <a:solidFill>
            <a:srgbClr val="F9F9F9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5"/>
          <p:cNvSpPr txBox="1"/>
          <p:nvPr/>
        </p:nvSpPr>
        <p:spPr>
          <a:xfrm>
            <a:off x="528700" y="2150250"/>
            <a:ext cx="2397900" cy="2131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5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None/>
              <a:defRPr b="1"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1" name="Google Shape;131;p45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32" name="Google Shape;132;p45"/>
          <p:cNvSpPr txBox="1"/>
          <p:nvPr>
            <p:ph idx="3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45"/>
          <p:cNvSpPr/>
          <p:nvPr/>
        </p:nvSpPr>
        <p:spPr>
          <a:xfrm>
            <a:off x="-13650" y="-45425"/>
            <a:ext cx="9171300" cy="558000"/>
          </a:xfrm>
          <a:prstGeom prst="rect">
            <a:avLst/>
          </a:prstGeom>
          <a:solidFill>
            <a:srgbClr val="F8C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184" y="33947"/>
            <a:ext cx="876879" cy="3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8975" y="4699100"/>
            <a:ext cx="558475" cy="3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5"/>
          <p:cNvSpPr txBox="1"/>
          <p:nvPr/>
        </p:nvSpPr>
        <p:spPr>
          <a:xfrm>
            <a:off x="3331525" y="2150250"/>
            <a:ext cx="2397900" cy="2121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5"/>
          <p:cNvSpPr txBox="1"/>
          <p:nvPr>
            <p:ph idx="4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None/>
              <a:defRPr sz="1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" name="Google Shape;138;p45"/>
          <p:cNvPicPr preferRelativeResize="0"/>
          <p:nvPr/>
        </p:nvPicPr>
        <p:blipFill rotWithShape="1">
          <a:blip r:embed="rId4">
            <a:alphaModFix/>
          </a:blip>
          <a:srcRect b="28576" l="0" r="0" t="30756"/>
          <a:stretch/>
        </p:blipFill>
        <p:spPr>
          <a:xfrm>
            <a:off x="432025" y="4610038"/>
            <a:ext cx="1665398" cy="4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32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43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Relationship Id="rId4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jsbin.com/?html,output" TargetMode="External"/><Relationship Id="rId4" Type="http://schemas.openxmlformats.org/officeDocument/2006/relationships/hyperlink" Target="https://codepen.io/" TargetMode="External"/><Relationship Id="rId5" Type="http://schemas.openxmlformats.org/officeDocument/2006/relationships/image" Target="../media/image41.png"/><Relationship Id="rId6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w3schools.com/" TargetMode="External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mozilla.org/en-US/" TargetMode="External"/><Relationship Id="rId4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3335100" y="1617575"/>
            <a:ext cx="54972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s" sz="3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 STACK PYTHON</a:t>
            </a:r>
            <a:endParaRPr b="1" i="0" sz="3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s" sz="3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2</a:t>
            </a:r>
            <a:endParaRPr b="1" i="0" sz="3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3335025" y="2986525"/>
            <a:ext cx="553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HTML 2</a:t>
            </a:r>
            <a:endParaRPr b="0" i="0" sz="2500" u="none" cap="none" strike="noStrike">
              <a:solidFill>
                <a:srgbClr val="59595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</a:pPr>
            <a:r>
              <a:rPr b="0" lang="es"/>
              <a:t>Continuando con HTML</a:t>
            </a:r>
            <a:endParaRPr b="0"/>
          </a:p>
        </p:txBody>
      </p:sp>
      <p:sp>
        <p:nvSpPr>
          <p:cNvPr id="150" name="Google Shape;15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151" name="Google Shape;1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4813" y="2868475"/>
            <a:ext cx="714375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Les damos la bienvenida</a:t>
            </a:r>
            <a:endParaRPr/>
          </a:p>
        </p:txBody>
      </p:sp>
      <p:sp>
        <p:nvSpPr>
          <p:cNvPr id="157" name="Google Shape;157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Vamos a comenzar a grabar la clase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idx="2" type="title"/>
          </p:nvPr>
        </p:nvSpPr>
        <p:spPr>
          <a:xfrm>
            <a:off x="3938175" y="1159375"/>
            <a:ext cx="109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Clase 02</a:t>
            </a:r>
            <a:endParaRPr/>
          </a:p>
        </p:txBody>
      </p:sp>
      <p:sp>
        <p:nvSpPr>
          <p:cNvPr id="163" name="Google Shape;163;p4"/>
          <p:cNvSpPr txBox="1"/>
          <p:nvPr>
            <p:ph type="title"/>
          </p:nvPr>
        </p:nvSpPr>
        <p:spPr>
          <a:xfrm>
            <a:off x="1271800" y="1159375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Clase 01</a:t>
            </a:r>
            <a:endParaRPr/>
          </a:p>
        </p:txBody>
      </p:sp>
      <p:sp>
        <p:nvSpPr>
          <p:cNvPr id="164" name="Google Shape;164;p4"/>
          <p:cNvSpPr txBox="1"/>
          <p:nvPr>
            <p:ph idx="3" type="title"/>
          </p:nvPr>
        </p:nvSpPr>
        <p:spPr>
          <a:xfrm>
            <a:off x="6877450" y="1159388"/>
            <a:ext cx="9117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"/>
              <a:t>Clase 03</a:t>
            </a:r>
            <a:endParaRPr/>
          </a:p>
        </p:txBody>
      </p:sp>
      <p:sp>
        <p:nvSpPr>
          <p:cNvPr id="165" name="Google Shape;165;p4"/>
          <p:cNvSpPr txBox="1"/>
          <p:nvPr>
            <p:ph idx="4" type="title"/>
          </p:nvPr>
        </p:nvSpPr>
        <p:spPr>
          <a:xfrm>
            <a:off x="532575" y="2150850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HTML 1 - Conceptos básicos de 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Conceptos básicos de la web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Proyecto web: ¿qué es?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Concepto Cliente/Servidor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Introducción a HTML. Etiquetas básicas y atributos.</a:t>
            </a:r>
            <a:endParaRPr/>
          </a:p>
        </p:txBody>
      </p:sp>
      <p:sp>
        <p:nvSpPr>
          <p:cNvPr id="166" name="Google Shape;166;p4"/>
          <p:cNvSpPr txBox="1"/>
          <p:nvPr>
            <p:ph idx="5" type="title"/>
          </p:nvPr>
        </p:nvSpPr>
        <p:spPr>
          <a:xfrm>
            <a:off x="6130475" y="2159925"/>
            <a:ext cx="23979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HTML 3 - Multimedia y Tablas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Multimedia con HTML: imágenes, video, audio, iframes.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Tablas.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Herramienta de inspección.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Validación de nuestro HTML.</a:t>
            </a:r>
            <a:endParaRPr/>
          </a:p>
        </p:txBody>
      </p:sp>
      <p:sp>
        <p:nvSpPr>
          <p:cNvPr id="167" name="Google Shape;167;p4"/>
          <p:cNvSpPr txBox="1"/>
          <p:nvPr>
            <p:ph idx="6" type="title"/>
          </p:nvPr>
        </p:nvSpPr>
        <p:spPr>
          <a:xfrm>
            <a:off x="3331525" y="2159925"/>
            <a:ext cx="23979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HTML 2 - Continuando con 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Listas y enlaces.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Rutas absolutas y relativas.</a:t>
            </a:r>
            <a:endParaRPr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/>
              <a:t>Elementos en bloque y en línea.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Listas</a:t>
            </a:r>
            <a:endParaRPr/>
          </a:p>
        </p:txBody>
      </p:sp>
      <p:sp>
        <p:nvSpPr>
          <p:cNvPr id="173" name="Google Shape;173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Tipos de listas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Listas</a:t>
            </a:r>
            <a:endParaRPr/>
          </a:p>
        </p:txBody>
      </p:sp>
      <p:sp>
        <p:nvSpPr>
          <p:cNvPr id="179" name="Google Shape;179;p6"/>
          <p:cNvSpPr txBox="1"/>
          <p:nvPr>
            <p:ph idx="1" type="body"/>
          </p:nvPr>
        </p:nvSpPr>
        <p:spPr>
          <a:xfrm>
            <a:off x="466875" y="1170000"/>
            <a:ext cx="396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/>
              <a:t>Utilizan las etiquetas </a:t>
            </a:r>
            <a:r>
              <a:rPr b="1" lang="es" sz="1400"/>
              <a:t>&lt;ul&gt;</a:t>
            </a:r>
            <a:r>
              <a:rPr lang="es" sz="1400"/>
              <a:t>: lista desordenada (</a:t>
            </a:r>
            <a:r>
              <a:rPr i="1" lang="es" sz="1400"/>
              <a:t>unordered list</a:t>
            </a:r>
            <a:r>
              <a:rPr lang="es" sz="1400"/>
              <a:t>) u </a:t>
            </a:r>
            <a:r>
              <a:rPr b="1" lang="es" sz="1400"/>
              <a:t>&lt;ol&gt;</a:t>
            </a:r>
            <a:r>
              <a:rPr lang="es" sz="1400"/>
              <a:t>: lista ordenada (</a:t>
            </a:r>
            <a:r>
              <a:rPr i="1" lang="es" sz="1400"/>
              <a:t>ordered list</a:t>
            </a:r>
            <a:r>
              <a:rPr lang="es" sz="1400"/>
              <a:t>).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" sz="1400"/>
              <a:t>Cada elemento de la lista se representa con </a:t>
            </a:r>
            <a:r>
              <a:rPr b="1" lang="es" sz="1400"/>
              <a:t>&lt;li&gt;</a:t>
            </a:r>
            <a:r>
              <a:rPr lang="es" sz="1400"/>
              <a:t> y su padre siempre tiene que ser una etiqueta </a:t>
            </a:r>
            <a:r>
              <a:rPr b="1" lang="es" sz="1400"/>
              <a:t>&lt;ol&gt; </a:t>
            </a:r>
            <a:r>
              <a:rPr lang="es" sz="1400"/>
              <a:t>o </a:t>
            </a:r>
            <a:r>
              <a:rPr b="1" lang="es" sz="1400"/>
              <a:t>&lt;ul&gt;</a:t>
            </a:r>
            <a:r>
              <a:rPr i="1" lang="es" sz="1400"/>
              <a:t>.</a:t>
            </a:r>
            <a:endParaRPr sz="1400"/>
          </a:p>
        </p:txBody>
      </p:sp>
      <p:pic>
        <p:nvPicPr>
          <p:cNvPr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8788" y="1170000"/>
            <a:ext cx="2266418" cy="23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7539" y="1170000"/>
            <a:ext cx="1564436" cy="23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Listas dependientes</a:t>
            </a:r>
            <a:endParaRPr/>
          </a:p>
        </p:txBody>
      </p:sp>
      <p:sp>
        <p:nvSpPr>
          <p:cNvPr id="187" name="Google Shape;187;p7"/>
          <p:cNvSpPr txBox="1"/>
          <p:nvPr>
            <p:ph idx="1" type="body"/>
          </p:nvPr>
        </p:nvSpPr>
        <p:spPr>
          <a:xfrm>
            <a:off x="466875" y="1170000"/>
            <a:ext cx="396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También podemos crear listas dependientes, simplemente agregando más elementos &lt;ul&gt; u &lt;ol&gt; según corresponda.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" sz="1400"/>
              <a:t>Nada impide utilizar una lista dentro de otra lista. Este concepto se conoce como “</a:t>
            </a:r>
            <a:r>
              <a:rPr i="1" lang="es" sz="1400"/>
              <a:t>listas anidadas</a:t>
            </a:r>
            <a:r>
              <a:rPr lang="es" sz="1400"/>
              <a:t>” o listas dependientes y puede ser útil cuando enumeramos ítems que contienen sub-items.</a:t>
            </a:r>
            <a:endParaRPr sz="1400"/>
          </a:p>
        </p:txBody>
      </p:sp>
      <p:pic>
        <p:nvPicPr>
          <p:cNvPr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7425" y="1170000"/>
            <a:ext cx="2041300" cy="334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7000" y="1170000"/>
            <a:ext cx="2218476" cy="26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Listas de definición</a:t>
            </a:r>
            <a:endParaRPr/>
          </a:p>
        </p:txBody>
      </p:sp>
      <p:sp>
        <p:nvSpPr>
          <p:cNvPr id="195" name="Google Shape;195;p8"/>
          <p:cNvSpPr txBox="1"/>
          <p:nvPr>
            <p:ph idx="1" type="body"/>
          </p:nvPr>
        </p:nvSpPr>
        <p:spPr>
          <a:xfrm>
            <a:off x="432025" y="1127800"/>
            <a:ext cx="7657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" sz="1400"/>
              <a:t>Las </a:t>
            </a:r>
            <a:r>
              <a:rPr b="1" lang="es" sz="1400"/>
              <a:t>listas de definición</a:t>
            </a:r>
            <a:r>
              <a:rPr lang="es" sz="1400"/>
              <a:t> son otro tipo de listas interesantes:</a:t>
            </a:r>
            <a:endParaRPr i="1" sz="1400"/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600" y="1754112"/>
            <a:ext cx="3348950" cy="2782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3101" y="1827187"/>
            <a:ext cx="2445150" cy="263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Enlaces</a:t>
            </a:r>
            <a:endParaRPr/>
          </a:p>
        </p:txBody>
      </p:sp>
      <p:sp>
        <p:nvSpPr>
          <p:cNvPr id="203" name="Google Shape;203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Enlaces absolutos y relativos</a:t>
            </a:r>
            <a:endParaRPr/>
          </a:p>
        </p:txBody>
      </p:sp>
      <p:sp>
        <p:nvSpPr>
          <p:cNvPr id="209" name="Google Shape;209;p10"/>
          <p:cNvSpPr txBox="1"/>
          <p:nvPr>
            <p:ph idx="1" type="body"/>
          </p:nvPr>
        </p:nvSpPr>
        <p:spPr>
          <a:xfrm>
            <a:off x="357750" y="1095600"/>
            <a:ext cx="82791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Permiten vincular unas páginas con otras.Para hacer esto utilizamos el elemento </a:t>
            </a:r>
            <a:r>
              <a:rPr b="1" lang="es" sz="1400"/>
              <a:t>&lt;a&gt;</a:t>
            </a:r>
            <a:r>
              <a:rPr lang="es" sz="1400"/>
              <a:t> con el atributo </a:t>
            </a:r>
            <a:r>
              <a:rPr b="1" lang="es" sz="1400"/>
              <a:t>href</a:t>
            </a:r>
            <a:r>
              <a:rPr lang="es" sz="1400"/>
              <a:t> (Hypertext Reference). Hay 3 tipos de enlaces: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" sz="1400"/>
              <a:t>Absoluto</a:t>
            </a:r>
            <a:r>
              <a:rPr lang="es" sz="1400"/>
              <a:t>: es un enlace que incluye todas las partes de una URL.</a:t>
            </a:r>
            <a:endParaRPr sz="1400"/>
          </a:p>
        </p:txBody>
      </p:sp>
      <p:sp>
        <p:nvSpPr>
          <p:cNvPr id="210" name="Google Shape;210;p10"/>
          <p:cNvSpPr txBox="1"/>
          <p:nvPr>
            <p:ph idx="1" type="body"/>
          </p:nvPr>
        </p:nvSpPr>
        <p:spPr>
          <a:xfrm>
            <a:off x="357750" y="2875300"/>
            <a:ext cx="84285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425"/>
              <a:t>Relativo: </a:t>
            </a:r>
            <a:r>
              <a:rPr lang="es" sz="1425"/>
              <a:t>hace referencia a un recurso que se encuentra en una posición relativa a nuestra URL.</a:t>
            </a:r>
            <a:endParaRPr sz="142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425"/>
          </a:p>
        </p:txBody>
      </p:sp>
      <p:pic>
        <p:nvPicPr>
          <p:cNvPr id="211" name="Google Shape;2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175" y="2314650"/>
            <a:ext cx="5180245" cy="37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7175" y="3579075"/>
            <a:ext cx="5787976" cy="4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9875" y="2342225"/>
            <a:ext cx="111442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 txBox="1"/>
          <p:nvPr>
            <p:ph idx="1" type="body"/>
          </p:nvPr>
        </p:nvSpPr>
        <p:spPr>
          <a:xfrm>
            <a:off x="5481150" y="4215000"/>
            <a:ext cx="3305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425"/>
              <a:t>(Sigue en la diapositiva siguiente)</a:t>
            </a:r>
            <a:endParaRPr sz="142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42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Enlaces internos</a:t>
            </a:r>
            <a:endParaRPr/>
          </a:p>
        </p:txBody>
      </p:sp>
      <p:sp>
        <p:nvSpPr>
          <p:cNvPr id="220" name="Google Shape;220;p11"/>
          <p:cNvSpPr txBox="1"/>
          <p:nvPr>
            <p:ph idx="1" type="body"/>
          </p:nvPr>
        </p:nvSpPr>
        <p:spPr>
          <a:xfrm>
            <a:off x="357750" y="1086525"/>
            <a:ext cx="84285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425"/>
              <a:t>Enlaces internos (anclas): </a:t>
            </a:r>
            <a:r>
              <a:rPr lang="es" sz="1425"/>
              <a:t>Se utiliza para indicar un elemento dentro de la misma página, dirigiéndose a un sector específico. Para utilizarlo necesitamos el enlace propiamente dicho y el nombre (name) del ancla al cual debemos dirigirlo.</a:t>
            </a:r>
            <a:endParaRPr sz="1425"/>
          </a:p>
        </p:txBody>
      </p:sp>
      <p:pic>
        <p:nvPicPr>
          <p:cNvPr id="221" name="Google Shape;2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375" y="2040025"/>
            <a:ext cx="4968575" cy="53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 txBox="1"/>
          <p:nvPr>
            <p:ph idx="1" type="body"/>
          </p:nvPr>
        </p:nvSpPr>
        <p:spPr>
          <a:xfrm>
            <a:off x="357750" y="2701075"/>
            <a:ext cx="64761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425"/>
              <a:t>Se pueden vincular a anclas dentro de la página de destino:</a:t>
            </a:r>
            <a:endParaRPr sz="1425"/>
          </a:p>
        </p:txBody>
      </p:sp>
      <p:pic>
        <p:nvPicPr>
          <p:cNvPr id="223" name="Google Shape;2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375" y="3074875"/>
            <a:ext cx="5328291" cy="43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 txBox="1"/>
          <p:nvPr>
            <p:ph idx="1" type="body"/>
          </p:nvPr>
        </p:nvSpPr>
        <p:spPr>
          <a:xfrm>
            <a:off x="432025" y="3587170"/>
            <a:ext cx="707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425"/>
              <a:t>Al igual que en los enlaces internos marcamos la sección con un ancla:</a:t>
            </a:r>
            <a:endParaRPr sz="1425"/>
          </a:p>
        </p:txBody>
      </p:sp>
      <p:pic>
        <p:nvPicPr>
          <p:cNvPr id="225" name="Google Shape;22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9375" y="4031599"/>
            <a:ext cx="2774019" cy="4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Enlaces (Atributos)</a:t>
            </a:r>
            <a:endParaRPr/>
          </a:p>
        </p:txBody>
      </p:sp>
      <p:sp>
        <p:nvSpPr>
          <p:cNvPr id="231" name="Google Shape;231;p12"/>
          <p:cNvSpPr txBox="1"/>
          <p:nvPr>
            <p:ph idx="1" type="body"/>
          </p:nvPr>
        </p:nvSpPr>
        <p:spPr>
          <a:xfrm>
            <a:off x="357750" y="1095600"/>
            <a:ext cx="82800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Dentro de los atributos principales de los enlaces podemos encontrar:</a:t>
            </a:r>
            <a:endParaRPr sz="1400"/>
          </a:p>
        </p:txBody>
      </p:sp>
      <p:graphicFrame>
        <p:nvGraphicFramePr>
          <p:cNvPr id="232" name="Google Shape;232;p12"/>
          <p:cNvGraphicFramePr/>
          <p:nvPr/>
        </p:nvGraphicFramePr>
        <p:xfrm>
          <a:off x="432000" y="154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{5C58D347-25AF-4164-8218-80A83A59D2C8}</a:tableStyleId>
              </a:tblPr>
              <a:tblGrid>
                <a:gridCol w="985625"/>
                <a:gridCol w="7396275"/>
              </a:tblGrid>
              <a:tr h="457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Atributo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Características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download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cuál es el objetivo que se descargará cuando un usuario haga clic en el hipervínculo.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href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la URL de la página a la que se dirige el enlace.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target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dónde abrir el documento vinculado. Algunas de las opciones son: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_blank: Abre el documento vinculado en una nueva ventana o pestaña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_self: Abre el documento vinculado en el mismo marco en el que se hizo clic (predeterminado).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3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title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Especifica información adicional sobre un elemento. La información generalmente se muestra como un texto de información sobre herramientas cuando el mouse se mueve sobre el elemento.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" name="Google Shape;233;p12"/>
          <p:cNvSpPr txBox="1"/>
          <p:nvPr>
            <p:ph idx="1" type="body"/>
          </p:nvPr>
        </p:nvSpPr>
        <p:spPr>
          <a:xfrm>
            <a:off x="432000" y="3976675"/>
            <a:ext cx="8280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Si aún no tenemos definido a dónde queremos hacer un hipervínculo podemos colocar dentro del atributo href el valor #.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Enlaces locales</a:t>
            </a:r>
            <a:endParaRPr/>
          </a:p>
        </p:txBody>
      </p:sp>
      <p:sp>
        <p:nvSpPr>
          <p:cNvPr id="239" name="Google Shape;239;p13"/>
          <p:cNvSpPr txBox="1"/>
          <p:nvPr>
            <p:ph idx="1" type="body"/>
          </p:nvPr>
        </p:nvSpPr>
        <p:spPr>
          <a:xfrm>
            <a:off x="357750" y="1095600"/>
            <a:ext cx="6870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Permiten vincular nuestra página con otra página del mismo Sitio Web.</a:t>
            </a:r>
            <a:endParaRPr sz="1400"/>
          </a:p>
        </p:txBody>
      </p:sp>
      <p:pic>
        <p:nvPicPr>
          <p:cNvPr id="240" name="Google Shape;2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400" y="1528950"/>
            <a:ext cx="7664501" cy="2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5863" y="1911400"/>
            <a:ext cx="5047399" cy="9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3"/>
          <p:cNvSpPr txBox="1"/>
          <p:nvPr>
            <p:ph idx="1" type="body"/>
          </p:nvPr>
        </p:nvSpPr>
        <p:spPr>
          <a:xfrm>
            <a:off x="178050" y="2899150"/>
            <a:ext cx="66030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Para agregar un enlace para regresar podemos colocar lo siguiente:</a:t>
            </a:r>
            <a:endParaRPr sz="1400"/>
          </a:p>
        </p:txBody>
      </p:sp>
      <p:pic>
        <p:nvPicPr>
          <p:cNvPr id="243" name="Google Shape;24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8923" y="3654837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7750" y="3280450"/>
            <a:ext cx="4751401" cy="3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0447" y="3682712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3"/>
          <p:cNvSpPr txBox="1"/>
          <p:nvPr>
            <p:ph idx="1" type="body"/>
          </p:nvPr>
        </p:nvSpPr>
        <p:spPr>
          <a:xfrm>
            <a:off x="2717213" y="3682700"/>
            <a:ext cx="5535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" sz="900"/>
              <a:t>Link</a:t>
            </a:r>
            <a:endParaRPr b="1" sz="900"/>
          </a:p>
        </p:txBody>
      </p:sp>
      <p:cxnSp>
        <p:nvCxnSpPr>
          <p:cNvPr id="247" name="Google Shape;247;p13"/>
          <p:cNvCxnSpPr/>
          <p:nvPr/>
        </p:nvCxnSpPr>
        <p:spPr>
          <a:xfrm>
            <a:off x="3200688" y="3914025"/>
            <a:ext cx="1184700" cy="153000"/>
          </a:xfrm>
          <a:prstGeom prst="straightConnector1">
            <a:avLst/>
          </a:prstGeom>
          <a:noFill/>
          <a:ln cap="flat" cmpd="sng" w="28575">
            <a:solidFill>
              <a:srgbClr val="F8C82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Enlaces a direcciones de correo y archivos</a:t>
            </a:r>
            <a:endParaRPr/>
          </a:p>
        </p:txBody>
      </p:sp>
      <p:sp>
        <p:nvSpPr>
          <p:cNvPr id="253" name="Google Shape;253;p14"/>
          <p:cNvSpPr txBox="1"/>
          <p:nvPr>
            <p:ph idx="1" type="body"/>
          </p:nvPr>
        </p:nvSpPr>
        <p:spPr>
          <a:xfrm>
            <a:off x="320400" y="1095600"/>
            <a:ext cx="85032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Permiten vincular nuestra página con el cliente de correo predeterminado en la computadora:</a:t>
            </a:r>
            <a:endParaRPr sz="1400"/>
          </a:p>
        </p:txBody>
      </p:sp>
      <p:sp>
        <p:nvSpPr>
          <p:cNvPr id="254" name="Google Shape;254;p14"/>
          <p:cNvSpPr txBox="1"/>
          <p:nvPr>
            <p:ph idx="1" type="body"/>
          </p:nvPr>
        </p:nvSpPr>
        <p:spPr>
          <a:xfrm>
            <a:off x="393900" y="2089900"/>
            <a:ext cx="66030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Se pueden agregar un “asunto”:</a:t>
            </a:r>
            <a:endParaRPr sz="1400"/>
          </a:p>
        </p:txBody>
      </p:sp>
      <p:pic>
        <p:nvPicPr>
          <p:cNvPr id="255" name="Google Shape;2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25" y="1673800"/>
            <a:ext cx="5639550" cy="3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25" y="2406700"/>
            <a:ext cx="7361724" cy="3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4"/>
          <p:cNvSpPr txBox="1"/>
          <p:nvPr>
            <p:ph idx="1" type="body"/>
          </p:nvPr>
        </p:nvSpPr>
        <p:spPr>
          <a:xfrm>
            <a:off x="393900" y="2849250"/>
            <a:ext cx="7649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Los enlaces también permiten vincular nuestro documento HTML con archivos:</a:t>
            </a:r>
            <a:endParaRPr sz="1400"/>
          </a:p>
        </p:txBody>
      </p:sp>
      <p:pic>
        <p:nvPicPr>
          <p:cNvPr id="258" name="Google Shape;25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025" y="3272575"/>
            <a:ext cx="4964869" cy="105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9325" y="3327225"/>
            <a:ext cx="220027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Rutas</a:t>
            </a:r>
            <a:endParaRPr/>
          </a:p>
        </p:txBody>
      </p:sp>
      <p:sp>
        <p:nvSpPr>
          <p:cNvPr id="265" name="Google Shape;265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Rutas absolutas y relativas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Rutas absolutas y relativas</a:t>
            </a:r>
            <a:endParaRPr/>
          </a:p>
        </p:txBody>
      </p:sp>
      <p:sp>
        <p:nvSpPr>
          <p:cNvPr id="271" name="Google Shape;271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Cuando hablamos de ruta (o path) nos referimos a la dirección de destino al hacer clic en el link. Esta ruta puede ser: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s"/>
              <a:t>Absoluta: </a:t>
            </a:r>
            <a:r>
              <a:rPr lang="es"/>
              <a:t>Nombre de dominio (externa): http://www.manualweb.net/img/logos/html.png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/>
              <a:t>Relativa: </a:t>
            </a:r>
            <a:r>
              <a:rPr lang="es"/>
              <a:t>Directorios desde donde estoy (interna): /img/casa.png</a:t>
            </a:r>
            <a:endParaRPr/>
          </a:p>
        </p:txBody>
      </p:sp>
      <p:sp>
        <p:nvSpPr>
          <p:cNvPr id="272" name="Google Shape;272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273" name="Google Shape;2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2400" y="1152475"/>
            <a:ext cx="3999901" cy="1623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Rutas absolutas y relativas</a:t>
            </a:r>
            <a:endParaRPr/>
          </a:p>
        </p:txBody>
      </p:sp>
      <p:sp>
        <p:nvSpPr>
          <p:cNvPr id="279" name="Google Shape;27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Mientras desarrollamos el sitio en forma local (desde nuestra computadora), nos conviene tener la información dividida en carpetas.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/>
              <a:t>En general nuestro </a:t>
            </a:r>
            <a:r>
              <a:rPr b="1" lang="es"/>
              <a:t>index.html </a:t>
            </a:r>
            <a:r>
              <a:rPr lang="es"/>
              <a:t>será la página principal y las demás páginas estarán en el directorio raíz, pero para colocar imágenes, hojas de estilo, archivos de JavaScript nos conviene ponerlos en carpetas separadas.</a:t>
            </a:r>
            <a:endParaRPr/>
          </a:p>
        </p:txBody>
      </p:sp>
      <p:sp>
        <p:nvSpPr>
          <p:cNvPr id="280" name="Google Shape;28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281" name="Google Shape;2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2400" y="1152475"/>
            <a:ext cx="3551604" cy="343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Tipos de elemento</a:t>
            </a:r>
            <a:endParaRPr/>
          </a:p>
        </p:txBody>
      </p:sp>
      <p:sp>
        <p:nvSpPr>
          <p:cNvPr id="287" name="Google Shape;2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Elementos en bloque y en línea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Elementos block (en bloque) e inline (en línea)</a:t>
            </a:r>
            <a:endParaRPr/>
          </a:p>
        </p:txBody>
      </p:sp>
      <p:sp>
        <p:nvSpPr>
          <p:cNvPr id="293" name="Google Shape;293;p19"/>
          <p:cNvSpPr txBox="1"/>
          <p:nvPr>
            <p:ph idx="1" type="body"/>
          </p:nvPr>
        </p:nvSpPr>
        <p:spPr>
          <a:xfrm>
            <a:off x="432025" y="1243450"/>
            <a:ext cx="80388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400"/>
              <a:t>HTML clasifica a todos los elementos en dos grupos: </a:t>
            </a:r>
            <a:r>
              <a:rPr b="1" lang="es" sz="1400"/>
              <a:t>inline</a:t>
            </a:r>
            <a:r>
              <a:rPr lang="es" sz="1400"/>
              <a:t> y </a:t>
            </a:r>
            <a:r>
              <a:rPr b="1" lang="es" sz="1400"/>
              <a:t>block</a:t>
            </a:r>
            <a:r>
              <a:rPr lang="es" sz="1400"/>
              <a:t>. De por defecto, los elementos </a:t>
            </a:r>
            <a:r>
              <a:rPr b="1" lang="es" sz="1400"/>
              <a:t>en bloque</a:t>
            </a:r>
            <a:r>
              <a:rPr lang="es" sz="1400"/>
              <a:t> </a:t>
            </a:r>
            <a:r>
              <a:rPr i="1" lang="es" sz="1400"/>
              <a:t>comienzan en una nueva línea </a:t>
            </a:r>
            <a:r>
              <a:rPr lang="es" sz="1400"/>
              <a:t>y los elementos </a:t>
            </a:r>
            <a:r>
              <a:rPr b="1" lang="es" sz="1400"/>
              <a:t>en línea</a:t>
            </a:r>
            <a:r>
              <a:rPr lang="es" sz="1400"/>
              <a:t> pueden comenzar </a:t>
            </a:r>
            <a:r>
              <a:rPr i="1" lang="es" sz="1400"/>
              <a:t>en cualquier parte de una línea</a:t>
            </a:r>
            <a:r>
              <a:rPr lang="es" sz="1400"/>
              <a:t>.</a:t>
            </a:r>
            <a:endParaRPr sz="1400"/>
          </a:p>
        </p:txBody>
      </p:sp>
      <p:graphicFrame>
        <p:nvGraphicFramePr>
          <p:cNvPr id="294" name="Google Shape;294;p19"/>
          <p:cNvGraphicFramePr/>
          <p:nvPr/>
        </p:nvGraphicFramePr>
        <p:xfrm>
          <a:off x="910300" y="242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{5C58D347-25AF-4164-8218-80A83A59D2C8}</a:tableStyleId>
              </a:tblPr>
              <a:tblGrid>
                <a:gridCol w="3730550"/>
                <a:gridCol w="3592850"/>
              </a:tblGrid>
              <a:tr h="811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INLINE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BLOCK</a:t>
                      </a:r>
                      <a:endParaRPr b="1" sz="11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823"/>
                    </a:solidFill>
                  </a:tcPr>
                </a:tc>
              </a:tr>
              <a:tr h="87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" sz="15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&lt;br&gt;, &lt;a&gt;, &lt;img&gt;, &lt;span&gt;, &lt;b&gt;, &lt;strong&gt;, &lt;mark&gt;, &lt;sub&gt;, etc.</a:t>
                      </a:r>
                      <a:endParaRPr sz="15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" sz="1500" u="none" cap="none" strike="noStrike">
                          <a:solidFill>
                            <a:schemeClr val="dk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&lt;div&gt;, &lt;p&gt;, &lt;h1&gt;..&lt;h6&gt;, &lt;ul&gt;, &lt;ol&gt;, &lt;li&gt;, &lt;table&gt;, &lt;form&gt;, etc.</a:t>
                      </a:r>
                      <a:endParaRPr sz="1500" u="none" cap="none" strike="noStrike">
                        <a:solidFill>
                          <a:schemeClr val="dk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685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775" y="2232275"/>
            <a:ext cx="7161449" cy="213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 txBox="1"/>
          <p:nvPr>
            <p:ph type="title"/>
          </p:nvPr>
        </p:nvSpPr>
        <p:spPr>
          <a:xfrm>
            <a:off x="311700" y="-12175"/>
            <a:ext cx="774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"/>
              <a:t>Elementos block (en bloque) e inline (en línea)</a:t>
            </a:r>
            <a:endParaRPr/>
          </a:p>
        </p:txBody>
      </p:sp>
      <p:pic>
        <p:nvPicPr>
          <p:cNvPr id="301" name="Google Shape;3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8725" y="1357850"/>
            <a:ext cx="4163376" cy="2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 txBox="1"/>
          <p:nvPr>
            <p:ph type="ctrTitle"/>
          </p:nvPr>
        </p:nvSpPr>
        <p:spPr>
          <a:xfrm>
            <a:off x="311700" y="1226800"/>
            <a:ext cx="852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Material extra</a:t>
            </a:r>
            <a:endParaRPr/>
          </a:p>
        </p:txBody>
      </p:sp>
      <p:sp>
        <p:nvSpPr>
          <p:cNvPr id="307" name="Google Shape;3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 txBox="1"/>
          <p:nvPr>
            <p:ph type="title"/>
          </p:nvPr>
        </p:nvSpPr>
        <p:spPr>
          <a:xfrm>
            <a:off x="320400" y="597300"/>
            <a:ext cx="850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Formatos de texto</a:t>
            </a:r>
            <a:endParaRPr/>
          </a:p>
        </p:txBody>
      </p:sp>
      <p:sp>
        <p:nvSpPr>
          <p:cNvPr id="313" name="Google Shape;313;p22"/>
          <p:cNvSpPr txBox="1"/>
          <p:nvPr>
            <p:ph idx="1" type="body"/>
          </p:nvPr>
        </p:nvSpPr>
        <p:spPr>
          <a:xfrm>
            <a:off x="432025" y="1152475"/>
            <a:ext cx="8280000" cy="26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Afectan al texto que se muestra en el documento.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Han sido </a:t>
            </a:r>
            <a:r>
              <a:rPr b="1" lang="es"/>
              <a:t>sustituidos en buena parte por CSS</a:t>
            </a:r>
            <a:r>
              <a:rPr lang="es"/>
              <a:t>, pero su conocimiento nos permite modificar aspectos concretos de la fuente (estilo, índices y subíndices) sin tener la necesidad de definir un estilo específicamente para modificar solo un atributo (ejemplo: texto en negrita).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b="1" lang="es"/>
              <a:t>&lt;b&gt; vs &lt;strong&gt;</a:t>
            </a:r>
            <a:endParaRPr b="1"/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Mismo efecto visual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&lt;b&gt; </a:t>
            </a:r>
            <a:r>
              <a:rPr lang="es"/>
              <a:t>indica negrita y </a:t>
            </a:r>
            <a:r>
              <a:rPr b="1" lang="es"/>
              <a:t>&lt;strong&gt;</a:t>
            </a:r>
            <a:r>
              <a:rPr lang="es"/>
              <a:t> indica que se debe resaltar fuertemente el texto (cada navegador lo resalta como desea).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42857"/>
              <a:buNone/>
            </a:pPr>
            <a:r>
              <a:rPr lang="es">
                <a:solidFill>
                  <a:schemeClr val="accent5"/>
                </a:solidFill>
              </a:rPr>
              <a:t>El formato lo define el navegador a su criterio, por eso podemos encontrarnos con presentaciones levemente diferentes entre navegadores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314" name="Google Shape;3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3275" y="3928075"/>
            <a:ext cx="6205950" cy="6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/>
          <p:nvPr/>
        </p:nvSpPr>
        <p:spPr>
          <a:xfrm>
            <a:off x="474900" y="4059825"/>
            <a:ext cx="202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Etiquetas anidadas</a:t>
            </a:r>
            <a:r>
              <a:rPr b="0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Etiquetas básicas (formatos de texto)</a:t>
            </a:r>
            <a:endParaRPr/>
          </a:p>
        </p:txBody>
      </p:sp>
      <p:pic>
        <p:nvPicPr>
          <p:cNvPr id="321" name="Google Shape;3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6922" y="1312288"/>
            <a:ext cx="2620153" cy="274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00" y="1348313"/>
            <a:ext cx="5000650" cy="266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2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Jsbin y Codepen</a:t>
            </a:r>
            <a:endParaRPr/>
          </a:p>
        </p:txBody>
      </p:sp>
      <p:sp>
        <p:nvSpPr>
          <p:cNvPr id="329" name="Google Shape;329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Son herramientas para probar HTML, CSS y JS.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https://jsbin.com/?html,output</a:t>
            </a:r>
            <a:r>
              <a:rPr lang="es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https://codepen.io/</a:t>
            </a:r>
            <a:r>
              <a:rPr lang="es"/>
              <a:t> </a:t>
            </a:r>
            <a:endParaRPr/>
          </a:p>
        </p:txBody>
      </p:sp>
      <p:pic>
        <p:nvPicPr>
          <p:cNvPr id="330" name="Google Shape;33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8664" y="1170000"/>
            <a:ext cx="3827368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7950" y="2211742"/>
            <a:ext cx="508800" cy="7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5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w3schools</a:t>
            </a:r>
            <a:endParaRPr/>
          </a:p>
        </p:txBody>
      </p:sp>
      <p:sp>
        <p:nvSpPr>
          <p:cNvPr id="337" name="Google Shape;337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Es un sitio web para aprender tecnologías web en línea. Contiene tutoriales de HTML, CSS, JavaScript, SQL, PHP, XML y otras tecnologías.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https://www.w3schools.com/</a:t>
            </a:r>
            <a:r>
              <a:rPr lang="es"/>
              <a:t> </a:t>
            </a:r>
            <a:endParaRPr/>
          </a:p>
        </p:txBody>
      </p:sp>
      <p:sp>
        <p:nvSpPr>
          <p:cNvPr id="338" name="Google Shape;338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339" name="Google Shape;3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2401" y="1152476"/>
            <a:ext cx="3999899" cy="61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Mozilla Developer Network (MDN)</a:t>
            </a:r>
            <a:endParaRPr/>
          </a:p>
        </p:txBody>
      </p:sp>
      <p:sp>
        <p:nvSpPr>
          <p:cNvPr id="345" name="Google Shape;345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"/>
              <a:t>Si eres desarrollador, encontrarás todo lo que necesitas en Mozilla Developer Network (MDN). MDN ofrece documentación, demos y un foro de preguntas y respuestas donde puedes hacer preguntas e interactuar con otros desarrolladores.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https://developer.mozilla.org/en-US/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"/>
              <a:t>Estos son algunos de los temas que encontrarás en MDN: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HTML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CSS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JavaScript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APIs orientadas a la web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APIs / DOM</a:t>
            </a:r>
            <a:endParaRPr/>
          </a:p>
        </p:txBody>
      </p:sp>
      <p:sp>
        <p:nvSpPr>
          <p:cNvPr id="346" name="Google Shape;346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347" name="Google Shape;34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2400" y="1152476"/>
            <a:ext cx="3999902" cy="198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/>
          <p:nvPr>
            <p:ph type="title"/>
          </p:nvPr>
        </p:nvSpPr>
        <p:spPr>
          <a:xfrm>
            <a:off x="432025" y="187325"/>
            <a:ext cx="7982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Tarea para el Proyecto:</a:t>
            </a:r>
            <a:endParaRPr/>
          </a:p>
        </p:txBody>
      </p:sp>
      <p:sp>
        <p:nvSpPr>
          <p:cNvPr id="353" name="Google Shape;353;p27"/>
          <p:cNvSpPr txBox="1"/>
          <p:nvPr>
            <p:ph idx="1" type="body"/>
          </p:nvPr>
        </p:nvSpPr>
        <p:spPr>
          <a:xfrm>
            <a:off x="432025" y="847675"/>
            <a:ext cx="8280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Continuar con la formación de los grupos/equipos de 3 personas.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estudiantes deberán armar una única planilla por comisión para comenzar a anotarse. Luego lo informarán a través de un formulario de Google.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Comenzar a diagramar los layouts/estructura de cada página del sitio web.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/>
              <a:t>No te olvides de dar el presente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/>
              <a:t>Recordá: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Revisar la Cartelera de Novedades.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Hacer tus consultas en el Foro.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 SemiBold"/>
              <a:buChar char="●"/>
            </a:pPr>
            <a:r>
              <a:rPr b="0" lang="es" sz="3200">
                <a:latin typeface="Montserrat SemiBold"/>
                <a:ea typeface="Montserrat SemiBold"/>
                <a:cs typeface="Montserrat SemiBold"/>
                <a:sym typeface="Montserrat SemiBold"/>
              </a:rPr>
              <a:t>Realizar los Ejercicios obligatorios.</a:t>
            </a:r>
            <a:endParaRPr b="0" sz="32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s" sz="3200"/>
              <a:t>Todo en el Aula Virtual.</a:t>
            </a:r>
            <a:endParaRPr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"/>
          <p:cNvSpPr txBox="1"/>
          <p:nvPr>
            <p:ph type="title"/>
          </p:nvPr>
        </p:nvSpPr>
        <p:spPr>
          <a:xfrm>
            <a:off x="490250" y="1135950"/>
            <a:ext cx="8097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Muchas gracias por tu atención.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700"/>
              <a:buNone/>
            </a:pPr>
            <a:r>
              <a:rPr lang="es"/>
              <a:t>Nos vemos pronto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