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5143500" cx="9144000"/>
  <p:notesSz cx="6858000" cy="9144000"/>
  <p:embeddedFontLst>
    <p:embeddedFont>
      <p:font typeface="Montserrat SemiBold"/>
      <p:regular r:id="rId42"/>
      <p:bold r:id="rId43"/>
      <p:italic r:id="rId44"/>
      <p:boldItalic r:id="rId45"/>
    </p:embeddedFont>
    <p:embeddedFont>
      <p:font typeface="Montserrat"/>
      <p:regular r:id="rId46"/>
      <p:bold r:id="rId47"/>
      <p:italic r:id="rId48"/>
      <p:boldItalic r:id="rId49"/>
    </p:embeddedFont>
    <p:embeddedFont>
      <p:font typeface="Montserrat Medium"/>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37">
          <p15:clr>
            <a:srgbClr val="A4A3A4"/>
          </p15:clr>
        </p15:guide>
        <p15:guide id="2" pos="2880">
          <p15:clr>
            <a:srgbClr val="A4A3A4"/>
          </p15:clr>
        </p15:guide>
      </p15:sldGuideLst>
    </p:ext>
    <p:ext uri="http://customooxmlschemas.google.com/">
      <go:slidesCustomData xmlns:go="http://customooxmlschemas.google.com/" r:id="rId54" roundtripDataSignature="AMtx7mgnSCbWgrYQE9Bh96Ftlxio4O0V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37"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font" Target="fonts/MontserratSemiBold-regular.fntdata"/><Relationship Id="rId41" Type="http://schemas.openxmlformats.org/officeDocument/2006/relationships/slide" Target="slides/slide36.xml"/><Relationship Id="rId44" Type="http://schemas.openxmlformats.org/officeDocument/2006/relationships/font" Target="fonts/MontserratSemiBold-italic.fntdata"/><Relationship Id="rId43" Type="http://schemas.openxmlformats.org/officeDocument/2006/relationships/font" Target="fonts/MontserratSemiBold-bold.fntdata"/><Relationship Id="rId46" Type="http://schemas.openxmlformats.org/officeDocument/2006/relationships/font" Target="fonts/Montserrat-regular.fntdata"/><Relationship Id="rId45" Type="http://schemas.openxmlformats.org/officeDocument/2006/relationships/font" Target="fonts/MontserratSemiBold-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Montserrat-italic.fntdata"/><Relationship Id="rId47" Type="http://schemas.openxmlformats.org/officeDocument/2006/relationships/font" Target="fonts/Montserrat-bold.fntdata"/><Relationship Id="rId49" Type="http://schemas.openxmlformats.org/officeDocument/2006/relationships/font" Target="fonts/Montserrat-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MontserratMedium-bold.fntdata"/><Relationship Id="rId50" Type="http://schemas.openxmlformats.org/officeDocument/2006/relationships/font" Target="fonts/MontserratMedium-regular.fntdata"/><Relationship Id="rId53" Type="http://schemas.openxmlformats.org/officeDocument/2006/relationships/font" Target="fonts/MontserratMedium-boldItalic.fntdata"/><Relationship Id="rId52" Type="http://schemas.openxmlformats.org/officeDocument/2006/relationships/font" Target="fonts/MontserratMedium-italic.fntdata"/><Relationship Id="rId11" Type="http://schemas.openxmlformats.org/officeDocument/2006/relationships/slide" Target="slides/slide6.xml"/><Relationship Id="rId10" Type="http://schemas.openxmlformats.org/officeDocument/2006/relationships/slide" Target="slides/slide5.xml"/><Relationship Id="rId54"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2" name="Google Shape;28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3" name="Google Shape;30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3" name="Google Shape;31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1" name="Google Shape;321;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0" name="Google Shape;330;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1" name="Google Shape;341;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1" name="Google Shape;351;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5" name="Google Shape;365;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8" name="Google Shape;378;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4" name="Google Shape;384;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3" name="Google Shape;393;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5" name="Google Shape;405;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4" name="Google Shape;414;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4" name="Google Shape;424;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2" name="Google Shape;432;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0" name="Google Shape;440;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6" name="Google Shape;446;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2" name="Google Shape;452;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7" name="Google Shape;457;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png"/><Relationship Id="rId4"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png"/><Relationship Id="rId4"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pn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7.png"/><Relationship Id="rId5" Type="http://schemas.openxmlformats.org/officeDocument/2006/relationships/image" Target="../media/image5.png"/><Relationship Id="rId6"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9.png"/><Relationship Id="rId4"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 name="Shape 9"/>
        <p:cNvGrpSpPr/>
        <p:nvPr/>
      </p:nvGrpSpPr>
      <p:grpSpPr>
        <a:xfrm>
          <a:off x="0" y="0"/>
          <a:ext cx="0" cy="0"/>
          <a:chOff x="0" y="0"/>
          <a:chExt cx="0" cy="0"/>
        </a:xfrm>
      </p:grpSpPr>
      <p:sp>
        <p:nvSpPr>
          <p:cNvPr id="10" name="Google Shape;10;p38"/>
          <p:cNvSpPr txBox="1"/>
          <p:nvPr>
            <p:ph type="title"/>
          </p:nvPr>
        </p:nvSpPr>
        <p:spPr>
          <a:xfrm>
            <a:off x="3335100" y="1617575"/>
            <a:ext cx="5497200" cy="13752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700"/>
              <a:buFont typeface="Montserrat"/>
              <a:buNone/>
              <a:defRPr b="1" sz="3700">
                <a:latin typeface="Montserrat"/>
                <a:ea typeface="Montserrat"/>
                <a:cs typeface="Montserrat"/>
                <a:sym typeface="Montserrat"/>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pic>
        <p:nvPicPr>
          <p:cNvPr id="11" name="Google Shape;11;p38"/>
          <p:cNvPicPr preferRelativeResize="0"/>
          <p:nvPr/>
        </p:nvPicPr>
        <p:blipFill rotWithShape="1">
          <a:blip r:embed="rId2">
            <a:alphaModFix/>
          </a:blip>
          <a:srcRect b="0" l="0" r="0" t="0"/>
          <a:stretch/>
        </p:blipFill>
        <p:spPr>
          <a:xfrm>
            <a:off x="0" y="1290050"/>
            <a:ext cx="3040999" cy="2072300"/>
          </a:xfrm>
          <a:prstGeom prst="rect">
            <a:avLst/>
          </a:prstGeom>
          <a:noFill/>
          <a:ln>
            <a:noFill/>
          </a:ln>
        </p:spPr>
      </p:pic>
      <p:pic>
        <p:nvPicPr>
          <p:cNvPr id="12" name="Google Shape;12;p38"/>
          <p:cNvPicPr preferRelativeResize="0"/>
          <p:nvPr/>
        </p:nvPicPr>
        <p:blipFill rotWithShape="1">
          <a:blip r:embed="rId3">
            <a:alphaModFix/>
          </a:blip>
          <a:srcRect b="0" l="0" r="0" t="0"/>
          <a:stretch/>
        </p:blipFill>
        <p:spPr>
          <a:xfrm>
            <a:off x="8222877" y="4573625"/>
            <a:ext cx="741498" cy="399274"/>
          </a:xfrm>
          <a:prstGeom prst="rect">
            <a:avLst/>
          </a:prstGeom>
          <a:noFill/>
          <a:ln>
            <a:noFill/>
          </a:ln>
        </p:spPr>
      </p:pic>
      <p:sp>
        <p:nvSpPr>
          <p:cNvPr id="13" name="Google Shape;13;p38"/>
          <p:cNvSpPr txBox="1"/>
          <p:nvPr/>
        </p:nvSpPr>
        <p:spPr>
          <a:xfrm>
            <a:off x="3326000" y="3062475"/>
            <a:ext cx="5534400" cy="4002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Medium"/>
              <a:ea typeface="Montserrat Medium"/>
              <a:cs typeface="Montserrat Medium"/>
              <a:sym typeface="Montserrat Medium"/>
            </a:endParaRPr>
          </a:p>
        </p:txBody>
      </p:sp>
      <p:sp>
        <p:nvSpPr>
          <p:cNvPr id="14" name="Google Shape;14;p38"/>
          <p:cNvSpPr txBox="1"/>
          <p:nvPr>
            <p:ph idx="1" type="subTitle"/>
          </p:nvPr>
        </p:nvSpPr>
        <p:spPr>
          <a:xfrm>
            <a:off x="3335025" y="2986525"/>
            <a:ext cx="55344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5" name="Google Shape;15;p38"/>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 name="Google Shape;16;p38"/>
          <p:cNvPicPr preferRelativeResize="0"/>
          <p:nvPr/>
        </p:nvPicPr>
        <p:blipFill rotWithShape="1">
          <a:blip r:embed="rId4">
            <a:alphaModFix/>
          </a:blip>
          <a:srcRect b="0" l="0" r="0" t="0"/>
          <a:stretch/>
        </p:blipFill>
        <p:spPr>
          <a:xfrm>
            <a:off x="8155184" y="33947"/>
            <a:ext cx="876879" cy="3992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con título y subtítulo" type="title">
  <p:cSld name="TITLE">
    <p:spTree>
      <p:nvGrpSpPr>
        <p:cNvPr id="17" name="Shape 17"/>
        <p:cNvGrpSpPr/>
        <p:nvPr/>
      </p:nvGrpSpPr>
      <p:grpSpPr>
        <a:xfrm>
          <a:off x="0" y="0"/>
          <a:ext cx="0" cy="0"/>
          <a:chOff x="0" y="0"/>
          <a:chExt cx="0" cy="0"/>
        </a:xfrm>
      </p:grpSpPr>
      <p:sp>
        <p:nvSpPr>
          <p:cNvPr id="18" name="Google Shape;18;p39"/>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39"/>
          <p:cNvSpPr txBox="1"/>
          <p:nvPr>
            <p:ph type="ctrTitle"/>
          </p:nvPr>
        </p:nvSpPr>
        <p:spPr>
          <a:xfrm>
            <a:off x="311700" y="1226800"/>
            <a:ext cx="8520600" cy="1570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rgbClr val="333333"/>
              </a:buClr>
              <a:buSzPts val="4900"/>
              <a:buFont typeface="Montserrat"/>
              <a:buNone/>
              <a:defRPr b="1" sz="49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0" name="Google Shape;20;p3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21" name="Google Shape;21;p39"/>
          <p:cNvPicPr preferRelativeResize="0"/>
          <p:nvPr/>
        </p:nvPicPr>
        <p:blipFill rotWithShape="1">
          <a:blip r:embed="rId2">
            <a:alphaModFix/>
          </a:blip>
          <a:srcRect b="0" l="0" r="0" t="0"/>
          <a:stretch/>
        </p:blipFill>
        <p:spPr>
          <a:xfrm>
            <a:off x="7910675" y="4073939"/>
            <a:ext cx="1365875" cy="1365875"/>
          </a:xfrm>
          <a:prstGeom prst="rect">
            <a:avLst/>
          </a:prstGeom>
          <a:noFill/>
          <a:ln>
            <a:noFill/>
          </a:ln>
        </p:spPr>
      </p:pic>
      <p:sp>
        <p:nvSpPr>
          <p:cNvPr id="22" name="Google Shape;22;p39"/>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 name="Google Shape;23;p39"/>
          <p:cNvPicPr preferRelativeResize="0"/>
          <p:nvPr/>
        </p:nvPicPr>
        <p:blipFill rotWithShape="1">
          <a:blip r:embed="rId3">
            <a:alphaModFix/>
          </a:blip>
          <a:srcRect b="0" l="0" r="0" t="0"/>
          <a:stretch/>
        </p:blipFill>
        <p:spPr>
          <a:xfrm>
            <a:off x="8155184" y="33947"/>
            <a:ext cx="876879" cy="399275"/>
          </a:xfrm>
          <a:prstGeom prst="rect">
            <a:avLst/>
          </a:prstGeom>
          <a:noFill/>
          <a:ln>
            <a:noFill/>
          </a:ln>
        </p:spPr>
      </p:pic>
      <p:pic>
        <p:nvPicPr>
          <p:cNvPr id="24" name="Google Shape;24;p39"/>
          <p:cNvPicPr preferRelativeResize="0"/>
          <p:nvPr/>
        </p:nvPicPr>
        <p:blipFill rotWithShape="1">
          <a:blip r:embed="rId4">
            <a:alphaModFix/>
          </a:blip>
          <a:srcRect b="0" l="0" r="0" t="0"/>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2 - 37">
  <p:cSld name="BLANK_1_1">
    <p:spTree>
      <p:nvGrpSpPr>
        <p:cNvPr id="25" name="Shape 25"/>
        <p:cNvGrpSpPr/>
        <p:nvPr/>
      </p:nvGrpSpPr>
      <p:grpSpPr>
        <a:xfrm>
          <a:off x="0" y="0"/>
          <a:ext cx="0" cy="0"/>
          <a:chOff x="0" y="0"/>
          <a:chExt cx="0" cy="0"/>
        </a:xfrm>
      </p:grpSpPr>
      <p:sp>
        <p:nvSpPr>
          <p:cNvPr id="26" name="Google Shape;26;p40"/>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27" name="Google Shape;27;p40"/>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40"/>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40"/>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40"/>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31" name="Google Shape;31;p40"/>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32" name="Google Shape;32;p40"/>
          <p:cNvSpPr txBox="1"/>
          <p:nvPr>
            <p:ph type="title"/>
          </p:nvPr>
        </p:nvSpPr>
        <p:spPr>
          <a:xfrm>
            <a:off x="1271800" y="115937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33" name="Google Shape;33;p40"/>
          <p:cNvSpPr txBox="1"/>
          <p:nvPr>
            <p:ph idx="2" type="title"/>
          </p:nvPr>
        </p:nvSpPr>
        <p:spPr>
          <a:xfrm>
            <a:off x="3938175" y="1159375"/>
            <a:ext cx="109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400"/>
              <a:buFont typeface="Montserrat"/>
              <a:buNone/>
              <a:defRPr b="1" sz="1400">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34" name="Google Shape;34;p40"/>
          <p:cNvSpPr txBox="1"/>
          <p:nvPr>
            <p:ph idx="3" type="title"/>
          </p:nvPr>
        </p:nvSpPr>
        <p:spPr>
          <a:xfrm>
            <a:off x="6877450" y="1159388"/>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35" name="Google Shape;35;p40"/>
          <p:cNvSpPr txBox="1"/>
          <p:nvPr>
            <p:ph idx="4" type="title"/>
          </p:nvPr>
        </p:nvSpPr>
        <p:spPr>
          <a:xfrm>
            <a:off x="532575" y="2150850"/>
            <a:ext cx="2397900" cy="2112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6" name="Google Shape;36;p40"/>
          <p:cNvSpPr txBox="1"/>
          <p:nvPr>
            <p:ph idx="5" type="title"/>
          </p:nvPr>
        </p:nvSpPr>
        <p:spPr>
          <a:xfrm>
            <a:off x="6130475" y="2159925"/>
            <a:ext cx="2397900" cy="2112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7" name="Google Shape;37;p40"/>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8" name="Google Shape;38;p40"/>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39" name="Google Shape;39;p40"/>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sp>
        <p:nvSpPr>
          <p:cNvPr id="40" name="Google Shape;40;p40"/>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41" name="Google Shape;41;p40"/>
          <p:cNvSpPr txBox="1"/>
          <p:nvPr>
            <p:ph idx="6" type="title"/>
          </p:nvPr>
        </p:nvSpPr>
        <p:spPr>
          <a:xfrm>
            <a:off x="3331525" y="2159925"/>
            <a:ext cx="2397900" cy="2121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42" name="Google Shape;42;p40"/>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epto destacado y explicación">
  <p:cSld name="TITLE_1">
    <p:spTree>
      <p:nvGrpSpPr>
        <p:cNvPr id="43" name="Shape 43"/>
        <p:cNvGrpSpPr/>
        <p:nvPr/>
      </p:nvGrpSpPr>
      <p:grpSpPr>
        <a:xfrm>
          <a:off x="0" y="0"/>
          <a:ext cx="0" cy="0"/>
          <a:chOff x="0" y="0"/>
          <a:chExt cx="0" cy="0"/>
        </a:xfrm>
      </p:grpSpPr>
      <p:sp>
        <p:nvSpPr>
          <p:cNvPr id="44" name="Google Shape;44;p41"/>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41"/>
          <p:cNvSpPr txBox="1"/>
          <p:nvPr>
            <p:ph type="ctrTitle"/>
          </p:nvPr>
        </p:nvSpPr>
        <p:spPr>
          <a:xfrm>
            <a:off x="550375" y="7600"/>
            <a:ext cx="8043300" cy="1570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4000"/>
              <a:buFont typeface="Montserrat"/>
              <a:buNone/>
              <a:defRPr b="1" sz="4000">
                <a:solidFill>
                  <a:schemeClr val="lt1"/>
                </a:solidFill>
                <a:latin typeface="Montserrat"/>
                <a:ea typeface="Montserrat"/>
                <a:cs typeface="Montserrat"/>
                <a:sym typeface="Montserrat"/>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46" name="Google Shape;46;p41"/>
          <p:cNvSpPr txBox="1"/>
          <p:nvPr>
            <p:ph idx="1" type="subTitle"/>
          </p:nvPr>
        </p:nvSpPr>
        <p:spPr>
          <a:xfrm>
            <a:off x="550375" y="1614925"/>
            <a:ext cx="8043300" cy="264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700"/>
              <a:buFont typeface="Montserrat Medium"/>
              <a:buNone/>
              <a:defRPr sz="17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47" name="Google Shape;47;p41"/>
          <p:cNvPicPr preferRelativeResize="0"/>
          <p:nvPr/>
        </p:nvPicPr>
        <p:blipFill rotWithShape="1">
          <a:blip r:embed="rId2">
            <a:alphaModFix/>
          </a:blip>
          <a:srcRect b="0" l="0" r="0" t="0"/>
          <a:stretch/>
        </p:blipFill>
        <p:spPr>
          <a:xfrm>
            <a:off x="7910675" y="4073939"/>
            <a:ext cx="1365875" cy="1365875"/>
          </a:xfrm>
          <a:prstGeom prst="rect">
            <a:avLst/>
          </a:prstGeom>
          <a:noFill/>
          <a:ln>
            <a:noFill/>
          </a:ln>
        </p:spPr>
      </p:pic>
      <p:pic>
        <p:nvPicPr>
          <p:cNvPr id="48" name="Google Shape;48;p41"/>
          <p:cNvPicPr preferRelativeResize="0"/>
          <p:nvPr/>
        </p:nvPicPr>
        <p:blipFill rotWithShape="1">
          <a:blip r:embed="rId3">
            <a:alphaModFix/>
          </a:blip>
          <a:srcRect b="0" l="0" r="0" t="0"/>
          <a:stretch/>
        </p:blipFill>
        <p:spPr>
          <a:xfrm>
            <a:off x="8155184" y="33947"/>
            <a:ext cx="876879" cy="399275"/>
          </a:xfrm>
          <a:prstGeom prst="rect">
            <a:avLst/>
          </a:prstGeom>
          <a:noFill/>
          <a:ln>
            <a:noFill/>
          </a:ln>
        </p:spPr>
      </p:pic>
      <p:pic>
        <p:nvPicPr>
          <p:cNvPr id="49" name="Google Shape;49;p41"/>
          <p:cNvPicPr preferRelativeResize="0"/>
          <p:nvPr/>
        </p:nvPicPr>
        <p:blipFill rotWithShape="1">
          <a:blip r:embed="rId4">
            <a:alphaModFix/>
          </a:blip>
          <a:srcRect b="0" l="0" r="0" t="0"/>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0" name="Shape 50"/>
        <p:cNvGrpSpPr/>
        <p:nvPr/>
      </p:nvGrpSpPr>
      <p:grpSpPr>
        <a:xfrm>
          <a:off x="0" y="0"/>
          <a:ext cx="0" cy="0"/>
          <a:chOff x="0" y="0"/>
          <a:chExt cx="0" cy="0"/>
        </a:xfrm>
      </p:grpSpPr>
      <p:sp>
        <p:nvSpPr>
          <p:cNvPr id="51" name="Google Shape;51;p42"/>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700"/>
              <a:buFont typeface="Montserrat Medium"/>
              <a:buNone/>
              <a:defRPr sz="2700">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2" name="Google Shape;52;p42"/>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Font typeface="Montserrat"/>
              <a:buChar char="●"/>
              <a:defRPr>
                <a:latin typeface="Montserrat"/>
                <a:ea typeface="Montserrat"/>
                <a:cs typeface="Montserrat"/>
                <a:sym typeface="Montserrat"/>
              </a:defRPr>
            </a:lvl1pPr>
            <a:lvl2pPr indent="-317500" lvl="1" marL="914400" algn="l">
              <a:lnSpc>
                <a:spcPct val="115000"/>
              </a:lnSpc>
              <a:spcBef>
                <a:spcPts val="0"/>
              </a:spcBef>
              <a:spcAft>
                <a:spcPts val="0"/>
              </a:spcAft>
              <a:buSzPts val="1400"/>
              <a:buFont typeface="Montserrat"/>
              <a:buChar char="○"/>
              <a:defRPr>
                <a:latin typeface="Montserrat"/>
                <a:ea typeface="Montserrat"/>
                <a:cs typeface="Montserrat"/>
                <a:sym typeface="Montserrat"/>
              </a:defRPr>
            </a:lvl2pPr>
            <a:lvl3pPr indent="-317500" lvl="2" marL="1371600" algn="l">
              <a:lnSpc>
                <a:spcPct val="115000"/>
              </a:lnSpc>
              <a:spcBef>
                <a:spcPts val="0"/>
              </a:spcBef>
              <a:spcAft>
                <a:spcPts val="0"/>
              </a:spcAft>
              <a:buSzPts val="1400"/>
              <a:buFont typeface="Montserrat"/>
              <a:buChar char="■"/>
              <a:defRPr>
                <a:latin typeface="Montserrat"/>
                <a:ea typeface="Montserrat"/>
                <a:cs typeface="Montserrat"/>
                <a:sym typeface="Montserrat"/>
              </a:defRPr>
            </a:lvl3pPr>
            <a:lvl4pPr indent="-317500" lvl="3" marL="1828800" algn="l">
              <a:lnSpc>
                <a:spcPct val="115000"/>
              </a:lnSpc>
              <a:spcBef>
                <a:spcPts val="0"/>
              </a:spcBef>
              <a:spcAft>
                <a:spcPts val="0"/>
              </a:spcAft>
              <a:buSzPts val="1400"/>
              <a:buFont typeface="Montserrat"/>
              <a:buChar char="●"/>
              <a:defRPr>
                <a:latin typeface="Montserrat"/>
                <a:ea typeface="Montserrat"/>
                <a:cs typeface="Montserrat"/>
                <a:sym typeface="Montserrat"/>
              </a:defRPr>
            </a:lvl4pPr>
            <a:lvl5pPr indent="-317500" lvl="4" marL="2286000" algn="l">
              <a:lnSpc>
                <a:spcPct val="115000"/>
              </a:lnSpc>
              <a:spcBef>
                <a:spcPts val="0"/>
              </a:spcBef>
              <a:spcAft>
                <a:spcPts val="0"/>
              </a:spcAft>
              <a:buSzPts val="1400"/>
              <a:buFont typeface="Montserrat"/>
              <a:buChar char="○"/>
              <a:defRPr>
                <a:latin typeface="Montserrat"/>
                <a:ea typeface="Montserrat"/>
                <a:cs typeface="Montserrat"/>
                <a:sym typeface="Montserrat"/>
              </a:defRPr>
            </a:lvl5pPr>
            <a:lvl6pPr indent="-317500" lvl="5" marL="2743200" algn="l">
              <a:lnSpc>
                <a:spcPct val="115000"/>
              </a:lnSpc>
              <a:spcBef>
                <a:spcPts val="0"/>
              </a:spcBef>
              <a:spcAft>
                <a:spcPts val="0"/>
              </a:spcAft>
              <a:buSzPts val="1400"/>
              <a:buFont typeface="Montserrat"/>
              <a:buChar char="■"/>
              <a:defRPr>
                <a:latin typeface="Montserrat"/>
                <a:ea typeface="Montserrat"/>
                <a:cs typeface="Montserrat"/>
                <a:sym typeface="Montserrat"/>
              </a:defRPr>
            </a:lvl6pPr>
            <a:lvl7pPr indent="-317500" lvl="6" marL="3200400" algn="l">
              <a:lnSpc>
                <a:spcPct val="115000"/>
              </a:lnSpc>
              <a:spcBef>
                <a:spcPts val="0"/>
              </a:spcBef>
              <a:spcAft>
                <a:spcPts val="0"/>
              </a:spcAft>
              <a:buSzPts val="1400"/>
              <a:buFont typeface="Montserrat"/>
              <a:buChar char="●"/>
              <a:defRPr>
                <a:latin typeface="Montserrat"/>
                <a:ea typeface="Montserrat"/>
                <a:cs typeface="Montserrat"/>
                <a:sym typeface="Montserrat"/>
              </a:defRPr>
            </a:lvl7pPr>
            <a:lvl8pPr indent="-317500" lvl="7" marL="3657600" algn="l">
              <a:lnSpc>
                <a:spcPct val="115000"/>
              </a:lnSpc>
              <a:spcBef>
                <a:spcPts val="0"/>
              </a:spcBef>
              <a:spcAft>
                <a:spcPts val="0"/>
              </a:spcAft>
              <a:buSzPts val="1400"/>
              <a:buFont typeface="Montserrat"/>
              <a:buChar char="○"/>
              <a:defRPr>
                <a:latin typeface="Montserrat"/>
                <a:ea typeface="Montserrat"/>
                <a:cs typeface="Montserrat"/>
                <a:sym typeface="Montserrat"/>
              </a:defRPr>
            </a:lvl8pPr>
            <a:lvl9pPr indent="-317500" lvl="8" marL="4114800" algn="l">
              <a:lnSpc>
                <a:spcPct val="115000"/>
              </a:lnSpc>
              <a:spcBef>
                <a:spcPts val="0"/>
              </a:spcBef>
              <a:spcAft>
                <a:spcPts val="0"/>
              </a:spcAft>
              <a:buSzPts val="1400"/>
              <a:buFont typeface="Montserrat"/>
              <a:buChar char="■"/>
              <a:defRPr>
                <a:latin typeface="Montserrat"/>
                <a:ea typeface="Montserrat"/>
                <a:cs typeface="Montserrat"/>
                <a:sym typeface="Montserrat"/>
              </a:defRPr>
            </a:lvl9pPr>
          </a:lstStyle>
          <a:p/>
        </p:txBody>
      </p:sp>
      <p:pic>
        <p:nvPicPr>
          <p:cNvPr id="53" name="Google Shape;53;p42"/>
          <p:cNvPicPr preferRelativeResize="0"/>
          <p:nvPr/>
        </p:nvPicPr>
        <p:blipFill rotWithShape="1">
          <a:blip r:embed="rId2">
            <a:alphaModFix/>
          </a:blip>
          <a:srcRect b="0" l="0" r="0" t="0"/>
          <a:stretch/>
        </p:blipFill>
        <p:spPr>
          <a:xfrm>
            <a:off x="8078975" y="4699100"/>
            <a:ext cx="558475" cy="300725"/>
          </a:xfrm>
          <a:prstGeom prst="rect">
            <a:avLst/>
          </a:prstGeom>
          <a:noFill/>
          <a:ln>
            <a:noFill/>
          </a:ln>
        </p:spPr>
      </p:pic>
      <p:sp>
        <p:nvSpPr>
          <p:cNvPr id="54" name="Google Shape;54;p42"/>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5" name="Google Shape;55;p42"/>
          <p:cNvPicPr preferRelativeResize="0"/>
          <p:nvPr/>
        </p:nvPicPr>
        <p:blipFill rotWithShape="1">
          <a:blip r:embed="rId3">
            <a:alphaModFix/>
          </a:blip>
          <a:srcRect b="0" l="0" r="0" t="0"/>
          <a:stretch/>
        </p:blipFill>
        <p:spPr>
          <a:xfrm>
            <a:off x="8155184" y="33947"/>
            <a:ext cx="876879" cy="399275"/>
          </a:xfrm>
          <a:prstGeom prst="rect">
            <a:avLst/>
          </a:prstGeom>
          <a:noFill/>
          <a:ln>
            <a:noFill/>
          </a:ln>
        </p:spPr>
      </p:pic>
      <p:pic>
        <p:nvPicPr>
          <p:cNvPr id="56" name="Google Shape;56;p42"/>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88">
          <p15:clr>
            <a:srgbClr val="FA7B17"/>
          </p15:clr>
        </p15:guide>
        <p15:guide id="3" orient="horz" pos="2960">
          <p15:clr>
            <a:srgbClr val="FA7B17"/>
          </p15:clr>
        </p15:guide>
        <p15:guide id="4" orient="horz" pos="3149">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portante o recordatorio" type="blank">
  <p:cSld name="BLANK">
    <p:spTree>
      <p:nvGrpSpPr>
        <p:cNvPr id="57" name="Shape 57"/>
        <p:cNvGrpSpPr/>
        <p:nvPr/>
      </p:nvGrpSpPr>
      <p:grpSpPr>
        <a:xfrm>
          <a:off x="0" y="0"/>
          <a:ext cx="0" cy="0"/>
          <a:chOff x="0" y="0"/>
          <a:chExt cx="0" cy="0"/>
        </a:xfrm>
      </p:grpSpPr>
      <p:sp>
        <p:nvSpPr>
          <p:cNvPr id="58" name="Google Shape;58;p43"/>
          <p:cNvSpPr/>
          <p:nvPr/>
        </p:nvSpPr>
        <p:spPr>
          <a:xfrm>
            <a:off x="-13650" y="-577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9" name="Google Shape;59;p43"/>
          <p:cNvPicPr preferRelativeResize="0"/>
          <p:nvPr/>
        </p:nvPicPr>
        <p:blipFill rotWithShape="1">
          <a:blip r:embed="rId2">
            <a:alphaModFix/>
          </a:blip>
          <a:srcRect b="0" l="0" r="0" t="0"/>
          <a:stretch/>
        </p:blipFill>
        <p:spPr>
          <a:xfrm>
            <a:off x="7910675" y="-260761"/>
            <a:ext cx="1365875" cy="1365875"/>
          </a:xfrm>
          <a:prstGeom prst="rect">
            <a:avLst/>
          </a:prstGeom>
          <a:noFill/>
          <a:ln>
            <a:noFill/>
          </a:ln>
        </p:spPr>
      </p:pic>
      <p:pic>
        <p:nvPicPr>
          <p:cNvPr id="60" name="Google Shape;60;p43"/>
          <p:cNvPicPr preferRelativeResize="0"/>
          <p:nvPr/>
        </p:nvPicPr>
        <p:blipFill rotWithShape="1">
          <a:blip r:embed="rId3">
            <a:alphaModFix/>
          </a:blip>
          <a:srcRect b="0" l="0" r="0" t="0"/>
          <a:stretch/>
        </p:blipFill>
        <p:spPr>
          <a:xfrm>
            <a:off x="0" y="5738"/>
            <a:ext cx="1163080" cy="792599"/>
          </a:xfrm>
          <a:prstGeom prst="rect">
            <a:avLst/>
          </a:prstGeom>
          <a:noFill/>
          <a:ln>
            <a:noFill/>
          </a:ln>
        </p:spPr>
      </p:pic>
      <p:pic>
        <p:nvPicPr>
          <p:cNvPr id="61" name="Google Shape;61;p43"/>
          <p:cNvPicPr preferRelativeResize="0"/>
          <p:nvPr/>
        </p:nvPicPr>
        <p:blipFill rotWithShape="1">
          <a:blip r:embed="rId4">
            <a:alphaModFix/>
          </a:blip>
          <a:srcRect b="0" l="0" r="0" t="0"/>
          <a:stretch/>
        </p:blipFill>
        <p:spPr>
          <a:xfrm>
            <a:off x="4026135" y="164938"/>
            <a:ext cx="1091725" cy="497100"/>
          </a:xfrm>
          <a:prstGeom prst="rect">
            <a:avLst/>
          </a:prstGeom>
          <a:noFill/>
          <a:ln>
            <a:noFill/>
          </a:ln>
        </p:spPr>
      </p:pic>
      <p:sp>
        <p:nvSpPr>
          <p:cNvPr id="62" name="Google Shape;62;p43"/>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333333"/>
              </a:buClr>
              <a:buSzPts val="3700"/>
              <a:buFont typeface="Montserrat"/>
              <a:buNone/>
              <a:defRPr b="1" sz="3700">
                <a:solidFill>
                  <a:srgbClr val="333333"/>
                </a:solidFill>
                <a:latin typeface="Montserrat"/>
                <a:ea typeface="Montserrat"/>
                <a:cs typeface="Montserrat"/>
                <a:sym typeface="Montserrat"/>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3" name="Shape 63"/>
        <p:cNvGrpSpPr/>
        <p:nvPr/>
      </p:nvGrpSpPr>
      <p:grpSpPr>
        <a:xfrm>
          <a:off x="0" y="0"/>
          <a:ext cx="0" cy="0"/>
          <a:chOff x="0" y="0"/>
          <a:chExt cx="0" cy="0"/>
        </a:xfrm>
      </p:grpSpPr>
      <p:sp>
        <p:nvSpPr>
          <p:cNvPr id="64" name="Google Shape;64;p44"/>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44"/>
          <p:cNvSpPr txBox="1"/>
          <p:nvPr>
            <p:ph type="title"/>
          </p:nvPr>
        </p:nvSpPr>
        <p:spPr>
          <a:xfrm>
            <a:off x="311700" y="5974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Font typeface="Montserrat Medium"/>
              <a:buNone/>
              <a:defRPr>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6" name="Google Shape;66;p4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lgn="l">
              <a:lnSpc>
                <a:spcPct val="115000"/>
              </a:lnSpc>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lgn="l">
              <a:lnSpc>
                <a:spcPct val="115000"/>
              </a:lnSpc>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9pPr>
          </a:lstStyle>
          <a:p/>
        </p:txBody>
      </p:sp>
      <p:sp>
        <p:nvSpPr>
          <p:cNvPr id="67" name="Google Shape;67;p4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lgn="l">
              <a:lnSpc>
                <a:spcPct val="115000"/>
              </a:lnSpc>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lgn="l">
              <a:lnSpc>
                <a:spcPct val="115000"/>
              </a:lnSpc>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9pPr>
          </a:lstStyle>
          <a:p/>
        </p:txBody>
      </p:sp>
      <p:pic>
        <p:nvPicPr>
          <p:cNvPr id="68" name="Google Shape;68;p44"/>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69" name="Google Shape;69;p44"/>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pic>
        <p:nvPicPr>
          <p:cNvPr id="70" name="Google Shape;70;p44"/>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ágenes o gráficos" type="titleOnly">
  <p:cSld name="TITLE_ONLY">
    <p:spTree>
      <p:nvGrpSpPr>
        <p:cNvPr id="71" name="Shape 71"/>
        <p:cNvGrpSpPr/>
        <p:nvPr/>
      </p:nvGrpSpPr>
      <p:grpSpPr>
        <a:xfrm>
          <a:off x="0" y="0"/>
          <a:ext cx="0" cy="0"/>
          <a:chOff x="0" y="0"/>
          <a:chExt cx="0" cy="0"/>
        </a:xfrm>
      </p:grpSpPr>
      <p:sp>
        <p:nvSpPr>
          <p:cNvPr id="72" name="Google Shape;72;p45"/>
          <p:cNvSpPr txBox="1"/>
          <p:nvPr>
            <p:ph type="title"/>
          </p:nvPr>
        </p:nvSpPr>
        <p:spPr>
          <a:xfrm>
            <a:off x="311700" y="-12175"/>
            <a:ext cx="77490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73" name="Google Shape;73;p45"/>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74" name="Google Shape;74;p45"/>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pic>
        <p:nvPicPr>
          <p:cNvPr id="75" name="Google Shape;75;p45"/>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6" name="Shape 76"/>
        <p:cNvGrpSpPr/>
        <p:nvPr/>
      </p:nvGrpSpPr>
      <p:grpSpPr>
        <a:xfrm>
          <a:off x="0" y="0"/>
          <a:ext cx="0" cy="0"/>
          <a:chOff x="0" y="0"/>
          <a:chExt cx="0" cy="0"/>
        </a:xfrm>
      </p:grpSpPr>
      <p:sp>
        <p:nvSpPr>
          <p:cNvPr id="77" name="Google Shape;77;p46"/>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46"/>
          <p:cNvSpPr txBox="1"/>
          <p:nvPr>
            <p:ph type="title"/>
          </p:nvPr>
        </p:nvSpPr>
        <p:spPr>
          <a:xfrm>
            <a:off x="490250" y="450150"/>
            <a:ext cx="8061000" cy="37629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414141"/>
              </a:buClr>
              <a:buSzPts val="4000"/>
              <a:buFont typeface="Montserrat"/>
              <a:buNone/>
              <a:defRPr b="1" sz="4000">
                <a:solidFill>
                  <a:srgbClr val="414141"/>
                </a:solidFill>
                <a:latin typeface="Montserrat"/>
                <a:ea typeface="Montserrat"/>
                <a:cs typeface="Montserrat"/>
                <a:sym typeface="Montserrat"/>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9" name="Google Shape;79;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pic>
        <p:nvPicPr>
          <p:cNvPr id="80" name="Google Shape;80;p46"/>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81" name="Google Shape;81;p46"/>
          <p:cNvPicPr preferRelativeResize="0"/>
          <p:nvPr/>
        </p:nvPicPr>
        <p:blipFill rotWithShape="1">
          <a:blip r:embed="rId3">
            <a:alphaModFix/>
          </a:blip>
          <a:srcRect b="0" l="0" r="0" t="0"/>
          <a:stretch/>
        </p:blipFill>
        <p:spPr>
          <a:xfrm>
            <a:off x="7910675" y="4073939"/>
            <a:ext cx="1365875" cy="1365875"/>
          </a:xfrm>
          <a:prstGeom prst="rect">
            <a:avLst/>
          </a:prstGeom>
          <a:noFill/>
          <a:ln>
            <a:noFill/>
          </a:ln>
        </p:spPr>
      </p:pic>
      <p:pic>
        <p:nvPicPr>
          <p:cNvPr id="82" name="Google Shape;82;p46"/>
          <p:cNvPicPr preferRelativeResize="0"/>
          <p:nvPr/>
        </p:nvPicPr>
        <p:blipFill rotWithShape="1">
          <a:blip r:embed="rId4">
            <a:alphaModFix/>
          </a:blip>
          <a:srcRect b="0" l="0" r="0" t="0"/>
          <a:stretch/>
        </p:blipFill>
        <p:spPr>
          <a:xfrm>
            <a:off x="0" y="4264238"/>
            <a:ext cx="1163080" cy="792599"/>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jercicios e imagen">
  <p:cSld name="SECTION_TITLE_AND_DESCRIPTION">
    <p:spTree>
      <p:nvGrpSpPr>
        <p:cNvPr id="83" name="Shape 83"/>
        <p:cNvGrpSpPr/>
        <p:nvPr/>
      </p:nvGrpSpPr>
      <p:grpSpPr>
        <a:xfrm>
          <a:off x="0" y="0"/>
          <a:ext cx="0" cy="0"/>
          <a:chOff x="0" y="0"/>
          <a:chExt cx="0" cy="0"/>
        </a:xfrm>
      </p:grpSpPr>
      <p:sp>
        <p:nvSpPr>
          <p:cNvPr id="84" name="Google Shape;84;p47"/>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47"/>
          <p:cNvSpPr txBox="1"/>
          <p:nvPr>
            <p:ph type="title"/>
          </p:nvPr>
        </p:nvSpPr>
        <p:spPr>
          <a:xfrm>
            <a:off x="265500" y="7759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3800"/>
              <a:buFont typeface="Montserrat"/>
              <a:buNone/>
              <a:defRPr sz="3800">
                <a:latin typeface="Montserrat"/>
                <a:ea typeface="Montserrat"/>
                <a:cs typeface="Montserrat"/>
                <a:sym typeface="Montserrat"/>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6" name="Google Shape;86;p47"/>
          <p:cNvSpPr txBox="1"/>
          <p:nvPr>
            <p:ph idx="1" type="subTitle"/>
          </p:nvPr>
        </p:nvSpPr>
        <p:spPr>
          <a:xfrm>
            <a:off x="265500" y="24982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Montserrat"/>
              <a:buNone/>
              <a:defRPr sz="2100">
                <a:latin typeface="Montserrat"/>
                <a:ea typeface="Montserrat"/>
                <a:cs typeface="Montserrat"/>
                <a:sym typeface="Montserrat"/>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7" name="Google Shape;87;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
        <p:nvSpPr>
          <p:cNvPr id="88" name="Google Shape;88;p47"/>
          <p:cNvSpPr/>
          <p:nvPr/>
        </p:nvSpPr>
        <p:spPr>
          <a:xfrm>
            <a:off x="4572150" y="-18175"/>
            <a:ext cx="45720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9" name="Google Shape;89;p47"/>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90" name="Google Shape;90;p47"/>
          <p:cNvPicPr preferRelativeResize="0"/>
          <p:nvPr/>
        </p:nvPicPr>
        <p:blipFill rotWithShape="1">
          <a:blip r:embed="rId3">
            <a:alphaModFix/>
          </a:blip>
          <a:srcRect b="0" l="0" r="0" t="0"/>
          <a:stretch/>
        </p:blipFill>
        <p:spPr>
          <a:xfrm>
            <a:off x="3506975" y="4699100"/>
            <a:ext cx="558475" cy="300725"/>
          </a:xfrm>
          <a:prstGeom prst="rect">
            <a:avLst/>
          </a:prstGeom>
          <a:noFill/>
          <a:ln>
            <a:noFill/>
          </a:ln>
        </p:spPr>
      </p:pic>
      <p:pic>
        <p:nvPicPr>
          <p:cNvPr id="91" name="Google Shape;91;p47"/>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s">
  <p:cSld name="CAPTION_ONLY">
    <p:spTree>
      <p:nvGrpSpPr>
        <p:cNvPr id="92" name="Shape 92"/>
        <p:cNvGrpSpPr/>
        <p:nvPr/>
      </p:nvGrpSpPr>
      <p:grpSpPr>
        <a:xfrm>
          <a:off x="0" y="0"/>
          <a:ext cx="0" cy="0"/>
          <a:chOff x="0" y="0"/>
          <a:chExt cx="0" cy="0"/>
        </a:xfrm>
      </p:grpSpPr>
      <p:sp>
        <p:nvSpPr>
          <p:cNvPr id="93" name="Google Shape;93;p48"/>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48"/>
          <p:cNvSpPr txBox="1"/>
          <p:nvPr>
            <p:ph idx="1" type="body"/>
          </p:nvPr>
        </p:nvSpPr>
        <p:spPr>
          <a:xfrm>
            <a:off x="433800" y="1715975"/>
            <a:ext cx="8203800" cy="14820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000"/>
              <a:buFont typeface="Montserrat"/>
              <a:buNone/>
              <a:defRPr i="1" sz="2000">
                <a:latin typeface="Montserrat"/>
                <a:ea typeface="Montserrat"/>
                <a:cs typeface="Montserrat"/>
                <a:sym typeface="Montserrat"/>
              </a:defRPr>
            </a:lvl1pPr>
          </a:lstStyle>
          <a:p/>
        </p:txBody>
      </p:sp>
      <p:pic>
        <p:nvPicPr>
          <p:cNvPr id="95" name="Google Shape;95;p48"/>
          <p:cNvPicPr preferRelativeResize="0"/>
          <p:nvPr/>
        </p:nvPicPr>
        <p:blipFill rotWithShape="1">
          <a:blip r:embed="rId2">
            <a:alphaModFix/>
          </a:blip>
          <a:srcRect b="0" l="0" r="0" t="0"/>
          <a:stretch/>
        </p:blipFill>
        <p:spPr>
          <a:xfrm>
            <a:off x="127225" y="906000"/>
            <a:ext cx="1429649" cy="936662"/>
          </a:xfrm>
          <a:prstGeom prst="rect">
            <a:avLst/>
          </a:prstGeom>
          <a:noFill/>
          <a:ln>
            <a:noFill/>
          </a:ln>
        </p:spPr>
      </p:pic>
      <p:pic>
        <p:nvPicPr>
          <p:cNvPr id="96" name="Google Shape;96;p48"/>
          <p:cNvPicPr preferRelativeResize="0"/>
          <p:nvPr/>
        </p:nvPicPr>
        <p:blipFill rotWithShape="1">
          <a:blip r:embed="rId3">
            <a:alphaModFix/>
          </a:blip>
          <a:srcRect b="0" l="0" r="0" t="0"/>
          <a:stretch/>
        </p:blipFill>
        <p:spPr>
          <a:xfrm>
            <a:off x="7632800" y="2758064"/>
            <a:ext cx="1385650" cy="907836"/>
          </a:xfrm>
          <a:prstGeom prst="rect">
            <a:avLst/>
          </a:prstGeom>
          <a:noFill/>
          <a:ln>
            <a:noFill/>
          </a:ln>
        </p:spPr>
      </p:pic>
      <p:sp>
        <p:nvSpPr>
          <p:cNvPr id="97" name="Google Shape;97;p48"/>
          <p:cNvSpPr txBox="1"/>
          <p:nvPr/>
        </p:nvSpPr>
        <p:spPr>
          <a:xfrm>
            <a:off x="432025" y="3792225"/>
            <a:ext cx="8401800" cy="4002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s" sz="1400" u="none" cap="none" strike="noStrike">
                <a:solidFill>
                  <a:schemeClr val="dk1"/>
                </a:solidFill>
                <a:latin typeface="Montserrat"/>
                <a:ea typeface="Montserrat"/>
                <a:cs typeface="Montserrat"/>
                <a:sym typeface="Montserrat"/>
              </a:rPr>
              <a:t>Autor/as/es:</a:t>
            </a:r>
            <a:endParaRPr b="1" i="0" sz="1400" u="none" cap="none" strike="noStrike">
              <a:solidFill>
                <a:schemeClr val="dk1"/>
              </a:solidFill>
              <a:latin typeface="Montserrat"/>
              <a:ea typeface="Montserrat"/>
              <a:cs typeface="Montserrat"/>
              <a:sym typeface="Montserrat"/>
            </a:endParaRPr>
          </a:p>
        </p:txBody>
      </p:sp>
      <p:pic>
        <p:nvPicPr>
          <p:cNvPr id="98" name="Google Shape;98;p48"/>
          <p:cNvPicPr preferRelativeResize="0"/>
          <p:nvPr/>
        </p:nvPicPr>
        <p:blipFill rotWithShape="1">
          <a:blip r:embed="rId4">
            <a:alphaModFix/>
          </a:blip>
          <a:srcRect b="0" l="0" r="0" t="0"/>
          <a:stretch/>
        </p:blipFill>
        <p:spPr>
          <a:xfrm>
            <a:off x="8155184" y="33947"/>
            <a:ext cx="876879" cy="399275"/>
          </a:xfrm>
          <a:prstGeom prst="rect">
            <a:avLst/>
          </a:prstGeom>
          <a:noFill/>
          <a:ln>
            <a:noFill/>
          </a:ln>
        </p:spPr>
      </p:pic>
      <p:pic>
        <p:nvPicPr>
          <p:cNvPr id="99" name="Google Shape;99;p48"/>
          <p:cNvPicPr preferRelativeResize="0"/>
          <p:nvPr/>
        </p:nvPicPr>
        <p:blipFill rotWithShape="1">
          <a:blip r:embed="rId5">
            <a:alphaModFix/>
          </a:blip>
          <a:srcRect b="0" l="0" r="0" t="0"/>
          <a:stretch/>
        </p:blipFill>
        <p:spPr>
          <a:xfrm>
            <a:off x="8078975" y="4699100"/>
            <a:ext cx="558475" cy="300725"/>
          </a:xfrm>
          <a:prstGeom prst="rect">
            <a:avLst/>
          </a:prstGeom>
          <a:noFill/>
          <a:ln>
            <a:noFill/>
          </a:ln>
        </p:spPr>
      </p:pic>
      <p:sp>
        <p:nvSpPr>
          <p:cNvPr id="100" name="Google Shape;100;p48"/>
          <p:cNvSpPr txBox="1"/>
          <p:nvPr>
            <p:ph type="title"/>
          </p:nvPr>
        </p:nvSpPr>
        <p:spPr>
          <a:xfrm>
            <a:off x="1766475" y="3773600"/>
            <a:ext cx="7145100" cy="300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500"/>
              <a:buFont typeface="Montserrat Medium"/>
              <a:buNone/>
              <a:defRPr sz="1500">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1" name="Google Shape;101;p48"/>
          <p:cNvSpPr txBox="1"/>
          <p:nvPr>
            <p:ph idx="2" type="title"/>
          </p:nvPr>
        </p:nvSpPr>
        <p:spPr>
          <a:xfrm>
            <a:off x="432025" y="83275"/>
            <a:ext cx="7145100" cy="39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500"/>
              <a:buFont typeface="Montserrat SemiBold"/>
              <a:buNone/>
              <a:defRPr sz="1500">
                <a:latin typeface="Montserrat SemiBold"/>
                <a:ea typeface="Montserrat SemiBold"/>
                <a:cs typeface="Montserrat SemiBold"/>
                <a:sym typeface="Montserrat SemiBol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02" name="Google Shape;102;p48"/>
          <p:cNvPicPr preferRelativeResize="0"/>
          <p:nvPr/>
        </p:nvPicPr>
        <p:blipFill rotWithShape="1">
          <a:blip r:embed="rId6">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41">
          <p15:clr>
            <a:srgbClr val="FA7B17"/>
          </p15:clr>
        </p15:guide>
        <p15:guide id="3" orient="horz" pos="2551">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tarea y consigna">
  <p:cSld name="BIG_NUMBER">
    <p:spTree>
      <p:nvGrpSpPr>
        <p:cNvPr id="103" name="Shape 103"/>
        <p:cNvGrpSpPr/>
        <p:nvPr/>
      </p:nvGrpSpPr>
      <p:grpSpPr>
        <a:xfrm>
          <a:off x="0" y="0"/>
          <a:ext cx="0" cy="0"/>
          <a:chOff x="0" y="0"/>
          <a:chExt cx="0" cy="0"/>
        </a:xfrm>
      </p:grpSpPr>
      <p:sp>
        <p:nvSpPr>
          <p:cNvPr id="104" name="Google Shape;104;p49"/>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pic>
        <p:nvPicPr>
          <p:cNvPr id="106" name="Google Shape;106;p49"/>
          <p:cNvPicPr preferRelativeResize="0"/>
          <p:nvPr/>
        </p:nvPicPr>
        <p:blipFill rotWithShape="1">
          <a:blip r:embed="rId2">
            <a:alphaModFix/>
          </a:blip>
          <a:srcRect b="0" l="0" r="0" t="0"/>
          <a:stretch/>
        </p:blipFill>
        <p:spPr>
          <a:xfrm>
            <a:off x="4026135" y="4508338"/>
            <a:ext cx="1091725" cy="497100"/>
          </a:xfrm>
          <a:prstGeom prst="rect">
            <a:avLst/>
          </a:prstGeom>
          <a:noFill/>
          <a:ln>
            <a:noFill/>
          </a:ln>
        </p:spPr>
      </p:pic>
      <p:pic>
        <p:nvPicPr>
          <p:cNvPr id="107" name="Google Shape;107;p49"/>
          <p:cNvPicPr preferRelativeResize="0"/>
          <p:nvPr/>
        </p:nvPicPr>
        <p:blipFill rotWithShape="1">
          <a:blip r:embed="rId3">
            <a:alphaModFix/>
          </a:blip>
          <a:srcRect b="0" l="0" r="0" t="0"/>
          <a:stretch/>
        </p:blipFill>
        <p:spPr>
          <a:xfrm>
            <a:off x="0" y="4264238"/>
            <a:ext cx="1163080" cy="792599"/>
          </a:xfrm>
          <a:prstGeom prst="rect">
            <a:avLst/>
          </a:prstGeom>
          <a:noFill/>
          <a:ln>
            <a:noFill/>
          </a:ln>
        </p:spPr>
      </p:pic>
      <p:pic>
        <p:nvPicPr>
          <p:cNvPr id="108" name="Google Shape;108;p49"/>
          <p:cNvPicPr preferRelativeResize="0"/>
          <p:nvPr/>
        </p:nvPicPr>
        <p:blipFill rotWithShape="1">
          <a:blip r:embed="rId4">
            <a:alphaModFix/>
          </a:blip>
          <a:srcRect b="0" l="0" r="0" t="0"/>
          <a:stretch/>
        </p:blipFill>
        <p:spPr>
          <a:xfrm>
            <a:off x="7910675" y="4073939"/>
            <a:ext cx="1365875" cy="1365875"/>
          </a:xfrm>
          <a:prstGeom prst="rect">
            <a:avLst/>
          </a:prstGeom>
          <a:noFill/>
          <a:ln>
            <a:noFill/>
          </a:ln>
        </p:spPr>
      </p:pic>
      <p:sp>
        <p:nvSpPr>
          <p:cNvPr id="109" name="Google Shape;109;p49"/>
          <p:cNvSpPr txBox="1"/>
          <p:nvPr>
            <p:ph type="title"/>
          </p:nvPr>
        </p:nvSpPr>
        <p:spPr>
          <a:xfrm>
            <a:off x="432025" y="187325"/>
            <a:ext cx="7982100" cy="497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600"/>
              <a:buFont typeface="Montserrat Medium"/>
              <a:buNone/>
              <a:defRPr sz="2600">
                <a:latin typeface="Montserrat Medium"/>
                <a:ea typeface="Montserrat Medium"/>
                <a:cs typeface="Montserrat Medium"/>
                <a:sym typeface="Montserrat Medium"/>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10" name="Google Shape;110;p49"/>
          <p:cNvSpPr txBox="1"/>
          <p:nvPr>
            <p:ph idx="1" type="body"/>
          </p:nvPr>
        </p:nvSpPr>
        <p:spPr>
          <a:xfrm>
            <a:off x="432025" y="847675"/>
            <a:ext cx="8280000" cy="3318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Font typeface="Montserrat"/>
              <a:buChar char="●"/>
              <a:defRPr>
                <a:latin typeface="Montserrat"/>
                <a:ea typeface="Montserrat"/>
                <a:cs typeface="Montserrat"/>
                <a:sym typeface="Montserrat"/>
              </a:defRPr>
            </a:lvl1pPr>
            <a:lvl2pPr indent="-317500" lvl="1" marL="914400" algn="l">
              <a:lnSpc>
                <a:spcPct val="115000"/>
              </a:lnSpc>
              <a:spcBef>
                <a:spcPts val="0"/>
              </a:spcBef>
              <a:spcAft>
                <a:spcPts val="0"/>
              </a:spcAft>
              <a:buSzPts val="1400"/>
              <a:buFont typeface="Montserrat"/>
              <a:buChar char="○"/>
              <a:defRPr>
                <a:latin typeface="Montserrat"/>
                <a:ea typeface="Montserrat"/>
                <a:cs typeface="Montserrat"/>
                <a:sym typeface="Montserrat"/>
              </a:defRPr>
            </a:lvl2pPr>
            <a:lvl3pPr indent="-317500" lvl="2" marL="1371600" algn="l">
              <a:lnSpc>
                <a:spcPct val="115000"/>
              </a:lnSpc>
              <a:spcBef>
                <a:spcPts val="0"/>
              </a:spcBef>
              <a:spcAft>
                <a:spcPts val="0"/>
              </a:spcAft>
              <a:buSzPts val="1400"/>
              <a:buFont typeface="Montserrat"/>
              <a:buChar char="■"/>
              <a:defRPr>
                <a:latin typeface="Montserrat"/>
                <a:ea typeface="Montserrat"/>
                <a:cs typeface="Montserrat"/>
                <a:sym typeface="Montserrat"/>
              </a:defRPr>
            </a:lvl3pPr>
            <a:lvl4pPr indent="-317500" lvl="3" marL="1828800" algn="l">
              <a:lnSpc>
                <a:spcPct val="115000"/>
              </a:lnSpc>
              <a:spcBef>
                <a:spcPts val="0"/>
              </a:spcBef>
              <a:spcAft>
                <a:spcPts val="0"/>
              </a:spcAft>
              <a:buSzPts val="1400"/>
              <a:buFont typeface="Montserrat"/>
              <a:buChar char="●"/>
              <a:defRPr>
                <a:latin typeface="Montserrat"/>
                <a:ea typeface="Montserrat"/>
                <a:cs typeface="Montserrat"/>
                <a:sym typeface="Montserrat"/>
              </a:defRPr>
            </a:lvl4pPr>
            <a:lvl5pPr indent="-317500" lvl="4" marL="2286000" algn="l">
              <a:lnSpc>
                <a:spcPct val="115000"/>
              </a:lnSpc>
              <a:spcBef>
                <a:spcPts val="0"/>
              </a:spcBef>
              <a:spcAft>
                <a:spcPts val="0"/>
              </a:spcAft>
              <a:buSzPts val="1400"/>
              <a:buFont typeface="Montserrat"/>
              <a:buChar char="○"/>
              <a:defRPr>
                <a:latin typeface="Montserrat"/>
                <a:ea typeface="Montserrat"/>
                <a:cs typeface="Montserrat"/>
                <a:sym typeface="Montserrat"/>
              </a:defRPr>
            </a:lvl5pPr>
            <a:lvl6pPr indent="-317500" lvl="5" marL="2743200" algn="l">
              <a:lnSpc>
                <a:spcPct val="115000"/>
              </a:lnSpc>
              <a:spcBef>
                <a:spcPts val="0"/>
              </a:spcBef>
              <a:spcAft>
                <a:spcPts val="0"/>
              </a:spcAft>
              <a:buSzPts val="1400"/>
              <a:buFont typeface="Montserrat"/>
              <a:buChar char="■"/>
              <a:defRPr>
                <a:latin typeface="Montserrat"/>
                <a:ea typeface="Montserrat"/>
                <a:cs typeface="Montserrat"/>
                <a:sym typeface="Montserrat"/>
              </a:defRPr>
            </a:lvl6pPr>
            <a:lvl7pPr indent="-317500" lvl="6" marL="3200400" algn="l">
              <a:lnSpc>
                <a:spcPct val="115000"/>
              </a:lnSpc>
              <a:spcBef>
                <a:spcPts val="0"/>
              </a:spcBef>
              <a:spcAft>
                <a:spcPts val="0"/>
              </a:spcAft>
              <a:buSzPts val="1400"/>
              <a:buFont typeface="Montserrat"/>
              <a:buChar char="●"/>
              <a:defRPr>
                <a:latin typeface="Montserrat"/>
                <a:ea typeface="Montserrat"/>
                <a:cs typeface="Montserrat"/>
                <a:sym typeface="Montserrat"/>
              </a:defRPr>
            </a:lvl7pPr>
            <a:lvl8pPr indent="-317500" lvl="7" marL="3657600" algn="l">
              <a:lnSpc>
                <a:spcPct val="115000"/>
              </a:lnSpc>
              <a:spcBef>
                <a:spcPts val="0"/>
              </a:spcBef>
              <a:spcAft>
                <a:spcPts val="0"/>
              </a:spcAft>
              <a:buSzPts val="1400"/>
              <a:buFont typeface="Montserrat"/>
              <a:buChar char="○"/>
              <a:defRPr>
                <a:latin typeface="Montserrat"/>
                <a:ea typeface="Montserrat"/>
                <a:cs typeface="Montserrat"/>
                <a:sym typeface="Montserrat"/>
              </a:defRPr>
            </a:lvl8pPr>
            <a:lvl9pPr indent="-317500" lvl="8" marL="4114800" algn="l">
              <a:lnSpc>
                <a:spcPct val="115000"/>
              </a:lnSpc>
              <a:spcBef>
                <a:spcPts val="0"/>
              </a:spcBef>
              <a:spcAft>
                <a:spcPts val="0"/>
              </a:spcAft>
              <a:buSzPts val="1400"/>
              <a:buFont typeface="Montserrat"/>
              <a:buChar char="■"/>
              <a:defRPr>
                <a:latin typeface="Montserrat"/>
                <a:ea typeface="Montserrat"/>
                <a:cs typeface="Montserrat"/>
                <a:sym typeface="Montserrat"/>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0">
  <p:cSld name="BLANK_1">
    <p:spTree>
      <p:nvGrpSpPr>
        <p:cNvPr id="111" name="Shape 111"/>
        <p:cNvGrpSpPr/>
        <p:nvPr/>
      </p:nvGrpSpPr>
      <p:grpSpPr>
        <a:xfrm>
          <a:off x="0" y="0"/>
          <a:ext cx="0" cy="0"/>
          <a:chOff x="0" y="0"/>
          <a:chExt cx="0" cy="0"/>
        </a:xfrm>
      </p:grpSpPr>
      <p:sp>
        <p:nvSpPr>
          <p:cNvPr id="112" name="Google Shape;112;p50"/>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13" name="Google Shape;113;p50"/>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50"/>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50"/>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6" name="Google Shape;116;p50"/>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7" name="Google Shape;117;p50"/>
          <p:cNvSpPr txBox="1"/>
          <p:nvPr>
            <p:ph type="title"/>
          </p:nvPr>
        </p:nvSpPr>
        <p:spPr>
          <a:xfrm>
            <a:off x="3331525" y="2159925"/>
            <a:ext cx="2397900" cy="2121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8" name="Google Shape;118;p50"/>
          <p:cNvSpPr txBox="1"/>
          <p:nvPr>
            <p:ph idx="2" type="title"/>
          </p:nvPr>
        </p:nvSpPr>
        <p:spPr>
          <a:xfrm>
            <a:off x="6134350" y="2196275"/>
            <a:ext cx="2397900" cy="2075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9" name="Google Shape;119;p50"/>
          <p:cNvSpPr txBox="1"/>
          <p:nvPr>
            <p:ph idx="3" type="title"/>
          </p:nvPr>
        </p:nvSpPr>
        <p:spPr>
          <a:xfrm>
            <a:off x="4039950" y="116422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400"/>
              <a:buFont typeface="Montserrat"/>
              <a:buNone/>
              <a:defRPr b="1" sz="14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0" name="Google Shape;120;p50"/>
          <p:cNvSpPr txBox="1"/>
          <p:nvPr>
            <p:ph idx="4" type="title"/>
          </p:nvPr>
        </p:nvSpPr>
        <p:spPr>
          <a:xfrm>
            <a:off x="6877450" y="116422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1" name="Google Shape;121;p50"/>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2" name="Google Shape;122;p50"/>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123" name="Google Shape;123;p50"/>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pic>
        <p:nvPicPr>
          <p:cNvPr id="124" name="Google Shape;124;p50"/>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Última clase">
  <p:cSld name="BLANK_1_1_1">
    <p:spTree>
      <p:nvGrpSpPr>
        <p:cNvPr id="125" name="Shape 125"/>
        <p:cNvGrpSpPr/>
        <p:nvPr/>
      </p:nvGrpSpPr>
      <p:grpSpPr>
        <a:xfrm>
          <a:off x="0" y="0"/>
          <a:ext cx="0" cy="0"/>
          <a:chOff x="0" y="0"/>
          <a:chExt cx="0" cy="0"/>
        </a:xfrm>
      </p:grpSpPr>
      <p:sp>
        <p:nvSpPr>
          <p:cNvPr id="126" name="Google Shape;126;p51"/>
          <p:cNvSpPr/>
          <p:nvPr/>
        </p:nvSpPr>
        <p:spPr>
          <a:xfrm>
            <a:off x="212425" y="1172325"/>
            <a:ext cx="4818000" cy="436800"/>
          </a:xfrm>
          <a:prstGeom prst="chevron">
            <a:avLst>
              <a:gd fmla="val 45084"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27" name="Google Shape;127;p51"/>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51"/>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51"/>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0" name="Google Shape;130;p51"/>
          <p:cNvSpPr txBox="1"/>
          <p:nvPr>
            <p:ph type="title"/>
          </p:nvPr>
        </p:nvSpPr>
        <p:spPr>
          <a:xfrm>
            <a:off x="1271800" y="115937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31" name="Google Shape;131;p51"/>
          <p:cNvSpPr txBox="1"/>
          <p:nvPr>
            <p:ph idx="2" type="title"/>
          </p:nvPr>
        </p:nvSpPr>
        <p:spPr>
          <a:xfrm>
            <a:off x="3938175" y="1159375"/>
            <a:ext cx="109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400"/>
              <a:buFont typeface="Montserrat"/>
              <a:buNone/>
              <a:defRPr b="1" sz="1400">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32" name="Google Shape;132;p51"/>
          <p:cNvSpPr txBox="1"/>
          <p:nvPr>
            <p:ph idx="3" type="title"/>
          </p:nvPr>
        </p:nvSpPr>
        <p:spPr>
          <a:xfrm>
            <a:off x="532575" y="2150850"/>
            <a:ext cx="2397900" cy="2112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3" name="Google Shape;133;p51"/>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4" name="Google Shape;134;p51"/>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135" name="Google Shape;135;p51"/>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sp>
        <p:nvSpPr>
          <p:cNvPr id="136" name="Google Shape;136;p51"/>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7" name="Google Shape;137;p51"/>
          <p:cNvSpPr txBox="1"/>
          <p:nvPr>
            <p:ph idx="4" type="title"/>
          </p:nvPr>
        </p:nvSpPr>
        <p:spPr>
          <a:xfrm>
            <a:off x="3331525" y="2159925"/>
            <a:ext cx="2397900" cy="2121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38" name="Google Shape;138;p51"/>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hyperlink" Target="https://docs.hektorprofe.net/python/programacion-de-funciones/paso-por-valor-y-referencia/"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 Id="rId3" Type="http://schemas.openxmlformats.org/officeDocument/2006/relationships/hyperlink" Target="https://peps.python.org/pep-0257/"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hyperlink" Target="https://docs.hektorprofe.net/python/programacion-de-funciones/paso-por-valor-y-referencia/" TargetMode="External"/><Relationship Id="rId4" Type="http://schemas.openxmlformats.org/officeDocument/2006/relationships/hyperlink" Target="https://www.freecodecamp.org/espanol/news/guia-de-funciones-de-python-con-ejemplos/" TargetMode="External"/><Relationship Id="rId9" Type="http://schemas.openxmlformats.org/officeDocument/2006/relationships/hyperlink" Target="https://www.youtube.com/watch?v=tfYLcHbjc_A&amp;t=515s" TargetMode="External"/><Relationship Id="rId5" Type="http://schemas.openxmlformats.org/officeDocument/2006/relationships/hyperlink" Target="https://www.freecodecamp.org/espanol/news/expresiones-lambda-en-python/" TargetMode="External"/><Relationship Id="rId6" Type="http://schemas.openxmlformats.org/officeDocument/2006/relationships/hyperlink" Target="https://docs.hektorprofe.net/python/funcionalidades-avanzadas/funcion-map/" TargetMode="External"/><Relationship Id="rId7" Type="http://schemas.openxmlformats.org/officeDocument/2006/relationships/hyperlink" Target="https://www.youtube.com/watch?v=g78juF9pB_w" TargetMode="External"/><Relationship Id="rId8" Type="http://schemas.openxmlformats.org/officeDocument/2006/relationships/hyperlink" Target="https://www.youtube.com/watch?v=tfYLcHbjc_A&amp;t=515s"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
          <p:cNvSpPr txBox="1"/>
          <p:nvPr/>
        </p:nvSpPr>
        <p:spPr>
          <a:xfrm>
            <a:off x="3335100" y="1617575"/>
            <a:ext cx="5497200" cy="13752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3700"/>
              <a:buFont typeface="Arial"/>
              <a:buNone/>
            </a:pPr>
            <a:r>
              <a:rPr b="1" i="0" lang="es" sz="3700" u="none" cap="none" strike="noStrike">
                <a:solidFill>
                  <a:srgbClr val="000000"/>
                </a:solidFill>
                <a:latin typeface="Montserrat"/>
                <a:ea typeface="Montserrat"/>
                <a:cs typeface="Montserrat"/>
                <a:sym typeface="Montserrat"/>
              </a:rPr>
              <a:t>FULL STACK PYTHON</a:t>
            </a:r>
            <a:endParaRPr b="1" i="0" sz="3700" u="none" cap="none" strike="noStrike">
              <a:solidFill>
                <a:srgbClr val="000000"/>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3700"/>
              <a:buFont typeface="Arial"/>
              <a:buNone/>
            </a:pPr>
            <a:r>
              <a:rPr b="1" i="0" lang="es" sz="3700" u="none" cap="none" strike="noStrike">
                <a:solidFill>
                  <a:srgbClr val="000000"/>
                </a:solidFill>
                <a:latin typeface="Montserrat"/>
                <a:ea typeface="Montserrat"/>
                <a:cs typeface="Montserrat"/>
                <a:sym typeface="Montserrat"/>
              </a:rPr>
              <a:t>Clase 28</a:t>
            </a:r>
            <a:endParaRPr b="1" i="0" sz="3700" u="none" cap="none" strike="noStrike">
              <a:solidFill>
                <a:srgbClr val="000000"/>
              </a:solidFill>
              <a:latin typeface="Montserrat"/>
              <a:ea typeface="Montserrat"/>
              <a:cs typeface="Montserrat"/>
              <a:sym typeface="Montserrat"/>
            </a:endParaRPr>
          </a:p>
        </p:txBody>
      </p:sp>
      <p:sp>
        <p:nvSpPr>
          <p:cNvPr id="144" name="Google Shape;144;p1"/>
          <p:cNvSpPr txBox="1"/>
          <p:nvPr/>
        </p:nvSpPr>
        <p:spPr>
          <a:xfrm>
            <a:off x="3335025" y="2986525"/>
            <a:ext cx="5534400" cy="792600"/>
          </a:xfrm>
          <a:prstGeom prst="rect">
            <a:avLst/>
          </a:prstGeom>
          <a:noFill/>
          <a:ln>
            <a:noFill/>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2500"/>
              <a:buFont typeface="Arial"/>
              <a:buNone/>
            </a:pPr>
            <a:r>
              <a:rPr b="0" i="0" lang="es" sz="2500" u="none" cap="none" strike="noStrike">
                <a:solidFill>
                  <a:srgbClr val="595959"/>
                </a:solidFill>
                <a:latin typeface="Montserrat Medium"/>
                <a:ea typeface="Montserrat Medium"/>
                <a:cs typeface="Montserrat Medium"/>
                <a:sym typeface="Montserrat Medium"/>
              </a:rPr>
              <a:t>PYTHON 4</a:t>
            </a:r>
            <a:endParaRPr b="0" i="0" sz="2500" u="none" cap="none" strike="noStrike">
              <a:solidFill>
                <a:srgbClr val="595959"/>
              </a:solidFill>
              <a:latin typeface="Montserrat Medium"/>
              <a:ea typeface="Montserrat Medium"/>
              <a:cs typeface="Montserrat Medium"/>
              <a:sym typeface="Montserrat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
          <p:cNvSpPr txBox="1"/>
          <p:nvPr>
            <p:ph type="ctrTitle"/>
          </p:nvPr>
        </p:nvSpPr>
        <p:spPr>
          <a:xfrm>
            <a:off x="311700" y="1226800"/>
            <a:ext cx="8520600" cy="15705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900"/>
              <a:buNone/>
            </a:pPr>
            <a:r>
              <a:rPr b="0" lang="es"/>
              <a:t>Funciones</a:t>
            </a:r>
            <a:endParaRPr b="0"/>
          </a:p>
        </p:txBody>
      </p:sp>
      <p:sp>
        <p:nvSpPr>
          <p:cNvPr id="150" name="Google Shape;150;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500"/>
              <a:buNone/>
            </a:pPr>
            <a:r>
              <a:t/>
            </a:r>
            <a:endParaRPr/>
          </a:p>
        </p:txBody>
      </p:sp>
      <p:pic>
        <p:nvPicPr>
          <p:cNvPr id="151" name="Google Shape;151;p2"/>
          <p:cNvPicPr preferRelativeResize="0"/>
          <p:nvPr/>
        </p:nvPicPr>
        <p:blipFill rotWithShape="1">
          <a:blip r:embed="rId3">
            <a:alphaModFix/>
          </a:blip>
          <a:srcRect b="0" l="0" r="0" t="0"/>
          <a:stretch/>
        </p:blipFill>
        <p:spPr>
          <a:xfrm>
            <a:off x="4219575" y="2868475"/>
            <a:ext cx="704850" cy="7239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
          <p:cNvSpPr txBox="1"/>
          <p:nvPr>
            <p:ph type="ctrTitle"/>
          </p:nvPr>
        </p:nvSpPr>
        <p:spPr>
          <a:xfrm>
            <a:off x="311700" y="1226800"/>
            <a:ext cx="8520600" cy="15705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Clr>
                <a:schemeClr val="dk1"/>
              </a:buClr>
              <a:buSzPts val="1100"/>
              <a:buFont typeface="Arial"/>
              <a:buNone/>
            </a:pPr>
            <a:r>
              <a:rPr lang="es"/>
              <a:t>Les damos la bienvenida</a:t>
            </a:r>
            <a:endParaRPr/>
          </a:p>
        </p:txBody>
      </p:sp>
      <p:sp>
        <p:nvSpPr>
          <p:cNvPr id="157" name="Google Shape;157;p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500"/>
              <a:buNone/>
            </a:pPr>
            <a:r>
              <a:rPr lang="es"/>
              <a:t>Vamos a comenzar a grabar la clase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4"/>
          <p:cNvSpPr txBox="1"/>
          <p:nvPr>
            <p:ph idx="2" type="title"/>
          </p:nvPr>
        </p:nvSpPr>
        <p:spPr>
          <a:xfrm>
            <a:off x="3938175" y="1159375"/>
            <a:ext cx="1091700" cy="3006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s"/>
              <a:t>Clase 28</a:t>
            </a:r>
            <a:endParaRPr/>
          </a:p>
        </p:txBody>
      </p:sp>
      <p:sp>
        <p:nvSpPr>
          <p:cNvPr id="163" name="Google Shape;163;p4"/>
          <p:cNvSpPr txBox="1"/>
          <p:nvPr>
            <p:ph type="title"/>
          </p:nvPr>
        </p:nvSpPr>
        <p:spPr>
          <a:xfrm>
            <a:off x="1275675" y="1159375"/>
            <a:ext cx="911700" cy="3006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s"/>
              <a:t>Clase 27</a:t>
            </a:r>
            <a:endParaRPr/>
          </a:p>
        </p:txBody>
      </p:sp>
      <p:sp>
        <p:nvSpPr>
          <p:cNvPr id="164" name="Google Shape;164;p4"/>
          <p:cNvSpPr txBox="1"/>
          <p:nvPr>
            <p:ph idx="3" type="title"/>
          </p:nvPr>
        </p:nvSpPr>
        <p:spPr>
          <a:xfrm>
            <a:off x="6877450" y="1159388"/>
            <a:ext cx="911700" cy="3006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Clr>
                <a:schemeClr val="dk1"/>
              </a:buClr>
              <a:buSzPct val="78571"/>
              <a:buFont typeface="Arial"/>
              <a:buNone/>
            </a:pPr>
            <a:r>
              <a:rPr lang="es"/>
              <a:t>Clase 29</a:t>
            </a:r>
            <a:endParaRPr/>
          </a:p>
        </p:txBody>
      </p:sp>
      <p:sp>
        <p:nvSpPr>
          <p:cNvPr id="165" name="Google Shape;165;p4"/>
          <p:cNvSpPr txBox="1"/>
          <p:nvPr>
            <p:ph idx="4" type="title"/>
          </p:nvPr>
        </p:nvSpPr>
        <p:spPr>
          <a:xfrm>
            <a:off x="532575" y="2150850"/>
            <a:ext cx="2397900" cy="2112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s"/>
              <a:t>Cadenas y Listas</a:t>
            </a:r>
            <a:endParaRPr b="1"/>
          </a:p>
          <a:p>
            <a:pPr indent="0" lvl="0" marL="457200" rtl="0" algn="l">
              <a:lnSpc>
                <a:spcPct val="115000"/>
              </a:lnSpc>
              <a:spcBef>
                <a:spcPts val="0"/>
              </a:spcBef>
              <a:spcAft>
                <a:spcPts val="0"/>
              </a:spcAft>
              <a:buClr>
                <a:schemeClr val="dk1"/>
              </a:buClr>
              <a:buSzPts val="1100"/>
              <a:buFont typeface="Arial"/>
              <a:buNone/>
            </a:pPr>
            <a:r>
              <a:t/>
            </a:r>
            <a:endParaRPr b="1"/>
          </a:p>
          <a:p>
            <a:pPr indent="-285750" lvl="0" marL="457200" rtl="0" algn="l">
              <a:lnSpc>
                <a:spcPct val="115000"/>
              </a:lnSpc>
              <a:spcBef>
                <a:spcPts val="0"/>
              </a:spcBef>
              <a:spcAft>
                <a:spcPts val="0"/>
              </a:spcAft>
              <a:buSzPts val="900"/>
              <a:buChar char="●"/>
            </a:pPr>
            <a:r>
              <a:rPr lang="es" sz="900"/>
              <a:t>Cadenas de caracteres.</a:t>
            </a:r>
            <a:endParaRPr sz="900"/>
          </a:p>
          <a:p>
            <a:pPr indent="-285750" lvl="0" marL="457200" rtl="0" algn="l">
              <a:lnSpc>
                <a:spcPct val="115000"/>
              </a:lnSpc>
              <a:spcBef>
                <a:spcPts val="0"/>
              </a:spcBef>
              <a:spcAft>
                <a:spcPts val="0"/>
              </a:spcAft>
              <a:buSzPts val="900"/>
              <a:buChar char="●"/>
            </a:pPr>
            <a:r>
              <a:rPr lang="es" sz="900"/>
              <a:t>Métodos de listas.</a:t>
            </a:r>
            <a:endParaRPr sz="900"/>
          </a:p>
          <a:p>
            <a:pPr indent="-285750" lvl="0" marL="457200" rtl="0" algn="l">
              <a:lnSpc>
                <a:spcPct val="115000"/>
              </a:lnSpc>
              <a:spcBef>
                <a:spcPts val="0"/>
              </a:spcBef>
              <a:spcAft>
                <a:spcPts val="0"/>
              </a:spcAft>
              <a:buSzPts val="900"/>
              <a:buChar char="●"/>
            </a:pPr>
            <a:r>
              <a:rPr lang="es" sz="900"/>
              <a:t>f-strings</a:t>
            </a:r>
            <a:endParaRPr sz="900"/>
          </a:p>
          <a:p>
            <a:pPr indent="-285750" lvl="0" marL="457200" rtl="0" algn="l">
              <a:lnSpc>
                <a:spcPct val="115000"/>
              </a:lnSpc>
              <a:spcBef>
                <a:spcPts val="0"/>
              </a:spcBef>
              <a:spcAft>
                <a:spcPts val="0"/>
              </a:spcAft>
              <a:buSzPts val="900"/>
              <a:buChar char="●"/>
            </a:pPr>
            <a:r>
              <a:rPr lang="es" sz="900"/>
              <a:t>Índices y slicing (rebanadas).</a:t>
            </a:r>
            <a:endParaRPr sz="900"/>
          </a:p>
          <a:p>
            <a:pPr indent="-285750" lvl="0" marL="457200" rtl="0" algn="l">
              <a:lnSpc>
                <a:spcPct val="115000"/>
              </a:lnSpc>
              <a:spcBef>
                <a:spcPts val="0"/>
              </a:spcBef>
              <a:spcAft>
                <a:spcPts val="0"/>
              </a:spcAft>
              <a:buSzPts val="900"/>
              <a:buChar char="●"/>
            </a:pPr>
            <a:r>
              <a:rPr lang="es" sz="900"/>
              <a:t>Tipo de datos compuestos.</a:t>
            </a:r>
            <a:endParaRPr sz="900"/>
          </a:p>
          <a:p>
            <a:pPr indent="-285750" lvl="0" marL="457200" rtl="0" algn="l">
              <a:lnSpc>
                <a:spcPct val="115000"/>
              </a:lnSpc>
              <a:spcBef>
                <a:spcPts val="0"/>
              </a:spcBef>
              <a:spcAft>
                <a:spcPts val="0"/>
              </a:spcAft>
              <a:buSzPts val="900"/>
              <a:buChar char="●"/>
            </a:pPr>
            <a:r>
              <a:rPr lang="es" sz="900"/>
              <a:t>Listas. Métodos.</a:t>
            </a:r>
            <a:endParaRPr sz="900"/>
          </a:p>
          <a:p>
            <a:pPr indent="-285750" lvl="0" marL="457200" rtl="0" algn="l">
              <a:lnSpc>
                <a:spcPct val="115000"/>
              </a:lnSpc>
              <a:spcBef>
                <a:spcPts val="0"/>
              </a:spcBef>
              <a:spcAft>
                <a:spcPts val="0"/>
              </a:spcAft>
              <a:buSzPts val="900"/>
              <a:buChar char="●"/>
            </a:pPr>
            <a:r>
              <a:rPr lang="es" sz="900"/>
              <a:t>Tipos de datos mutables e inmutables.</a:t>
            </a:r>
            <a:endParaRPr sz="900"/>
          </a:p>
          <a:p>
            <a:pPr indent="-285750" lvl="0" marL="457200" rtl="0" algn="l">
              <a:lnSpc>
                <a:spcPct val="115000"/>
              </a:lnSpc>
              <a:spcBef>
                <a:spcPts val="0"/>
              </a:spcBef>
              <a:spcAft>
                <a:spcPts val="0"/>
              </a:spcAft>
              <a:buSzPts val="900"/>
              <a:buChar char="●"/>
            </a:pPr>
            <a:r>
              <a:rPr lang="es" sz="900"/>
              <a:t>Tuplas, diccionarios, conjuntos</a:t>
            </a:r>
            <a:endParaRPr b="1"/>
          </a:p>
        </p:txBody>
      </p:sp>
      <p:sp>
        <p:nvSpPr>
          <p:cNvPr id="166" name="Google Shape;166;p4"/>
          <p:cNvSpPr txBox="1"/>
          <p:nvPr>
            <p:ph idx="5" type="title"/>
          </p:nvPr>
        </p:nvSpPr>
        <p:spPr>
          <a:xfrm>
            <a:off x="6130475" y="2159925"/>
            <a:ext cx="2454900" cy="2112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s"/>
              <a:t>Clases y objetos</a:t>
            </a:r>
            <a:endParaRPr b="1"/>
          </a:p>
          <a:p>
            <a:pPr indent="0" lvl="0" marL="457200" rtl="0" algn="l">
              <a:lnSpc>
                <a:spcPct val="115000"/>
              </a:lnSpc>
              <a:spcBef>
                <a:spcPts val="0"/>
              </a:spcBef>
              <a:spcAft>
                <a:spcPts val="0"/>
              </a:spcAft>
              <a:buSzPts val="1000"/>
              <a:buNone/>
            </a:pPr>
            <a:r>
              <a:t/>
            </a:r>
            <a:endParaRPr b="1"/>
          </a:p>
          <a:p>
            <a:pPr indent="-285750" lvl="0" marL="457200" rtl="0" algn="l">
              <a:lnSpc>
                <a:spcPct val="115000"/>
              </a:lnSpc>
              <a:spcBef>
                <a:spcPts val="0"/>
              </a:spcBef>
              <a:spcAft>
                <a:spcPts val="0"/>
              </a:spcAft>
              <a:buSzPts val="900"/>
              <a:buChar char="●"/>
            </a:pPr>
            <a:r>
              <a:rPr lang="es" sz="900"/>
              <a:t>Paradigmas de programación. Programación estructurada vs POO.</a:t>
            </a:r>
            <a:endParaRPr sz="900"/>
          </a:p>
          <a:p>
            <a:pPr indent="-285750" lvl="0" marL="457200" rtl="0" algn="l">
              <a:lnSpc>
                <a:spcPct val="115000"/>
              </a:lnSpc>
              <a:spcBef>
                <a:spcPts val="0"/>
              </a:spcBef>
              <a:spcAft>
                <a:spcPts val="0"/>
              </a:spcAft>
              <a:buSzPts val="900"/>
              <a:buChar char="●"/>
            </a:pPr>
            <a:r>
              <a:rPr lang="es" sz="900"/>
              <a:t>Clases, objetos y atributos.</a:t>
            </a:r>
            <a:endParaRPr sz="900"/>
          </a:p>
          <a:p>
            <a:pPr indent="-285750" lvl="0" marL="457200" rtl="0" algn="l">
              <a:lnSpc>
                <a:spcPct val="115000"/>
              </a:lnSpc>
              <a:spcBef>
                <a:spcPts val="0"/>
              </a:spcBef>
              <a:spcAft>
                <a:spcPts val="0"/>
              </a:spcAft>
              <a:buSzPts val="900"/>
              <a:buChar char="●"/>
            </a:pPr>
            <a:r>
              <a:rPr lang="es" sz="900"/>
              <a:t>Métodos de clase y métodos especiales: init, del y str.</a:t>
            </a:r>
            <a:endParaRPr sz="900"/>
          </a:p>
        </p:txBody>
      </p:sp>
      <p:sp>
        <p:nvSpPr>
          <p:cNvPr id="167" name="Google Shape;167;p4"/>
          <p:cNvSpPr txBox="1"/>
          <p:nvPr>
            <p:ph idx="6" type="title"/>
          </p:nvPr>
        </p:nvSpPr>
        <p:spPr>
          <a:xfrm>
            <a:off x="3331525" y="2155125"/>
            <a:ext cx="2397900" cy="2121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s"/>
              <a:t>Funciones</a:t>
            </a:r>
            <a:endParaRPr b="1"/>
          </a:p>
          <a:p>
            <a:pPr indent="0" lvl="0" marL="457200" rtl="0" algn="l">
              <a:lnSpc>
                <a:spcPct val="115000"/>
              </a:lnSpc>
              <a:spcBef>
                <a:spcPts val="0"/>
              </a:spcBef>
              <a:spcAft>
                <a:spcPts val="0"/>
              </a:spcAft>
              <a:buClr>
                <a:schemeClr val="dk1"/>
              </a:buClr>
              <a:buSzPts val="1100"/>
              <a:buFont typeface="Arial"/>
              <a:buNone/>
            </a:pPr>
            <a:r>
              <a:t/>
            </a:r>
            <a:endParaRPr b="1"/>
          </a:p>
          <a:p>
            <a:pPr indent="-285750" lvl="0" marL="457200" rtl="0" algn="l">
              <a:lnSpc>
                <a:spcPct val="115000"/>
              </a:lnSpc>
              <a:spcBef>
                <a:spcPts val="0"/>
              </a:spcBef>
              <a:spcAft>
                <a:spcPts val="0"/>
              </a:spcAft>
              <a:buSzPts val="900"/>
              <a:buChar char="●"/>
            </a:pPr>
            <a:r>
              <a:rPr lang="es" sz="900"/>
              <a:t>Funciones. Concepto.</a:t>
            </a:r>
            <a:endParaRPr sz="900"/>
          </a:p>
          <a:p>
            <a:pPr indent="-285750" lvl="0" marL="457200" rtl="0" algn="l">
              <a:lnSpc>
                <a:spcPct val="115000"/>
              </a:lnSpc>
              <a:spcBef>
                <a:spcPts val="0"/>
              </a:spcBef>
              <a:spcAft>
                <a:spcPts val="0"/>
              </a:spcAft>
              <a:buSzPts val="900"/>
              <a:buChar char="●"/>
            </a:pPr>
            <a:r>
              <a:rPr lang="es" sz="900"/>
              <a:t>Llamada a función.</a:t>
            </a:r>
            <a:endParaRPr sz="900"/>
          </a:p>
          <a:p>
            <a:pPr indent="-285750" lvl="0" marL="457200" rtl="0" algn="l">
              <a:lnSpc>
                <a:spcPct val="115000"/>
              </a:lnSpc>
              <a:spcBef>
                <a:spcPts val="0"/>
              </a:spcBef>
              <a:spcAft>
                <a:spcPts val="0"/>
              </a:spcAft>
              <a:buSzPts val="900"/>
              <a:buChar char="●"/>
            </a:pPr>
            <a:r>
              <a:rPr lang="es" sz="900"/>
              <a:t>Retorno y envío de valores.</a:t>
            </a:r>
            <a:endParaRPr sz="900"/>
          </a:p>
          <a:p>
            <a:pPr indent="-285750" lvl="0" marL="457200" rtl="0" algn="l">
              <a:lnSpc>
                <a:spcPct val="115000"/>
              </a:lnSpc>
              <a:spcBef>
                <a:spcPts val="0"/>
              </a:spcBef>
              <a:spcAft>
                <a:spcPts val="0"/>
              </a:spcAft>
              <a:buSzPts val="900"/>
              <a:buChar char="●"/>
            </a:pPr>
            <a:r>
              <a:rPr lang="es" sz="900"/>
              <a:t>Parámetros, argumentos, valor y referencia.</a:t>
            </a:r>
            <a:endParaRPr sz="900"/>
          </a:p>
          <a:p>
            <a:pPr indent="-285750" lvl="0" marL="457200" rtl="0" algn="l">
              <a:lnSpc>
                <a:spcPct val="115000"/>
              </a:lnSpc>
              <a:spcBef>
                <a:spcPts val="0"/>
              </a:spcBef>
              <a:spcAft>
                <a:spcPts val="0"/>
              </a:spcAft>
              <a:buSzPts val="900"/>
              <a:buChar char="●"/>
            </a:pPr>
            <a:r>
              <a:rPr lang="es" sz="900"/>
              <a:t>Parámetros mutables e inmutables.</a:t>
            </a:r>
            <a:endParaRPr sz="900"/>
          </a:p>
          <a:p>
            <a:pPr indent="-285750" lvl="0" marL="457200" rtl="0" algn="l">
              <a:lnSpc>
                <a:spcPct val="115000"/>
              </a:lnSpc>
              <a:spcBef>
                <a:spcPts val="0"/>
              </a:spcBef>
              <a:spcAft>
                <a:spcPts val="0"/>
              </a:spcAft>
              <a:buSzPts val="900"/>
              <a:buChar char="●"/>
            </a:pPr>
            <a:r>
              <a:rPr lang="es" sz="900"/>
              <a:t>Parámetros por defecto</a:t>
            </a:r>
            <a:endParaRPr sz="900"/>
          </a:p>
          <a:p>
            <a:pPr indent="-285750" lvl="0" marL="457200" rtl="0" algn="l">
              <a:lnSpc>
                <a:spcPct val="115000"/>
              </a:lnSpc>
              <a:spcBef>
                <a:spcPts val="0"/>
              </a:spcBef>
              <a:spcAft>
                <a:spcPts val="0"/>
              </a:spcAft>
              <a:buSzPts val="900"/>
              <a:buChar char="●"/>
            </a:pPr>
            <a:r>
              <a:rPr lang="es" sz="900"/>
              <a:t>Docstring.</a:t>
            </a:r>
            <a:endParaRPr sz="900"/>
          </a:p>
          <a:p>
            <a:pPr indent="-285750" lvl="0" marL="457200" rtl="0" algn="l">
              <a:lnSpc>
                <a:spcPct val="115000"/>
              </a:lnSpc>
              <a:spcBef>
                <a:spcPts val="0"/>
              </a:spcBef>
              <a:spcAft>
                <a:spcPts val="0"/>
              </a:spcAft>
              <a:buSzPts val="900"/>
              <a:buChar char="●"/>
            </a:pPr>
            <a:r>
              <a:rPr lang="es" sz="900"/>
              <a:t>Funciones Lambda/Anónima.</a:t>
            </a:r>
            <a:endParaRPr b="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5"/>
          <p:cNvSpPr txBox="1"/>
          <p:nvPr>
            <p:ph type="ctrTitle"/>
          </p:nvPr>
        </p:nvSpPr>
        <p:spPr>
          <a:xfrm>
            <a:off x="550375" y="7600"/>
            <a:ext cx="8043300" cy="1570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000"/>
              <a:buNone/>
            </a:pPr>
            <a:r>
              <a:rPr lang="es"/>
              <a:t>Funciones</a:t>
            </a:r>
            <a:endParaRPr/>
          </a:p>
        </p:txBody>
      </p:sp>
      <p:sp>
        <p:nvSpPr>
          <p:cNvPr id="173" name="Google Shape;173;p5"/>
          <p:cNvSpPr txBox="1"/>
          <p:nvPr>
            <p:ph idx="1" type="subTitle"/>
          </p:nvPr>
        </p:nvSpPr>
        <p:spPr>
          <a:xfrm>
            <a:off x="550375" y="1614925"/>
            <a:ext cx="8043300" cy="27318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SzPts val="1700"/>
              <a:buNone/>
            </a:pPr>
            <a:r>
              <a:rPr lang="es"/>
              <a:t>En Python, una función es un grupo de instrucciones que constituyen una unidad lógica dentro del programa. Resuelve un problema específico, y permiten la modularidad del código. </a:t>
            </a:r>
            <a:endParaRPr/>
          </a:p>
          <a:p>
            <a:pPr indent="0" lvl="0" marL="0" rtl="0" algn="l">
              <a:lnSpc>
                <a:spcPct val="100000"/>
              </a:lnSpc>
              <a:spcBef>
                <a:spcPts val="0"/>
              </a:spcBef>
              <a:spcAft>
                <a:spcPts val="0"/>
              </a:spcAft>
              <a:buClr>
                <a:schemeClr val="dk1"/>
              </a:buClr>
              <a:buSzPts val="1100"/>
              <a:buFont typeface="Arial"/>
              <a:buNone/>
            </a:pPr>
            <a:r>
              <a:rPr lang="es"/>
              <a:t>Una función puede definir opcionalmente parámetros de entrada, que permiten pasar argumentos a la función en el momento de su llamada. Además, una función también puede devolver un valor como salida.</a:t>
            </a:r>
            <a:endParaRPr/>
          </a:p>
          <a:p>
            <a:pPr indent="0" lvl="0" marL="0" rtl="0" algn="l">
              <a:lnSpc>
                <a:spcPct val="100000"/>
              </a:lnSpc>
              <a:spcBef>
                <a:spcPts val="0"/>
              </a:spcBef>
              <a:spcAft>
                <a:spcPts val="0"/>
              </a:spcAft>
              <a:buClr>
                <a:schemeClr val="dk1"/>
              </a:buClr>
              <a:buSzPts val="1100"/>
              <a:buFont typeface="Arial"/>
              <a:buNone/>
            </a:pPr>
            <a:r>
              <a:rPr lang="es"/>
              <a:t>Las funciones nos permiten dividir el trabajo que hace un programa en tareas más pequeñas, separadas del código principal. Ese es el concepto de función en programación.</a:t>
            </a:r>
            <a:endParaRPr/>
          </a:p>
          <a:p>
            <a:pPr indent="0" lvl="0" marL="0" rtl="0" algn="l">
              <a:lnSpc>
                <a:spcPct val="100000"/>
              </a:lnSpc>
              <a:spcBef>
                <a:spcPts val="0"/>
              </a:spcBef>
              <a:spcAft>
                <a:spcPts val="0"/>
              </a:spcAft>
              <a:buSzPts val="17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6"/>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Funciones</a:t>
            </a:r>
            <a:endParaRPr/>
          </a:p>
        </p:txBody>
      </p:sp>
      <p:sp>
        <p:nvSpPr>
          <p:cNvPr id="179" name="Google Shape;179;p6"/>
          <p:cNvSpPr txBox="1"/>
          <p:nvPr/>
        </p:nvSpPr>
        <p:spPr>
          <a:xfrm>
            <a:off x="436425" y="1281700"/>
            <a:ext cx="8279700" cy="3275400"/>
          </a:xfrm>
          <a:prstGeom prst="rect">
            <a:avLst/>
          </a:prstGeom>
          <a:noFill/>
          <a:ln>
            <a:noFill/>
          </a:ln>
        </p:spPr>
        <p:txBody>
          <a:bodyPr anchorCtr="0" anchor="t" bIns="91425" lIns="0" spcFirstLastPara="1" rIns="0" wrap="square" tIns="91425">
            <a:normAutofit lnSpcReduction="20000"/>
          </a:bodyPr>
          <a:lstStyle/>
          <a:p>
            <a:pPr indent="0" lvl="0" marL="0" marR="0" rtl="0" algn="l">
              <a:lnSpc>
                <a:spcPct val="115000"/>
              </a:lnSpc>
              <a:spcBef>
                <a:spcPts val="1199"/>
              </a:spcBef>
              <a:spcAft>
                <a:spcPts val="0"/>
              </a:spcAft>
              <a:buClr>
                <a:schemeClr val="dk1"/>
              </a:buClr>
              <a:buSzPts val="1100"/>
              <a:buFont typeface="Arial"/>
              <a:buNone/>
            </a:pPr>
            <a:r>
              <a:rPr b="0" i="0" lang="es" sz="1682" u="none" cap="none" strike="noStrike">
                <a:solidFill>
                  <a:srgbClr val="595959"/>
                </a:solidFill>
                <a:latin typeface="Montserrat"/>
                <a:ea typeface="Montserrat"/>
                <a:cs typeface="Montserrat"/>
                <a:sym typeface="Montserrat"/>
              </a:rPr>
              <a:t>Beneficios de la programación funcional:</a:t>
            </a:r>
            <a:endParaRPr b="0" i="0" sz="1682" u="none" cap="none" strike="noStrike">
              <a:solidFill>
                <a:srgbClr val="595959"/>
              </a:solidFill>
              <a:latin typeface="Montserrat"/>
              <a:ea typeface="Montserrat"/>
              <a:cs typeface="Montserrat"/>
              <a:sym typeface="Montserrat"/>
            </a:endParaRPr>
          </a:p>
          <a:p>
            <a:pPr indent="-335429" lvl="0" marL="457200" marR="0" rtl="0" algn="l">
              <a:lnSpc>
                <a:spcPct val="115000"/>
              </a:lnSpc>
              <a:spcBef>
                <a:spcPts val="1199"/>
              </a:spcBef>
              <a:spcAft>
                <a:spcPts val="0"/>
              </a:spcAft>
              <a:buClr>
                <a:srgbClr val="595959"/>
              </a:buClr>
              <a:buSzPts val="1682"/>
              <a:buFont typeface="Montserrat"/>
              <a:buChar char="●"/>
            </a:pPr>
            <a:r>
              <a:rPr b="1" i="0" lang="es" sz="1682" u="none" cap="none" strike="noStrike">
                <a:solidFill>
                  <a:srgbClr val="595959"/>
                </a:solidFill>
                <a:latin typeface="Montserrat"/>
                <a:ea typeface="Montserrat"/>
                <a:cs typeface="Montserrat"/>
                <a:sym typeface="Montserrat"/>
              </a:rPr>
              <a:t>Facilita el trabajo en equipo. </a:t>
            </a:r>
            <a:r>
              <a:rPr b="0" i="0" lang="es" sz="1682" u="none" cap="none" strike="noStrike">
                <a:solidFill>
                  <a:srgbClr val="595959"/>
                </a:solidFill>
                <a:latin typeface="Montserrat"/>
                <a:ea typeface="Montserrat"/>
                <a:cs typeface="Montserrat"/>
                <a:sym typeface="Montserrat"/>
              </a:rPr>
              <a:t>Al modularizar el código permite trabajar en unidades lógicas separadas.</a:t>
            </a:r>
            <a:endParaRPr b="0" i="0" sz="1682" u="none" cap="none" strike="noStrike">
              <a:solidFill>
                <a:srgbClr val="595959"/>
              </a:solidFill>
              <a:latin typeface="Montserrat"/>
              <a:ea typeface="Montserrat"/>
              <a:cs typeface="Montserrat"/>
              <a:sym typeface="Montserrat"/>
            </a:endParaRPr>
          </a:p>
          <a:p>
            <a:pPr indent="-335429" lvl="0" marL="457200" marR="0" rtl="0" algn="l">
              <a:lnSpc>
                <a:spcPct val="115000"/>
              </a:lnSpc>
              <a:spcBef>
                <a:spcPts val="0"/>
              </a:spcBef>
              <a:spcAft>
                <a:spcPts val="0"/>
              </a:spcAft>
              <a:buClr>
                <a:schemeClr val="dk2"/>
              </a:buClr>
              <a:buSzPts val="1682"/>
              <a:buFont typeface="Montserrat"/>
              <a:buChar char="●"/>
            </a:pPr>
            <a:r>
              <a:rPr b="1" i="0" lang="es" sz="1682" u="none" cap="none" strike="noStrike">
                <a:solidFill>
                  <a:schemeClr val="dk2"/>
                </a:solidFill>
                <a:latin typeface="Montserrat"/>
                <a:ea typeface="Montserrat"/>
                <a:cs typeface="Montserrat"/>
                <a:sym typeface="Montserrat"/>
              </a:rPr>
              <a:t>Encapsulamiento.</a:t>
            </a:r>
            <a:r>
              <a:rPr b="0" i="0" lang="es" sz="1682" u="none" cap="none" strike="noStrike">
                <a:solidFill>
                  <a:schemeClr val="dk2"/>
                </a:solidFill>
                <a:latin typeface="Montserrat"/>
                <a:ea typeface="Montserrat"/>
                <a:cs typeface="Montserrat"/>
                <a:sym typeface="Montserrat"/>
              </a:rPr>
              <a:t>  Dividir y organizar el código en partes más sencillas  que se pueden encapsular en funciones y ser reutilizado a lo largo del proyecto.</a:t>
            </a:r>
            <a:endParaRPr b="0" i="0" sz="1682" u="none" cap="none" strike="noStrike">
              <a:solidFill>
                <a:srgbClr val="595959"/>
              </a:solidFill>
              <a:latin typeface="Montserrat"/>
              <a:ea typeface="Montserrat"/>
              <a:cs typeface="Montserrat"/>
              <a:sym typeface="Montserrat"/>
            </a:endParaRPr>
          </a:p>
          <a:p>
            <a:pPr indent="-335429" lvl="0" marL="457200" marR="0" rtl="0" algn="l">
              <a:lnSpc>
                <a:spcPct val="115000"/>
              </a:lnSpc>
              <a:spcBef>
                <a:spcPts val="0"/>
              </a:spcBef>
              <a:spcAft>
                <a:spcPts val="0"/>
              </a:spcAft>
              <a:buClr>
                <a:srgbClr val="595959"/>
              </a:buClr>
              <a:buSzPts val="1682"/>
              <a:buFont typeface="Montserrat"/>
              <a:buChar char="●"/>
            </a:pPr>
            <a:r>
              <a:rPr b="1" i="0" lang="es" sz="1682" u="none" cap="none" strike="noStrike">
                <a:solidFill>
                  <a:srgbClr val="595959"/>
                </a:solidFill>
                <a:latin typeface="Montserrat"/>
                <a:ea typeface="Montserrat"/>
                <a:cs typeface="Montserrat"/>
                <a:sym typeface="Montserrat"/>
              </a:rPr>
              <a:t>Simplifica la lectura.</a:t>
            </a:r>
            <a:r>
              <a:rPr b="0" i="0" lang="es" sz="1682" u="none" cap="none" strike="noStrike">
                <a:solidFill>
                  <a:srgbClr val="595959"/>
                </a:solidFill>
                <a:latin typeface="Montserrat"/>
                <a:ea typeface="Montserrat"/>
                <a:cs typeface="Montserrat"/>
                <a:sym typeface="Montserrat"/>
              </a:rPr>
              <a:t> El código estructurado en funciones tiene un cuerpo principal reducido y funciones bien delimitadas. </a:t>
            </a:r>
            <a:endParaRPr b="0" i="0" sz="1682" u="none" cap="none" strike="noStrike">
              <a:solidFill>
                <a:srgbClr val="595959"/>
              </a:solidFill>
              <a:latin typeface="Montserrat"/>
              <a:ea typeface="Montserrat"/>
              <a:cs typeface="Montserrat"/>
              <a:sym typeface="Montserrat"/>
            </a:endParaRPr>
          </a:p>
          <a:p>
            <a:pPr indent="-335429" lvl="0" marL="457200" marR="0" rtl="0" algn="l">
              <a:lnSpc>
                <a:spcPct val="115000"/>
              </a:lnSpc>
              <a:spcBef>
                <a:spcPts val="0"/>
              </a:spcBef>
              <a:spcAft>
                <a:spcPts val="0"/>
              </a:spcAft>
              <a:buClr>
                <a:schemeClr val="dk2"/>
              </a:buClr>
              <a:buSzPts val="1682"/>
              <a:buFont typeface="Montserrat"/>
              <a:buChar char="●"/>
            </a:pPr>
            <a:r>
              <a:rPr b="1" i="0" lang="es" sz="1682" u="none" cap="none" strike="noStrike">
                <a:solidFill>
                  <a:schemeClr val="dk2"/>
                </a:solidFill>
                <a:latin typeface="Montserrat"/>
                <a:ea typeface="Montserrat"/>
                <a:cs typeface="Montserrat"/>
                <a:sym typeface="Montserrat"/>
              </a:rPr>
              <a:t>Reutilización. </a:t>
            </a:r>
            <a:r>
              <a:rPr b="0" i="0" lang="es" sz="1682" u="none" cap="none" strike="noStrike">
                <a:solidFill>
                  <a:schemeClr val="dk2"/>
                </a:solidFill>
                <a:latin typeface="Montserrat"/>
                <a:ea typeface="Montserrat"/>
                <a:cs typeface="Montserrat"/>
                <a:sym typeface="Montserrat"/>
              </a:rPr>
              <a:t>El código encapsulado en una función puede utilizarse en diferentes proyectos.</a:t>
            </a:r>
            <a:endParaRPr b="0" i="0" sz="1682" u="none" cap="none" strike="noStrike">
              <a:solidFill>
                <a:srgbClr val="595959"/>
              </a:solidFill>
              <a:latin typeface="Montserrat"/>
              <a:ea typeface="Montserrat"/>
              <a:cs typeface="Montserrat"/>
              <a:sym typeface="Montserrat"/>
            </a:endParaRPr>
          </a:p>
          <a:p>
            <a:pPr indent="-335429" lvl="0" marL="457200" marR="0" rtl="0" algn="l">
              <a:lnSpc>
                <a:spcPct val="115000"/>
              </a:lnSpc>
              <a:spcBef>
                <a:spcPts val="0"/>
              </a:spcBef>
              <a:spcAft>
                <a:spcPts val="0"/>
              </a:spcAft>
              <a:buClr>
                <a:srgbClr val="595959"/>
              </a:buClr>
              <a:buSzPts val="1682"/>
              <a:buFont typeface="Montserrat"/>
              <a:buChar char="●"/>
            </a:pPr>
            <a:r>
              <a:rPr b="1" i="0" lang="es" sz="1682" u="none" cap="none" strike="noStrike">
                <a:solidFill>
                  <a:srgbClr val="595959"/>
                </a:solidFill>
                <a:latin typeface="Montserrat"/>
                <a:ea typeface="Montserrat"/>
                <a:cs typeface="Montserrat"/>
                <a:sym typeface="Montserrat"/>
              </a:rPr>
              <a:t>Mantenimiento: </a:t>
            </a:r>
            <a:r>
              <a:rPr b="0" i="0" lang="es" sz="1682" u="none" cap="none" strike="noStrike">
                <a:solidFill>
                  <a:srgbClr val="595959"/>
                </a:solidFill>
                <a:latin typeface="Montserrat"/>
                <a:ea typeface="Montserrat"/>
                <a:cs typeface="Montserrat"/>
                <a:sym typeface="Montserrat"/>
              </a:rPr>
              <a:t>El software que utiliza funciones es más fácil de mantener</a:t>
            </a:r>
            <a:endParaRPr b="0" i="0" sz="1682"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7"/>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Funciones</a:t>
            </a:r>
            <a:endParaRPr/>
          </a:p>
        </p:txBody>
      </p:sp>
      <p:sp>
        <p:nvSpPr>
          <p:cNvPr id="185" name="Google Shape;185;p7"/>
          <p:cNvSpPr txBox="1"/>
          <p:nvPr/>
        </p:nvSpPr>
        <p:spPr>
          <a:xfrm>
            <a:off x="436425" y="1281700"/>
            <a:ext cx="1655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282"/>
              <a:buFont typeface="Arial"/>
              <a:buNone/>
            </a:pPr>
            <a:r>
              <a:rPr b="0" i="0" lang="es" sz="1282" u="none" cap="none" strike="noStrike">
                <a:solidFill>
                  <a:srgbClr val="595959"/>
                </a:solidFill>
                <a:latin typeface="Montserrat"/>
                <a:ea typeface="Montserrat"/>
                <a:cs typeface="Montserrat"/>
                <a:sym typeface="Montserrat"/>
              </a:rPr>
              <a:t>Las funciones permiten ejecutar código fuera del flujo normal del programa, recibiendo y devolviendo datos.</a:t>
            </a:r>
            <a:endParaRPr b="0" i="0" sz="1282" u="none" cap="none" strike="noStrike">
              <a:solidFill>
                <a:srgbClr val="595959"/>
              </a:solidFill>
              <a:latin typeface="Montserrat"/>
              <a:ea typeface="Montserrat"/>
              <a:cs typeface="Montserrat"/>
              <a:sym typeface="Montserrat"/>
            </a:endParaRPr>
          </a:p>
        </p:txBody>
      </p:sp>
      <p:sp>
        <p:nvSpPr>
          <p:cNvPr id="186" name="Google Shape;186;p7"/>
          <p:cNvSpPr/>
          <p:nvPr/>
        </p:nvSpPr>
        <p:spPr>
          <a:xfrm>
            <a:off x="2189025" y="1660900"/>
            <a:ext cx="1979400" cy="26682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rPr b="0" i="0" lang="es" sz="1200" u="none" cap="none" strike="noStrike">
                <a:solidFill>
                  <a:schemeClr val="dk2"/>
                </a:solidFill>
                <a:latin typeface="Arial"/>
                <a:ea typeface="Arial"/>
                <a:cs typeface="Arial"/>
                <a:sym typeface="Arial"/>
              </a:rPr>
              <a:t>I</a:t>
            </a:r>
            <a:r>
              <a:rPr b="0" i="0" lang="es" sz="1100" u="none" cap="none" strike="noStrike">
                <a:solidFill>
                  <a:schemeClr val="dk2"/>
                </a:solidFill>
                <a:latin typeface="Arial"/>
                <a:ea typeface="Arial"/>
                <a:cs typeface="Arial"/>
                <a:sym typeface="Arial"/>
              </a:rPr>
              <a:t>nstrucciones</a:t>
            </a:r>
            <a:endParaRPr b="0" i="0" sz="11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Arial"/>
                <a:ea typeface="Arial"/>
                <a:cs typeface="Arial"/>
                <a:sym typeface="Arial"/>
              </a:rPr>
              <a:t>...</a:t>
            </a:r>
            <a:endParaRPr b="0" i="0" sz="11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Arial"/>
                <a:ea typeface="Arial"/>
                <a:cs typeface="Arial"/>
                <a:sym typeface="Arial"/>
              </a:rPr>
              <a:t>Llamado a la función 1</a:t>
            </a:r>
            <a:endParaRPr b="0" i="0" sz="11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Arial"/>
                <a:ea typeface="Arial"/>
                <a:cs typeface="Arial"/>
                <a:sym typeface="Arial"/>
              </a:rPr>
              <a:t>...</a:t>
            </a:r>
            <a:endParaRPr b="0" i="0" sz="11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Arial"/>
                <a:ea typeface="Arial"/>
                <a:cs typeface="Arial"/>
                <a:sym typeface="Arial"/>
              </a:rPr>
              <a:t>Instrucciones</a:t>
            </a:r>
            <a:endParaRPr b="0" i="0" sz="11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Arial"/>
                <a:ea typeface="Arial"/>
                <a:cs typeface="Arial"/>
                <a:sym typeface="Arial"/>
              </a:rPr>
              <a:t>…</a:t>
            </a:r>
            <a:endParaRPr b="0" i="0" sz="11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Arial"/>
                <a:ea typeface="Arial"/>
                <a:cs typeface="Arial"/>
                <a:sym typeface="Arial"/>
              </a:rPr>
              <a:t>Llamado a la función 1</a:t>
            </a:r>
            <a:endParaRPr b="0" i="0" sz="11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Arial"/>
                <a:ea typeface="Arial"/>
                <a:cs typeface="Arial"/>
                <a:sym typeface="Arial"/>
              </a:rPr>
              <a:t>...</a:t>
            </a:r>
            <a:endParaRPr b="0" i="0" sz="11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Arial"/>
                <a:ea typeface="Arial"/>
                <a:cs typeface="Arial"/>
                <a:sym typeface="Arial"/>
              </a:rPr>
              <a:t>Instrucciones</a:t>
            </a:r>
            <a:endParaRPr b="0" i="0" sz="11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Arial"/>
                <a:ea typeface="Arial"/>
                <a:cs typeface="Arial"/>
                <a:sym typeface="Arial"/>
              </a:rPr>
              <a:t>...</a:t>
            </a:r>
            <a:endParaRPr b="0" i="0" sz="11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Arial"/>
                <a:ea typeface="Arial"/>
                <a:cs typeface="Arial"/>
                <a:sym typeface="Arial"/>
              </a:rPr>
              <a:t>Llamado a la función 2</a:t>
            </a:r>
            <a:endParaRPr b="0" i="0" sz="11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Arial"/>
                <a:ea typeface="Arial"/>
                <a:cs typeface="Arial"/>
                <a:sym typeface="Arial"/>
              </a:rPr>
              <a:t>...</a:t>
            </a:r>
            <a:endParaRPr b="0" i="0" sz="11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Arial"/>
                <a:ea typeface="Arial"/>
                <a:cs typeface="Arial"/>
                <a:sym typeface="Arial"/>
              </a:rPr>
              <a:t>Instrucciones</a:t>
            </a:r>
            <a:endParaRPr b="0" i="0" sz="11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 sz="1200" u="none" cap="none" strike="noStrike">
                <a:solidFill>
                  <a:schemeClr val="dk2"/>
                </a:solidFill>
                <a:latin typeface="Arial"/>
                <a:ea typeface="Arial"/>
                <a:cs typeface="Arial"/>
                <a:sym typeface="Arial"/>
              </a:rPr>
              <a:t>…</a:t>
            </a:r>
            <a:endParaRPr b="0" i="0" sz="1200" u="none" cap="none" strike="noStrike">
              <a:solidFill>
                <a:schemeClr val="dk2"/>
              </a:solidFill>
              <a:latin typeface="Arial"/>
              <a:ea typeface="Arial"/>
              <a:cs typeface="Arial"/>
              <a:sym typeface="Arial"/>
            </a:endParaRPr>
          </a:p>
        </p:txBody>
      </p:sp>
      <p:sp>
        <p:nvSpPr>
          <p:cNvPr id="187" name="Google Shape;187;p7"/>
          <p:cNvSpPr/>
          <p:nvPr/>
        </p:nvSpPr>
        <p:spPr>
          <a:xfrm>
            <a:off x="2092125" y="1358138"/>
            <a:ext cx="2160000" cy="359700"/>
          </a:xfrm>
          <a:prstGeom prst="rect">
            <a:avLst/>
          </a:prstGeom>
          <a:noFill/>
          <a:ln>
            <a:noFill/>
          </a:ln>
        </p:spPr>
        <p:txBody>
          <a:bodyPr anchorCtr="0" anchor="t"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Ubuntu"/>
              <a:buNone/>
            </a:pPr>
            <a:r>
              <a:rPr b="1" i="0" lang="es" sz="1300" u="none" cap="none" strike="noStrike">
                <a:solidFill>
                  <a:schemeClr val="dk2"/>
                </a:solidFill>
                <a:latin typeface="Montserrat"/>
                <a:ea typeface="Montserrat"/>
                <a:cs typeface="Montserrat"/>
                <a:sym typeface="Montserrat"/>
              </a:rPr>
              <a:t>Programa principal</a:t>
            </a:r>
            <a:endParaRPr b="1" i="0" sz="1300" u="none" cap="none" strike="noStrike">
              <a:solidFill>
                <a:schemeClr val="dk2"/>
              </a:solidFill>
              <a:latin typeface="Montserrat"/>
              <a:ea typeface="Montserrat"/>
              <a:cs typeface="Montserrat"/>
              <a:sym typeface="Montserrat"/>
            </a:endParaRPr>
          </a:p>
        </p:txBody>
      </p:sp>
      <p:sp>
        <p:nvSpPr>
          <p:cNvPr id="188" name="Google Shape;188;p7"/>
          <p:cNvSpPr/>
          <p:nvPr/>
        </p:nvSpPr>
        <p:spPr>
          <a:xfrm>
            <a:off x="5798325" y="1798000"/>
            <a:ext cx="1979400" cy="972600"/>
          </a:xfrm>
          <a:prstGeom prst="flowChartAlternateProcess">
            <a:avLst/>
          </a:prstGeom>
          <a:solidFill>
            <a:srgbClr val="F8C823"/>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Arial"/>
                <a:ea typeface="Arial"/>
                <a:cs typeface="Arial"/>
                <a:sym typeface="Arial"/>
              </a:rPr>
              <a:t>Instrucciones</a:t>
            </a:r>
            <a:endParaRPr b="0" i="0" sz="11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Arial"/>
                <a:ea typeface="Arial"/>
                <a:cs typeface="Arial"/>
                <a:sym typeface="Arial"/>
              </a:rPr>
              <a:t>…</a:t>
            </a:r>
            <a:endParaRPr b="0" i="0" sz="11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Arial"/>
                <a:ea typeface="Arial"/>
                <a:cs typeface="Arial"/>
                <a:sym typeface="Arial"/>
              </a:rPr>
              <a:t>Resultados</a:t>
            </a:r>
            <a:endParaRPr b="0" i="0" sz="1100" u="none" cap="none" strike="noStrike">
              <a:solidFill>
                <a:schemeClr val="dk2"/>
              </a:solidFill>
              <a:latin typeface="Arial"/>
              <a:ea typeface="Arial"/>
              <a:cs typeface="Arial"/>
              <a:sym typeface="Arial"/>
            </a:endParaRPr>
          </a:p>
        </p:txBody>
      </p:sp>
      <p:cxnSp>
        <p:nvCxnSpPr>
          <p:cNvPr id="189" name="Google Shape;189;p7"/>
          <p:cNvCxnSpPr/>
          <p:nvPr/>
        </p:nvCxnSpPr>
        <p:spPr>
          <a:xfrm flipH="1">
            <a:off x="3908125" y="2503800"/>
            <a:ext cx="1879200" cy="415500"/>
          </a:xfrm>
          <a:prstGeom prst="straightConnector1">
            <a:avLst/>
          </a:prstGeom>
          <a:noFill/>
          <a:ln cap="flat" cmpd="sng" w="28575">
            <a:solidFill>
              <a:schemeClr val="dk2"/>
            </a:solidFill>
            <a:prstDash val="solid"/>
            <a:round/>
            <a:headEnd len="sm" w="sm" type="none"/>
            <a:tailEnd len="med" w="med" type="triangle"/>
          </a:ln>
        </p:spPr>
      </p:cxnSp>
      <p:sp>
        <p:nvSpPr>
          <p:cNvPr id="190" name="Google Shape;190;p7"/>
          <p:cNvSpPr/>
          <p:nvPr/>
        </p:nvSpPr>
        <p:spPr>
          <a:xfrm>
            <a:off x="5708025" y="1507127"/>
            <a:ext cx="2160000" cy="359700"/>
          </a:xfrm>
          <a:prstGeom prst="rect">
            <a:avLst/>
          </a:prstGeom>
          <a:noFill/>
          <a:ln>
            <a:noFill/>
          </a:ln>
        </p:spPr>
        <p:txBody>
          <a:bodyPr anchorCtr="0" anchor="t"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Ubuntu"/>
              <a:buNone/>
            </a:pPr>
            <a:r>
              <a:rPr b="1" i="0" lang="es" sz="1300" u="none" cap="none" strike="noStrike">
                <a:solidFill>
                  <a:schemeClr val="dk2"/>
                </a:solidFill>
                <a:latin typeface="Montserrat"/>
                <a:ea typeface="Montserrat"/>
                <a:cs typeface="Montserrat"/>
                <a:sym typeface="Montserrat"/>
              </a:rPr>
              <a:t>Función 1</a:t>
            </a:r>
            <a:endParaRPr b="1" i="0" sz="1300" u="none" cap="none" strike="noStrike">
              <a:solidFill>
                <a:schemeClr val="dk2"/>
              </a:solidFill>
              <a:latin typeface="Montserrat"/>
              <a:ea typeface="Montserrat"/>
              <a:cs typeface="Montserrat"/>
              <a:sym typeface="Montserrat"/>
            </a:endParaRPr>
          </a:p>
        </p:txBody>
      </p:sp>
      <p:sp>
        <p:nvSpPr>
          <p:cNvPr id="191" name="Google Shape;191;p7"/>
          <p:cNvSpPr/>
          <p:nvPr/>
        </p:nvSpPr>
        <p:spPr>
          <a:xfrm>
            <a:off x="5841825" y="3166288"/>
            <a:ext cx="1979400" cy="1020000"/>
          </a:xfrm>
          <a:prstGeom prst="flowChartAlternateProcess">
            <a:avLst/>
          </a:prstGeom>
          <a:solidFill>
            <a:srgbClr val="D5CED9"/>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rPr b="0" i="0" lang="es" sz="1200" u="none" cap="none" strike="noStrike">
                <a:solidFill>
                  <a:schemeClr val="dk2"/>
                </a:solidFill>
                <a:latin typeface="Arial"/>
                <a:ea typeface="Arial"/>
                <a:cs typeface="Arial"/>
                <a:sym typeface="Arial"/>
              </a:rPr>
              <a:t>Instrucciones</a:t>
            </a:r>
            <a:endParaRPr b="0" i="0" sz="12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 sz="1200" u="none" cap="none" strike="noStrike">
                <a:solidFill>
                  <a:schemeClr val="dk2"/>
                </a:solidFill>
                <a:latin typeface="Arial"/>
                <a:ea typeface="Arial"/>
                <a:cs typeface="Arial"/>
                <a:sym typeface="Arial"/>
              </a:rPr>
              <a:t>…</a:t>
            </a:r>
            <a:endParaRPr b="0" i="0" sz="12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 sz="1200" u="none" cap="none" strike="noStrike">
                <a:solidFill>
                  <a:schemeClr val="dk2"/>
                </a:solidFill>
                <a:latin typeface="Arial"/>
                <a:ea typeface="Arial"/>
                <a:cs typeface="Arial"/>
                <a:sym typeface="Arial"/>
              </a:rPr>
              <a:t>Resultados</a:t>
            </a:r>
            <a:endParaRPr b="0" i="0" sz="1200" u="none" cap="none" strike="noStrike">
              <a:solidFill>
                <a:schemeClr val="dk2"/>
              </a:solidFill>
              <a:latin typeface="Arial"/>
              <a:ea typeface="Arial"/>
              <a:cs typeface="Arial"/>
              <a:sym typeface="Arial"/>
            </a:endParaRPr>
          </a:p>
        </p:txBody>
      </p:sp>
      <p:sp>
        <p:nvSpPr>
          <p:cNvPr id="192" name="Google Shape;192;p7"/>
          <p:cNvSpPr/>
          <p:nvPr/>
        </p:nvSpPr>
        <p:spPr>
          <a:xfrm>
            <a:off x="5751525" y="2882639"/>
            <a:ext cx="2160000" cy="359700"/>
          </a:xfrm>
          <a:prstGeom prst="rect">
            <a:avLst/>
          </a:prstGeom>
          <a:noFill/>
          <a:ln>
            <a:noFill/>
          </a:ln>
        </p:spPr>
        <p:txBody>
          <a:bodyPr anchorCtr="0" anchor="t"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Ubuntu"/>
              <a:buNone/>
            </a:pPr>
            <a:r>
              <a:rPr b="1" i="0" lang="es" sz="1300" u="none" cap="none" strike="noStrike">
                <a:solidFill>
                  <a:schemeClr val="dk2"/>
                </a:solidFill>
                <a:latin typeface="Montserrat"/>
                <a:ea typeface="Montserrat"/>
                <a:cs typeface="Montserrat"/>
                <a:sym typeface="Montserrat"/>
              </a:rPr>
              <a:t>Función 2</a:t>
            </a:r>
            <a:endParaRPr b="1" i="0" sz="1300" u="none" cap="none" strike="noStrike">
              <a:solidFill>
                <a:schemeClr val="dk2"/>
              </a:solidFill>
              <a:latin typeface="Montserrat"/>
              <a:ea typeface="Montserrat"/>
              <a:cs typeface="Montserrat"/>
              <a:sym typeface="Montserrat"/>
            </a:endParaRPr>
          </a:p>
        </p:txBody>
      </p:sp>
      <p:cxnSp>
        <p:nvCxnSpPr>
          <p:cNvPr id="193" name="Google Shape;193;p7"/>
          <p:cNvCxnSpPr/>
          <p:nvPr/>
        </p:nvCxnSpPr>
        <p:spPr>
          <a:xfrm flipH="1" rot="10800000">
            <a:off x="3998335" y="2095918"/>
            <a:ext cx="1753200" cy="172800"/>
          </a:xfrm>
          <a:prstGeom prst="straightConnector1">
            <a:avLst/>
          </a:prstGeom>
          <a:noFill/>
          <a:ln cap="flat" cmpd="sng" w="28575">
            <a:solidFill>
              <a:schemeClr val="dk2"/>
            </a:solidFill>
            <a:prstDash val="solid"/>
            <a:round/>
            <a:headEnd len="sm" w="sm" type="none"/>
            <a:tailEnd len="med" w="med" type="triangle"/>
          </a:ln>
        </p:spPr>
      </p:cxnSp>
      <p:cxnSp>
        <p:nvCxnSpPr>
          <p:cNvPr id="194" name="Google Shape;194;p7"/>
          <p:cNvCxnSpPr/>
          <p:nvPr/>
        </p:nvCxnSpPr>
        <p:spPr>
          <a:xfrm flipH="1" rot="10800000">
            <a:off x="3914625" y="2117438"/>
            <a:ext cx="1865700" cy="761400"/>
          </a:xfrm>
          <a:prstGeom prst="straightConnector1">
            <a:avLst/>
          </a:prstGeom>
          <a:noFill/>
          <a:ln cap="flat" cmpd="sng" w="28575">
            <a:solidFill>
              <a:schemeClr val="dk2"/>
            </a:solidFill>
            <a:prstDash val="solid"/>
            <a:round/>
            <a:headEnd len="sm" w="sm" type="none"/>
            <a:tailEnd len="med" w="med" type="triangle"/>
          </a:ln>
        </p:spPr>
      </p:cxnSp>
      <p:cxnSp>
        <p:nvCxnSpPr>
          <p:cNvPr id="195" name="Google Shape;195;p7"/>
          <p:cNvCxnSpPr/>
          <p:nvPr/>
        </p:nvCxnSpPr>
        <p:spPr>
          <a:xfrm rot="10800000">
            <a:off x="3963175" y="2382325"/>
            <a:ext cx="1802700" cy="71400"/>
          </a:xfrm>
          <a:prstGeom prst="straightConnector1">
            <a:avLst/>
          </a:prstGeom>
          <a:noFill/>
          <a:ln cap="flat" cmpd="sng" w="28575">
            <a:solidFill>
              <a:schemeClr val="dk2"/>
            </a:solidFill>
            <a:prstDash val="solid"/>
            <a:round/>
            <a:headEnd len="sm" w="sm" type="none"/>
            <a:tailEnd len="med" w="med" type="triangle"/>
          </a:ln>
        </p:spPr>
      </p:cxnSp>
      <p:cxnSp>
        <p:nvCxnSpPr>
          <p:cNvPr id="196" name="Google Shape;196;p7"/>
          <p:cNvCxnSpPr/>
          <p:nvPr/>
        </p:nvCxnSpPr>
        <p:spPr>
          <a:xfrm flipH="1" rot="10800000">
            <a:off x="3967825" y="3498220"/>
            <a:ext cx="1826700" cy="98700"/>
          </a:xfrm>
          <a:prstGeom prst="straightConnector1">
            <a:avLst/>
          </a:prstGeom>
          <a:noFill/>
          <a:ln cap="flat" cmpd="sng" w="28575">
            <a:solidFill>
              <a:schemeClr val="dk2"/>
            </a:solidFill>
            <a:prstDash val="solid"/>
            <a:round/>
            <a:headEnd len="sm" w="sm" type="none"/>
            <a:tailEnd len="med" w="med" type="triangle"/>
          </a:ln>
        </p:spPr>
      </p:cxnSp>
      <p:cxnSp>
        <p:nvCxnSpPr>
          <p:cNvPr id="197" name="Google Shape;197;p7"/>
          <p:cNvCxnSpPr/>
          <p:nvPr/>
        </p:nvCxnSpPr>
        <p:spPr>
          <a:xfrm rot="10800000">
            <a:off x="4013225" y="3669725"/>
            <a:ext cx="1759800" cy="157500"/>
          </a:xfrm>
          <a:prstGeom prst="straightConnector1">
            <a:avLst/>
          </a:prstGeom>
          <a:noFill/>
          <a:ln cap="flat" cmpd="sng" w="28575">
            <a:solidFill>
              <a:schemeClr val="dk2"/>
            </a:solidFill>
            <a:prstDash val="solid"/>
            <a:round/>
            <a:headEnd len="sm" w="sm"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8"/>
          <p:cNvSpPr/>
          <p:nvPr/>
        </p:nvSpPr>
        <p:spPr>
          <a:xfrm>
            <a:off x="3205913" y="2861825"/>
            <a:ext cx="2710500" cy="15591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Declaramos la función</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suma</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a</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00E8C6"/>
                </a:solidFill>
                <a:highlight>
                  <a:srgbClr val="23262E"/>
                </a:highlight>
                <a:latin typeface="Consolas"/>
                <a:ea typeface="Consolas"/>
                <a:cs typeface="Consolas"/>
                <a:sym typeface="Consolas"/>
              </a:rPr>
              <a:t>b</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s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b</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"Suma:"</a:t>
            </a:r>
            <a:r>
              <a:rPr b="0" i="0" lang="es" sz="1200" u="none" cap="none" strike="noStrike">
                <a:solidFill>
                  <a:srgbClr val="D5CED9"/>
                </a:solidFill>
                <a:highlight>
                  <a:srgbClr val="23262E"/>
                </a:highlight>
                <a:latin typeface="Consolas"/>
                <a:ea typeface="Consolas"/>
                <a:cs typeface="Consolas"/>
                <a:sym typeface="Consolas"/>
              </a:rPr>
              <a:t>, s)</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Programa principal</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suma</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5</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10</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t/>
            </a:r>
            <a:endParaRPr b="0" i="0" sz="1200" u="none" cap="none" strike="noStrike">
              <a:solidFill>
                <a:srgbClr val="D5CED9"/>
              </a:solidFill>
              <a:latin typeface="Consolas"/>
              <a:ea typeface="Consolas"/>
              <a:cs typeface="Consolas"/>
              <a:sym typeface="Consolas"/>
            </a:endParaRPr>
          </a:p>
        </p:txBody>
      </p:sp>
      <p:sp>
        <p:nvSpPr>
          <p:cNvPr id="203" name="Google Shape;203;p8"/>
          <p:cNvSpPr/>
          <p:nvPr/>
        </p:nvSpPr>
        <p:spPr>
          <a:xfrm>
            <a:off x="3210188" y="2632925"/>
            <a:ext cx="27105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Funciones</a:t>
            </a:r>
            <a:endParaRPr b="0" i="0" sz="1400" u="none" cap="none" strike="noStrike">
              <a:solidFill>
                <a:schemeClr val="dk2"/>
              </a:solidFill>
              <a:latin typeface="Montserrat"/>
              <a:ea typeface="Montserrat"/>
              <a:cs typeface="Montserrat"/>
              <a:sym typeface="Montserrat"/>
            </a:endParaRPr>
          </a:p>
        </p:txBody>
      </p:sp>
      <p:sp>
        <p:nvSpPr>
          <p:cNvPr id="204" name="Google Shape;204;p8"/>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Funciones | Definición</a:t>
            </a:r>
            <a:endParaRPr/>
          </a:p>
        </p:txBody>
      </p:sp>
      <p:cxnSp>
        <p:nvCxnSpPr>
          <p:cNvPr id="205" name="Google Shape;205;p8"/>
          <p:cNvCxnSpPr/>
          <p:nvPr/>
        </p:nvCxnSpPr>
        <p:spPr>
          <a:xfrm flipH="1">
            <a:off x="3812850" y="2031750"/>
            <a:ext cx="212700" cy="1029900"/>
          </a:xfrm>
          <a:prstGeom prst="straightConnector1">
            <a:avLst/>
          </a:prstGeom>
          <a:noFill/>
          <a:ln cap="flat" cmpd="sng" w="28575">
            <a:solidFill>
              <a:schemeClr val="dk2"/>
            </a:solidFill>
            <a:prstDash val="solid"/>
            <a:round/>
            <a:headEnd len="sm" w="sm" type="none"/>
            <a:tailEnd len="med" w="med" type="triangle"/>
          </a:ln>
        </p:spPr>
      </p:cxnSp>
      <p:sp>
        <p:nvSpPr>
          <p:cNvPr id="206" name="Google Shape;206;p8"/>
          <p:cNvSpPr/>
          <p:nvPr/>
        </p:nvSpPr>
        <p:spPr>
          <a:xfrm>
            <a:off x="726750" y="3245373"/>
            <a:ext cx="1979400" cy="3600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Código de la función</a:t>
            </a:r>
            <a:endParaRPr b="0" i="0" sz="1100" u="none" cap="none" strike="noStrike">
              <a:solidFill>
                <a:schemeClr val="dk2"/>
              </a:solidFill>
              <a:latin typeface="Montserrat"/>
              <a:ea typeface="Montserrat"/>
              <a:cs typeface="Montserrat"/>
              <a:sym typeface="Montserrat"/>
            </a:endParaRPr>
          </a:p>
        </p:txBody>
      </p:sp>
      <p:cxnSp>
        <p:nvCxnSpPr>
          <p:cNvPr id="207" name="Google Shape;207;p8"/>
          <p:cNvCxnSpPr/>
          <p:nvPr/>
        </p:nvCxnSpPr>
        <p:spPr>
          <a:xfrm flipH="1">
            <a:off x="4313550" y="2031750"/>
            <a:ext cx="1898100" cy="1015800"/>
          </a:xfrm>
          <a:prstGeom prst="straightConnector1">
            <a:avLst/>
          </a:prstGeom>
          <a:noFill/>
          <a:ln cap="flat" cmpd="sng" w="28575">
            <a:solidFill>
              <a:schemeClr val="dk2"/>
            </a:solidFill>
            <a:prstDash val="solid"/>
            <a:round/>
            <a:headEnd len="sm" w="sm" type="none"/>
            <a:tailEnd len="med" w="med" type="triangle"/>
          </a:ln>
        </p:spPr>
      </p:cxnSp>
      <p:cxnSp>
        <p:nvCxnSpPr>
          <p:cNvPr id="208" name="Google Shape;208;p8"/>
          <p:cNvCxnSpPr/>
          <p:nvPr/>
        </p:nvCxnSpPr>
        <p:spPr>
          <a:xfrm>
            <a:off x="3143125" y="3203075"/>
            <a:ext cx="4800" cy="411600"/>
          </a:xfrm>
          <a:prstGeom prst="straightConnector1">
            <a:avLst/>
          </a:prstGeom>
          <a:noFill/>
          <a:ln cap="flat" cmpd="sng" w="28575">
            <a:solidFill>
              <a:schemeClr val="dk2"/>
            </a:solidFill>
            <a:prstDash val="solid"/>
            <a:round/>
            <a:headEnd len="sm" w="sm" type="none"/>
            <a:tailEnd len="sm" w="sm" type="none"/>
          </a:ln>
        </p:spPr>
      </p:cxnSp>
      <p:cxnSp>
        <p:nvCxnSpPr>
          <p:cNvPr id="209" name="Google Shape;209;p8"/>
          <p:cNvCxnSpPr/>
          <p:nvPr/>
        </p:nvCxnSpPr>
        <p:spPr>
          <a:xfrm>
            <a:off x="2706138" y="3421625"/>
            <a:ext cx="403500" cy="7500"/>
          </a:xfrm>
          <a:prstGeom prst="straightConnector1">
            <a:avLst/>
          </a:prstGeom>
          <a:noFill/>
          <a:ln cap="flat" cmpd="sng" w="28575">
            <a:solidFill>
              <a:schemeClr val="dk2"/>
            </a:solidFill>
            <a:prstDash val="solid"/>
            <a:round/>
            <a:headEnd len="sm" w="sm" type="none"/>
            <a:tailEnd len="med" w="med" type="triangle"/>
          </a:ln>
        </p:spPr>
      </p:cxnSp>
      <p:sp>
        <p:nvSpPr>
          <p:cNvPr id="210" name="Google Shape;210;p8"/>
          <p:cNvSpPr/>
          <p:nvPr/>
        </p:nvSpPr>
        <p:spPr>
          <a:xfrm>
            <a:off x="6490975" y="3573174"/>
            <a:ext cx="1979400" cy="5400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Invocación de</a:t>
            </a:r>
            <a:endParaRPr b="0" i="0" sz="1100" u="none" cap="none" strike="noStrike">
              <a:solidFill>
                <a:schemeClr val="dk2"/>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la función</a:t>
            </a:r>
            <a:endParaRPr b="0" i="0" sz="1100" u="none" cap="none" strike="noStrike">
              <a:solidFill>
                <a:schemeClr val="dk2"/>
              </a:solidFill>
              <a:latin typeface="Montserrat"/>
              <a:ea typeface="Montserrat"/>
              <a:cs typeface="Montserrat"/>
              <a:sym typeface="Montserrat"/>
            </a:endParaRPr>
          </a:p>
        </p:txBody>
      </p:sp>
      <p:cxnSp>
        <p:nvCxnSpPr>
          <p:cNvPr id="211" name="Google Shape;211;p8"/>
          <p:cNvCxnSpPr/>
          <p:nvPr/>
        </p:nvCxnSpPr>
        <p:spPr>
          <a:xfrm flipH="1">
            <a:off x="4499725" y="3820075"/>
            <a:ext cx="1938600" cy="293100"/>
          </a:xfrm>
          <a:prstGeom prst="straightConnector1">
            <a:avLst/>
          </a:prstGeom>
          <a:noFill/>
          <a:ln cap="flat" cmpd="sng" w="28575">
            <a:solidFill>
              <a:schemeClr val="dk2"/>
            </a:solidFill>
            <a:prstDash val="solid"/>
            <a:round/>
            <a:headEnd len="sm" w="sm" type="none"/>
            <a:tailEnd len="med" w="med" type="triangle"/>
          </a:ln>
        </p:spPr>
      </p:cxnSp>
      <p:sp>
        <p:nvSpPr>
          <p:cNvPr id="212" name="Google Shape;212;p8"/>
          <p:cNvSpPr/>
          <p:nvPr/>
        </p:nvSpPr>
        <p:spPr>
          <a:xfrm>
            <a:off x="5241250" y="1675949"/>
            <a:ext cx="1979400" cy="3600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Argumentos</a:t>
            </a:r>
            <a:endParaRPr b="0" i="0" sz="1100" u="none" cap="none" strike="noStrike">
              <a:solidFill>
                <a:schemeClr val="dk2"/>
              </a:solidFill>
              <a:latin typeface="Montserrat"/>
              <a:ea typeface="Montserrat"/>
              <a:cs typeface="Montserrat"/>
              <a:sym typeface="Montserrat"/>
            </a:endParaRPr>
          </a:p>
        </p:txBody>
      </p:sp>
      <p:sp>
        <p:nvSpPr>
          <p:cNvPr id="213" name="Google Shape;213;p8"/>
          <p:cNvSpPr/>
          <p:nvPr/>
        </p:nvSpPr>
        <p:spPr>
          <a:xfrm>
            <a:off x="3140575" y="1677150"/>
            <a:ext cx="1979400" cy="3600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Nombre de la función</a:t>
            </a:r>
            <a:endParaRPr b="0" i="0" sz="11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9"/>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Funciones | Definición</a:t>
            </a:r>
            <a:endParaRPr/>
          </a:p>
        </p:txBody>
      </p:sp>
      <p:sp>
        <p:nvSpPr>
          <p:cNvPr id="219" name="Google Shape;219;p9"/>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rgbClr val="595959"/>
                </a:solidFill>
                <a:latin typeface="Montserrat"/>
                <a:ea typeface="Montserrat"/>
                <a:cs typeface="Montserrat"/>
                <a:sym typeface="Montserrat"/>
              </a:rPr>
              <a:t>Elementos de una función:</a:t>
            </a:r>
            <a:endParaRPr b="0" i="0" sz="1682" u="none" cap="none" strike="noStrike">
              <a:solidFill>
                <a:srgbClr val="595959"/>
              </a:solidFill>
              <a:latin typeface="Montserrat"/>
              <a:ea typeface="Montserrat"/>
              <a:cs typeface="Montserrat"/>
              <a:sym typeface="Montserrat"/>
            </a:endParaRPr>
          </a:p>
          <a:p>
            <a:pPr indent="-335429" lvl="0" marL="457200" marR="0" rtl="0" algn="l">
              <a:lnSpc>
                <a:spcPct val="115000"/>
              </a:lnSpc>
              <a:spcBef>
                <a:spcPts val="1199"/>
              </a:spcBef>
              <a:spcAft>
                <a:spcPts val="0"/>
              </a:spcAft>
              <a:buClr>
                <a:srgbClr val="595959"/>
              </a:buClr>
              <a:buSzPts val="1682"/>
              <a:buFont typeface="Montserrat"/>
              <a:buChar char="●"/>
            </a:pPr>
            <a:r>
              <a:rPr b="0" i="0" lang="es" sz="1682" u="none" cap="none" strike="noStrike">
                <a:solidFill>
                  <a:srgbClr val="595959"/>
                </a:solidFill>
                <a:latin typeface="Montserrat"/>
                <a:ea typeface="Montserrat"/>
                <a:cs typeface="Montserrat"/>
                <a:sym typeface="Montserrat"/>
              </a:rPr>
              <a:t>Primera línea: cabecera o definición de la función:</a:t>
            </a:r>
            <a:endParaRPr b="0" i="0" sz="1682" u="none" cap="none" strike="noStrike">
              <a:solidFill>
                <a:srgbClr val="595959"/>
              </a:solidFill>
              <a:latin typeface="Montserrat"/>
              <a:ea typeface="Montserrat"/>
              <a:cs typeface="Montserrat"/>
              <a:sym typeface="Montserrat"/>
            </a:endParaRPr>
          </a:p>
          <a:p>
            <a:pPr indent="-335429" lvl="1" marL="914400" marR="0" rtl="0" algn="l">
              <a:lnSpc>
                <a:spcPct val="115000"/>
              </a:lnSpc>
              <a:spcBef>
                <a:spcPts val="0"/>
              </a:spcBef>
              <a:spcAft>
                <a:spcPts val="0"/>
              </a:spcAft>
              <a:buClr>
                <a:srgbClr val="595959"/>
              </a:buClr>
              <a:buSzPts val="1682"/>
              <a:buFont typeface="Montserrat"/>
              <a:buChar char="○"/>
            </a:pPr>
            <a:r>
              <a:rPr b="1" i="0" lang="es" sz="1682" u="none" cap="none" strike="noStrike">
                <a:solidFill>
                  <a:srgbClr val="595959"/>
                </a:solidFill>
                <a:latin typeface="Montserrat"/>
                <a:ea typeface="Montserrat"/>
                <a:cs typeface="Montserrat"/>
                <a:sym typeface="Montserrat"/>
              </a:rPr>
              <a:t>def</a:t>
            </a:r>
            <a:r>
              <a:rPr b="0" i="0" lang="es" sz="1682" u="none" cap="none" strike="noStrike">
                <a:solidFill>
                  <a:srgbClr val="595959"/>
                </a:solidFill>
                <a:latin typeface="Montserrat"/>
                <a:ea typeface="Montserrat"/>
                <a:cs typeface="Montserrat"/>
                <a:sym typeface="Montserrat"/>
              </a:rPr>
              <a:t>: palabra reservada que define una función.</a:t>
            </a:r>
            <a:endParaRPr b="0" i="0" sz="1682" u="none" cap="none" strike="noStrike">
              <a:solidFill>
                <a:srgbClr val="595959"/>
              </a:solidFill>
              <a:latin typeface="Montserrat"/>
              <a:ea typeface="Montserrat"/>
              <a:cs typeface="Montserrat"/>
              <a:sym typeface="Montserrat"/>
            </a:endParaRPr>
          </a:p>
          <a:p>
            <a:pPr indent="-335429" lvl="1" marL="914400" marR="0" rtl="0" algn="l">
              <a:lnSpc>
                <a:spcPct val="115000"/>
              </a:lnSpc>
              <a:spcBef>
                <a:spcPts val="0"/>
              </a:spcBef>
              <a:spcAft>
                <a:spcPts val="0"/>
              </a:spcAft>
              <a:buClr>
                <a:srgbClr val="595959"/>
              </a:buClr>
              <a:buSzPts val="1682"/>
              <a:buFont typeface="Montserrat"/>
              <a:buChar char="○"/>
            </a:pPr>
            <a:r>
              <a:rPr b="0" i="0" lang="es" sz="1682" u="none" cap="none" strike="noStrike">
                <a:solidFill>
                  <a:srgbClr val="595959"/>
                </a:solidFill>
                <a:latin typeface="Montserrat"/>
                <a:ea typeface="Montserrat"/>
                <a:cs typeface="Montserrat"/>
                <a:sym typeface="Montserrat"/>
              </a:rPr>
              <a:t>nombre o identificador: se utiliza para invocar la función.</a:t>
            </a:r>
            <a:endParaRPr b="0" i="0" sz="1682" u="none" cap="none" strike="noStrike">
              <a:solidFill>
                <a:srgbClr val="595959"/>
              </a:solidFill>
              <a:latin typeface="Montserrat"/>
              <a:ea typeface="Montserrat"/>
              <a:cs typeface="Montserrat"/>
              <a:sym typeface="Montserrat"/>
            </a:endParaRPr>
          </a:p>
          <a:p>
            <a:pPr indent="-335429" lvl="1" marL="914400" marR="0" rtl="0" algn="l">
              <a:lnSpc>
                <a:spcPct val="115000"/>
              </a:lnSpc>
              <a:spcBef>
                <a:spcPts val="0"/>
              </a:spcBef>
              <a:spcAft>
                <a:spcPts val="0"/>
              </a:spcAft>
              <a:buClr>
                <a:srgbClr val="595959"/>
              </a:buClr>
              <a:buSzPts val="1682"/>
              <a:buFont typeface="Montserrat"/>
              <a:buChar char="○"/>
            </a:pPr>
            <a:r>
              <a:rPr b="0" i="0" lang="es" sz="1682" u="none" cap="none" strike="noStrike">
                <a:solidFill>
                  <a:srgbClr val="595959"/>
                </a:solidFill>
                <a:latin typeface="Montserrat"/>
                <a:ea typeface="Montserrat"/>
                <a:cs typeface="Montserrat"/>
                <a:sym typeface="Montserrat"/>
              </a:rPr>
              <a:t>Parámetros: encerrados entre paréntesis, son opcionales.</a:t>
            </a:r>
            <a:endParaRPr b="0" i="0" sz="1682" u="none" cap="none" strike="noStrike">
              <a:solidFill>
                <a:srgbClr val="595959"/>
              </a:solidFill>
              <a:latin typeface="Montserrat"/>
              <a:ea typeface="Montserrat"/>
              <a:cs typeface="Montserrat"/>
              <a:sym typeface="Montserrat"/>
            </a:endParaRPr>
          </a:p>
          <a:p>
            <a:pPr indent="-335429" lvl="1" marL="914400" marR="0" rtl="0" algn="l">
              <a:lnSpc>
                <a:spcPct val="115000"/>
              </a:lnSpc>
              <a:spcBef>
                <a:spcPts val="0"/>
              </a:spcBef>
              <a:spcAft>
                <a:spcPts val="0"/>
              </a:spcAft>
              <a:buClr>
                <a:srgbClr val="595959"/>
              </a:buClr>
              <a:buSzPts val="1682"/>
              <a:buFont typeface="Montserrat"/>
              <a:buChar char="○"/>
            </a:pPr>
            <a:r>
              <a:rPr b="0" i="0" lang="es" sz="1682" u="none" cap="none" strike="noStrike">
                <a:solidFill>
                  <a:srgbClr val="595959"/>
                </a:solidFill>
                <a:latin typeface="Montserrat"/>
                <a:ea typeface="Montserrat"/>
                <a:cs typeface="Montserrat"/>
                <a:sym typeface="Montserrat"/>
              </a:rPr>
              <a:t>Dos puntos: indican el cierre de la cabecera.</a:t>
            </a:r>
            <a:endParaRPr b="0" i="0" sz="1682" u="none" cap="none" strike="noStrike">
              <a:solidFill>
                <a:srgbClr val="595959"/>
              </a:solidFill>
              <a:latin typeface="Montserrat"/>
              <a:ea typeface="Montserrat"/>
              <a:cs typeface="Montserrat"/>
              <a:sym typeface="Montserrat"/>
            </a:endParaRPr>
          </a:p>
          <a:p>
            <a:pPr indent="-335429" lvl="0" marL="457200" marR="0" rtl="0" algn="l">
              <a:lnSpc>
                <a:spcPct val="115000"/>
              </a:lnSpc>
              <a:spcBef>
                <a:spcPts val="0"/>
              </a:spcBef>
              <a:spcAft>
                <a:spcPts val="0"/>
              </a:spcAft>
              <a:buClr>
                <a:srgbClr val="595959"/>
              </a:buClr>
              <a:buSzPts val="1682"/>
              <a:buFont typeface="Montserrat"/>
              <a:buChar char="●"/>
            </a:pPr>
            <a:r>
              <a:rPr b="0" i="0" lang="es" sz="1682" u="none" cap="none" strike="noStrike">
                <a:solidFill>
                  <a:srgbClr val="595959"/>
                </a:solidFill>
                <a:latin typeface="Montserrat"/>
                <a:ea typeface="Montserrat"/>
                <a:cs typeface="Montserrat"/>
                <a:sym typeface="Montserrat"/>
              </a:rPr>
              <a:t>Cuerpo: se delimita con la indentación, y constituye el código que se encapsula en la función.</a:t>
            </a:r>
            <a:endParaRPr b="0" i="0" sz="1682" u="none" cap="none" strike="noStrike">
              <a:solidFill>
                <a:srgbClr val="595959"/>
              </a:solidFill>
              <a:latin typeface="Montserrat"/>
              <a:ea typeface="Montserrat"/>
              <a:cs typeface="Montserrat"/>
              <a:sym typeface="Montserrat"/>
            </a:endParaRPr>
          </a:p>
          <a:p>
            <a:pPr indent="-335429" lvl="0" marL="457200" marR="0" rtl="0" algn="l">
              <a:lnSpc>
                <a:spcPct val="115000"/>
              </a:lnSpc>
              <a:spcBef>
                <a:spcPts val="0"/>
              </a:spcBef>
              <a:spcAft>
                <a:spcPts val="0"/>
              </a:spcAft>
              <a:buClr>
                <a:srgbClr val="595959"/>
              </a:buClr>
              <a:buSzPts val="1682"/>
              <a:buFont typeface="Montserrat"/>
              <a:buChar char="●"/>
            </a:pPr>
            <a:r>
              <a:rPr b="1" i="0" lang="es" sz="1682" u="none" cap="none" strike="noStrike">
                <a:solidFill>
                  <a:srgbClr val="595959"/>
                </a:solidFill>
                <a:latin typeface="Montserrat"/>
                <a:ea typeface="Montserrat"/>
                <a:cs typeface="Montserrat"/>
                <a:sym typeface="Montserrat"/>
              </a:rPr>
              <a:t>Return</a:t>
            </a:r>
            <a:r>
              <a:rPr b="0" i="0" lang="es" sz="1682" u="none" cap="none" strike="noStrike">
                <a:solidFill>
                  <a:srgbClr val="595959"/>
                </a:solidFill>
                <a:latin typeface="Montserrat"/>
                <a:ea typeface="Montserrat"/>
                <a:cs typeface="Montserrat"/>
                <a:sym typeface="Montserrat"/>
              </a:rPr>
              <a:t>: Es opcional, permite a la función devolver valores al cuerpo principal del programa.</a:t>
            </a:r>
            <a:endParaRPr b="0" i="0" sz="1682"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0"/>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Funciones | Definición</a:t>
            </a:r>
            <a:endParaRPr/>
          </a:p>
        </p:txBody>
      </p:sp>
      <p:sp>
        <p:nvSpPr>
          <p:cNvPr id="225" name="Google Shape;225;p10"/>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00000"/>
              </a:lnSpc>
              <a:spcBef>
                <a:spcPts val="0"/>
              </a:spcBef>
              <a:spcAft>
                <a:spcPts val="0"/>
              </a:spcAft>
              <a:buClr>
                <a:schemeClr val="dk1"/>
              </a:buClr>
              <a:buSzPts val="1100"/>
              <a:buFont typeface="Arial"/>
              <a:buNone/>
            </a:pPr>
            <a:r>
              <a:rPr b="0" i="0" lang="es" sz="1650" u="none" cap="none" strike="noStrike">
                <a:solidFill>
                  <a:schemeClr val="dk2"/>
                </a:solidFill>
                <a:latin typeface="Montserrat"/>
                <a:ea typeface="Montserrat"/>
                <a:cs typeface="Montserrat"/>
                <a:sym typeface="Montserrat"/>
              </a:rPr>
              <a:t>Los nombres de las funciones siguen las mismas pautas vistas para nombrar variables, aunque utilizando verbos en infinitivo.</a:t>
            </a:r>
            <a:endParaRPr b="0" i="0" sz="1650" u="none" cap="none" strike="noStrike">
              <a:solidFill>
                <a:schemeClr val="dk2"/>
              </a:solidFill>
              <a:latin typeface="Arial"/>
              <a:ea typeface="Arial"/>
              <a:cs typeface="Arial"/>
              <a:sym typeface="Arial"/>
            </a:endParaRPr>
          </a:p>
          <a:p>
            <a:pPr indent="0" lvl="0" marL="0" marR="0" rtl="0" algn="l">
              <a:lnSpc>
                <a:spcPct val="115000"/>
              </a:lnSpc>
              <a:spcBef>
                <a:spcPts val="1199"/>
              </a:spcBef>
              <a:spcAft>
                <a:spcPts val="0"/>
              </a:spcAft>
              <a:buClr>
                <a:schemeClr val="dk1"/>
              </a:buClr>
              <a:buSzPts val="1100"/>
              <a:buFont typeface="Arial"/>
              <a:buNone/>
            </a:pPr>
            <a:r>
              <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chemeClr val="dk1"/>
              </a:buClr>
              <a:buSzPts val="1100"/>
              <a:buFont typeface="Arial"/>
              <a:buNone/>
            </a:pPr>
            <a:r>
              <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rgbClr val="595959"/>
              </a:solidFill>
              <a:latin typeface="Montserrat"/>
              <a:ea typeface="Montserrat"/>
              <a:cs typeface="Montserrat"/>
              <a:sym typeface="Montserrat"/>
            </a:endParaRPr>
          </a:p>
        </p:txBody>
      </p:sp>
      <p:sp>
        <p:nvSpPr>
          <p:cNvPr id="226" name="Google Shape;226;p10"/>
          <p:cNvSpPr/>
          <p:nvPr/>
        </p:nvSpPr>
        <p:spPr>
          <a:xfrm>
            <a:off x="1197225" y="2221350"/>
            <a:ext cx="4443000" cy="14727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Definición de la función</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imprimir_mensaje_cinco_veces</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for</a:t>
            </a:r>
            <a:r>
              <a:rPr b="0" i="0" lang="es" sz="1200" u="none" cap="none" strike="noStrike">
                <a:solidFill>
                  <a:srgbClr val="D5CED9"/>
                </a:solidFill>
                <a:highlight>
                  <a:srgbClr val="23262E"/>
                </a:highlight>
                <a:latin typeface="Consolas"/>
                <a:ea typeface="Consolas"/>
                <a:cs typeface="Consolas"/>
                <a:sym typeface="Consolas"/>
              </a:rPr>
              <a:t> i </a:t>
            </a:r>
            <a:r>
              <a:rPr b="0" i="0" lang="es" sz="1200" u="none" cap="none" strike="noStrike">
                <a:solidFill>
                  <a:srgbClr val="C74DED"/>
                </a:solidFill>
                <a:highlight>
                  <a:srgbClr val="23262E"/>
                </a:highlight>
                <a:latin typeface="Consolas"/>
                <a:ea typeface="Consolas"/>
                <a:cs typeface="Consolas"/>
                <a:sym typeface="Consolas"/>
              </a:rPr>
              <a:t>in</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range</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5</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"Este es el mensaje "</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str(i))</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Invocación de la función</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imprimir_mensaje_cinco_veces</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FFE66D"/>
              </a:solidFill>
              <a:highlight>
                <a:srgbClr val="23262E"/>
              </a:highlight>
              <a:latin typeface="Consolas"/>
              <a:ea typeface="Consolas"/>
              <a:cs typeface="Consolas"/>
              <a:sym typeface="Consolas"/>
            </a:endParaRPr>
          </a:p>
        </p:txBody>
      </p:sp>
      <p:sp>
        <p:nvSpPr>
          <p:cNvPr id="227" name="Google Shape;227;p10"/>
          <p:cNvSpPr/>
          <p:nvPr/>
        </p:nvSpPr>
        <p:spPr>
          <a:xfrm>
            <a:off x="1197225" y="1992450"/>
            <a:ext cx="44430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Ejemplo de uso de una función</a:t>
            </a:r>
            <a:endParaRPr b="0" i="0" sz="1400" u="none" cap="none" strike="noStrike">
              <a:solidFill>
                <a:schemeClr val="dk2"/>
              </a:solidFill>
              <a:latin typeface="Montserrat"/>
              <a:ea typeface="Montserrat"/>
              <a:cs typeface="Montserrat"/>
              <a:sym typeface="Montserrat"/>
            </a:endParaRPr>
          </a:p>
        </p:txBody>
      </p:sp>
      <p:sp>
        <p:nvSpPr>
          <p:cNvPr id="228" name="Google Shape;228;p10"/>
          <p:cNvSpPr/>
          <p:nvPr/>
        </p:nvSpPr>
        <p:spPr>
          <a:xfrm>
            <a:off x="5931081" y="2224100"/>
            <a:ext cx="1998300" cy="14727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Este es el mensaje 0</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Este es el mensaje 1</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Este es el mensaje 2</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Este es el mensaje 3</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Este es el mensaje 4</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200"/>
              <a:buFont typeface="Consolas"/>
              <a:buNone/>
            </a:pPr>
            <a:r>
              <a:t/>
            </a:r>
            <a:endParaRPr b="0" i="0" sz="1200" u="none" cap="none" strike="noStrike">
              <a:solidFill>
                <a:srgbClr val="D5CED9"/>
              </a:solidFill>
              <a:latin typeface="Consolas"/>
              <a:ea typeface="Consolas"/>
              <a:cs typeface="Consolas"/>
              <a:sym typeface="Consolas"/>
            </a:endParaRPr>
          </a:p>
        </p:txBody>
      </p:sp>
      <p:sp>
        <p:nvSpPr>
          <p:cNvPr id="229" name="Google Shape;229;p10"/>
          <p:cNvSpPr/>
          <p:nvPr/>
        </p:nvSpPr>
        <p:spPr>
          <a:xfrm>
            <a:off x="5931047" y="1992450"/>
            <a:ext cx="19983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
        <p:nvSpPr>
          <p:cNvPr id="230" name="Google Shape;230;p10"/>
          <p:cNvSpPr txBox="1"/>
          <p:nvPr/>
        </p:nvSpPr>
        <p:spPr>
          <a:xfrm>
            <a:off x="436425" y="3696800"/>
            <a:ext cx="8279700" cy="903000"/>
          </a:xfrm>
          <a:prstGeom prst="rect">
            <a:avLst/>
          </a:prstGeom>
          <a:noFill/>
          <a:ln>
            <a:noFill/>
          </a:ln>
        </p:spPr>
        <p:txBody>
          <a:bodyPr anchorCtr="0" anchor="t" bIns="91425" lIns="0" spcFirstLastPara="1" rIns="0"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s" sz="1350" u="none" cap="none" strike="noStrike">
                <a:solidFill>
                  <a:schemeClr val="dk2"/>
                </a:solidFill>
                <a:latin typeface="Montserrat"/>
                <a:ea typeface="Montserrat"/>
                <a:cs typeface="Montserrat"/>
                <a:sym typeface="Montserrat"/>
              </a:rPr>
              <a:t>La función </a:t>
            </a:r>
            <a:r>
              <a:rPr b="0" i="1" lang="es" sz="1350" u="none" cap="none" strike="noStrike">
                <a:solidFill>
                  <a:schemeClr val="dk2"/>
                </a:solidFill>
                <a:latin typeface="Montserrat"/>
                <a:ea typeface="Montserrat"/>
                <a:cs typeface="Montserrat"/>
                <a:sym typeface="Montserrat"/>
              </a:rPr>
              <a:t>def nombre_funcion()</a:t>
            </a:r>
            <a:r>
              <a:rPr b="0" i="0" lang="es" sz="1350" u="none" cap="none" strike="noStrike">
                <a:solidFill>
                  <a:schemeClr val="dk2"/>
                </a:solidFill>
                <a:latin typeface="Montserrat"/>
                <a:ea typeface="Montserrat"/>
                <a:cs typeface="Montserrat"/>
                <a:sym typeface="Montserrat"/>
              </a:rPr>
              <a:t>  se debe definir antes de ser invocada por primera vez. Desde el programa principal se invoca a la función escribiendo su nombre.Una función sin parámetros, como la del ejemplo, realiza un objetivo sin recibir información desde el programa principal.</a:t>
            </a:r>
            <a:endParaRPr b="0" i="0" sz="135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b="0" i="0" sz="135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550"/>
              <a:buFont typeface="Arial"/>
              <a:buNone/>
            </a:pPr>
            <a:r>
              <a:t/>
            </a:r>
            <a:endParaRPr b="0" i="0" sz="1550"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550"/>
              <a:buFont typeface="Arial"/>
              <a:buNone/>
            </a:pPr>
            <a:r>
              <a:t/>
            </a:r>
            <a:endParaRPr b="0" i="0" sz="15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550"/>
              <a:buFont typeface="Arial"/>
              <a:buNone/>
            </a:pPr>
            <a:r>
              <a:t/>
            </a:r>
            <a:endParaRPr b="0" i="0" sz="15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550"/>
              <a:buFont typeface="Arial"/>
              <a:buNone/>
            </a:pPr>
            <a:r>
              <a:t/>
            </a:r>
            <a:endParaRPr b="0" i="0" sz="1550"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1"/>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Funciones | Parámetros y Argumentos</a:t>
            </a:r>
            <a:endParaRPr/>
          </a:p>
        </p:txBody>
      </p:sp>
      <p:sp>
        <p:nvSpPr>
          <p:cNvPr id="236" name="Google Shape;236;p11"/>
          <p:cNvSpPr txBox="1"/>
          <p:nvPr>
            <p:ph idx="1" type="body"/>
          </p:nvPr>
        </p:nvSpPr>
        <p:spPr>
          <a:xfrm>
            <a:off x="432025" y="1304875"/>
            <a:ext cx="8280000" cy="633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800"/>
              <a:buNone/>
            </a:pPr>
            <a:r>
              <a:rPr lang="es" sz="1650"/>
              <a:t>Los </a:t>
            </a:r>
            <a:r>
              <a:rPr b="1" lang="es" sz="1650"/>
              <a:t>parámetros</a:t>
            </a:r>
            <a:r>
              <a:rPr lang="es" sz="1650"/>
              <a:t> son las variables que ponemos cuando se define una función. En la siguiente función tenemos un parámetro: </a:t>
            </a:r>
            <a:r>
              <a:rPr i="1" lang="es" sz="1650"/>
              <a:t>numero</a:t>
            </a:r>
            <a:r>
              <a:rPr lang="es" sz="1650"/>
              <a:t>:</a:t>
            </a:r>
            <a:endParaRPr sz="1650"/>
          </a:p>
        </p:txBody>
      </p:sp>
      <p:sp>
        <p:nvSpPr>
          <p:cNvPr id="237" name="Google Shape;237;p11"/>
          <p:cNvSpPr/>
          <p:nvPr/>
        </p:nvSpPr>
        <p:spPr>
          <a:xfrm>
            <a:off x="1832100" y="2052013"/>
            <a:ext cx="5479800" cy="6333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C74DED"/>
                </a:solidFill>
                <a:latin typeface="Consolas"/>
                <a:ea typeface="Consolas"/>
                <a:cs typeface="Consolas"/>
                <a:sym typeface="Consolas"/>
              </a:rPr>
              <a:t>def</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FE66D"/>
                </a:solidFill>
                <a:latin typeface="Consolas"/>
                <a:ea typeface="Consolas"/>
                <a:cs typeface="Consolas"/>
                <a:sym typeface="Consolas"/>
              </a:rPr>
              <a:t>multiplicar_por_5</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00E8C6"/>
                </a:solidFill>
                <a:latin typeface="Consolas"/>
                <a:ea typeface="Consolas"/>
                <a:cs typeface="Consolas"/>
                <a:sym typeface="Consolas"/>
              </a:rPr>
              <a:t>numero</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FE66D"/>
                </a:solidFill>
                <a:latin typeface="Consolas"/>
                <a:ea typeface="Consolas"/>
                <a:cs typeface="Consolas"/>
                <a:sym typeface="Consolas"/>
              </a:rPr>
              <a:t>print</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C74DED"/>
                </a:solidFill>
                <a:latin typeface="Consolas"/>
                <a:ea typeface="Consolas"/>
                <a:cs typeface="Consolas"/>
                <a:sym typeface="Consolas"/>
              </a:rPr>
              <a:t>f</a:t>
            </a:r>
            <a:r>
              <a:rPr b="0" i="0" lang="es" sz="1200" u="none" cap="none" strike="noStrike">
                <a:solidFill>
                  <a:srgbClr val="96E072"/>
                </a:solidFill>
                <a:latin typeface="Consolas"/>
                <a:ea typeface="Consolas"/>
                <a:cs typeface="Consolas"/>
                <a:sym typeface="Consolas"/>
              </a:rPr>
              <a:t>'</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numero</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96E072"/>
                </a:solidFill>
                <a:latin typeface="Consolas"/>
                <a:ea typeface="Consolas"/>
                <a:cs typeface="Consolas"/>
                <a:sym typeface="Consolas"/>
              </a:rPr>
              <a:t>*5 =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numero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5</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96E072"/>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C74DED"/>
              </a:solidFill>
              <a:latin typeface="Consolas"/>
              <a:ea typeface="Consolas"/>
              <a:cs typeface="Consolas"/>
              <a:sym typeface="Consolas"/>
            </a:endParaRPr>
          </a:p>
        </p:txBody>
      </p:sp>
      <p:sp>
        <p:nvSpPr>
          <p:cNvPr id="238" name="Google Shape;238;p11"/>
          <p:cNvSpPr/>
          <p:nvPr/>
        </p:nvSpPr>
        <p:spPr>
          <a:xfrm>
            <a:off x="1832100" y="3567225"/>
            <a:ext cx="5479800" cy="3024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00E8C6"/>
                </a:solidFill>
                <a:latin typeface="Consolas"/>
                <a:ea typeface="Consolas"/>
                <a:cs typeface="Consolas"/>
                <a:sym typeface="Consolas"/>
              </a:rPr>
              <a:t>producto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FE66D"/>
                </a:solidFill>
                <a:latin typeface="Consolas"/>
                <a:ea typeface="Consolas"/>
                <a:cs typeface="Consolas"/>
                <a:sym typeface="Consolas"/>
              </a:rPr>
              <a:t>multiplicar_por_5</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7</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5F6167"/>
                </a:solidFill>
                <a:latin typeface="Consolas"/>
                <a:ea typeface="Consolas"/>
                <a:cs typeface="Consolas"/>
                <a:sym typeface="Consolas"/>
              </a:rPr>
              <a:t>//Invocamos la función</a:t>
            </a:r>
            <a:endParaRPr b="0" i="0" sz="1200" u="none" cap="none" strike="noStrike">
              <a:solidFill>
                <a:srgbClr val="D5CED9"/>
              </a:solidFill>
              <a:latin typeface="Consolas"/>
              <a:ea typeface="Consolas"/>
              <a:cs typeface="Consolas"/>
              <a:sym typeface="Consolas"/>
            </a:endParaRPr>
          </a:p>
        </p:txBody>
      </p:sp>
      <p:sp>
        <p:nvSpPr>
          <p:cNvPr id="239" name="Google Shape;239;p11"/>
          <p:cNvSpPr txBox="1"/>
          <p:nvPr>
            <p:ph idx="1" type="body"/>
          </p:nvPr>
        </p:nvSpPr>
        <p:spPr>
          <a:xfrm>
            <a:off x="534900" y="2793100"/>
            <a:ext cx="8280000" cy="633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800"/>
              <a:buNone/>
            </a:pPr>
            <a:r>
              <a:rPr lang="es" sz="1650"/>
              <a:t>Los </a:t>
            </a:r>
            <a:r>
              <a:rPr b="1" lang="es" sz="1650"/>
              <a:t>argumentos</a:t>
            </a:r>
            <a:r>
              <a:rPr lang="es" sz="1650"/>
              <a:t> son los valores que se pasan a la función cuando ésta es invocada, “7” en el ejemplo:</a:t>
            </a:r>
            <a:endParaRPr sz="1650"/>
          </a:p>
        </p:txBody>
      </p:sp>
      <p:sp>
        <p:nvSpPr>
          <p:cNvPr id="240" name="Google Shape;240;p11"/>
          <p:cNvSpPr txBox="1"/>
          <p:nvPr>
            <p:ph idx="1" type="body"/>
          </p:nvPr>
        </p:nvSpPr>
        <p:spPr>
          <a:xfrm>
            <a:off x="534900" y="3927500"/>
            <a:ext cx="8280000" cy="633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800"/>
              <a:buNone/>
            </a:pPr>
            <a:r>
              <a:rPr lang="es" sz="1650"/>
              <a:t>Dentro de la función, los </a:t>
            </a:r>
            <a:r>
              <a:rPr b="1" lang="es" sz="1650"/>
              <a:t>argumentos</a:t>
            </a:r>
            <a:r>
              <a:rPr lang="es" sz="1650"/>
              <a:t> se copian en los parámetros y son usados por ésta para realizar la tarea.</a:t>
            </a:r>
            <a:endParaRPr sz="165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2"/>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Funciones | Parámetros y Argumentos</a:t>
            </a:r>
            <a:endParaRPr/>
          </a:p>
        </p:txBody>
      </p:sp>
      <p:sp>
        <p:nvSpPr>
          <p:cNvPr id="246" name="Google Shape;246;p12"/>
          <p:cNvSpPr txBox="1"/>
          <p:nvPr>
            <p:ph idx="1" type="body"/>
          </p:nvPr>
        </p:nvSpPr>
        <p:spPr>
          <a:xfrm>
            <a:off x="432025" y="1304875"/>
            <a:ext cx="8280000" cy="39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800"/>
              <a:buNone/>
            </a:pPr>
            <a:r>
              <a:rPr lang="es" sz="1650"/>
              <a:t>Esta función tiene un sólo </a:t>
            </a:r>
            <a:r>
              <a:rPr b="1" lang="es" sz="1650"/>
              <a:t>parámetro</a:t>
            </a:r>
            <a:r>
              <a:rPr lang="es" sz="1650"/>
              <a:t> que indica hasta qué valor calculará:</a:t>
            </a:r>
            <a:endParaRPr sz="1650"/>
          </a:p>
        </p:txBody>
      </p:sp>
      <p:sp>
        <p:nvSpPr>
          <p:cNvPr id="247" name="Google Shape;247;p12"/>
          <p:cNvSpPr txBox="1"/>
          <p:nvPr>
            <p:ph idx="1" type="body"/>
          </p:nvPr>
        </p:nvSpPr>
        <p:spPr>
          <a:xfrm>
            <a:off x="534900" y="2793100"/>
            <a:ext cx="8280000" cy="633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800"/>
              <a:buNone/>
            </a:pPr>
            <a:r>
              <a:rPr lang="es" sz="1650"/>
              <a:t>En este ejemplo la función muestra un texto concatenado a un </a:t>
            </a:r>
            <a:r>
              <a:rPr b="1" lang="es" sz="1650"/>
              <a:t>argumento</a:t>
            </a:r>
            <a:r>
              <a:rPr lang="es" sz="1650"/>
              <a:t> pasado por </a:t>
            </a:r>
            <a:r>
              <a:rPr b="1" lang="es" sz="1650"/>
              <a:t>parámetro</a:t>
            </a:r>
            <a:r>
              <a:rPr lang="es" sz="1650"/>
              <a:t>:</a:t>
            </a:r>
            <a:endParaRPr sz="1650"/>
          </a:p>
        </p:txBody>
      </p:sp>
      <p:sp>
        <p:nvSpPr>
          <p:cNvPr id="248" name="Google Shape;248;p12"/>
          <p:cNvSpPr/>
          <p:nvPr/>
        </p:nvSpPr>
        <p:spPr>
          <a:xfrm>
            <a:off x="583200" y="1737885"/>
            <a:ext cx="4038600" cy="10158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5F6167"/>
                </a:solidFill>
                <a:latin typeface="Consolas"/>
                <a:ea typeface="Consolas"/>
                <a:cs typeface="Consolas"/>
                <a:sym typeface="Consolas"/>
              </a:rPr>
              <a:t>// Declaración</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C74DED"/>
                </a:solidFill>
                <a:latin typeface="Consolas"/>
                <a:ea typeface="Consolas"/>
                <a:cs typeface="Consolas"/>
                <a:sym typeface="Consolas"/>
              </a:rPr>
              <a:t>function</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FE66D"/>
                </a:solidFill>
                <a:latin typeface="Consolas"/>
                <a:ea typeface="Consolas"/>
                <a:cs typeface="Consolas"/>
                <a:sym typeface="Consolas"/>
              </a:rPr>
              <a:t>tablaMultiplicar</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00E8C6"/>
                </a:solidFill>
                <a:latin typeface="Consolas"/>
                <a:ea typeface="Consolas"/>
                <a:cs typeface="Consolas"/>
                <a:sym typeface="Consolas"/>
              </a:rPr>
              <a:t>hasta</a:t>
            </a:r>
            <a:r>
              <a:rPr b="0" i="0" lang="es" sz="1200" u="none" cap="none" strike="noStrike">
                <a:solidFill>
                  <a:srgbClr val="D5CED9"/>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C74DED"/>
                </a:solidFill>
                <a:latin typeface="Consolas"/>
                <a:ea typeface="Consolas"/>
                <a:cs typeface="Consolas"/>
                <a:sym typeface="Consolas"/>
              </a:rPr>
              <a:t>for</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C74DED"/>
                </a:solidFill>
                <a:latin typeface="Consolas"/>
                <a:ea typeface="Consolas"/>
                <a:cs typeface="Consolas"/>
                <a:sym typeface="Consolas"/>
              </a:rPr>
              <a:t>var</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00E8C6"/>
                </a:solidFill>
                <a:latin typeface="Consolas"/>
                <a:ea typeface="Consolas"/>
                <a:cs typeface="Consolas"/>
                <a:sym typeface="Consolas"/>
              </a:rPr>
              <a:t>i</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1</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00E8C6"/>
                </a:solidFill>
                <a:latin typeface="Consolas"/>
                <a:ea typeface="Consolas"/>
                <a:cs typeface="Consolas"/>
                <a:sym typeface="Consolas"/>
              </a:rPr>
              <a:t>i</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EE5D43"/>
                </a:solidFill>
                <a:latin typeface="Consolas"/>
                <a:ea typeface="Consolas"/>
                <a:cs typeface="Consolas"/>
                <a:sym typeface="Consolas"/>
              </a:rPr>
              <a:t>&lt;=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00E8C6"/>
                </a:solidFill>
                <a:latin typeface="Consolas"/>
                <a:ea typeface="Consolas"/>
                <a:cs typeface="Consolas"/>
                <a:sym typeface="Consolas"/>
              </a:rPr>
              <a:t>hasta</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00E8C6"/>
                </a:solidFill>
                <a:latin typeface="Consolas"/>
                <a:ea typeface="Consolas"/>
                <a:cs typeface="Consolas"/>
                <a:sym typeface="Consolas"/>
              </a:rPr>
              <a:t>i</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console</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FE66D"/>
                </a:solidFill>
                <a:latin typeface="Consolas"/>
                <a:ea typeface="Consolas"/>
                <a:cs typeface="Consolas"/>
                <a:sym typeface="Consolas"/>
              </a:rPr>
              <a:t>log</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96E072"/>
                </a:solidFill>
                <a:latin typeface="Consolas"/>
                <a:ea typeface="Consolas"/>
                <a:cs typeface="Consolas"/>
                <a:sym typeface="Consolas"/>
              </a:rPr>
              <a:t>"1 x"</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00E8C6"/>
                </a:solidFill>
                <a:latin typeface="Consolas"/>
                <a:ea typeface="Consolas"/>
                <a:cs typeface="Consolas"/>
                <a:sym typeface="Consolas"/>
              </a:rPr>
              <a:t>i</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96E072"/>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1</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00E8C6"/>
                </a:solidFill>
                <a:latin typeface="Consolas"/>
                <a:ea typeface="Consolas"/>
                <a:cs typeface="Consolas"/>
                <a:sym typeface="Consolas"/>
              </a:rPr>
              <a:t>i</a:t>
            </a:r>
            <a:r>
              <a:rPr b="0" i="0" lang="es" sz="12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
        <p:nvSpPr>
          <p:cNvPr id="249" name="Google Shape;249;p12"/>
          <p:cNvSpPr/>
          <p:nvPr/>
        </p:nvSpPr>
        <p:spPr>
          <a:xfrm>
            <a:off x="4862350" y="1750750"/>
            <a:ext cx="3797100" cy="10158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5F6167"/>
                </a:solidFill>
                <a:latin typeface="Consolas"/>
                <a:ea typeface="Consolas"/>
                <a:cs typeface="Consolas"/>
                <a:sym typeface="Consolas"/>
              </a:rPr>
              <a:t>//Ejecución</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FFE66D"/>
                </a:solidFill>
                <a:latin typeface="Consolas"/>
                <a:ea typeface="Consolas"/>
                <a:cs typeface="Consolas"/>
                <a:sym typeface="Consolas"/>
              </a:rPr>
              <a:t>tablaMultiplicar</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4</a:t>
            </a:r>
            <a:r>
              <a:rPr b="0" i="0" lang="es" sz="12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
        <p:nvSpPr>
          <p:cNvPr id="250" name="Google Shape;250;p12"/>
          <p:cNvSpPr/>
          <p:nvPr/>
        </p:nvSpPr>
        <p:spPr>
          <a:xfrm>
            <a:off x="583200" y="3606075"/>
            <a:ext cx="4038600" cy="8310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5F6167"/>
                </a:solidFill>
                <a:latin typeface="Consolas"/>
                <a:ea typeface="Consolas"/>
                <a:cs typeface="Consolas"/>
                <a:sym typeface="Consolas"/>
              </a:rPr>
              <a:t>// Declaración</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C74DED"/>
                </a:solidFill>
                <a:latin typeface="Consolas"/>
                <a:ea typeface="Consolas"/>
                <a:cs typeface="Consolas"/>
                <a:sym typeface="Consolas"/>
              </a:rPr>
              <a:t>function</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FE66D"/>
                </a:solidFill>
                <a:latin typeface="Consolas"/>
                <a:ea typeface="Consolas"/>
                <a:cs typeface="Consolas"/>
                <a:sym typeface="Consolas"/>
              </a:rPr>
              <a:t>saludarDos</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00E8C6"/>
                </a:solidFill>
                <a:latin typeface="Consolas"/>
                <a:ea typeface="Consolas"/>
                <a:cs typeface="Consolas"/>
                <a:sym typeface="Consolas"/>
              </a:rPr>
              <a:t>miNombre</a:t>
            </a:r>
            <a:r>
              <a:rPr b="0" i="0" lang="es" sz="12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console</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FE66D"/>
                </a:solidFill>
                <a:latin typeface="Consolas"/>
                <a:ea typeface="Consolas"/>
                <a:cs typeface="Consolas"/>
                <a:sym typeface="Consolas"/>
              </a:rPr>
              <a:t>log</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96E072"/>
                </a:solidFill>
                <a:latin typeface="Consolas"/>
                <a:ea typeface="Consolas"/>
                <a:cs typeface="Consolas"/>
                <a:sym typeface="Consolas"/>
              </a:rPr>
              <a:t>"Hola "</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00E8C6"/>
                </a:solidFill>
                <a:latin typeface="Consolas"/>
                <a:ea typeface="Consolas"/>
                <a:cs typeface="Consolas"/>
                <a:sym typeface="Consolas"/>
              </a:rPr>
              <a:t>miNombre</a:t>
            </a:r>
            <a:r>
              <a:rPr b="0" i="0" lang="es" sz="1200" u="none" cap="none" strike="noStrike">
                <a:solidFill>
                  <a:srgbClr val="D5CED9"/>
                </a:solidFill>
                <a:latin typeface="Consolas"/>
                <a:ea typeface="Consolas"/>
                <a:cs typeface="Consolas"/>
                <a:sym typeface="Consolas"/>
              </a:rPr>
              <a:t>)</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
        <p:nvSpPr>
          <p:cNvPr id="251" name="Google Shape;251;p12"/>
          <p:cNvSpPr/>
          <p:nvPr/>
        </p:nvSpPr>
        <p:spPr>
          <a:xfrm>
            <a:off x="4862250" y="3606075"/>
            <a:ext cx="3797100" cy="8310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5F6167"/>
                </a:solidFill>
                <a:latin typeface="Consolas"/>
                <a:ea typeface="Consolas"/>
                <a:cs typeface="Consolas"/>
                <a:sym typeface="Consolas"/>
              </a:rPr>
              <a:t>//Ejecución</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FFE66D"/>
                </a:solidFill>
                <a:latin typeface="Consolas"/>
                <a:ea typeface="Consolas"/>
                <a:cs typeface="Consolas"/>
                <a:sym typeface="Consolas"/>
              </a:rPr>
              <a:t>saludarDos</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96E072"/>
                </a:solidFill>
                <a:latin typeface="Consolas"/>
                <a:ea typeface="Consolas"/>
                <a:cs typeface="Consolas"/>
                <a:sym typeface="Consolas"/>
              </a:rPr>
              <a:t>"Codo a Codo"</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5F6167"/>
                </a:solidFill>
                <a:latin typeface="Consolas"/>
                <a:ea typeface="Consolas"/>
                <a:cs typeface="Consolas"/>
                <a:sym typeface="Consolas"/>
              </a:rPr>
              <a:t>//Argumento fijo</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C74DED"/>
                </a:solidFill>
                <a:latin typeface="Consolas"/>
                <a:ea typeface="Consolas"/>
                <a:cs typeface="Consolas"/>
                <a:sym typeface="Consolas"/>
              </a:rPr>
              <a:t>var</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00E8C6"/>
                </a:solidFill>
                <a:latin typeface="Consolas"/>
                <a:ea typeface="Consolas"/>
                <a:cs typeface="Consolas"/>
                <a:sym typeface="Consolas"/>
              </a:rPr>
              <a:t>nombre</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FE66D"/>
                </a:solidFill>
                <a:latin typeface="Consolas"/>
                <a:ea typeface="Consolas"/>
                <a:cs typeface="Consolas"/>
                <a:sym typeface="Consolas"/>
              </a:rPr>
              <a:t>prompt</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96E072"/>
                </a:solidFill>
                <a:latin typeface="Consolas"/>
                <a:ea typeface="Consolas"/>
                <a:cs typeface="Consolas"/>
                <a:sym typeface="Consolas"/>
              </a:rPr>
              <a:t>"Ingrese su nombre"</a:t>
            </a:r>
            <a:r>
              <a:rPr b="0" i="0" lang="es" sz="1200" u="none" cap="none" strike="noStrike">
                <a:solidFill>
                  <a:srgbClr val="D5CED9"/>
                </a:solidFill>
                <a:latin typeface="Consolas"/>
                <a:ea typeface="Consolas"/>
                <a:cs typeface="Consolas"/>
                <a:sym typeface="Consolas"/>
              </a:rPr>
              <a:t>) </a:t>
            </a:r>
            <a:endParaRPr b="0" i="0" sz="1200" u="none" cap="none" strike="noStrike">
              <a:solidFill>
                <a:srgbClr val="5F6167"/>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FFE66D"/>
                </a:solidFill>
                <a:latin typeface="Consolas"/>
                <a:ea typeface="Consolas"/>
                <a:cs typeface="Consolas"/>
                <a:sym typeface="Consolas"/>
              </a:rPr>
              <a:t>saludarDos</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00E8C6"/>
                </a:solidFill>
                <a:latin typeface="Consolas"/>
                <a:ea typeface="Consolas"/>
                <a:cs typeface="Consolas"/>
                <a:sym typeface="Consolas"/>
              </a:rPr>
              <a:t>nombre</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5F6167"/>
                </a:solidFill>
                <a:latin typeface="Consolas"/>
                <a:ea typeface="Consolas"/>
                <a:cs typeface="Consolas"/>
                <a:sym typeface="Consolas"/>
              </a:rPr>
              <a:t>//Argumento variable</a:t>
            </a:r>
            <a:endParaRPr b="0" i="0" sz="1200" u="none" cap="none" strike="noStrike">
              <a:solidFill>
                <a:srgbClr val="D5CED9"/>
              </a:solidFill>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3"/>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Funciones | Parámetros</a:t>
            </a:r>
            <a:endParaRPr/>
          </a:p>
        </p:txBody>
      </p:sp>
      <p:sp>
        <p:nvSpPr>
          <p:cNvPr id="257" name="Google Shape;257;p13"/>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00000"/>
              </a:lnSpc>
              <a:spcBef>
                <a:spcPts val="0"/>
              </a:spcBef>
              <a:spcAft>
                <a:spcPts val="0"/>
              </a:spcAft>
              <a:buClr>
                <a:schemeClr val="dk1"/>
              </a:buClr>
              <a:buSzPts val="1100"/>
              <a:buFont typeface="Arial"/>
              <a:buNone/>
            </a:pPr>
            <a:r>
              <a:rPr b="0" i="0" lang="es" sz="1650" u="none" cap="none" strike="noStrike">
                <a:solidFill>
                  <a:schemeClr val="dk2"/>
                </a:solidFill>
                <a:latin typeface="Montserrat"/>
                <a:ea typeface="Montserrat"/>
                <a:cs typeface="Montserrat"/>
                <a:sym typeface="Montserrat"/>
              </a:rPr>
              <a:t>La siguiente función tiene dos parámetros, cuyos argumentos se obtienen mediante la función </a:t>
            </a:r>
            <a:r>
              <a:rPr b="1" i="0" lang="es" sz="1650" u="none" cap="none" strike="noStrike">
                <a:solidFill>
                  <a:schemeClr val="dk2"/>
                </a:solidFill>
                <a:latin typeface="Montserrat"/>
                <a:ea typeface="Montserrat"/>
                <a:cs typeface="Montserrat"/>
                <a:sym typeface="Montserrat"/>
              </a:rPr>
              <a:t>input()</a:t>
            </a:r>
            <a:r>
              <a:rPr b="0" i="0" lang="es" sz="1650" u="none" cap="none" strike="noStrike">
                <a:solidFill>
                  <a:schemeClr val="dk2"/>
                </a:solidFill>
                <a:latin typeface="Montserrat"/>
                <a:ea typeface="Montserrat"/>
                <a:cs typeface="Montserrat"/>
                <a:sym typeface="Montserrat"/>
              </a:rPr>
              <a:t>:</a:t>
            </a:r>
            <a:endParaRPr b="0" i="0" sz="1650" u="none" cap="none" strike="noStrike">
              <a:solidFill>
                <a:schemeClr val="dk2"/>
              </a:solidFill>
              <a:latin typeface="Arial"/>
              <a:ea typeface="Arial"/>
              <a:cs typeface="Arial"/>
              <a:sym typeface="Arial"/>
            </a:endParaRPr>
          </a:p>
          <a:p>
            <a:pPr indent="0" lvl="0" marL="0" marR="0" rtl="0" algn="l">
              <a:lnSpc>
                <a:spcPct val="115000"/>
              </a:lnSpc>
              <a:spcBef>
                <a:spcPts val="1199"/>
              </a:spcBef>
              <a:spcAft>
                <a:spcPts val="0"/>
              </a:spcAft>
              <a:buClr>
                <a:schemeClr val="dk1"/>
              </a:buClr>
              <a:buSzPts val="1100"/>
              <a:buFont typeface="Arial"/>
              <a:buNone/>
            </a:pPr>
            <a:r>
              <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chemeClr val="dk1"/>
              </a:buClr>
              <a:buSzPts val="1100"/>
              <a:buFont typeface="Arial"/>
              <a:buNone/>
            </a:pPr>
            <a:r>
              <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rgbClr val="595959"/>
              </a:solidFill>
              <a:latin typeface="Montserrat"/>
              <a:ea typeface="Montserrat"/>
              <a:cs typeface="Montserrat"/>
              <a:sym typeface="Montserrat"/>
            </a:endParaRPr>
          </a:p>
        </p:txBody>
      </p:sp>
      <p:sp>
        <p:nvSpPr>
          <p:cNvPr id="258" name="Google Shape;258;p13"/>
          <p:cNvSpPr/>
          <p:nvPr/>
        </p:nvSpPr>
        <p:spPr>
          <a:xfrm>
            <a:off x="572300" y="2156975"/>
            <a:ext cx="5067900" cy="15102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imprimir_mensaje_N_veces</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n</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00E8C6"/>
                </a:solidFill>
                <a:highlight>
                  <a:srgbClr val="23262E"/>
                </a:highlight>
                <a:latin typeface="Consolas"/>
                <a:ea typeface="Consolas"/>
                <a:cs typeface="Consolas"/>
                <a:sym typeface="Consolas"/>
              </a:rPr>
              <a:t>m</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for</a:t>
            </a:r>
            <a:r>
              <a:rPr b="0" i="0" lang="es" sz="1200" u="none" cap="none" strike="noStrike">
                <a:solidFill>
                  <a:srgbClr val="D5CED9"/>
                </a:solidFill>
                <a:highlight>
                  <a:srgbClr val="23262E"/>
                </a:highlight>
                <a:latin typeface="Consolas"/>
                <a:ea typeface="Consolas"/>
                <a:cs typeface="Consolas"/>
                <a:sym typeface="Consolas"/>
              </a:rPr>
              <a:t> i </a:t>
            </a:r>
            <a:r>
              <a:rPr b="0" i="0" lang="es" sz="1200" u="none" cap="none" strike="noStrike">
                <a:solidFill>
                  <a:srgbClr val="C74DED"/>
                </a:solidFill>
                <a:highlight>
                  <a:srgbClr val="23262E"/>
                </a:highlight>
                <a:latin typeface="Consolas"/>
                <a:ea typeface="Consolas"/>
                <a:cs typeface="Consolas"/>
                <a:sym typeface="Consolas"/>
              </a:rPr>
              <a:t>in</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range</a:t>
            </a:r>
            <a:r>
              <a:rPr b="0" i="0" lang="es" sz="1200" u="none" cap="none" strike="noStrike">
                <a:solidFill>
                  <a:srgbClr val="D5CED9"/>
                </a:solidFill>
                <a:highlight>
                  <a:srgbClr val="23262E"/>
                </a:highlight>
                <a:latin typeface="Consolas"/>
                <a:ea typeface="Consolas"/>
                <a:cs typeface="Consolas"/>
                <a:sym typeface="Consolas"/>
              </a:rPr>
              <a:t>(n):</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(m)</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mensaje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input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"Mensaje: "</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veces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int(</a:t>
            </a:r>
            <a:r>
              <a:rPr b="0" i="0" lang="es" sz="1200" u="none" cap="none" strike="noStrike">
                <a:solidFill>
                  <a:srgbClr val="FFE66D"/>
                </a:solidFill>
                <a:highlight>
                  <a:srgbClr val="23262E"/>
                </a:highlight>
                <a:latin typeface="Consolas"/>
                <a:ea typeface="Consolas"/>
                <a:cs typeface="Consolas"/>
                <a:sym typeface="Consolas"/>
              </a:rPr>
              <a:t>input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"Nro. de veces que desea imprimir: "</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imprimir_mensaje_N_veces</a:t>
            </a:r>
            <a:r>
              <a:rPr b="0" i="0" lang="es" sz="1200" u="none" cap="none" strike="noStrike">
                <a:solidFill>
                  <a:srgbClr val="D5CED9"/>
                </a:solidFill>
                <a:highlight>
                  <a:srgbClr val="23262E"/>
                </a:highlight>
                <a:latin typeface="Consolas"/>
                <a:ea typeface="Consolas"/>
                <a:cs typeface="Consolas"/>
                <a:sym typeface="Consolas"/>
              </a:rPr>
              <a:t>(veces, mensaje)</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t/>
            </a:r>
            <a:endParaRPr b="0" i="0" sz="1200" u="none" cap="none" strike="noStrike">
              <a:solidFill>
                <a:srgbClr val="C74DED"/>
              </a:solidFill>
              <a:latin typeface="Consolas"/>
              <a:ea typeface="Consolas"/>
              <a:cs typeface="Consolas"/>
              <a:sym typeface="Consolas"/>
            </a:endParaRPr>
          </a:p>
        </p:txBody>
      </p:sp>
      <p:sp>
        <p:nvSpPr>
          <p:cNvPr id="259" name="Google Shape;259;p13"/>
          <p:cNvSpPr/>
          <p:nvPr/>
        </p:nvSpPr>
        <p:spPr>
          <a:xfrm>
            <a:off x="572325" y="1928075"/>
            <a:ext cx="50679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Función con dos parámetros</a:t>
            </a:r>
            <a:endParaRPr b="0" i="0" sz="1400" u="none" cap="none" strike="noStrike">
              <a:solidFill>
                <a:schemeClr val="dk2"/>
              </a:solidFill>
              <a:latin typeface="Montserrat"/>
              <a:ea typeface="Montserrat"/>
              <a:cs typeface="Montserrat"/>
              <a:sym typeface="Montserrat"/>
            </a:endParaRPr>
          </a:p>
        </p:txBody>
      </p:sp>
      <p:sp>
        <p:nvSpPr>
          <p:cNvPr id="260" name="Google Shape;260;p13"/>
          <p:cNvSpPr/>
          <p:nvPr/>
        </p:nvSpPr>
        <p:spPr>
          <a:xfrm>
            <a:off x="5873175" y="2159725"/>
            <a:ext cx="2360700" cy="15102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Mensaje: ¡Hola Codo!</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Nro. de veces que desea imprimir: 4</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¡Hola Codo!</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¡Hola Codo!</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¡Hola Codo!</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¡Hola Codo!</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200"/>
              <a:buFont typeface="Consolas"/>
              <a:buNone/>
            </a:pPr>
            <a:r>
              <a:t/>
            </a:r>
            <a:endParaRPr b="0" i="0" sz="1200" u="none" cap="none" strike="noStrike">
              <a:solidFill>
                <a:srgbClr val="D5CED9"/>
              </a:solidFill>
              <a:latin typeface="Consolas"/>
              <a:ea typeface="Consolas"/>
              <a:cs typeface="Consolas"/>
              <a:sym typeface="Consolas"/>
            </a:endParaRPr>
          </a:p>
        </p:txBody>
      </p:sp>
      <p:sp>
        <p:nvSpPr>
          <p:cNvPr id="261" name="Google Shape;261;p13"/>
          <p:cNvSpPr/>
          <p:nvPr/>
        </p:nvSpPr>
        <p:spPr>
          <a:xfrm>
            <a:off x="5873150" y="1928075"/>
            <a:ext cx="23607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
        <p:nvSpPr>
          <p:cNvPr id="262" name="Google Shape;262;p13"/>
          <p:cNvSpPr txBox="1"/>
          <p:nvPr/>
        </p:nvSpPr>
        <p:spPr>
          <a:xfrm>
            <a:off x="423450" y="3705600"/>
            <a:ext cx="8279700" cy="851400"/>
          </a:xfrm>
          <a:prstGeom prst="rect">
            <a:avLst/>
          </a:prstGeom>
          <a:noFill/>
          <a:ln>
            <a:noFill/>
          </a:ln>
        </p:spPr>
        <p:txBody>
          <a:bodyPr anchorCtr="0" anchor="t" bIns="91425" lIns="0" spcFirstLastPara="1" rIns="0" wrap="square" tIns="91425">
            <a:noAutofit/>
          </a:bodyPr>
          <a:lstStyle/>
          <a:p>
            <a:pPr indent="0" lvl="0" marL="0" marR="0" rtl="0" algn="l">
              <a:lnSpc>
                <a:spcPct val="100000"/>
              </a:lnSpc>
              <a:spcBef>
                <a:spcPts val="0"/>
              </a:spcBef>
              <a:spcAft>
                <a:spcPts val="0"/>
              </a:spcAft>
              <a:buClr>
                <a:srgbClr val="000000"/>
              </a:buClr>
              <a:buSzPts val="1650"/>
              <a:buFont typeface="Arial"/>
              <a:buNone/>
            </a:pPr>
            <a:r>
              <a:rPr b="0" i="0" lang="es" sz="1650" u="none" cap="none" strike="noStrike">
                <a:solidFill>
                  <a:schemeClr val="dk2"/>
                </a:solidFill>
                <a:latin typeface="Montserrat"/>
                <a:ea typeface="Montserrat"/>
                <a:cs typeface="Montserrat"/>
                <a:sym typeface="Montserrat"/>
              </a:rPr>
              <a:t>Los argumentos son </a:t>
            </a:r>
            <a:r>
              <a:rPr b="1" i="0" lang="es" sz="1650" u="none" cap="none" strike="noStrike">
                <a:solidFill>
                  <a:schemeClr val="dk2"/>
                </a:solidFill>
                <a:latin typeface="Montserrat"/>
                <a:ea typeface="Montserrat"/>
                <a:cs typeface="Montserrat"/>
                <a:sym typeface="Montserrat"/>
              </a:rPr>
              <a:t>veces</a:t>
            </a:r>
            <a:r>
              <a:rPr b="0" i="0" lang="es" sz="1650" u="none" cap="none" strike="noStrike">
                <a:solidFill>
                  <a:schemeClr val="dk2"/>
                </a:solidFill>
                <a:latin typeface="Montserrat"/>
                <a:ea typeface="Montserrat"/>
                <a:cs typeface="Montserrat"/>
                <a:sym typeface="Montserrat"/>
              </a:rPr>
              <a:t> y </a:t>
            </a:r>
            <a:r>
              <a:rPr b="1" i="0" lang="es" sz="1650" u="none" cap="none" strike="noStrike">
                <a:solidFill>
                  <a:schemeClr val="dk2"/>
                </a:solidFill>
                <a:latin typeface="Montserrat"/>
                <a:ea typeface="Montserrat"/>
                <a:cs typeface="Montserrat"/>
                <a:sym typeface="Montserrat"/>
              </a:rPr>
              <a:t>mensaje</a:t>
            </a:r>
            <a:r>
              <a:rPr b="0" i="0" lang="es" sz="1650" u="none" cap="none" strike="noStrike">
                <a:solidFill>
                  <a:schemeClr val="dk2"/>
                </a:solidFill>
                <a:latin typeface="Montserrat"/>
                <a:ea typeface="Montserrat"/>
                <a:cs typeface="Montserrat"/>
                <a:sym typeface="Montserrat"/>
              </a:rPr>
              <a:t>, y los parámetros son </a:t>
            </a:r>
            <a:r>
              <a:rPr b="1" i="0" lang="es" sz="1650" u="none" cap="none" strike="noStrike">
                <a:solidFill>
                  <a:schemeClr val="dk2"/>
                </a:solidFill>
                <a:latin typeface="Montserrat"/>
                <a:ea typeface="Montserrat"/>
                <a:cs typeface="Montserrat"/>
                <a:sym typeface="Montserrat"/>
              </a:rPr>
              <a:t>n</a:t>
            </a:r>
            <a:r>
              <a:rPr b="0" i="0" lang="es" sz="1650" u="none" cap="none" strike="noStrike">
                <a:solidFill>
                  <a:schemeClr val="dk2"/>
                </a:solidFill>
                <a:latin typeface="Montserrat"/>
                <a:ea typeface="Montserrat"/>
                <a:cs typeface="Montserrat"/>
                <a:sym typeface="Montserrat"/>
              </a:rPr>
              <a:t> y </a:t>
            </a:r>
            <a:r>
              <a:rPr b="1" i="0" lang="es" sz="1650" u="none" cap="none" strike="noStrike">
                <a:solidFill>
                  <a:schemeClr val="dk2"/>
                </a:solidFill>
                <a:latin typeface="Montserrat"/>
                <a:ea typeface="Montserrat"/>
                <a:cs typeface="Montserrat"/>
                <a:sym typeface="Montserrat"/>
              </a:rPr>
              <a:t>m</a:t>
            </a:r>
            <a:r>
              <a:rPr b="0" i="0" lang="es" sz="1650" u="none" cap="none" strike="noStrike">
                <a:solidFill>
                  <a:schemeClr val="dk2"/>
                </a:solidFill>
                <a:latin typeface="Montserrat"/>
                <a:ea typeface="Montserrat"/>
                <a:cs typeface="Montserrat"/>
                <a:sym typeface="Montserrat"/>
              </a:rPr>
              <a:t>. Al llamar a la función, </a:t>
            </a:r>
            <a:r>
              <a:rPr b="1" i="0" lang="es" sz="1650" u="none" cap="none" strike="noStrike">
                <a:solidFill>
                  <a:schemeClr val="dk2"/>
                </a:solidFill>
                <a:latin typeface="Montserrat"/>
                <a:ea typeface="Montserrat"/>
                <a:cs typeface="Montserrat"/>
                <a:sym typeface="Montserrat"/>
              </a:rPr>
              <a:t>veces</a:t>
            </a:r>
            <a:r>
              <a:rPr b="0" i="0" lang="es" sz="1650" u="none" cap="none" strike="noStrike">
                <a:solidFill>
                  <a:schemeClr val="dk2"/>
                </a:solidFill>
                <a:latin typeface="Montserrat"/>
                <a:ea typeface="Montserrat"/>
                <a:cs typeface="Montserrat"/>
                <a:sym typeface="Montserrat"/>
              </a:rPr>
              <a:t> se copia en </a:t>
            </a:r>
            <a:r>
              <a:rPr b="1" i="0" lang="es" sz="1650" u="none" cap="none" strike="noStrike">
                <a:solidFill>
                  <a:schemeClr val="dk2"/>
                </a:solidFill>
                <a:latin typeface="Montserrat"/>
                <a:ea typeface="Montserrat"/>
                <a:cs typeface="Montserrat"/>
                <a:sym typeface="Montserrat"/>
              </a:rPr>
              <a:t>n</a:t>
            </a:r>
            <a:r>
              <a:rPr b="0" i="0" lang="es" sz="1650" u="none" cap="none" strike="noStrike">
                <a:solidFill>
                  <a:schemeClr val="dk2"/>
                </a:solidFill>
                <a:latin typeface="Montserrat"/>
                <a:ea typeface="Montserrat"/>
                <a:cs typeface="Montserrat"/>
                <a:sym typeface="Montserrat"/>
              </a:rPr>
              <a:t>, y </a:t>
            </a:r>
            <a:r>
              <a:rPr b="1" i="0" lang="es" sz="1650" u="none" cap="none" strike="noStrike">
                <a:solidFill>
                  <a:schemeClr val="dk2"/>
                </a:solidFill>
                <a:latin typeface="Montserrat"/>
                <a:ea typeface="Montserrat"/>
                <a:cs typeface="Montserrat"/>
                <a:sym typeface="Montserrat"/>
              </a:rPr>
              <a:t>mensaje</a:t>
            </a:r>
            <a:r>
              <a:rPr b="0" i="0" lang="es" sz="1650" u="none" cap="none" strike="noStrike">
                <a:solidFill>
                  <a:schemeClr val="dk2"/>
                </a:solidFill>
                <a:latin typeface="Montserrat"/>
                <a:ea typeface="Montserrat"/>
                <a:cs typeface="Montserrat"/>
                <a:sym typeface="Montserrat"/>
              </a:rPr>
              <a:t> se copia en</a:t>
            </a:r>
            <a:r>
              <a:rPr b="1" i="0" lang="es" sz="1650" u="none" cap="none" strike="noStrike">
                <a:solidFill>
                  <a:schemeClr val="dk2"/>
                </a:solidFill>
                <a:latin typeface="Montserrat"/>
                <a:ea typeface="Montserrat"/>
                <a:cs typeface="Montserrat"/>
                <a:sym typeface="Montserrat"/>
              </a:rPr>
              <a:t> m. </a:t>
            </a:r>
            <a:r>
              <a:rPr b="0" i="0" lang="es" sz="1650" u="none" cap="none" strike="noStrike">
                <a:solidFill>
                  <a:schemeClr val="dk2"/>
                </a:solidFill>
                <a:latin typeface="Montserrat"/>
                <a:ea typeface="Montserrat"/>
                <a:cs typeface="Montserrat"/>
                <a:sym typeface="Montserrat"/>
              </a:rPr>
              <a:t>Se mantiene el orden y la correspondencia entre argumentos y parámetros.</a:t>
            </a:r>
            <a:endParaRPr b="0" i="0" sz="165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550"/>
              <a:buFont typeface="Arial"/>
              <a:buNone/>
            </a:pPr>
            <a:r>
              <a:t/>
            </a:r>
            <a:endParaRPr b="0" i="0" sz="1550"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550"/>
              <a:buFont typeface="Arial"/>
              <a:buNone/>
            </a:pPr>
            <a:r>
              <a:t/>
            </a:r>
            <a:endParaRPr b="0" i="0" sz="15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550"/>
              <a:buFont typeface="Arial"/>
              <a:buNone/>
            </a:pPr>
            <a:r>
              <a:t/>
            </a:r>
            <a:endParaRPr b="0" i="0" sz="15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550"/>
              <a:buFont typeface="Arial"/>
              <a:buNone/>
            </a:pPr>
            <a:r>
              <a:t/>
            </a:r>
            <a:endParaRPr b="0" i="0" sz="1550"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4"/>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Funciones | Paso por valor y por referencia</a:t>
            </a:r>
            <a:endParaRPr/>
          </a:p>
        </p:txBody>
      </p:sp>
      <p:sp>
        <p:nvSpPr>
          <p:cNvPr id="268" name="Google Shape;268;p14"/>
          <p:cNvSpPr txBox="1"/>
          <p:nvPr>
            <p:ph idx="1" type="body"/>
          </p:nvPr>
        </p:nvSpPr>
        <p:spPr>
          <a:xfrm>
            <a:off x="432025" y="1304875"/>
            <a:ext cx="8280000" cy="3252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s" sz="1650"/>
              <a:t>Dependiendo del tipo de dato que enviemos a la función, se tienen dos comportamientos diferentes:</a:t>
            </a:r>
            <a:endParaRPr sz="1650"/>
          </a:p>
          <a:p>
            <a:pPr indent="-314325" lvl="0" marL="457200" rtl="0" algn="l">
              <a:lnSpc>
                <a:spcPct val="115000"/>
              </a:lnSpc>
              <a:spcBef>
                <a:spcPts val="1200"/>
              </a:spcBef>
              <a:spcAft>
                <a:spcPts val="0"/>
              </a:spcAft>
              <a:buSzPts val="1350"/>
              <a:buChar char="●"/>
            </a:pPr>
            <a:r>
              <a:rPr b="1" lang="es" sz="1350"/>
              <a:t>Paso por valor: </a:t>
            </a:r>
            <a:r>
              <a:rPr lang="es" sz="1350"/>
              <a:t>se crea una copia del valor de los argumentos en los respectivos parámetros. Las modificaciones en los valores de los parámetros no afectan a las variables externas. </a:t>
            </a:r>
            <a:endParaRPr sz="1350"/>
          </a:p>
          <a:p>
            <a:pPr indent="-314325" lvl="0" marL="457200" rtl="0" algn="l">
              <a:lnSpc>
                <a:spcPct val="115000"/>
              </a:lnSpc>
              <a:spcBef>
                <a:spcPts val="0"/>
              </a:spcBef>
              <a:spcAft>
                <a:spcPts val="0"/>
              </a:spcAft>
              <a:buSzPts val="1350"/>
              <a:buChar char="●"/>
            </a:pPr>
            <a:r>
              <a:rPr b="1" lang="es" sz="1350"/>
              <a:t>Paso por referencia:</a:t>
            </a:r>
            <a:r>
              <a:rPr lang="es" sz="1350"/>
              <a:t> se pasa un puntero a la posición de memoria donde se aloja el dato, por lo que cualquier cambio que se haga en su valor dentro de la función afecta el contenido de la variable en el resto del programa. </a:t>
            </a:r>
            <a:endParaRPr sz="1350"/>
          </a:p>
          <a:p>
            <a:pPr indent="0" lvl="0" marL="0" rtl="0" algn="l">
              <a:lnSpc>
                <a:spcPct val="115000"/>
              </a:lnSpc>
              <a:spcBef>
                <a:spcPts val="1200"/>
              </a:spcBef>
              <a:spcAft>
                <a:spcPts val="1200"/>
              </a:spcAft>
              <a:buSzPts val="1800"/>
              <a:buNone/>
            </a:pPr>
            <a:r>
              <a:rPr lang="es" sz="1650"/>
              <a:t>En Python, los argumentos de tipos de datos simples (enteros, flotantes, cadenas, lógicos) se pasan por valor, y los tipos de datos compuestos (listas, diccionarios, conjuntos...)se pasan por referencia. </a:t>
            </a:r>
            <a:r>
              <a:rPr lang="es" sz="1650" u="sng">
                <a:solidFill>
                  <a:schemeClr val="hlink"/>
                </a:solidFill>
                <a:hlinkClick r:id="rId3"/>
              </a:rPr>
              <a:t>+info</a:t>
            </a:r>
            <a:endParaRPr sz="165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5"/>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Funciones | Parámetros opcionales</a:t>
            </a:r>
            <a:endParaRPr/>
          </a:p>
        </p:txBody>
      </p:sp>
      <p:sp>
        <p:nvSpPr>
          <p:cNvPr id="274" name="Google Shape;274;p15"/>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00000"/>
              </a:lnSpc>
              <a:spcBef>
                <a:spcPts val="0"/>
              </a:spcBef>
              <a:spcAft>
                <a:spcPts val="0"/>
              </a:spcAft>
              <a:buClr>
                <a:schemeClr val="dk1"/>
              </a:buClr>
              <a:buSzPts val="1100"/>
              <a:buFont typeface="Arial"/>
              <a:buNone/>
            </a:pPr>
            <a:r>
              <a:rPr b="0" i="0" lang="es" sz="1650" u="none" cap="none" strike="noStrike">
                <a:solidFill>
                  <a:schemeClr val="dk2"/>
                </a:solidFill>
                <a:latin typeface="Montserrat"/>
                <a:ea typeface="Montserrat"/>
                <a:cs typeface="Montserrat"/>
                <a:sym typeface="Montserrat"/>
              </a:rPr>
              <a:t>En una función Python se pueden indicar una serie de </a:t>
            </a:r>
            <a:r>
              <a:rPr b="1" i="0" lang="es" sz="1650" u="none" cap="none" strike="noStrike">
                <a:solidFill>
                  <a:schemeClr val="dk2"/>
                </a:solidFill>
                <a:latin typeface="Montserrat"/>
                <a:ea typeface="Montserrat"/>
                <a:cs typeface="Montserrat"/>
                <a:sym typeface="Montserrat"/>
              </a:rPr>
              <a:t>parámetros opcionales</a:t>
            </a:r>
            <a:r>
              <a:rPr b="0" i="0" lang="es" sz="1650" u="none" cap="none" strike="noStrike">
                <a:solidFill>
                  <a:schemeClr val="dk2"/>
                </a:solidFill>
                <a:latin typeface="Montserrat"/>
                <a:ea typeface="Montserrat"/>
                <a:cs typeface="Montserrat"/>
                <a:sym typeface="Montserrat"/>
              </a:rPr>
              <a:t> con el operador </a:t>
            </a:r>
            <a:r>
              <a:rPr b="1" i="0" lang="es" sz="1650" u="none" cap="none" strike="noStrike">
                <a:solidFill>
                  <a:schemeClr val="dk2"/>
                </a:solidFill>
                <a:latin typeface="Montserrat"/>
                <a:ea typeface="Montserrat"/>
                <a:cs typeface="Montserrat"/>
                <a:sym typeface="Montserrat"/>
              </a:rPr>
              <a:t>=</a:t>
            </a:r>
            <a:r>
              <a:rPr b="0" i="0" lang="es" sz="1650" u="none" cap="none" strike="noStrike">
                <a:solidFill>
                  <a:schemeClr val="dk2"/>
                </a:solidFill>
                <a:latin typeface="Montserrat"/>
                <a:ea typeface="Montserrat"/>
                <a:cs typeface="Montserrat"/>
                <a:sym typeface="Montserrat"/>
              </a:rPr>
              <a:t>. Son parámetros que,  si no se incluyen al invocar a la función, toman ese valor por defecto.</a:t>
            </a:r>
            <a:endParaRPr b="0" i="0" sz="1650" u="none" cap="none" strike="noStrike">
              <a:solidFill>
                <a:schemeClr val="dk2"/>
              </a:solidFill>
              <a:latin typeface="Arial"/>
              <a:ea typeface="Arial"/>
              <a:cs typeface="Arial"/>
              <a:sym typeface="Arial"/>
            </a:endParaRPr>
          </a:p>
          <a:p>
            <a:pPr indent="0" lvl="0" marL="0" marR="0" rtl="0" algn="l">
              <a:lnSpc>
                <a:spcPct val="115000"/>
              </a:lnSpc>
              <a:spcBef>
                <a:spcPts val="1199"/>
              </a:spcBef>
              <a:spcAft>
                <a:spcPts val="0"/>
              </a:spcAft>
              <a:buClr>
                <a:schemeClr val="dk1"/>
              </a:buClr>
              <a:buSzPts val="1100"/>
              <a:buFont typeface="Arial"/>
              <a:buNone/>
            </a:pPr>
            <a:r>
              <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chemeClr val="dk1"/>
              </a:buClr>
              <a:buSzPts val="1100"/>
              <a:buFont typeface="Arial"/>
              <a:buNone/>
            </a:pPr>
            <a:r>
              <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rgbClr val="595959"/>
              </a:solidFill>
              <a:latin typeface="Montserrat"/>
              <a:ea typeface="Montserrat"/>
              <a:cs typeface="Montserrat"/>
              <a:sym typeface="Montserrat"/>
            </a:endParaRPr>
          </a:p>
        </p:txBody>
      </p:sp>
      <p:sp>
        <p:nvSpPr>
          <p:cNvPr id="275" name="Google Shape;275;p15"/>
          <p:cNvSpPr/>
          <p:nvPr/>
        </p:nvSpPr>
        <p:spPr>
          <a:xfrm>
            <a:off x="2638125" y="2416225"/>
            <a:ext cx="2587200" cy="12345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sumar</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a</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0</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00E8C6"/>
                </a:solidFill>
                <a:highlight>
                  <a:srgbClr val="23262E"/>
                </a:highlight>
                <a:latin typeface="Consolas"/>
                <a:ea typeface="Consolas"/>
                <a:cs typeface="Consolas"/>
                <a:sym typeface="Consolas"/>
              </a:rPr>
              <a:t>b</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0</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return</a:t>
            </a:r>
            <a:r>
              <a:rPr b="0" i="0" lang="es" sz="1200" u="none" cap="none" strike="noStrike">
                <a:solidFill>
                  <a:srgbClr val="D5CED9"/>
                </a:solidFill>
                <a:highlight>
                  <a:srgbClr val="23262E"/>
                </a:highlight>
                <a:latin typeface="Consolas"/>
                <a:ea typeface="Consolas"/>
                <a:cs typeface="Consolas"/>
                <a:sym typeface="Consolas"/>
              </a:rPr>
              <a:t> 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b</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FE66D"/>
                </a:solidFill>
                <a:highlight>
                  <a:srgbClr val="23262E"/>
                </a:highlight>
                <a:latin typeface="Consolas"/>
                <a:ea typeface="Consolas"/>
                <a:cs typeface="Consolas"/>
                <a:sym typeface="Consolas"/>
              </a:rPr>
              <a:t>sumar</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2</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6</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FE66D"/>
                </a:solidFill>
                <a:highlight>
                  <a:srgbClr val="23262E"/>
                </a:highlight>
                <a:latin typeface="Consolas"/>
                <a:ea typeface="Consolas"/>
                <a:cs typeface="Consolas"/>
                <a:sym typeface="Consolas"/>
              </a:rPr>
              <a:t>sumar</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5</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FE66D"/>
                </a:solidFill>
                <a:highlight>
                  <a:srgbClr val="23262E"/>
                </a:highlight>
                <a:latin typeface="Consolas"/>
                <a:ea typeface="Consolas"/>
                <a:cs typeface="Consolas"/>
                <a:sym typeface="Consolas"/>
              </a:rPr>
              <a:t>sumar</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5F6167"/>
              </a:solidFill>
              <a:highlight>
                <a:srgbClr val="23262E"/>
              </a:highlight>
              <a:latin typeface="Consolas"/>
              <a:ea typeface="Consolas"/>
              <a:cs typeface="Consolas"/>
              <a:sym typeface="Consolas"/>
            </a:endParaRPr>
          </a:p>
        </p:txBody>
      </p:sp>
      <p:sp>
        <p:nvSpPr>
          <p:cNvPr id="276" name="Google Shape;276;p15"/>
          <p:cNvSpPr/>
          <p:nvPr/>
        </p:nvSpPr>
        <p:spPr>
          <a:xfrm>
            <a:off x="2638125" y="2188075"/>
            <a:ext cx="2587200" cy="2283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Parámetros opcionales</a:t>
            </a:r>
            <a:endParaRPr b="0" i="0" sz="1400" u="none" cap="none" strike="noStrike">
              <a:solidFill>
                <a:schemeClr val="dk2"/>
              </a:solidFill>
              <a:latin typeface="Montserrat"/>
              <a:ea typeface="Montserrat"/>
              <a:cs typeface="Montserrat"/>
              <a:sym typeface="Montserrat"/>
            </a:endParaRPr>
          </a:p>
        </p:txBody>
      </p:sp>
      <p:sp>
        <p:nvSpPr>
          <p:cNvPr id="277" name="Google Shape;277;p15"/>
          <p:cNvSpPr/>
          <p:nvPr/>
        </p:nvSpPr>
        <p:spPr>
          <a:xfrm>
            <a:off x="5469075" y="2417600"/>
            <a:ext cx="1036800" cy="12345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8</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5</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0</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200"/>
              <a:buFont typeface="Consolas"/>
              <a:buNone/>
            </a:pPr>
            <a:r>
              <a:t/>
            </a:r>
            <a:endParaRPr b="0" i="0" sz="1200" u="none" cap="none" strike="noStrike">
              <a:solidFill>
                <a:srgbClr val="D5CED9"/>
              </a:solidFill>
              <a:latin typeface="Consolas"/>
              <a:ea typeface="Consolas"/>
              <a:cs typeface="Consolas"/>
              <a:sym typeface="Consolas"/>
            </a:endParaRPr>
          </a:p>
        </p:txBody>
      </p:sp>
      <p:sp>
        <p:nvSpPr>
          <p:cNvPr id="278" name="Google Shape;278;p15"/>
          <p:cNvSpPr/>
          <p:nvPr/>
        </p:nvSpPr>
        <p:spPr>
          <a:xfrm>
            <a:off x="5469047" y="2186700"/>
            <a:ext cx="1036800" cy="2283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
        <p:nvSpPr>
          <p:cNvPr id="279" name="Google Shape;279;p15"/>
          <p:cNvSpPr txBox="1"/>
          <p:nvPr/>
        </p:nvSpPr>
        <p:spPr>
          <a:xfrm>
            <a:off x="436425" y="3734225"/>
            <a:ext cx="8279700" cy="872700"/>
          </a:xfrm>
          <a:prstGeom prst="rect">
            <a:avLst/>
          </a:prstGeom>
          <a:noFill/>
          <a:ln>
            <a:noFill/>
          </a:ln>
        </p:spPr>
        <p:txBody>
          <a:bodyPr anchorCtr="0" anchor="t" bIns="91425" lIns="0" spcFirstLastPara="1" rIns="0" wrap="square" tIns="91425">
            <a:noAutofit/>
          </a:bodyPr>
          <a:lstStyle/>
          <a:p>
            <a:pPr indent="0" lvl="0" marL="0" marR="0" rtl="0" algn="l">
              <a:lnSpc>
                <a:spcPct val="100000"/>
              </a:lnSpc>
              <a:spcBef>
                <a:spcPts val="0"/>
              </a:spcBef>
              <a:spcAft>
                <a:spcPts val="0"/>
              </a:spcAft>
              <a:buClr>
                <a:srgbClr val="000000"/>
              </a:buClr>
              <a:buSzPts val="1650"/>
              <a:buFont typeface="Arial"/>
              <a:buNone/>
            </a:pPr>
            <a:r>
              <a:rPr b="0" i="0" lang="es" sz="1650" u="none" cap="none" strike="noStrike">
                <a:solidFill>
                  <a:schemeClr val="dk2"/>
                </a:solidFill>
                <a:latin typeface="Montserrat"/>
                <a:ea typeface="Montserrat"/>
                <a:cs typeface="Montserrat"/>
                <a:sym typeface="Montserrat"/>
              </a:rPr>
              <a:t>En una función se pueden especificar tantos parámetros opcionales como se quiera. Sin embargo, una vez que se indica uno, todos los parámetros a su derecha también deben ser opcionales.</a:t>
            </a:r>
            <a:endParaRPr b="0" i="0" sz="165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550"/>
              <a:buFont typeface="Arial"/>
              <a:buNone/>
            </a:pPr>
            <a:r>
              <a:t/>
            </a:r>
            <a:endParaRPr b="0" i="0" sz="1550"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550"/>
              <a:buFont typeface="Arial"/>
              <a:buNone/>
            </a:pPr>
            <a:r>
              <a:t/>
            </a:r>
            <a:endParaRPr b="0" i="0" sz="15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550"/>
              <a:buFont typeface="Arial"/>
              <a:buNone/>
            </a:pPr>
            <a:r>
              <a:t/>
            </a:r>
            <a:endParaRPr b="0" i="0" sz="15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550"/>
              <a:buFont typeface="Arial"/>
              <a:buNone/>
            </a:pPr>
            <a:r>
              <a:t/>
            </a:r>
            <a:endParaRPr b="0" i="0" sz="1550"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6"/>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Funciones | Parámetros opcionales</a:t>
            </a:r>
            <a:endParaRPr/>
          </a:p>
        </p:txBody>
      </p:sp>
      <p:sp>
        <p:nvSpPr>
          <p:cNvPr id="285" name="Google Shape;285;p16"/>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00000"/>
              </a:lnSpc>
              <a:spcBef>
                <a:spcPts val="0"/>
              </a:spcBef>
              <a:spcAft>
                <a:spcPts val="0"/>
              </a:spcAft>
              <a:buClr>
                <a:schemeClr val="dk1"/>
              </a:buClr>
              <a:buSzPts val="1100"/>
              <a:buFont typeface="Arial"/>
              <a:buNone/>
            </a:pPr>
            <a:r>
              <a:rPr b="0" i="0" lang="es" sz="1650" u="none" cap="none" strike="noStrike">
                <a:solidFill>
                  <a:schemeClr val="dk2"/>
                </a:solidFill>
                <a:latin typeface="Montserrat"/>
                <a:ea typeface="Montserrat"/>
                <a:cs typeface="Montserrat"/>
                <a:sym typeface="Montserrat"/>
              </a:rPr>
              <a:t>En este ejemplo se utilizan argumentos opcionales para calcular la raíz de un  número:</a:t>
            </a:r>
            <a:endParaRPr b="0" i="0" sz="165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b="0" i="0" sz="165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b="0" i="0" sz="1650"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chemeClr val="dk1"/>
              </a:buClr>
              <a:buSzPts val="1100"/>
              <a:buFont typeface="Arial"/>
              <a:buNone/>
            </a:pPr>
            <a:r>
              <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chemeClr val="dk1"/>
              </a:buClr>
              <a:buSzPts val="1100"/>
              <a:buFont typeface="Arial"/>
              <a:buNone/>
            </a:pPr>
            <a:r>
              <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rgbClr val="595959"/>
              </a:solidFill>
              <a:latin typeface="Montserrat"/>
              <a:ea typeface="Montserrat"/>
              <a:cs typeface="Montserrat"/>
              <a:sym typeface="Montserrat"/>
            </a:endParaRPr>
          </a:p>
        </p:txBody>
      </p:sp>
      <p:sp>
        <p:nvSpPr>
          <p:cNvPr id="286" name="Google Shape;286;p16"/>
          <p:cNvSpPr/>
          <p:nvPr/>
        </p:nvSpPr>
        <p:spPr>
          <a:xfrm>
            <a:off x="1978522" y="2221350"/>
            <a:ext cx="2901900" cy="14727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C74DED"/>
                </a:solidFill>
                <a:latin typeface="Consolas"/>
                <a:ea typeface="Consolas"/>
                <a:cs typeface="Consolas"/>
                <a:sym typeface="Consolas"/>
              </a:rPr>
              <a:t>def</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FE66D"/>
                </a:solidFill>
                <a:latin typeface="Consolas"/>
                <a:ea typeface="Consolas"/>
                <a:cs typeface="Consolas"/>
                <a:sym typeface="Consolas"/>
              </a:rPr>
              <a:t>fn_raiz</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00E8C6"/>
                </a:solidFill>
                <a:latin typeface="Consolas"/>
                <a:ea typeface="Consolas"/>
                <a:cs typeface="Consolas"/>
                <a:sym typeface="Consolas"/>
              </a:rPr>
              <a:t>num</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00E8C6"/>
                </a:solidFill>
                <a:latin typeface="Consolas"/>
                <a:ea typeface="Consolas"/>
                <a:cs typeface="Consolas"/>
                <a:sym typeface="Consolas"/>
              </a:rPr>
              <a:t>raiz</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2</a:t>
            </a:r>
            <a:r>
              <a:rPr b="0" i="0" lang="es" sz="1200" u="none" cap="none" strike="noStrike">
                <a:solidFill>
                  <a:srgbClr val="D5CED9"/>
                </a:solidFill>
                <a:latin typeface="Consolas"/>
                <a:ea typeface="Consolas"/>
                <a:cs typeface="Consolas"/>
                <a:sym typeface="Consolas"/>
              </a:rPr>
              <a:t>): </a:t>
            </a:r>
            <a:endParaRPr b="0" i="0" sz="1200" u="none" cap="none" strike="noStrike">
              <a:solidFill>
                <a:srgbClr val="5F6167"/>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C74DED"/>
                </a:solidFill>
                <a:latin typeface="Consolas"/>
                <a:ea typeface="Consolas"/>
                <a:cs typeface="Consolas"/>
                <a:sym typeface="Consolas"/>
              </a:rPr>
              <a:t>return</a:t>
            </a:r>
            <a:r>
              <a:rPr b="0" i="0" lang="es" sz="1200" u="none" cap="none" strike="noStrike">
                <a:solidFill>
                  <a:srgbClr val="D5CED9"/>
                </a:solidFill>
                <a:latin typeface="Consolas"/>
                <a:ea typeface="Consolas"/>
                <a:cs typeface="Consolas"/>
                <a:sym typeface="Consolas"/>
              </a:rPr>
              <a:t> num</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1</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raiz)</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br>
              <a:rPr b="0" i="0" lang="es" sz="1200" u="none" cap="none" strike="noStrike">
                <a:solidFill>
                  <a:srgbClr val="D5CED9"/>
                </a:solidFill>
                <a:latin typeface="Consolas"/>
                <a:ea typeface="Consolas"/>
                <a:cs typeface="Consolas"/>
                <a:sym typeface="Consolas"/>
              </a:rPr>
            </a:br>
            <a:r>
              <a:rPr b="0" i="0" lang="es" sz="1200" u="none" cap="none" strike="noStrike">
                <a:solidFill>
                  <a:srgbClr val="5F6167"/>
                </a:solidFill>
                <a:latin typeface="Consolas"/>
                <a:ea typeface="Consolas"/>
                <a:cs typeface="Consolas"/>
                <a:sym typeface="Consolas"/>
              </a:rPr>
              <a:t># Programa principal</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FFE66D"/>
                </a:solidFill>
                <a:latin typeface="Consolas"/>
                <a:ea typeface="Consolas"/>
                <a:cs typeface="Consolas"/>
                <a:sym typeface="Consolas"/>
              </a:rPr>
              <a:t>print</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FE66D"/>
                </a:solidFill>
                <a:latin typeface="Consolas"/>
                <a:ea typeface="Consolas"/>
                <a:cs typeface="Consolas"/>
                <a:sym typeface="Consolas"/>
              </a:rPr>
              <a:t>fn_raiz</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4</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FFE66D"/>
                </a:solidFill>
                <a:latin typeface="Consolas"/>
                <a:ea typeface="Consolas"/>
                <a:cs typeface="Consolas"/>
                <a:sym typeface="Consolas"/>
              </a:rPr>
              <a:t>print</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FE66D"/>
                </a:solidFill>
                <a:latin typeface="Consolas"/>
                <a:ea typeface="Consolas"/>
                <a:cs typeface="Consolas"/>
                <a:sym typeface="Consolas"/>
              </a:rPr>
              <a:t>fn_raiz</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8</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FFE66D"/>
                </a:solidFill>
                <a:latin typeface="Consolas"/>
                <a:ea typeface="Consolas"/>
                <a:cs typeface="Consolas"/>
                <a:sym typeface="Consolas"/>
              </a:rPr>
              <a:t>print</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FE66D"/>
                </a:solidFill>
                <a:latin typeface="Consolas"/>
                <a:ea typeface="Consolas"/>
                <a:cs typeface="Consolas"/>
                <a:sym typeface="Consolas"/>
              </a:rPr>
              <a:t>fn_raiz</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8</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3</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p:txBody>
      </p:sp>
      <p:sp>
        <p:nvSpPr>
          <p:cNvPr id="287" name="Google Shape;287;p16"/>
          <p:cNvSpPr/>
          <p:nvPr/>
        </p:nvSpPr>
        <p:spPr>
          <a:xfrm>
            <a:off x="1978522" y="1992450"/>
            <a:ext cx="29019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Raíz de un número</a:t>
            </a:r>
            <a:endParaRPr b="0" i="0" sz="1400" u="none" cap="none" strike="noStrike">
              <a:solidFill>
                <a:schemeClr val="dk2"/>
              </a:solidFill>
              <a:latin typeface="Montserrat"/>
              <a:ea typeface="Montserrat"/>
              <a:cs typeface="Montserrat"/>
              <a:sym typeface="Montserrat"/>
            </a:endParaRPr>
          </a:p>
        </p:txBody>
      </p:sp>
      <p:sp>
        <p:nvSpPr>
          <p:cNvPr id="288" name="Google Shape;288;p16"/>
          <p:cNvSpPr/>
          <p:nvPr/>
        </p:nvSpPr>
        <p:spPr>
          <a:xfrm>
            <a:off x="5167178" y="2224100"/>
            <a:ext cx="1998300" cy="14727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2.0</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2.8284271247461903</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2.0</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200"/>
              <a:buFont typeface="Consolas"/>
              <a:buNone/>
            </a:pPr>
            <a:r>
              <a:t/>
            </a:r>
            <a:endParaRPr b="0" i="0" sz="1200" u="none" cap="none" strike="noStrike">
              <a:solidFill>
                <a:srgbClr val="D5CED9"/>
              </a:solidFill>
              <a:latin typeface="Consolas"/>
              <a:ea typeface="Consolas"/>
              <a:cs typeface="Consolas"/>
              <a:sym typeface="Consolas"/>
            </a:endParaRPr>
          </a:p>
        </p:txBody>
      </p:sp>
      <p:sp>
        <p:nvSpPr>
          <p:cNvPr id="289" name="Google Shape;289;p16"/>
          <p:cNvSpPr/>
          <p:nvPr/>
        </p:nvSpPr>
        <p:spPr>
          <a:xfrm>
            <a:off x="5167144" y="1992450"/>
            <a:ext cx="19983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
        <p:nvSpPr>
          <p:cNvPr id="290" name="Google Shape;290;p16"/>
          <p:cNvSpPr txBox="1"/>
          <p:nvPr/>
        </p:nvSpPr>
        <p:spPr>
          <a:xfrm>
            <a:off x="436425" y="3696800"/>
            <a:ext cx="8279700" cy="903000"/>
          </a:xfrm>
          <a:prstGeom prst="rect">
            <a:avLst/>
          </a:prstGeom>
          <a:noFill/>
          <a:ln>
            <a:noFill/>
          </a:ln>
        </p:spPr>
        <p:txBody>
          <a:bodyPr anchorCtr="0" anchor="t" bIns="91425" lIns="0" spcFirstLastPara="1" rIns="0" wrap="square" tIns="91425">
            <a:noAutofit/>
          </a:bodyPr>
          <a:lstStyle/>
          <a:p>
            <a:pPr indent="0" lvl="0" marL="0" marR="0" rtl="0" algn="l">
              <a:lnSpc>
                <a:spcPct val="100000"/>
              </a:lnSpc>
              <a:spcBef>
                <a:spcPts val="0"/>
              </a:spcBef>
              <a:spcAft>
                <a:spcPts val="0"/>
              </a:spcAft>
              <a:buClr>
                <a:srgbClr val="000000"/>
              </a:buClr>
              <a:buSzPts val="1650"/>
              <a:buFont typeface="Arial"/>
              <a:buNone/>
            </a:pPr>
            <a:r>
              <a:rPr b="0" i="0" lang="es" sz="1650" u="none" cap="none" strike="noStrike">
                <a:solidFill>
                  <a:schemeClr val="dk2"/>
                </a:solidFill>
                <a:latin typeface="Montserrat"/>
                <a:ea typeface="Montserrat"/>
                <a:cs typeface="Montserrat"/>
                <a:sym typeface="Montserrat"/>
              </a:rPr>
              <a:t>La función posee dos argumentos. El segundo es opcional. Si no se incluye el parámetro correspondiente en la llamada, se asume que es 2, y se calcula la raíz cuadrada.</a:t>
            </a:r>
            <a:endParaRPr b="0" i="0" sz="165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550"/>
              <a:buFont typeface="Arial"/>
              <a:buNone/>
            </a:pPr>
            <a:r>
              <a:t/>
            </a:r>
            <a:endParaRPr b="0" i="0" sz="1550"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550"/>
              <a:buFont typeface="Arial"/>
              <a:buNone/>
            </a:pPr>
            <a:r>
              <a:t/>
            </a:r>
            <a:endParaRPr b="0" i="0" sz="15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550"/>
              <a:buFont typeface="Arial"/>
              <a:buNone/>
            </a:pPr>
            <a:r>
              <a:t/>
            </a:r>
            <a:endParaRPr b="0" i="0" sz="15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550"/>
              <a:buFont typeface="Arial"/>
              <a:buNone/>
            </a:pPr>
            <a:r>
              <a:t/>
            </a:r>
            <a:endParaRPr b="0" i="0" sz="1550"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7"/>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Funciones | Parámetros posicionales</a:t>
            </a:r>
            <a:endParaRPr/>
          </a:p>
        </p:txBody>
      </p:sp>
      <p:sp>
        <p:nvSpPr>
          <p:cNvPr id="296" name="Google Shape;296;p17"/>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0"/>
              </a:spcBef>
              <a:spcAft>
                <a:spcPts val="0"/>
              </a:spcAft>
              <a:buClr>
                <a:schemeClr val="dk1"/>
              </a:buClr>
              <a:buSzPts val="1100"/>
              <a:buFont typeface="Arial"/>
              <a:buNone/>
            </a:pPr>
            <a:r>
              <a:rPr b="0" i="0" lang="es" sz="1650" u="none" cap="none" strike="noStrike">
                <a:solidFill>
                  <a:schemeClr val="dk2"/>
                </a:solidFill>
                <a:latin typeface="Montserrat"/>
                <a:ea typeface="Montserrat"/>
                <a:cs typeface="Montserrat"/>
                <a:sym typeface="Montserrat"/>
              </a:rPr>
              <a:t>Al invocar una función con diferentes argumentos, los valores se asignan a los parámetros en el mismo orden en que se indican. Sin embargo, el orden se puede cambiar si llamamos a la función indicando el nombre de los parámetros:</a:t>
            </a:r>
            <a:endParaRPr b="0" i="0" sz="1650" u="none" cap="none" strike="noStrike">
              <a:solidFill>
                <a:schemeClr val="dk2"/>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t/>
            </a:r>
            <a:endParaRPr b="0" i="0" sz="1650" u="none" cap="none" strike="noStrike">
              <a:solidFill>
                <a:schemeClr val="dk2"/>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t/>
            </a:r>
            <a:endParaRPr b="0" i="0" sz="1650" u="none" cap="none" strike="noStrike">
              <a:solidFill>
                <a:schemeClr val="dk2"/>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t/>
            </a:r>
            <a:endParaRPr b="0" i="0" sz="1650"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rgbClr val="595959"/>
              </a:solidFill>
              <a:latin typeface="Montserrat"/>
              <a:ea typeface="Montserrat"/>
              <a:cs typeface="Montserrat"/>
              <a:sym typeface="Montserrat"/>
            </a:endParaRPr>
          </a:p>
        </p:txBody>
      </p:sp>
      <p:sp>
        <p:nvSpPr>
          <p:cNvPr id="297" name="Google Shape;297;p17"/>
          <p:cNvSpPr/>
          <p:nvPr/>
        </p:nvSpPr>
        <p:spPr>
          <a:xfrm>
            <a:off x="1438410" y="2829400"/>
            <a:ext cx="4068000" cy="14727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potencia</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base</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00E8C6"/>
                </a:solidFill>
                <a:highlight>
                  <a:srgbClr val="23262E"/>
                </a:highlight>
                <a:latin typeface="Consolas"/>
                <a:ea typeface="Consolas"/>
                <a:cs typeface="Consolas"/>
                <a:sym typeface="Consolas"/>
              </a:rPr>
              <a:t>exponente</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2</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return</a:t>
            </a:r>
            <a:r>
              <a:rPr b="0" i="0" lang="es" sz="1200" u="none" cap="none" strike="noStrike">
                <a:solidFill>
                  <a:srgbClr val="D5CED9"/>
                </a:solidFill>
                <a:highlight>
                  <a:srgbClr val="23262E"/>
                </a:highlight>
                <a:latin typeface="Consolas"/>
                <a:ea typeface="Consolas"/>
                <a:cs typeface="Consolas"/>
                <a:sym typeface="Consolas"/>
              </a:rPr>
              <a:t> base</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exponente</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FE66D"/>
                </a:solidFill>
                <a:highlight>
                  <a:srgbClr val="23262E"/>
                </a:highlight>
                <a:latin typeface="Consolas"/>
                <a:ea typeface="Consolas"/>
                <a:cs typeface="Consolas"/>
                <a:sym typeface="Consolas"/>
              </a:rPr>
              <a:t>potencia</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6</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1</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FE66D"/>
                </a:solidFill>
                <a:highlight>
                  <a:srgbClr val="23262E"/>
                </a:highlight>
                <a:latin typeface="Consolas"/>
                <a:ea typeface="Consolas"/>
                <a:cs typeface="Consolas"/>
                <a:sym typeface="Consolas"/>
              </a:rPr>
              <a:t>potencia</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exponente</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5</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00E8C6"/>
                </a:solidFill>
                <a:highlight>
                  <a:srgbClr val="23262E"/>
                </a:highlight>
                <a:latin typeface="Consolas"/>
                <a:ea typeface="Consolas"/>
                <a:cs typeface="Consolas"/>
                <a:sym typeface="Consolas"/>
              </a:rPr>
              <a:t>base</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2</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FE66D"/>
                </a:solidFill>
                <a:highlight>
                  <a:srgbClr val="23262E"/>
                </a:highlight>
                <a:latin typeface="Consolas"/>
                <a:ea typeface="Consolas"/>
                <a:cs typeface="Consolas"/>
                <a:sym typeface="Consolas"/>
              </a:rPr>
              <a:t>potencia</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8</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FE66D"/>
                </a:solidFill>
                <a:highlight>
                  <a:srgbClr val="23262E"/>
                </a:highlight>
                <a:latin typeface="Consolas"/>
                <a:ea typeface="Consolas"/>
                <a:cs typeface="Consolas"/>
                <a:sym typeface="Consolas"/>
              </a:rPr>
              <a:t>potencia</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base</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2</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p:txBody>
      </p:sp>
      <p:sp>
        <p:nvSpPr>
          <p:cNvPr id="298" name="Google Shape;298;p17"/>
          <p:cNvSpPr/>
          <p:nvPr/>
        </p:nvSpPr>
        <p:spPr>
          <a:xfrm>
            <a:off x="1438410" y="2600500"/>
            <a:ext cx="40680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Ejemplo de uso de una función</a:t>
            </a:r>
            <a:endParaRPr b="0" i="0" sz="1400" u="none" cap="none" strike="noStrike">
              <a:solidFill>
                <a:schemeClr val="dk2"/>
              </a:solidFill>
              <a:latin typeface="Montserrat"/>
              <a:ea typeface="Montserrat"/>
              <a:cs typeface="Montserrat"/>
              <a:sym typeface="Montserrat"/>
            </a:endParaRPr>
          </a:p>
        </p:txBody>
      </p:sp>
      <p:sp>
        <p:nvSpPr>
          <p:cNvPr id="299" name="Google Shape;299;p17"/>
          <p:cNvSpPr/>
          <p:nvPr/>
        </p:nvSpPr>
        <p:spPr>
          <a:xfrm>
            <a:off x="5707290" y="2832150"/>
            <a:ext cx="1998300" cy="14727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6</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32</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64</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4</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200"/>
              <a:buFont typeface="Consolas"/>
              <a:buNone/>
            </a:pPr>
            <a:r>
              <a:t/>
            </a:r>
            <a:endParaRPr b="0" i="0" sz="1200" u="none" cap="none" strike="noStrike">
              <a:solidFill>
                <a:srgbClr val="D5CED9"/>
              </a:solidFill>
              <a:latin typeface="Consolas"/>
              <a:ea typeface="Consolas"/>
              <a:cs typeface="Consolas"/>
              <a:sym typeface="Consolas"/>
            </a:endParaRPr>
          </a:p>
        </p:txBody>
      </p:sp>
      <p:sp>
        <p:nvSpPr>
          <p:cNvPr id="300" name="Google Shape;300;p17"/>
          <p:cNvSpPr/>
          <p:nvPr/>
        </p:nvSpPr>
        <p:spPr>
          <a:xfrm>
            <a:off x="5707257" y="2600500"/>
            <a:ext cx="19983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18"/>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Funciones | Devolución de valores</a:t>
            </a:r>
            <a:endParaRPr/>
          </a:p>
        </p:txBody>
      </p:sp>
      <p:sp>
        <p:nvSpPr>
          <p:cNvPr id="306" name="Google Shape;306;p18"/>
          <p:cNvSpPr txBox="1"/>
          <p:nvPr>
            <p:ph idx="1" type="body"/>
          </p:nvPr>
        </p:nvSpPr>
        <p:spPr>
          <a:xfrm>
            <a:off x="432025" y="1304875"/>
            <a:ext cx="8280000" cy="1258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s" sz="1650"/>
              <a:t>Una función puede devolver información para ser utilizada o almacenada en una variable. Se utiliza la palabra clave </a:t>
            </a:r>
            <a:r>
              <a:rPr b="1" lang="es" sz="1650"/>
              <a:t>return</a:t>
            </a:r>
            <a:r>
              <a:rPr lang="es" sz="1650"/>
              <a:t>, que regresa un valor y finaliza la ejecución de la función. Si existe código después del </a:t>
            </a:r>
            <a:r>
              <a:rPr b="1" lang="es" sz="1650"/>
              <a:t>return</a:t>
            </a:r>
            <a:r>
              <a:rPr lang="es" sz="1650"/>
              <a:t>, nunca será ejecutado. Puede haber más de un </a:t>
            </a:r>
            <a:r>
              <a:rPr b="1" lang="es" sz="1650"/>
              <a:t>return</a:t>
            </a:r>
            <a:r>
              <a:rPr lang="es" sz="1650"/>
              <a:t> por función.</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1200"/>
              </a:spcAft>
              <a:buSzPts val="1800"/>
              <a:buNone/>
            </a:pPr>
            <a:r>
              <a:t/>
            </a:r>
            <a:endParaRPr sz="1650"/>
          </a:p>
        </p:txBody>
      </p:sp>
      <p:sp>
        <p:nvSpPr>
          <p:cNvPr id="307" name="Google Shape;307;p18"/>
          <p:cNvSpPr/>
          <p:nvPr/>
        </p:nvSpPr>
        <p:spPr>
          <a:xfrm>
            <a:off x="602956" y="2872575"/>
            <a:ext cx="4611600" cy="16413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La función resta dos valores numéricos.</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restar</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num1</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num2</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resta</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num1</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num2</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return</a:t>
            </a:r>
            <a:r>
              <a:rPr b="0" i="0" lang="es" sz="1200" u="none" cap="none" strike="noStrike">
                <a:solidFill>
                  <a:srgbClr val="D5CED9"/>
                </a:solidFill>
                <a:highlight>
                  <a:srgbClr val="23262E"/>
                </a:highlight>
                <a:latin typeface="Consolas"/>
                <a:ea typeface="Consolas"/>
                <a:cs typeface="Consolas"/>
                <a:sym typeface="Consolas"/>
              </a:rPr>
              <a:t> resta </a:t>
            </a:r>
            <a:r>
              <a:rPr b="0" i="0" lang="es" sz="1200" u="none" cap="none" strike="noStrike">
                <a:solidFill>
                  <a:srgbClr val="5F6167"/>
                </a:solidFill>
                <a:highlight>
                  <a:srgbClr val="23262E"/>
                </a:highlight>
                <a:latin typeface="Consolas"/>
                <a:ea typeface="Consolas"/>
                <a:cs typeface="Consolas"/>
                <a:sym typeface="Consolas"/>
              </a:rPr>
              <a:t># Retorna un valor</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Programa principal</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resultado</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restar</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10</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3</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"El 1er resultado es:"</a:t>
            </a:r>
            <a:r>
              <a:rPr b="0" i="0" lang="es" sz="1200" u="none" cap="none" strike="noStrike">
                <a:solidFill>
                  <a:srgbClr val="D5CED9"/>
                </a:solidFill>
                <a:highlight>
                  <a:srgbClr val="23262E"/>
                </a:highlight>
                <a:latin typeface="Consolas"/>
                <a:ea typeface="Consolas"/>
                <a:cs typeface="Consolas"/>
                <a:sym typeface="Consolas"/>
              </a:rPr>
              <a:t>, resultado)</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"El 2do resultado es:"</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restar</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10</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4</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C74DED"/>
              </a:solidFill>
              <a:latin typeface="Consolas"/>
              <a:ea typeface="Consolas"/>
              <a:cs typeface="Consolas"/>
              <a:sym typeface="Consolas"/>
            </a:endParaRPr>
          </a:p>
        </p:txBody>
      </p:sp>
      <p:sp>
        <p:nvSpPr>
          <p:cNvPr id="308" name="Google Shape;308;p18"/>
          <p:cNvSpPr/>
          <p:nvPr/>
        </p:nvSpPr>
        <p:spPr>
          <a:xfrm>
            <a:off x="602955" y="2671575"/>
            <a:ext cx="46116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Ejemplo de uso de una función con return</a:t>
            </a:r>
            <a:endParaRPr b="0" i="0" sz="1400" u="none" cap="none" strike="noStrike">
              <a:solidFill>
                <a:schemeClr val="dk2"/>
              </a:solidFill>
              <a:latin typeface="Montserrat"/>
              <a:ea typeface="Montserrat"/>
              <a:cs typeface="Montserrat"/>
              <a:sym typeface="Montserrat"/>
            </a:endParaRPr>
          </a:p>
        </p:txBody>
      </p:sp>
      <p:sp>
        <p:nvSpPr>
          <p:cNvPr id="309" name="Google Shape;309;p18"/>
          <p:cNvSpPr/>
          <p:nvPr/>
        </p:nvSpPr>
        <p:spPr>
          <a:xfrm>
            <a:off x="5370645" y="2903225"/>
            <a:ext cx="3170400" cy="16107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latin typeface="Consolas"/>
                <a:ea typeface="Consolas"/>
                <a:cs typeface="Consolas"/>
                <a:sym typeface="Consolas"/>
              </a:rPr>
              <a:t>El 1er resultado es: 7</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latin typeface="Consolas"/>
                <a:ea typeface="Consolas"/>
                <a:cs typeface="Consolas"/>
                <a:sym typeface="Consolas"/>
              </a:rPr>
              <a:t>El 2do resultado es: 6</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200"/>
              <a:buFont typeface="Consolas"/>
              <a:buNone/>
            </a:pPr>
            <a:r>
              <a:t/>
            </a:r>
            <a:endParaRPr b="0" i="0" sz="1200" u="none" cap="none" strike="noStrike">
              <a:solidFill>
                <a:srgbClr val="D5CED9"/>
              </a:solidFill>
              <a:latin typeface="Consolas"/>
              <a:ea typeface="Consolas"/>
              <a:cs typeface="Consolas"/>
              <a:sym typeface="Consolas"/>
            </a:endParaRPr>
          </a:p>
        </p:txBody>
      </p:sp>
      <p:sp>
        <p:nvSpPr>
          <p:cNvPr id="310" name="Google Shape;310;p18"/>
          <p:cNvSpPr/>
          <p:nvPr/>
        </p:nvSpPr>
        <p:spPr>
          <a:xfrm>
            <a:off x="5370577" y="2671575"/>
            <a:ext cx="31704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19"/>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Funciones | Devolución de valores</a:t>
            </a:r>
            <a:endParaRPr/>
          </a:p>
        </p:txBody>
      </p:sp>
      <p:sp>
        <p:nvSpPr>
          <p:cNvPr id="316" name="Google Shape;316;p19"/>
          <p:cNvSpPr txBox="1"/>
          <p:nvPr>
            <p:ph idx="1" type="body"/>
          </p:nvPr>
        </p:nvSpPr>
        <p:spPr>
          <a:xfrm>
            <a:off x="432025" y="1304875"/>
            <a:ext cx="8280000" cy="1488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s" sz="1650"/>
              <a:t>La sentencia </a:t>
            </a:r>
            <a:r>
              <a:rPr b="1" lang="es" sz="1650"/>
              <a:t>return</a:t>
            </a:r>
            <a:r>
              <a:rPr lang="es" sz="1650"/>
              <a:t> es opcional, y puede devolver, o no, un valor. Es posible que aparezca más de una vez dentro de una misma función.</a:t>
            </a:r>
            <a:endParaRPr sz="1650"/>
          </a:p>
          <a:p>
            <a:pPr indent="0" lvl="0" marL="0" rtl="0" algn="l">
              <a:lnSpc>
                <a:spcPct val="115000"/>
              </a:lnSpc>
              <a:spcBef>
                <a:spcPts val="1200"/>
              </a:spcBef>
              <a:spcAft>
                <a:spcPts val="0"/>
              </a:spcAft>
              <a:buClr>
                <a:schemeClr val="dk1"/>
              </a:buClr>
              <a:buSzPts val="1100"/>
              <a:buFont typeface="Arial"/>
              <a:buNone/>
            </a:pPr>
            <a:r>
              <a:rPr lang="es" sz="1650"/>
              <a:t>No se puede utilizar dentro de una función una variable que tenga el mismo nombre que la función.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1200"/>
              </a:spcAft>
              <a:buSzPts val="1800"/>
              <a:buNone/>
            </a:pPr>
            <a:r>
              <a:t/>
            </a:r>
            <a:endParaRPr sz="1650"/>
          </a:p>
        </p:txBody>
      </p:sp>
      <p:sp>
        <p:nvSpPr>
          <p:cNvPr id="317" name="Google Shape;317;p19"/>
          <p:cNvSpPr/>
          <p:nvPr/>
        </p:nvSpPr>
        <p:spPr>
          <a:xfrm>
            <a:off x="1983450" y="2939175"/>
            <a:ext cx="5177100" cy="16107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0" i="0" lang="es" sz="1200" u="none" cap="none" strike="noStrike">
                <a:solidFill>
                  <a:srgbClr val="5F6167"/>
                </a:solidFill>
                <a:latin typeface="Consolas"/>
                <a:ea typeface="Consolas"/>
                <a:cs typeface="Consolas"/>
                <a:sym typeface="Consolas"/>
              </a:rPr>
              <a:t>#Muestra el cuadrado de un número sólo si este es par</a:t>
            </a:r>
            <a:endParaRPr b="0" i="0" sz="1200" u="none" cap="none" strike="noStrike">
              <a:solidFill>
                <a:srgbClr val="C74DED"/>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200"/>
              <a:buFont typeface="Arial"/>
              <a:buNone/>
            </a:pPr>
            <a:r>
              <a:rPr b="0" i="0" lang="es" sz="1200" u="none" cap="none" strike="noStrike">
                <a:solidFill>
                  <a:srgbClr val="C74DED"/>
                </a:solidFill>
                <a:latin typeface="Consolas"/>
                <a:ea typeface="Consolas"/>
                <a:cs typeface="Consolas"/>
                <a:sym typeface="Consolas"/>
              </a:rPr>
              <a:t>def</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FE66D"/>
                </a:solidFill>
                <a:latin typeface="Consolas"/>
                <a:ea typeface="Consolas"/>
                <a:cs typeface="Consolas"/>
                <a:sym typeface="Consolas"/>
              </a:rPr>
              <a:t>cuadrado_de_par</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00E8C6"/>
                </a:solidFill>
                <a:latin typeface="Consolas"/>
                <a:ea typeface="Consolas"/>
                <a:cs typeface="Consolas"/>
                <a:sym typeface="Consolas"/>
              </a:rPr>
              <a:t>numero</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200"/>
              <a:buFont typeface="Arial"/>
              <a:buNone/>
            </a:pP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C74DED"/>
                </a:solidFill>
                <a:latin typeface="Consolas"/>
                <a:ea typeface="Consolas"/>
                <a:cs typeface="Consolas"/>
                <a:sym typeface="Consolas"/>
              </a:rPr>
              <a:t>if</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EE5D43"/>
                </a:solidFill>
                <a:latin typeface="Consolas"/>
                <a:ea typeface="Consolas"/>
                <a:cs typeface="Consolas"/>
                <a:sym typeface="Consolas"/>
              </a:rPr>
              <a:t>not</a:t>
            </a:r>
            <a:r>
              <a:rPr b="0" i="0" lang="es" sz="1200" u="none" cap="none" strike="noStrike">
                <a:solidFill>
                  <a:srgbClr val="D5CED9"/>
                </a:solidFill>
                <a:latin typeface="Consolas"/>
                <a:ea typeface="Consolas"/>
                <a:cs typeface="Consolas"/>
                <a:sym typeface="Consolas"/>
              </a:rPr>
              <a:t> numero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2</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0</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200"/>
              <a:buFont typeface="Arial"/>
              <a:buNone/>
            </a:pP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C74DED"/>
                </a:solidFill>
                <a:latin typeface="Consolas"/>
                <a:ea typeface="Consolas"/>
                <a:cs typeface="Consolas"/>
                <a:sym typeface="Consolas"/>
              </a:rPr>
              <a:t>return</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200"/>
              <a:buFont typeface="Arial"/>
              <a:buNone/>
            </a:pP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C74DED"/>
                </a:solidFill>
                <a:latin typeface="Consolas"/>
                <a:ea typeface="Consolas"/>
                <a:cs typeface="Consolas"/>
                <a:sym typeface="Consolas"/>
              </a:rPr>
              <a:t>else</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200"/>
              <a:buFont typeface="Arial"/>
              <a:buNone/>
            </a:pP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FE66D"/>
                </a:solidFill>
                <a:latin typeface="Consolas"/>
                <a:ea typeface="Consolas"/>
                <a:cs typeface="Consolas"/>
                <a:sym typeface="Consolas"/>
              </a:rPr>
              <a:t>print</a:t>
            </a:r>
            <a:r>
              <a:rPr b="0" i="0" lang="es" sz="1200" u="none" cap="none" strike="noStrike">
                <a:solidFill>
                  <a:srgbClr val="D5CED9"/>
                </a:solidFill>
                <a:latin typeface="Consolas"/>
                <a:ea typeface="Consolas"/>
                <a:cs typeface="Consolas"/>
                <a:sym typeface="Consolas"/>
              </a:rPr>
              <a:t>(numero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2</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200"/>
              <a:buFont typeface="Arial"/>
              <a:buNone/>
            </a:pPr>
            <a:r>
              <a:rPr b="0" i="0" lang="es" sz="1200" u="none" cap="none" strike="noStrike">
                <a:solidFill>
                  <a:srgbClr val="FFE66D"/>
                </a:solidFill>
                <a:latin typeface="Consolas"/>
                <a:ea typeface="Consolas"/>
                <a:cs typeface="Consolas"/>
                <a:sym typeface="Consolas"/>
              </a:rPr>
              <a:t>cuadrado_de_par</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8</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5F6167"/>
                </a:solidFill>
                <a:latin typeface="Consolas"/>
                <a:ea typeface="Consolas"/>
                <a:cs typeface="Consolas"/>
                <a:sym typeface="Consolas"/>
              </a:rPr>
              <a:t># 64</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200"/>
              <a:buFont typeface="Arial"/>
              <a:buNone/>
            </a:pPr>
            <a:r>
              <a:rPr b="0" i="0" lang="es" sz="1200" u="none" cap="none" strike="noStrike">
                <a:solidFill>
                  <a:srgbClr val="FFE66D"/>
                </a:solidFill>
                <a:latin typeface="Consolas"/>
                <a:ea typeface="Consolas"/>
                <a:cs typeface="Consolas"/>
                <a:sym typeface="Consolas"/>
              </a:rPr>
              <a:t>cuadrado_de_par</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3</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5F6167"/>
                </a:solidFill>
                <a:latin typeface="Consolas"/>
                <a:ea typeface="Consolas"/>
                <a:cs typeface="Consolas"/>
                <a:sym typeface="Consolas"/>
              </a:rPr>
              <a:t># nada, porque no es par</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p:txBody>
      </p:sp>
      <p:sp>
        <p:nvSpPr>
          <p:cNvPr id="318" name="Google Shape;318;p19"/>
          <p:cNvSpPr/>
          <p:nvPr/>
        </p:nvSpPr>
        <p:spPr>
          <a:xfrm>
            <a:off x="1983450" y="2721650"/>
            <a:ext cx="5177100" cy="2478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Función con return que no devuelve valores</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0"/>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Funciones | Devolución de valores</a:t>
            </a:r>
            <a:endParaRPr/>
          </a:p>
        </p:txBody>
      </p:sp>
      <p:sp>
        <p:nvSpPr>
          <p:cNvPr id="324" name="Google Shape;324;p20"/>
          <p:cNvSpPr txBox="1"/>
          <p:nvPr>
            <p:ph idx="1" type="body"/>
          </p:nvPr>
        </p:nvSpPr>
        <p:spPr>
          <a:xfrm>
            <a:off x="432025" y="1304875"/>
            <a:ext cx="8280000" cy="798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s" sz="1650"/>
              <a:t>La siguiente función muestra por pantalla si el número es par o no, utilizando dos instrucciones </a:t>
            </a:r>
            <a:r>
              <a:rPr b="1" lang="es" sz="1650"/>
              <a:t>return</a:t>
            </a:r>
            <a:r>
              <a:rPr lang="es" sz="1650"/>
              <a:t>.</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1200"/>
              </a:spcAft>
              <a:buSzPts val="1800"/>
              <a:buNone/>
            </a:pPr>
            <a:r>
              <a:t/>
            </a:r>
            <a:endParaRPr sz="1650"/>
          </a:p>
        </p:txBody>
      </p:sp>
      <p:sp>
        <p:nvSpPr>
          <p:cNvPr id="325" name="Google Shape;325;p20"/>
          <p:cNvSpPr/>
          <p:nvPr/>
        </p:nvSpPr>
        <p:spPr>
          <a:xfrm>
            <a:off x="1983475" y="2242000"/>
            <a:ext cx="5177100" cy="14709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300"/>
              <a:buFont typeface="Arial"/>
              <a:buNone/>
            </a:pPr>
            <a:r>
              <a:rPr b="0" i="0" lang="es" sz="1200" u="none" cap="none" strike="noStrike">
                <a:solidFill>
                  <a:srgbClr val="C74DED"/>
                </a:solidFill>
                <a:latin typeface="Consolas"/>
                <a:ea typeface="Consolas"/>
                <a:cs typeface="Consolas"/>
                <a:sym typeface="Consolas"/>
              </a:rPr>
              <a:t>def</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FE66D"/>
                </a:solidFill>
                <a:latin typeface="Consolas"/>
                <a:ea typeface="Consolas"/>
                <a:cs typeface="Consolas"/>
                <a:sym typeface="Consolas"/>
              </a:rPr>
              <a:t>es_par</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00E8C6"/>
                </a:solidFill>
                <a:latin typeface="Consolas"/>
                <a:ea typeface="Consolas"/>
                <a:cs typeface="Consolas"/>
                <a:sym typeface="Consolas"/>
              </a:rPr>
              <a:t>numero</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300"/>
              <a:buFont typeface="Arial"/>
              <a:buNone/>
            </a:pP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C74DED"/>
                </a:solidFill>
                <a:latin typeface="Consolas"/>
                <a:ea typeface="Consolas"/>
                <a:cs typeface="Consolas"/>
                <a:sym typeface="Consolas"/>
              </a:rPr>
              <a:t>if</a:t>
            </a:r>
            <a:r>
              <a:rPr b="0" i="0" lang="es" sz="1200" u="none" cap="none" strike="noStrike">
                <a:solidFill>
                  <a:srgbClr val="D5CED9"/>
                </a:solidFill>
                <a:latin typeface="Consolas"/>
                <a:ea typeface="Consolas"/>
                <a:cs typeface="Consolas"/>
                <a:sym typeface="Consolas"/>
              </a:rPr>
              <a:t> numero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2</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0</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300"/>
              <a:buFont typeface="Arial"/>
              <a:buNone/>
            </a:pP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C74DED"/>
                </a:solidFill>
                <a:latin typeface="Consolas"/>
                <a:ea typeface="Consolas"/>
                <a:cs typeface="Consolas"/>
                <a:sym typeface="Consolas"/>
              </a:rPr>
              <a:t>return</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EE5D43"/>
                </a:solidFill>
                <a:latin typeface="Consolas"/>
                <a:ea typeface="Consolas"/>
                <a:cs typeface="Consolas"/>
                <a:sym typeface="Consolas"/>
              </a:rPr>
              <a:t>True</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300"/>
              <a:buFont typeface="Arial"/>
              <a:buNone/>
            </a:pP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C74DED"/>
                </a:solidFill>
                <a:latin typeface="Consolas"/>
                <a:ea typeface="Consolas"/>
                <a:cs typeface="Consolas"/>
                <a:sym typeface="Consolas"/>
              </a:rPr>
              <a:t>else</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300"/>
              <a:buFont typeface="Arial"/>
              <a:buNone/>
            </a:pP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C74DED"/>
                </a:solidFill>
                <a:latin typeface="Consolas"/>
                <a:ea typeface="Consolas"/>
                <a:cs typeface="Consolas"/>
                <a:sym typeface="Consolas"/>
              </a:rPr>
              <a:t>return</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EE5D43"/>
                </a:solidFill>
                <a:latin typeface="Consolas"/>
                <a:ea typeface="Consolas"/>
                <a:cs typeface="Consolas"/>
                <a:sym typeface="Consolas"/>
              </a:rPr>
              <a:t>False</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300"/>
              <a:buFont typeface="Arial"/>
              <a:buNone/>
            </a:pPr>
            <a:r>
              <a:rPr b="0" i="0" lang="es" sz="1200" u="none" cap="none" strike="noStrike">
                <a:solidFill>
                  <a:srgbClr val="FFE66D"/>
                </a:solidFill>
                <a:latin typeface="Consolas"/>
                <a:ea typeface="Consolas"/>
                <a:cs typeface="Consolas"/>
                <a:sym typeface="Consolas"/>
              </a:rPr>
              <a:t>print</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FE66D"/>
                </a:solidFill>
                <a:latin typeface="Consolas"/>
                <a:ea typeface="Consolas"/>
                <a:cs typeface="Consolas"/>
                <a:sym typeface="Consolas"/>
              </a:rPr>
              <a:t>es_par</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2</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5F6167"/>
                </a:solidFill>
                <a:latin typeface="Consolas"/>
                <a:ea typeface="Consolas"/>
                <a:cs typeface="Consolas"/>
                <a:sym typeface="Consolas"/>
              </a:rPr>
              <a:t>#True</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300"/>
              <a:buFont typeface="Arial"/>
              <a:buNone/>
            </a:pPr>
            <a:r>
              <a:rPr b="0" i="0" lang="es" sz="1200" u="none" cap="none" strike="noStrike">
                <a:solidFill>
                  <a:srgbClr val="FFE66D"/>
                </a:solidFill>
                <a:latin typeface="Consolas"/>
                <a:ea typeface="Consolas"/>
                <a:cs typeface="Consolas"/>
                <a:sym typeface="Consolas"/>
              </a:rPr>
              <a:t>print</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FE66D"/>
                </a:solidFill>
                <a:latin typeface="Consolas"/>
                <a:ea typeface="Consolas"/>
                <a:cs typeface="Consolas"/>
                <a:sym typeface="Consolas"/>
              </a:rPr>
              <a:t>es_par</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5</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5F6167"/>
                </a:solidFill>
                <a:latin typeface="Consolas"/>
                <a:ea typeface="Consolas"/>
                <a:cs typeface="Consolas"/>
                <a:sym typeface="Consolas"/>
              </a:rPr>
              <a:t>#False</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5F6167"/>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p:txBody>
      </p:sp>
      <p:sp>
        <p:nvSpPr>
          <p:cNvPr id="326" name="Google Shape;326;p20"/>
          <p:cNvSpPr/>
          <p:nvPr/>
        </p:nvSpPr>
        <p:spPr>
          <a:xfrm>
            <a:off x="1983475" y="2024475"/>
            <a:ext cx="5177100" cy="2478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Función con  dos return</a:t>
            </a:r>
            <a:endParaRPr b="0" i="0" sz="1400" u="none" cap="none" strike="noStrike">
              <a:solidFill>
                <a:schemeClr val="dk2"/>
              </a:solidFill>
              <a:latin typeface="Montserrat"/>
              <a:ea typeface="Montserrat"/>
              <a:cs typeface="Montserrat"/>
              <a:sym typeface="Montserrat"/>
            </a:endParaRPr>
          </a:p>
        </p:txBody>
      </p:sp>
      <p:sp>
        <p:nvSpPr>
          <p:cNvPr id="327" name="Google Shape;327;p20"/>
          <p:cNvSpPr txBox="1"/>
          <p:nvPr/>
        </p:nvSpPr>
        <p:spPr>
          <a:xfrm>
            <a:off x="423450" y="3712900"/>
            <a:ext cx="8279700" cy="903000"/>
          </a:xfrm>
          <a:prstGeom prst="rect">
            <a:avLst/>
          </a:prstGeom>
          <a:noFill/>
          <a:ln>
            <a:noFill/>
          </a:ln>
        </p:spPr>
        <p:txBody>
          <a:bodyPr anchorCtr="0" anchor="t" bIns="91425" lIns="0" spcFirstLastPara="1" rIns="0" wrap="square" tIns="91425">
            <a:noAutofit/>
          </a:bodyPr>
          <a:lstStyle/>
          <a:p>
            <a:pPr indent="0" lvl="0" marL="0" marR="0" rtl="0" algn="l">
              <a:lnSpc>
                <a:spcPct val="100000"/>
              </a:lnSpc>
              <a:spcBef>
                <a:spcPts val="0"/>
              </a:spcBef>
              <a:spcAft>
                <a:spcPts val="0"/>
              </a:spcAft>
              <a:buClr>
                <a:srgbClr val="000000"/>
              </a:buClr>
              <a:buSzPts val="1650"/>
              <a:buFont typeface="Arial"/>
              <a:buNone/>
            </a:pPr>
            <a:r>
              <a:rPr b="0" i="0" lang="es" sz="1650" u="none" cap="none" strike="noStrike">
                <a:solidFill>
                  <a:schemeClr val="dk2"/>
                </a:solidFill>
                <a:latin typeface="Montserrat"/>
                <a:ea typeface="Montserrat"/>
                <a:cs typeface="Montserrat"/>
                <a:sym typeface="Montserrat"/>
              </a:rPr>
              <a:t>Dependiendo de la naturaleza del argumento, se ejecuta uno u otro </a:t>
            </a:r>
            <a:r>
              <a:rPr b="1" i="0" lang="es" sz="1650" u="none" cap="none" strike="noStrike">
                <a:solidFill>
                  <a:schemeClr val="dk2"/>
                </a:solidFill>
                <a:latin typeface="Montserrat"/>
                <a:ea typeface="Montserrat"/>
                <a:cs typeface="Montserrat"/>
                <a:sym typeface="Montserrat"/>
              </a:rPr>
              <a:t>return</a:t>
            </a:r>
            <a:r>
              <a:rPr b="0" i="0" lang="es" sz="1650" u="none" cap="none" strike="noStrike">
                <a:solidFill>
                  <a:schemeClr val="dk2"/>
                </a:solidFill>
                <a:latin typeface="Montserrat"/>
                <a:ea typeface="Montserrat"/>
                <a:cs typeface="Montserrat"/>
                <a:sym typeface="Montserrat"/>
              </a:rPr>
              <a:t>. La función finaliza luego de devolver el valor. Es decir, aunque haya más de un </a:t>
            </a:r>
            <a:r>
              <a:rPr b="1" i="0" lang="es" sz="1650" u="none" cap="none" strike="noStrike">
                <a:solidFill>
                  <a:schemeClr val="dk2"/>
                </a:solidFill>
                <a:latin typeface="Montserrat"/>
                <a:ea typeface="Montserrat"/>
                <a:cs typeface="Montserrat"/>
                <a:sym typeface="Montserrat"/>
              </a:rPr>
              <a:t>return</a:t>
            </a:r>
            <a:r>
              <a:rPr b="0" i="0" lang="es" sz="1650" u="none" cap="none" strike="noStrike">
                <a:solidFill>
                  <a:schemeClr val="dk2"/>
                </a:solidFill>
                <a:latin typeface="Montserrat"/>
                <a:ea typeface="Montserrat"/>
                <a:cs typeface="Montserrat"/>
                <a:sym typeface="Montserrat"/>
              </a:rPr>
              <a:t> solo se ejecutará uno de ellos.</a:t>
            </a:r>
            <a:endParaRPr b="0" i="0" sz="165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550"/>
              <a:buFont typeface="Arial"/>
              <a:buNone/>
            </a:pPr>
            <a:r>
              <a:t/>
            </a:r>
            <a:endParaRPr b="0" i="0" sz="1550"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550"/>
              <a:buFont typeface="Arial"/>
              <a:buNone/>
            </a:pPr>
            <a:r>
              <a:t/>
            </a:r>
            <a:endParaRPr b="0" i="0" sz="15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550"/>
              <a:buFont typeface="Arial"/>
              <a:buNone/>
            </a:pPr>
            <a:r>
              <a:t/>
            </a:r>
            <a:endParaRPr b="0" i="0" sz="15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550"/>
              <a:buFont typeface="Arial"/>
              <a:buNone/>
            </a:pPr>
            <a:r>
              <a:t/>
            </a:r>
            <a:endParaRPr b="0" i="0" sz="1550"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1"/>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Funciones | Devolución de varios valores</a:t>
            </a:r>
            <a:endParaRPr/>
          </a:p>
        </p:txBody>
      </p:sp>
      <p:sp>
        <p:nvSpPr>
          <p:cNvPr id="333" name="Google Shape;333;p21"/>
          <p:cNvSpPr txBox="1"/>
          <p:nvPr>
            <p:ph idx="1" type="body"/>
          </p:nvPr>
        </p:nvSpPr>
        <p:spPr>
          <a:xfrm>
            <a:off x="432025" y="1304875"/>
            <a:ext cx="8280000" cy="783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s" sz="1650"/>
              <a:t>Es posible devolver </a:t>
            </a:r>
            <a:r>
              <a:rPr b="1" lang="es" sz="1650"/>
              <a:t>más de un valor </a:t>
            </a:r>
            <a:r>
              <a:rPr lang="es" sz="1650"/>
              <a:t>con una sentencia </a:t>
            </a:r>
            <a:r>
              <a:rPr b="1" lang="es" sz="1650"/>
              <a:t>return</a:t>
            </a:r>
            <a:r>
              <a:rPr lang="es" sz="1650"/>
              <a:t>. La siguiente función </a:t>
            </a:r>
            <a:r>
              <a:rPr i="1" lang="es" sz="1650"/>
              <a:t>cuadrado_y_cubo()</a:t>
            </a:r>
            <a:r>
              <a:rPr lang="es" sz="1650"/>
              <a:t> devuelve el cuadrado y el cubo de un número:</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1200"/>
              </a:spcAft>
              <a:buSzPts val="1800"/>
              <a:buNone/>
            </a:pPr>
            <a:r>
              <a:t/>
            </a:r>
            <a:endParaRPr sz="1650"/>
          </a:p>
        </p:txBody>
      </p:sp>
      <p:sp>
        <p:nvSpPr>
          <p:cNvPr id="334" name="Google Shape;334;p21"/>
          <p:cNvSpPr/>
          <p:nvPr/>
        </p:nvSpPr>
        <p:spPr>
          <a:xfrm>
            <a:off x="1223300" y="2346375"/>
            <a:ext cx="4311600" cy="14235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La función devuelve dos valores</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cuadrado_y_cubo</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numero</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return</a:t>
            </a:r>
            <a:r>
              <a:rPr b="0" i="0" lang="es" sz="1200" u="none" cap="none" strike="noStrike">
                <a:solidFill>
                  <a:srgbClr val="D5CED9"/>
                </a:solidFill>
                <a:highlight>
                  <a:srgbClr val="23262E"/>
                </a:highlight>
                <a:latin typeface="Consolas"/>
                <a:ea typeface="Consolas"/>
                <a:cs typeface="Consolas"/>
                <a:sym typeface="Consolas"/>
              </a:rPr>
              <a:t> numero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2</a:t>
            </a:r>
            <a:r>
              <a:rPr b="0" i="0" lang="es" sz="1200" u="none" cap="none" strike="noStrike">
                <a:solidFill>
                  <a:srgbClr val="D5CED9"/>
                </a:solidFill>
                <a:highlight>
                  <a:srgbClr val="23262E"/>
                </a:highlight>
                <a:latin typeface="Consolas"/>
                <a:ea typeface="Consolas"/>
                <a:cs typeface="Consolas"/>
                <a:sym typeface="Consolas"/>
              </a:rPr>
              <a:t>, numero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3</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Programa principal</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cuadrado, cubo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cuadrado_y_cubo</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2</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"Cuadrado:"</a:t>
            </a:r>
            <a:r>
              <a:rPr b="0" i="0" lang="es" sz="1200" u="none" cap="none" strike="noStrike">
                <a:solidFill>
                  <a:srgbClr val="D5CED9"/>
                </a:solidFill>
                <a:highlight>
                  <a:srgbClr val="23262E"/>
                </a:highlight>
                <a:latin typeface="Consolas"/>
                <a:ea typeface="Consolas"/>
                <a:cs typeface="Consolas"/>
                <a:sym typeface="Consolas"/>
              </a:rPr>
              <a:t>, cuadrado)</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"Cubo:"</a:t>
            </a:r>
            <a:r>
              <a:rPr b="0" i="0" lang="es" sz="1200" u="none" cap="none" strike="noStrike">
                <a:solidFill>
                  <a:srgbClr val="D5CED9"/>
                </a:solidFill>
                <a:highlight>
                  <a:srgbClr val="23262E"/>
                </a:highlight>
                <a:latin typeface="Consolas"/>
                <a:ea typeface="Consolas"/>
                <a:cs typeface="Consolas"/>
                <a:sym typeface="Consolas"/>
              </a:rPr>
              <a:t>, cubo)</a:t>
            </a:r>
            <a:endParaRPr b="0" i="0" sz="1200" u="none" cap="none" strike="noStrike">
              <a:solidFill>
                <a:srgbClr val="5F6167"/>
              </a:solidFill>
              <a:highlight>
                <a:srgbClr val="23262E"/>
              </a:highlight>
              <a:latin typeface="Consolas"/>
              <a:ea typeface="Consolas"/>
              <a:cs typeface="Consolas"/>
              <a:sym typeface="Consolas"/>
            </a:endParaRPr>
          </a:p>
        </p:txBody>
      </p:sp>
      <p:sp>
        <p:nvSpPr>
          <p:cNvPr id="335" name="Google Shape;335;p21"/>
          <p:cNvSpPr/>
          <p:nvPr/>
        </p:nvSpPr>
        <p:spPr>
          <a:xfrm>
            <a:off x="1223310" y="2117475"/>
            <a:ext cx="43116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Función que devuelve dos valores</a:t>
            </a:r>
            <a:endParaRPr b="0" i="0" sz="1400" u="none" cap="none" strike="noStrike">
              <a:solidFill>
                <a:schemeClr val="dk2"/>
              </a:solidFill>
              <a:latin typeface="Montserrat"/>
              <a:ea typeface="Montserrat"/>
              <a:cs typeface="Montserrat"/>
              <a:sym typeface="Montserrat"/>
            </a:endParaRPr>
          </a:p>
        </p:txBody>
      </p:sp>
      <p:sp>
        <p:nvSpPr>
          <p:cNvPr id="336" name="Google Shape;336;p21"/>
          <p:cNvSpPr/>
          <p:nvPr/>
        </p:nvSpPr>
        <p:spPr>
          <a:xfrm>
            <a:off x="5735950" y="2349125"/>
            <a:ext cx="1998300" cy="14235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Cuadrado: 4</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Cubo: 8</a:t>
            </a:r>
            <a:endParaRPr b="0" i="0" sz="14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200"/>
              <a:buFont typeface="Consolas"/>
              <a:buNone/>
            </a:pPr>
            <a:r>
              <a:t/>
            </a:r>
            <a:endParaRPr b="0" i="0" sz="1200" u="none" cap="none" strike="noStrike">
              <a:solidFill>
                <a:srgbClr val="D5CED9"/>
              </a:solidFill>
              <a:latin typeface="Consolas"/>
              <a:ea typeface="Consolas"/>
              <a:cs typeface="Consolas"/>
              <a:sym typeface="Consolas"/>
            </a:endParaRPr>
          </a:p>
        </p:txBody>
      </p:sp>
      <p:sp>
        <p:nvSpPr>
          <p:cNvPr id="337" name="Google Shape;337;p21"/>
          <p:cNvSpPr/>
          <p:nvPr/>
        </p:nvSpPr>
        <p:spPr>
          <a:xfrm>
            <a:off x="5735907" y="2117475"/>
            <a:ext cx="19983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
        <p:nvSpPr>
          <p:cNvPr id="338" name="Google Shape;338;p21"/>
          <p:cNvSpPr txBox="1"/>
          <p:nvPr/>
        </p:nvSpPr>
        <p:spPr>
          <a:xfrm>
            <a:off x="432175" y="3772625"/>
            <a:ext cx="8279700" cy="921900"/>
          </a:xfrm>
          <a:prstGeom prst="rect">
            <a:avLst/>
          </a:prstGeom>
          <a:noFill/>
          <a:ln>
            <a:noFill/>
          </a:ln>
        </p:spPr>
        <p:txBody>
          <a:bodyPr anchorCtr="0" anchor="t" bIns="91425" lIns="0" spcFirstLastPara="1" rIns="0" wrap="square" tIns="91425">
            <a:noAutofit/>
          </a:bodyPr>
          <a:lstStyle/>
          <a:p>
            <a:pPr indent="0" lvl="0" marL="0" marR="0" rtl="0" algn="l">
              <a:lnSpc>
                <a:spcPct val="100000"/>
              </a:lnSpc>
              <a:spcBef>
                <a:spcPts val="0"/>
              </a:spcBef>
              <a:spcAft>
                <a:spcPts val="0"/>
              </a:spcAft>
              <a:buClr>
                <a:srgbClr val="000000"/>
              </a:buClr>
              <a:buSzPts val="1650"/>
              <a:buFont typeface="Arial"/>
              <a:buNone/>
            </a:pPr>
            <a:r>
              <a:rPr b="0" i="0" lang="es" sz="1650" u="none" cap="none" strike="noStrike">
                <a:solidFill>
                  <a:schemeClr val="dk2"/>
                </a:solidFill>
                <a:latin typeface="Montserrat"/>
                <a:ea typeface="Montserrat"/>
                <a:cs typeface="Montserrat"/>
                <a:sym typeface="Montserrat"/>
              </a:rPr>
              <a:t>Al invocar la función utilizando el operador de asignación se debe proveer una variable para cada valor que retorne. El orden en que se almacenan es el mismo en el que aparecen en el </a:t>
            </a:r>
            <a:r>
              <a:rPr b="1" i="0" lang="es" sz="1650" u="none" cap="none" strike="noStrike">
                <a:solidFill>
                  <a:schemeClr val="dk2"/>
                </a:solidFill>
                <a:latin typeface="Montserrat"/>
                <a:ea typeface="Montserrat"/>
                <a:cs typeface="Montserrat"/>
                <a:sym typeface="Montserrat"/>
              </a:rPr>
              <a:t>return</a:t>
            </a:r>
            <a:r>
              <a:rPr b="0" i="0" lang="es" sz="1650" u="none" cap="none" strike="noStrike">
                <a:solidFill>
                  <a:schemeClr val="dk2"/>
                </a:solidFill>
                <a:latin typeface="Montserrat"/>
                <a:ea typeface="Montserrat"/>
                <a:cs typeface="Montserrat"/>
                <a:sym typeface="Montserrat"/>
              </a:rPr>
              <a:t>.</a:t>
            </a:r>
            <a:endParaRPr b="0" i="0" sz="165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550"/>
              <a:buFont typeface="Arial"/>
              <a:buNone/>
            </a:pPr>
            <a:r>
              <a:t/>
            </a:r>
            <a:endParaRPr b="0" i="0" sz="1550"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550"/>
              <a:buFont typeface="Arial"/>
              <a:buNone/>
            </a:pPr>
            <a:r>
              <a:t/>
            </a:r>
            <a:endParaRPr b="0" i="0" sz="15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550"/>
              <a:buFont typeface="Arial"/>
              <a:buNone/>
            </a:pPr>
            <a:r>
              <a:t/>
            </a:r>
            <a:endParaRPr b="0" i="0" sz="15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550"/>
              <a:buFont typeface="Arial"/>
              <a:buNone/>
            </a:pPr>
            <a:r>
              <a:t/>
            </a:r>
            <a:endParaRPr b="0" i="0" sz="1550"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22"/>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Funciones | Devolución de varios valores</a:t>
            </a:r>
            <a:endParaRPr/>
          </a:p>
        </p:txBody>
      </p:sp>
      <p:sp>
        <p:nvSpPr>
          <p:cNvPr id="344" name="Google Shape;344;p22"/>
          <p:cNvSpPr txBox="1"/>
          <p:nvPr>
            <p:ph idx="1" type="body"/>
          </p:nvPr>
        </p:nvSpPr>
        <p:spPr>
          <a:xfrm>
            <a:off x="432025" y="1304875"/>
            <a:ext cx="8280000" cy="783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s" sz="1650"/>
              <a:t>Otra manera de escribir una función que devuelva varios valores es utilizar en el </a:t>
            </a:r>
            <a:r>
              <a:rPr b="1" lang="es" sz="1650"/>
              <a:t>return</a:t>
            </a:r>
            <a:r>
              <a:rPr lang="es" sz="1650"/>
              <a:t> un tipo de dato compuesto, como una </a:t>
            </a:r>
            <a:r>
              <a:rPr b="1" lang="es" sz="1650"/>
              <a:t>lista</a:t>
            </a:r>
            <a:r>
              <a:rPr lang="es" sz="1650"/>
              <a:t> o </a:t>
            </a:r>
            <a:r>
              <a:rPr b="1" lang="es" sz="1650"/>
              <a:t>tupla</a:t>
            </a:r>
            <a:r>
              <a:rPr lang="es" sz="1650"/>
              <a:t>.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1200"/>
              </a:spcAft>
              <a:buSzPts val="1800"/>
              <a:buNone/>
            </a:pPr>
            <a:r>
              <a:t/>
            </a:r>
            <a:endParaRPr sz="1650"/>
          </a:p>
        </p:txBody>
      </p:sp>
      <p:sp>
        <p:nvSpPr>
          <p:cNvPr id="345" name="Google Shape;345;p22"/>
          <p:cNvSpPr/>
          <p:nvPr/>
        </p:nvSpPr>
        <p:spPr>
          <a:xfrm>
            <a:off x="1223300" y="2346375"/>
            <a:ext cx="4311600" cy="16095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tabla_del</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numero</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resultados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 </a:t>
            </a:r>
            <a:r>
              <a:rPr b="0" i="0" lang="es" sz="1200" u="none" cap="none" strike="noStrike">
                <a:solidFill>
                  <a:srgbClr val="5F6167"/>
                </a:solidFill>
                <a:highlight>
                  <a:srgbClr val="23262E"/>
                </a:highlight>
                <a:latin typeface="Consolas"/>
                <a:ea typeface="Consolas"/>
                <a:cs typeface="Consolas"/>
                <a:sym typeface="Consolas"/>
              </a:rPr>
              <a:t>#creamos la lista</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for</a:t>
            </a:r>
            <a:r>
              <a:rPr b="0" i="0" lang="es" sz="1200" u="none" cap="none" strike="noStrike">
                <a:solidFill>
                  <a:srgbClr val="D5CED9"/>
                </a:solidFill>
                <a:highlight>
                  <a:srgbClr val="23262E"/>
                </a:highlight>
                <a:latin typeface="Consolas"/>
                <a:ea typeface="Consolas"/>
                <a:cs typeface="Consolas"/>
                <a:sym typeface="Consolas"/>
              </a:rPr>
              <a:t> i </a:t>
            </a:r>
            <a:r>
              <a:rPr b="0" i="0" lang="es" sz="1200" u="none" cap="none" strike="noStrike">
                <a:solidFill>
                  <a:srgbClr val="C74DED"/>
                </a:solidFill>
                <a:highlight>
                  <a:srgbClr val="23262E"/>
                </a:highlight>
                <a:latin typeface="Consolas"/>
                <a:ea typeface="Consolas"/>
                <a:cs typeface="Consolas"/>
                <a:sym typeface="Consolas"/>
              </a:rPr>
              <a:t>in</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range</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11</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resultados.</a:t>
            </a:r>
            <a:r>
              <a:rPr b="0" i="0" lang="es" sz="1200" u="none" cap="none" strike="noStrike">
                <a:solidFill>
                  <a:srgbClr val="FFE66D"/>
                </a:solidFill>
                <a:highlight>
                  <a:srgbClr val="23262E"/>
                </a:highlight>
                <a:latin typeface="Consolas"/>
                <a:ea typeface="Consolas"/>
                <a:cs typeface="Consolas"/>
                <a:sym typeface="Consolas"/>
              </a:rPr>
              <a:t>append</a:t>
            </a:r>
            <a:r>
              <a:rPr b="0" i="0" lang="es" sz="1200" u="none" cap="none" strike="noStrike">
                <a:solidFill>
                  <a:srgbClr val="D5CED9"/>
                </a:solidFill>
                <a:highlight>
                  <a:srgbClr val="23262E"/>
                </a:highlight>
                <a:latin typeface="Consolas"/>
                <a:ea typeface="Consolas"/>
                <a:cs typeface="Consolas"/>
                <a:sym typeface="Consolas"/>
              </a:rPr>
              <a:t>(numero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i)</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return</a:t>
            </a:r>
            <a:r>
              <a:rPr b="0" i="0" lang="es" sz="1200" u="none" cap="none" strike="noStrike">
                <a:solidFill>
                  <a:srgbClr val="D5CED9"/>
                </a:solidFill>
                <a:highlight>
                  <a:srgbClr val="23262E"/>
                </a:highlight>
                <a:latin typeface="Consolas"/>
                <a:ea typeface="Consolas"/>
                <a:cs typeface="Consolas"/>
                <a:sym typeface="Consolas"/>
              </a:rPr>
              <a:t> resultados</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Programa principal</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res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tabla_del</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3</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(res)</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p:txBody>
      </p:sp>
      <p:sp>
        <p:nvSpPr>
          <p:cNvPr id="346" name="Google Shape;346;p22"/>
          <p:cNvSpPr/>
          <p:nvPr/>
        </p:nvSpPr>
        <p:spPr>
          <a:xfrm>
            <a:off x="1223310" y="2117475"/>
            <a:ext cx="43116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Función que devuelve varios valores</a:t>
            </a:r>
            <a:endParaRPr b="0" i="0" sz="1400" u="none" cap="none" strike="noStrike">
              <a:solidFill>
                <a:schemeClr val="dk2"/>
              </a:solidFill>
              <a:latin typeface="Montserrat"/>
              <a:ea typeface="Montserrat"/>
              <a:cs typeface="Montserrat"/>
              <a:sym typeface="Montserrat"/>
            </a:endParaRPr>
          </a:p>
        </p:txBody>
      </p:sp>
      <p:sp>
        <p:nvSpPr>
          <p:cNvPr id="347" name="Google Shape;347;p22"/>
          <p:cNvSpPr/>
          <p:nvPr/>
        </p:nvSpPr>
        <p:spPr>
          <a:xfrm>
            <a:off x="5735950" y="2349125"/>
            <a:ext cx="1998300" cy="16095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[0, 3, 6, 9, 12, 15, 18, 21, 24, 27, 30]</a:t>
            </a:r>
            <a:endParaRPr b="0" i="0" sz="14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200"/>
              <a:buFont typeface="Consolas"/>
              <a:buNone/>
            </a:pPr>
            <a:r>
              <a:t/>
            </a:r>
            <a:endParaRPr b="0" i="0" sz="1200" u="none" cap="none" strike="noStrike">
              <a:solidFill>
                <a:srgbClr val="D5CED9"/>
              </a:solidFill>
              <a:latin typeface="Consolas"/>
              <a:ea typeface="Consolas"/>
              <a:cs typeface="Consolas"/>
              <a:sym typeface="Consolas"/>
            </a:endParaRPr>
          </a:p>
        </p:txBody>
      </p:sp>
      <p:sp>
        <p:nvSpPr>
          <p:cNvPr id="348" name="Google Shape;348;p22"/>
          <p:cNvSpPr/>
          <p:nvPr/>
        </p:nvSpPr>
        <p:spPr>
          <a:xfrm>
            <a:off x="5735907" y="2117475"/>
            <a:ext cx="19983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23"/>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Funciones | Funciones que usan funciones</a:t>
            </a:r>
            <a:endParaRPr/>
          </a:p>
        </p:txBody>
      </p:sp>
      <p:sp>
        <p:nvSpPr>
          <p:cNvPr id="354" name="Google Shape;354;p23"/>
          <p:cNvSpPr txBox="1"/>
          <p:nvPr>
            <p:ph idx="1" type="body"/>
          </p:nvPr>
        </p:nvSpPr>
        <p:spPr>
          <a:xfrm>
            <a:off x="432025" y="1304875"/>
            <a:ext cx="4046100" cy="3294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s" sz="1650"/>
              <a:t>Es posible combinar todo lo visto hasta ahora, incluso escribir funciones que llamen a otras funciones.</a:t>
            </a:r>
            <a:endParaRPr sz="1650"/>
          </a:p>
          <a:p>
            <a:pPr indent="0" lvl="0" marL="0" rtl="0" algn="l">
              <a:lnSpc>
                <a:spcPct val="115000"/>
              </a:lnSpc>
              <a:spcBef>
                <a:spcPts val="1200"/>
              </a:spcBef>
              <a:spcAft>
                <a:spcPts val="0"/>
              </a:spcAft>
              <a:buSzPts val="1800"/>
              <a:buNone/>
            </a:pPr>
            <a:r>
              <a:rPr lang="es" sz="1650"/>
              <a:t>En el ejemplo, </a:t>
            </a:r>
            <a:r>
              <a:rPr i="1" lang="es" sz="1650"/>
              <a:t>calcular()</a:t>
            </a:r>
            <a:r>
              <a:rPr lang="es" sz="1650"/>
              <a:t> devuelve una lista con la tabla solicitada (o la tabla del 1 por defecto). La función </a:t>
            </a:r>
            <a:r>
              <a:rPr i="1" lang="es" sz="1650"/>
              <a:t>calcular_todas() </a:t>
            </a:r>
            <a:r>
              <a:rPr lang="es" sz="1650"/>
              <a:t>utiliza la primera función para mostrar en la terminal las tablas del 0 al 10:</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1200"/>
              </a:spcAft>
              <a:buSzPts val="1800"/>
              <a:buNone/>
            </a:pPr>
            <a:r>
              <a:t/>
            </a:r>
            <a:endParaRPr sz="1650"/>
          </a:p>
        </p:txBody>
      </p:sp>
      <p:sp>
        <p:nvSpPr>
          <p:cNvPr id="355" name="Google Shape;355;p23"/>
          <p:cNvSpPr/>
          <p:nvPr/>
        </p:nvSpPr>
        <p:spPr>
          <a:xfrm>
            <a:off x="4843050" y="1609500"/>
            <a:ext cx="3869100" cy="28830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5F6167"/>
                </a:solidFill>
                <a:highlight>
                  <a:srgbClr val="23262E"/>
                </a:highlight>
                <a:latin typeface="Consolas"/>
                <a:ea typeface="Consolas"/>
                <a:cs typeface="Consolas"/>
                <a:sym typeface="Consolas"/>
              </a:rPr>
              <a:t># Genera la tabla del "n"</a:t>
            </a:r>
            <a:endParaRPr b="0" i="0" sz="11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C74DED"/>
                </a:solidFill>
                <a:highlight>
                  <a:srgbClr val="23262E"/>
                </a:highlight>
                <a:latin typeface="Consolas"/>
                <a:ea typeface="Consolas"/>
                <a:cs typeface="Consolas"/>
                <a:sym typeface="Consolas"/>
              </a:rPr>
              <a:t>def</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calcular</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00E8C6"/>
                </a:solidFill>
                <a:highlight>
                  <a:srgbClr val="23262E"/>
                </a:highlight>
                <a:latin typeface="Consolas"/>
                <a:ea typeface="Consolas"/>
                <a:cs typeface="Consolas"/>
                <a:sym typeface="Consolas"/>
              </a:rPr>
              <a:t>n</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39C12"/>
                </a:solidFill>
                <a:highlight>
                  <a:srgbClr val="23262E"/>
                </a:highlight>
                <a:latin typeface="Consolas"/>
                <a:ea typeface="Consolas"/>
                <a:cs typeface="Consolas"/>
                <a:sym typeface="Consolas"/>
              </a:rPr>
              <a:t>1</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tabla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 []</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C74DED"/>
                </a:solidFill>
                <a:highlight>
                  <a:srgbClr val="23262E"/>
                </a:highlight>
                <a:latin typeface="Consolas"/>
                <a:ea typeface="Consolas"/>
                <a:cs typeface="Consolas"/>
                <a:sym typeface="Consolas"/>
              </a:rPr>
              <a:t>for</a:t>
            </a:r>
            <a:r>
              <a:rPr b="0" i="0" lang="es" sz="1100" u="none" cap="none" strike="noStrike">
                <a:solidFill>
                  <a:srgbClr val="D5CED9"/>
                </a:solidFill>
                <a:highlight>
                  <a:srgbClr val="23262E"/>
                </a:highlight>
                <a:latin typeface="Consolas"/>
                <a:ea typeface="Consolas"/>
                <a:cs typeface="Consolas"/>
                <a:sym typeface="Consolas"/>
              </a:rPr>
              <a:t> i </a:t>
            </a:r>
            <a:r>
              <a:rPr b="0" i="0" lang="es" sz="1100" u="none" cap="none" strike="noStrike">
                <a:solidFill>
                  <a:srgbClr val="C74DED"/>
                </a:solidFill>
                <a:highlight>
                  <a:srgbClr val="23262E"/>
                </a:highlight>
                <a:latin typeface="Consolas"/>
                <a:ea typeface="Consolas"/>
                <a:cs typeface="Consolas"/>
                <a:sym typeface="Consolas"/>
              </a:rPr>
              <a:t>in</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range</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F39C12"/>
                </a:solidFill>
                <a:highlight>
                  <a:srgbClr val="23262E"/>
                </a:highlight>
                <a:latin typeface="Consolas"/>
                <a:ea typeface="Consolas"/>
                <a:cs typeface="Consolas"/>
                <a:sym typeface="Consolas"/>
              </a:rPr>
              <a:t>0</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F39C12"/>
                </a:solidFill>
                <a:highlight>
                  <a:srgbClr val="23262E"/>
                </a:highlight>
                <a:latin typeface="Consolas"/>
                <a:ea typeface="Consolas"/>
                <a:cs typeface="Consolas"/>
                <a:sym typeface="Consolas"/>
              </a:rPr>
              <a:t>11</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tabla.</a:t>
            </a:r>
            <a:r>
              <a:rPr b="0" i="0" lang="es" sz="1100" u="none" cap="none" strike="noStrike">
                <a:solidFill>
                  <a:srgbClr val="FFE66D"/>
                </a:solidFill>
                <a:highlight>
                  <a:srgbClr val="23262E"/>
                </a:highlight>
                <a:latin typeface="Consolas"/>
                <a:ea typeface="Consolas"/>
                <a:cs typeface="Consolas"/>
                <a:sym typeface="Consolas"/>
              </a:rPr>
              <a:t>append</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C74DED"/>
                </a:solidFill>
                <a:highlight>
                  <a:srgbClr val="23262E"/>
                </a:highlight>
                <a:latin typeface="Consolas"/>
                <a:ea typeface="Consolas"/>
                <a:cs typeface="Consolas"/>
                <a:sym typeface="Consolas"/>
              </a:rPr>
              <a:t>f</a:t>
            </a:r>
            <a:r>
              <a:rPr b="0" i="0" lang="es" sz="1100" u="none" cap="none" strike="noStrike">
                <a:solidFill>
                  <a:srgbClr val="96E072"/>
                </a:solidFill>
                <a:highlight>
                  <a:srgbClr val="23262E"/>
                </a:highlight>
                <a:latin typeface="Consolas"/>
                <a:ea typeface="Consolas"/>
                <a:cs typeface="Consolas"/>
                <a:sym typeface="Consolas"/>
              </a:rPr>
              <a:t>"</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n</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x</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i</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n</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i</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C74DED"/>
                </a:solidFill>
                <a:highlight>
                  <a:srgbClr val="23262E"/>
                </a:highlight>
                <a:latin typeface="Consolas"/>
                <a:ea typeface="Consolas"/>
                <a:cs typeface="Consolas"/>
                <a:sym typeface="Consolas"/>
              </a:rPr>
              <a:t>return</a:t>
            </a:r>
            <a:r>
              <a:rPr b="0" i="0" lang="es" sz="1100" u="none" cap="none" strike="noStrike">
                <a:solidFill>
                  <a:srgbClr val="D5CED9"/>
                </a:solidFill>
                <a:highlight>
                  <a:srgbClr val="23262E"/>
                </a:highlight>
                <a:latin typeface="Consolas"/>
                <a:ea typeface="Consolas"/>
                <a:cs typeface="Consolas"/>
                <a:sym typeface="Consolas"/>
              </a:rPr>
              <a:t> tabla</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5F6167"/>
                </a:solidFill>
                <a:highlight>
                  <a:srgbClr val="23262E"/>
                </a:highlight>
                <a:latin typeface="Consolas"/>
                <a:ea typeface="Consolas"/>
                <a:cs typeface="Consolas"/>
                <a:sym typeface="Consolas"/>
              </a:rPr>
              <a:t># Muestra en terminal todas las tablas</a:t>
            </a:r>
            <a:endParaRPr b="0" i="0" sz="11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C74DED"/>
                </a:solidFill>
                <a:highlight>
                  <a:srgbClr val="23262E"/>
                </a:highlight>
                <a:latin typeface="Consolas"/>
                <a:ea typeface="Consolas"/>
                <a:cs typeface="Consolas"/>
                <a:sym typeface="Consolas"/>
              </a:rPr>
              <a:t>def</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calcular_todas</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C74DED"/>
                </a:solidFill>
                <a:highlight>
                  <a:srgbClr val="23262E"/>
                </a:highlight>
                <a:latin typeface="Consolas"/>
                <a:ea typeface="Consolas"/>
                <a:cs typeface="Consolas"/>
                <a:sym typeface="Consolas"/>
              </a:rPr>
              <a:t>for</a:t>
            </a:r>
            <a:r>
              <a:rPr b="0" i="0" lang="es" sz="1100" u="none" cap="none" strike="noStrike">
                <a:solidFill>
                  <a:srgbClr val="D5CED9"/>
                </a:solidFill>
                <a:highlight>
                  <a:srgbClr val="23262E"/>
                </a:highlight>
                <a:latin typeface="Consolas"/>
                <a:ea typeface="Consolas"/>
                <a:cs typeface="Consolas"/>
                <a:sym typeface="Consolas"/>
              </a:rPr>
              <a:t> i </a:t>
            </a:r>
            <a:r>
              <a:rPr b="0" i="0" lang="es" sz="1100" u="none" cap="none" strike="noStrike">
                <a:solidFill>
                  <a:srgbClr val="C74DED"/>
                </a:solidFill>
                <a:highlight>
                  <a:srgbClr val="23262E"/>
                </a:highlight>
                <a:latin typeface="Consolas"/>
                <a:ea typeface="Consolas"/>
                <a:cs typeface="Consolas"/>
                <a:sym typeface="Consolas"/>
              </a:rPr>
              <a:t>in</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range</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F39C12"/>
                </a:solidFill>
                <a:highlight>
                  <a:srgbClr val="23262E"/>
                </a:highlight>
                <a:latin typeface="Consolas"/>
                <a:ea typeface="Consolas"/>
                <a:cs typeface="Consolas"/>
                <a:sym typeface="Consolas"/>
              </a:rPr>
              <a:t>0</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F39C12"/>
                </a:solidFill>
                <a:highlight>
                  <a:srgbClr val="23262E"/>
                </a:highlight>
                <a:latin typeface="Consolas"/>
                <a:ea typeface="Consolas"/>
                <a:cs typeface="Consolas"/>
                <a:sym typeface="Consolas"/>
              </a:rPr>
              <a:t>11</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print</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C74DED"/>
                </a:solidFill>
                <a:highlight>
                  <a:srgbClr val="23262E"/>
                </a:highlight>
                <a:latin typeface="Consolas"/>
                <a:ea typeface="Consolas"/>
                <a:cs typeface="Consolas"/>
                <a:sym typeface="Consolas"/>
              </a:rPr>
              <a:t>f</a:t>
            </a:r>
            <a:r>
              <a:rPr b="0" i="0" lang="es" sz="1100" u="none" cap="none" strike="noStrike">
                <a:solidFill>
                  <a:srgbClr val="96E072"/>
                </a:solidFill>
                <a:highlight>
                  <a:srgbClr val="23262E"/>
                </a:highlight>
                <a:latin typeface="Consolas"/>
                <a:ea typeface="Consolas"/>
                <a:cs typeface="Consolas"/>
                <a:sym typeface="Consolas"/>
              </a:rPr>
              <a:t>"Tabla del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i</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tabla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calcular</a:t>
            </a:r>
            <a:r>
              <a:rPr b="0" i="0" lang="es" sz="1100" u="none" cap="none" strike="noStrike">
                <a:solidFill>
                  <a:srgbClr val="D5CED9"/>
                </a:solidFill>
                <a:highlight>
                  <a:srgbClr val="23262E"/>
                </a:highlight>
                <a:latin typeface="Consolas"/>
                <a:ea typeface="Consolas"/>
                <a:cs typeface="Consolas"/>
                <a:sym typeface="Consolas"/>
              </a:rPr>
              <a:t>(i)</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C74DED"/>
                </a:solidFill>
                <a:highlight>
                  <a:srgbClr val="23262E"/>
                </a:highlight>
                <a:latin typeface="Consolas"/>
                <a:ea typeface="Consolas"/>
                <a:cs typeface="Consolas"/>
                <a:sym typeface="Consolas"/>
              </a:rPr>
              <a:t>for</a:t>
            </a:r>
            <a:r>
              <a:rPr b="0" i="0" lang="es" sz="1100" u="none" cap="none" strike="noStrike">
                <a:solidFill>
                  <a:srgbClr val="D5CED9"/>
                </a:solidFill>
                <a:highlight>
                  <a:srgbClr val="23262E"/>
                </a:highlight>
                <a:latin typeface="Consolas"/>
                <a:ea typeface="Consolas"/>
                <a:cs typeface="Consolas"/>
                <a:sym typeface="Consolas"/>
              </a:rPr>
              <a:t> j </a:t>
            </a:r>
            <a:r>
              <a:rPr b="0" i="0" lang="es" sz="1100" u="none" cap="none" strike="noStrike">
                <a:solidFill>
                  <a:srgbClr val="C74DED"/>
                </a:solidFill>
                <a:highlight>
                  <a:srgbClr val="23262E"/>
                </a:highlight>
                <a:latin typeface="Consolas"/>
                <a:ea typeface="Consolas"/>
                <a:cs typeface="Consolas"/>
                <a:sym typeface="Consolas"/>
              </a:rPr>
              <a:t>in</a:t>
            </a:r>
            <a:r>
              <a:rPr b="0" i="0" lang="es" sz="1100" u="none" cap="none" strike="noStrike">
                <a:solidFill>
                  <a:srgbClr val="D5CED9"/>
                </a:solidFill>
                <a:highlight>
                  <a:srgbClr val="23262E"/>
                </a:highlight>
                <a:latin typeface="Consolas"/>
                <a:ea typeface="Consolas"/>
                <a:cs typeface="Consolas"/>
                <a:sym typeface="Consolas"/>
              </a:rPr>
              <a:t> tabla:</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print</a:t>
            </a:r>
            <a:r>
              <a:rPr b="0" i="0" lang="es" sz="1100" u="none" cap="none" strike="noStrike">
                <a:solidFill>
                  <a:srgbClr val="D5CED9"/>
                </a:solidFill>
                <a:highlight>
                  <a:srgbClr val="23262E"/>
                </a:highlight>
                <a:latin typeface="Consolas"/>
                <a:ea typeface="Consolas"/>
                <a:cs typeface="Consolas"/>
                <a:sym typeface="Consolas"/>
              </a:rPr>
              <a:t>(j)</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print</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F39C12"/>
                </a:solidFill>
                <a:highlight>
                  <a:srgbClr val="23262E"/>
                </a:highlight>
                <a:latin typeface="Consolas"/>
                <a:ea typeface="Consolas"/>
                <a:cs typeface="Consolas"/>
                <a:sym typeface="Consolas"/>
              </a:rPr>
              <a:t>10</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5F6167"/>
                </a:solidFill>
                <a:highlight>
                  <a:srgbClr val="23262E"/>
                </a:highlight>
                <a:latin typeface="Consolas"/>
                <a:ea typeface="Consolas"/>
                <a:cs typeface="Consolas"/>
                <a:sym typeface="Consolas"/>
              </a:rPr>
              <a:t>#Programa principal</a:t>
            </a:r>
            <a:endParaRPr b="0" i="0" sz="11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FFE66D"/>
                </a:solidFill>
                <a:highlight>
                  <a:srgbClr val="23262E"/>
                </a:highlight>
                <a:latin typeface="Consolas"/>
                <a:ea typeface="Consolas"/>
                <a:cs typeface="Consolas"/>
                <a:sym typeface="Consolas"/>
              </a:rPr>
              <a:t>calcular_todas</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5F6167"/>
              </a:solidFill>
              <a:highlight>
                <a:srgbClr val="23262E"/>
              </a:highlight>
              <a:latin typeface="Consolas"/>
              <a:ea typeface="Consolas"/>
              <a:cs typeface="Consolas"/>
              <a:sym typeface="Consolas"/>
            </a:endParaRPr>
          </a:p>
        </p:txBody>
      </p:sp>
      <p:sp>
        <p:nvSpPr>
          <p:cNvPr id="356" name="Google Shape;356;p23"/>
          <p:cNvSpPr/>
          <p:nvPr/>
        </p:nvSpPr>
        <p:spPr>
          <a:xfrm>
            <a:off x="4843050" y="1380600"/>
            <a:ext cx="3869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Función que devuelve varios valores</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24"/>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Ámbito y ciclo de vida de las variables</a:t>
            </a:r>
            <a:endParaRPr/>
          </a:p>
        </p:txBody>
      </p:sp>
      <p:sp>
        <p:nvSpPr>
          <p:cNvPr id="362" name="Google Shape;362;p24"/>
          <p:cNvSpPr txBox="1"/>
          <p:nvPr>
            <p:ph idx="1" type="body"/>
          </p:nvPr>
        </p:nvSpPr>
        <p:spPr>
          <a:xfrm>
            <a:off x="432025" y="1304875"/>
            <a:ext cx="8280000" cy="3252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sz="1650"/>
              <a:t>En </a:t>
            </a:r>
            <a:r>
              <a:rPr b="1" lang="es" sz="1650"/>
              <a:t>Python</a:t>
            </a:r>
            <a:r>
              <a:rPr lang="es" sz="1650"/>
              <a:t> las variables están definidas dentro de un </a:t>
            </a:r>
            <a:r>
              <a:rPr b="1" lang="es" sz="1650"/>
              <a:t>ámbito</a:t>
            </a:r>
            <a:r>
              <a:rPr lang="es" sz="1650"/>
              <a:t> que determina dónde la variable puede ser utilizada. El </a:t>
            </a:r>
            <a:r>
              <a:rPr b="1" lang="es" sz="1650"/>
              <a:t>ciclo de vida</a:t>
            </a:r>
            <a:r>
              <a:rPr lang="es" sz="1650"/>
              <a:t> de una variable se refiere al tiempo en que una variable permanece en memoria.</a:t>
            </a:r>
            <a:endParaRPr sz="1650"/>
          </a:p>
          <a:p>
            <a:pPr indent="0" lvl="0" marL="0" rtl="0" algn="l">
              <a:lnSpc>
                <a:spcPct val="115000"/>
              </a:lnSpc>
              <a:spcBef>
                <a:spcPts val="1200"/>
              </a:spcBef>
              <a:spcAft>
                <a:spcPts val="0"/>
              </a:spcAft>
              <a:buClr>
                <a:schemeClr val="dk1"/>
              </a:buClr>
              <a:buSzPts val="1100"/>
              <a:buFont typeface="Arial"/>
              <a:buNone/>
            </a:pPr>
            <a:r>
              <a:rPr lang="es" sz="1650"/>
              <a:t>Los parámetros y variables definidos dentro de una función tienen cómo ámbito la propia función, y no pueden ser utilizados fuera de ella.  Su ciclo de vida dura el tiempo en que está ejecutándose la función. Una vez que termina su ejecución, desaparecen de la memoria.</a:t>
            </a:r>
            <a:endParaRPr sz="1650"/>
          </a:p>
          <a:p>
            <a:pPr indent="0" lvl="0" marL="0" rtl="0" algn="l">
              <a:lnSpc>
                <a:spcPct val="115000"/>
              </a:lnSpc>
              <a:spcBef>
                <a:spcPts val="1200"/>
              </a:spcBef>
              <a:spcAft>
                <a:spcPts val="0"/>
              </a:spcAft>
              <a:buClr>
                <a:schemeClr val="dk1"/>
              </a:buClr>
              <a:buSzPts val="1100"/>
              <a:buFont typeface="Arial"/>
              <a:buNone/>
            </a:pPr>
            <a:r>
              <a:rPr lang="es" sz="1650"/>
              <a:t>Es posible definir, dentro de una función, una variable local con el mismo nombre que tiene una declarada en el programa principal. Pero se trata de </a:t>
            </a:r>
            <a:r>
              <a:rPr b="1" lang="es" sz="1650"/>
              <a:t>otra variable</a:t>
            </a:r>
            <a:r>
              <a:rPr lang="es" sz="1650"/>
              <a:t> con el mismo nombre, no comparten su contenido.</a:t>
            </a:r>
            <a:endParaRPr sz="1650"/>
          </a:p>
          <a:p>
            <a:pPr indent="0" lvl="0" marL="0" rtl="0" algn="l">
              <a:lnSpc>
                <a:spcPct val="115000"/>
              </a:lnSpc>
              <a:spcBef>
                <a:spcPts val="1200"/>
              </a:spcBef>
              <a:spcAft>
                <a:spcPts val="1200"/>
              </a:spcAft>
              <a:buSzPts val="1800"/>
              <a:buNone/>
            </a:pPr>
            <a:r>
              <a:t/>
            </a:r>
            <a:endParaRPr sz="165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5"/>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Ámbito y ciclo de vida de las variables</a:t>
            </a:r>
            <a:endParaRPr/>
          </a:p>
        </p:txBody>
      </p:sp>
      <p:sp>
        <p:nvSpPr>
          <p:cNvPr id="368" name="Google Shape;368;p25"/>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rgbClr val="595959"/>
                </a:solidFill>
                <a:latin typeface="Montserrat"/>
                <a:ea typeface="Montserrat"/>
                <a:cs typeface="Montserrat"/>
                <a:sym typeface="Montserrat"/>
              </a:rPr>
              <a:t>Algunos ejemplos sobre el alcance de las variables:</a:t>
            </a:r>
            <a:endParaRPr b="0" i="0" sz="1682" u="none" cap="none" strike="noStrike">
              <a:solidFill>
                <a:srgbClr val="595959"/>
              </a:solidFill>
              <a:latin typeface="Montserrat"/>
              <a:ea typeface="Montserrat"/>
              <a:cs typeface="Montserrat"/>
              <a:sym typeface="Montserrat"/>
            </a:endParaRPr>
          </a:p>
        </p:txBody>
      </p:sp>
      <p:sp>
        <p:nvSpPr>
          <p:cNvPr id="369" name="Google Shape;369;p25"/>
          <p:cNvSpPr/>
          <p:nvPr/>
        </p:nvSpPr>
        <p:spPr>
          <a:xfrm>
            <a:off x="467575" y="1992925"/>
            <a:ext cx="2436600" cy="15981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funcion1</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3</a:t>
            </a:r>
            <a:endParaRPr b="0" i="0" sz="1200" u="none" cap="none" strike="noStrike">
              <a:solidFill>
                <a:srgbClr val="F39C1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  </a:t>
            </a:r>
            <a:r>
              <a:rPr b="0" i="0" lang="es" sz="1200" u="none" cap="none" strike="noStrike">
                <a:solidFill>
                  <a:srgbClr val="5F6167"/>
                </a:solidFill>
                <a:highlight>
                  <a:srgbClr val="23262E"/>
                </a:highlight>
                <a:latin typeface="Consolas"/>
                <a:ea typeface="Consolas"/>
                <a:cs typeface="Consolas"/>
                <a:sym typeface="Consolas"/>
              </a:rPr>
              <a:t># 3</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funcion1</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  </a:t>
            </a:r>
            <a:r>
              <a:rPr b="0" i="0" lang="es" sz="1200" u="none" cap="none" strike="noStrike">
                <a:solidFill>
                  <a:srgbClr val="5F6167"/>
                </a:solidFill>
                <a:highlight>
                  <a:srgbClr val="23262E"/>
                </a:highlight>
                <a:latin typeface="Consolas"/>
                <a:ea typeface="Consolas"/>
                <a:cs typeface="Consolas"/>
                <a:sym typeface="Consolas"/>
              </a:rPr>
              <a:t># ERROR!</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200"/>
              <a:buFont typeface="Consolas"/>
              <a:buNone/>
            </a:pPr>
            <a:r>
              <a:t/>
            </a:r>
            <a:endParaRPr b="0" i="0" sz="1200" u="none" cap="none" strike="noStrike">
              <a:solidFill>
                <a:srgbClr val="D5CED9"/>
              </a:solidFill>
              <a:latin typeface="Consolas"/>
              <a:ea typeface="Consolas"/>
              <a:cs typeface="Consolas"/>
              <a:sym typeface="Consolas"/>
            </a:endParaRPr>
          </a:p>
        </p:txBody>
      </p:sp>
      <p:sp>
        <p:nvSpPr>
          <p:cNvPr id="370" name="Google Shape;370;p25"/>
          <p:cNvSpPr/>
          <p:nvPr/>
        </p:nvSpPr>
        <p:spPr>
          <a:xfrm>
            <a:off x="467575" y="1763975"/>
            <a:ext cx="24366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Variables </a:t>
            </a:r>
            <a:endParaRPr b="0" i="0" sz="1400" u="none" cap="none" strike="noStrike">
              <a:solidFill>
                <a:schemeClr val="dk2"/>
              </a:solidFill>
              <a:latin typeface="Montserrat"/>
              <a:ea typeface="Montserrat"/>
              <a:cs typeface="Montserrat"/>
              <a:sym typeface="Montserrat"/>
            </a:endParaRPr>
          </a:p>
        </p:txBody>
      </p:sp>
      <p:sp>
        <p:nvSpPr>
          <p:cNvPr id="371" name="Google Shape;371;p25"/>
          <p:cNvSpPr/>
          <p:nvPr/>
        </p:nvSpPr>
        <p:spPr>
          <a:xfrm>
            <a:off x="3249063" y="1992925"/>
            <a:ext cx="2436600" cy="15981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5</a:t>
            </a:r>
            <a:endParaRPr b="0" i="0" sz="1200" u="none" cap="none" strike="noStrike">
              <a:solidFill>
                <a:srgbClr val="F39C1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funcion1</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3</a:t>
            </a:r>
            <a:endParaRPr b="0" i="0" sz="1200" u="none" cap="none" strike="noStrike">
              <a:solidFill>
                <a:srgbClr val="F39C1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  </a:t>
            </a:r>
            <a:r>
              <a:rPr b="0" i="0" lang="es" sz="1200" u="none" cap="none" strike="noStrike">
                <a:solidFill>
                  <a:srgbClr val="5F6167"/>
                </a:solidFill>
                <a:highlight>
                  <a:srgbClr val="23262E"/>
                </a:highlight>
                <a:latin typeface="Consolas"/>
                <a:ea typeface="Consolas"/>
                <a:cs typeface="Consolas"/>
                <a:sym typeface="Consolas"/>
              </a:rPr>
              <a:t># 3</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funcion1</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  </a:t>
            </a:r>
            <a:r>
              <a:rPr b="0" i="0" lang="es" sz="1200" u="none" cap="none" strike="noStrike">
                <a:solidFill>
                  <a:srgbClr val="5F6167"/>
                </a:solidFill>
                <a:highlight>
                  <a:srgbClr val="23262E"/>
                </a:highlight>
                <a:latin typeface="Consolas"/>
                <a:ea typeface="Consolas"/>
                <a:cs typeface="Consolas"/>
                <a:sym typeface="Consolas"/>
              </a:rPr>
              <a:t># 5</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200"/>
              <a:buFont typeface="Consolas"/>
              <a:buNone/>
            </a:pPr>
            <a:r>
              <a:t/>
            </a:r>
            <a:endParaRPr b="0" i="0" sz="1200" u="none" cap="none" strike="noStrike">
              <a:solidFill>
                <a:srgbClr val="D5CED9"/>
              </a:solidFill>
              <a:latin typeface="Consolas"/>
              <a:ea typeface="Consolas"/>
              <a:cs typeface="Consolas"/>
              <a:sym typeface="Consolas"/>
            </a:endParaRPr>
          </a:p>
        </p:txBody>
      </p:sp>
      <p:sp>
        <p:nvSpPr>
          <p:cNvPr id="372" name="Google Shape;372;p25"/>
          <p:cNvSpPr/>
          <p:nvPr/>
        </p:nvSpPr>
        <p:spPr>
          <a:xfrm>
            <a:off x="3249063" y="1763975"/>
            <a:ext cx="24366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Variables </a:t>
            </a:r>
            <a:endParaRPr b="0" i="0" sz="1400" u="none" cap="none" strike="noStrike">
              <a:solidFill>
                <a:schemeClr val="dk2"/>
              </a:solidFill>
              <a:latin typeface="Montserrat"/>
              <a:ea typeface="Montserrat"/>
              <a:cs typeface="Montserrat"/>
              <a:sym typeface="Montserrat"/>
            </a:endParaRPr>
          </a:p>
        </p:txBody>
      </p:sp>
      <p:sp>
        <p:nvSpPr>
          <p:cNvPr id="373" name="Google Shape;373;p25"/>
          <p:cNvSpPr/>
          <p:nvPr/>
        </p:nvSpPr>
        <p:spPr>
          <a:xfrm>
            <a:off x="6030550" y="1992925"/>
            <a:ext cx="2436600" cy="15981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5</a:t>
            </a:r>
            <a:endParaRPr b="0" i="0" sz="1200" u="none" cap="none" strike="noStrike">
              <a:solidFill>
                <a:srgbClr val="F39C1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funcion1</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global</a:t>
            </a:r>
            <a:r>
              <a:rPr b="0" i="0" lang="es" sz="1200" u="none" cap="none" strike="noStrike">
                <a:solidFill>
                  <a:srgbClr val="D5CED9"/>
                </a:solidFill>
                <a:highlight>
                  <a:srgbClr val="23262E"/>
                </a:highlight>
                <a:latin typeface="Consolas"/>
                <a:ea typeface="Consolas"/>
                <a:cs typeface="Consolas"/>
                <a:sym typeface="Consolas"/>
              </a:rPr>
              <a:t> a</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3</a:t>
            </a:r>
            <a:endParaRPr b="0" i="0" sz="1200" u="none" cap="none" strike="noStrike">
              <a:solidFill>
                <a:srgbClr val="F39C1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  </a:t>
            </a:r>
            <a:r>
              <a:rPr b="0" i="0" lang="es" sz="1200" u="none" cap="none" strike="noStrike">
                <a:solidFill>
                  <a:srgbClr val="5F6167"/>
                </a:solidFill>
                <a:highlight>
                  <a:srgbClr val="23262E"/>
                </a:highlight>
                <a:latin typeface="Consolas"/>
                <a:ea typeface="Consolas"/>
                <a:cs typeface="Consolas"/>
                <a:sym typeface="Consolas"/>
              </a:rPr>
              <a:t># 3</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funcion1</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  </a:t>
            </a:r>
            <a:r>
              <a:rPr b="0" i="0" lang="es" sz="1200" u="none" cap="none" strike="noStrike">
                <a:solidFill>
                  <a:srgbClr val="5F6167"/>
                </a:solidFill>
                <a:highlight>
                  <a:srgbClr val="23262E"/>
                </a:highlight>
                <a:latin typeface="Consolas"/>
                <a:ea typeface="Consolas"/>
                <a:cs typeface="Consolas"/>
                <a:sym typeface="Consolas"/>
              </a:rPr>
              <a:t># 3</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200"/>
              <a:buFont typeface="Consolas"/>
              <a:buNone/>
            </a:pPr>
            <a:r>
              <a:t/>
            </a:r>
            <a:endParaRPr b="0" i="0" sz="1200" u="none" cap="none" strike="noStrike">
              <a:solidFill>
                <a:srgbClr val="D5CED9"/>
              </a:solidFill>
              <a:latin typeface="Consolas"/>
              <a:ea typeface="Consolas"/>
              <a:cs typeface="Consolas"/>
              <a:sym typeface="Consolas"/>
            </a:endParaRPr>
          </a:p>
        </p:txBody>
      </p:sp>
      <p:sp>
        <p:nvSpPr>
          <p:cNvPr id="374" name="Google Shape;374;p25"/>
          <p:cNvSpPr/>
          <p:nvPr/>
        </p:nvSpPr>
        <p:spPr>
          <a:xfrm>
            <a:off x="6030550" y="1763975"/>
            <a:ext cx="24366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Variables </a:t>
            </a:r>
            <a:endParaRPr b="0" i="0" sz="1400" u="none" cap="none" strike="noStrike">
              <a:solidFill>
                <a:schemeClr val="dk2"/>
              </a:solidFill>
              <a:latin typeface="Montserrat"/>
              <a:ea typeface="Montserrat"/>
              <a:cs typeface="Montserrat"/>
              <a:sym typeface="Montserrat"/>
            </a:endParaRPr>
          </a:p>
        </p:txBody>
      </p:sp>
      <p:sp>
        <p:nvSpPr>
          <p:cNvPr id="375" name="Google Shape;375;p25"/>
          <p:cNvSpPr txBox="1"/>
          <p:nvPr/>
        </p:nvSpPr>
        <p:spPr>
          <a:xfrm>
            <a:off x="436425" y="3635200"/>
            <a:ext cx="8279700" cy="921900"/>
          </a:xfrm>
          <a:prstGeom prst="rect">
            <a:avLst/>
          </a:prstGeom>
          <a:noFill/>
          <a:ln>
            <a:noFill/>
          </a:ln>
        </p:spPr>
        <p:txBody>
          <a:bodyPr anchorCtr="0" anchor="t" bIns="91425" lIns="0" spcFirstLastPara="1" rIns="0" wrap="square" tIns="91425">
            <a:noAutofit/>
          </a:bodyPr>
          <a:lstStyle/>
          <a:p>
            <a:pPr indent="0" lvl="0" marL="0" marR="0" rtl="0" algn="l">
              <a:lnSpc>
                <a:spcPct val="100000"/>
              </a:lnSpc>
              <a:spcBef>
                <a:spcPts val="0"/>
              </a:spcBef>
              <a:spcAft>
                <a:spcPts val="0"/>
              </a:spcAft>
              <a:buClr>
                <a:srgbClr val="000000"/>
              </a:buClr>
              <a:buSzPts val="1650"/>
              <a:buFont typeface="Arial"/>
              <a:buNone/>
            </a:pPr>
            <a:r>
              <a:rPr b="1" i="0" lang="es" sz="1650" u="none" cap="none" strike="noStrike">
                <a:solidFill>
                  <a:schemeClr val="dk2"/>
                </a:solidFill>
                <a:latin typeface="Montserrat"/>
                <a:ea typeface="Montserrat"/>
                <a:cs typeface="Montserrat"/>
                <a:sym typeface="Montserrat"/>
              </a:rPr>
              <a:t>global</a:t>
            </a:r>
            <a:r>
              <a:rPr b="0" i="0" lang="es" sz="1650" u="none" cap="none" strike="noStrike">
                <a:solidFill>
                  <a:schemeClr val="dk2"/>
                </a:solidFill>
                <a:latin typeface="Montserrat"/>
                <a:ea typeface="Montserrat"/>
                <a:cs typeface="Montserrat"/>
                <a:sym typeface="Montserrat"/>
              </a:rPr>
              <a:t> permite utilizar una variable de un ámbito superior dentro de otro.</a:t>
            </a:r>
            <a:br>
              <a:rPr b="0" i="0" lang="es" sz="1650" u="none" cap="none" strike="noStrike">
                <a:solidFill>
                  <a:schemeClr val="dk2"/>
                </a:solidFill>
                <a:latin typeface="Montserrat"/>
                <a:ea typeface="Montserrat"/>
                <a:cs typeface="Montserrat"/>
                <a:sym typeface="Montserrat"/>
              </a:rPr>
            </a:br>
            <a:r>
              <a:rPr b="0" i="1" lang="es" sz="1650" u="sng" cap="none" strike="noStrike">
                <a:solidFill>
                  <a:schemeClr val="dk2"/>
                </a:solidFill>
                <a:latin typeface="Montserrat"/>
                <a:ea typeface="Montserrat"/>
                <a:cs typeface="Montserrat"/>
                <a:sym typeface="Montserrat"/>
              </a:rPr>
              <a:t>Importante:</a:t>
            </a:r>
            <a:r>
              <a:rPr b="0" i="0" lang="es" sz="1650" u="none" cap="none" strike="noStrike">
                <a:solidFill>
                  <a:schemeClr val="dk2"/>
                </a:solidFill>
                <a:latin typeface="Montserrat"/>
                <a:ea typeface="Montserrat"/>
                <a:cs typeface="Montserrat"/>
                <a:sym typeface="Montserrat"/>
              </a:rPr>
              <a:t> Las variables que tienen un tipo de dato compuesto siempre se comportan como variables globales (las listas, por ejemplo). </a:t>
            </a:r>
            <a:endParaRPr b="0" i="0" sz="165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550"/>
              <a:buFont typeface="Arial"/>
              <a:buNone/>
            </a:pPr>
            <a:r>
              <a:t/>
            </a:r>
            <a:endParaRPr b="0" i="0" sz="1550"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550"/>
              <a:buFont typeface="Arial"/>
              <a:buNone/>
            </a:pPr>
            <a:r>
              <a:t/>
            </a:r>
            <a:endParaRPr b="0" i="0" sz="15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550"/>
              <a:buFont typeface="Arial"/>
              <a:buNone/>
            </a:pPr>
            <a:r>
              <a:t/>
            </a:r>
            <a:endParaRPr b="0" i="0" sz="15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550"/>
              <a:buFont typeface="Arial"/>
              <a:buNone/>
            </a:pPr>
            <a:r>
              <a:t/>
            </a:r>
            <a:endParaRPr b="0" i="0" sz="1550"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26"/>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Ámbito y ciclo de vida de las variables</a:t>
            </a:r>
            <a:endParaRPr/>
          </a:p>
        </p:txBody>
      </p:sp>
      <p:sp>
        <p:nvSpPr>
          <p:cNvPr id="381" name="Google Shape;381;p26"/>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rgbClr val="595959"/>
                </a:solidFill>
                <a:latin typeface="Montserrat"/>
                <a:ea typeface="Montserrat"/>
                <a:cs typeface="Montserrat"/>
                <a:sym typeface="Montserrat"/>
              </a:rPr>
              <a:t>Alcance y visibilidad de las variables:</a:t>
            </a:r>
            <a:endParaRPr b="0" i="0" sz="1682" u="none" cap="none" strike="noStrike">
              <a:solidFill>
                <a:srgbClr val="595959"/>
              </a:solidFill>
              <a:latin typeface="Montserrat"/>
              <a:ea typeface="Montserrat"/>
              <a:cs typeface="Montserrat"/>
              <a:sym typeface="Montserrat"/>
            </a:endParaRPr>
          </a:p>
          <a:p>
            <a:pPr indent="-322729" lvl="0" marL="457200" marR="0" rtl="0" algn="l">
              <a:lnSpc>
                <a:spcPct val="115000"/>
              </a:lnSpc>
              <a:spcBef>
                <a:spcPts val="1199"/>
              </a:spcBef>
              <a:spcAft>
                <a:spcPts val="0"/>
              </a:spcAft>
              <a:buClr>
                <a:srgbClr val="595959"/>
              </a:buClr>
              <a:buSzPts val="1482"/>
              <a:buFont typeface="Montserrat"/>
              <a:buChar char="●"/>
            </a:pPr>
            <a:r>
              <a:rPr b="1" i="0" lang="es" sz="1482" u="none" cap="none" strike="noStrike">
                <a:solidFill>
                  <a:srgbClr val="595959"/>
                </a:solidFill>
                <a:latin typeface="Montserrat"/>
                <a:ea typeface="Montserrat"/>
                <a:cs typeface="Montserrat"/>
                <a:sym typeface="Montserrat"/>
              </a:rPr>
              <a:t>Variables globales: </a:t>
            </a:r>
            <a:r>
              <a:rPr b="0" i="0" lang="es" sz="1482" u="none" cap="none" strike="noStrike">
                <a:solidFill>
                  <a:srgbClr val="595959"/>
                </a:solidFill>
                <a:latin typeface="Montserrat"/>
                <a:ea typeface="Montserrat"/>
                <a:cs typeface="Montserrat"/>
                <a:sym typeface="Montserrat"/>
              </a:rPr>
              <a:t>Se pueden acceder en cualquier parte del programa.</a:t>
            </a:r>
            <a:endParaRPr b="0" i="0" sz="1482" u="none" cap="none" strike="noStrike">
              <a:solidFill>
                <a:srgbClr val="595959"/>
              </a:solidFill>
              <a:latin typeface="Montserrat"/>
              <a:ea typeface="Montserrat"/>
              <a:cs typeface="Montserrat"/>
              <a:sym typeface="Montserrat"/>
            </a:endParaRPr>
          </a:p>
          <a:p>
            <a:pPr indent="-322729" lvl="0" marL="457200" marR="0" rtl="0" algn="l">
              <a:lnSpc>
                <a:spcPct val="115000"/>
              </a:lnSpc>
              <a:spcBef>
                <a:spcPts val="0"/>
              </a:spcBef>
              <a:spcAft>
                <a:spcPts val="0"/>
              </a:spcAft>
              <a:buClr>
                <a:srgbClr val="595959"/>
              </a:buClr>
              <a:buSzPts val="1482"/>
              <a:buFont typeface="Montserrat"/>
              <a:buChar char="●"/>
            </a:pPr>
            <a:r>
              <a:rPr b="1" i="0" lang="es" sz="1482" u="none" cap="none" strike="noStrike">
                <a:solidFill>
                  <a:srgbClr val="595959"/>
                </a:solidFill>
                <a:latin typeface="Montserrat"/>
                <a:ea typeface="Montserrat"/>
                <a:cs typeface="Montserrat"/>
                <a:sym typeface="Montserrat"/>
              </a:rPr>
              <a:t>Variables locales:</a:t>
            </a:r>
            <a:r>
              <a:rPr b="0" i="0" lang="es" sz="1482" u="none" cap="none" strike="noStrike">
                <a:solidFill>
                  <a:srgbClr val="595959"/>
                </a:solidFill>
                <a:latin typeface="Montserrat"/>
                <a:ea typeface="Montserrat"/>
                <a:cs typeface="Montserrat"/>
                <a:sym typeface="Montserrat"/>
              </a:rPr>
              <a:t> Sólo son visibles en el ámbito donde fueron declaradas. </a:t>
            </a:r>
            <a:endParaRPr b="0" i="0" sz="1482" u="none" cap="none" strike="noStrike">
              <a:solidFill>
                <a:srgbClr val="595959"/>
              </a:solidFill>
              <a:latin typeface="Montserrat"/>
              <a:ea typeface="Montserrat"/>
              <a:cs typeface="Montserrat"/>
              <a:sym typeface="Montserrat"/>
            </a:endParaRPr>
          </a:p>
          <a:p>
            <a:pPr indent="-322729" lvl="0" marL="457200" marR="0" rtl="0" algn="l">
              <a:lnSpc>
                <a:spcPct val="115000"/>
              </a:lnSpc>
              <a:spcBef>
                <a:spcPts val="0"/>
              </a:spcBef>
              <a:spcAft>
                <a:spcPts val="0"/>
              </a:spcAft>
              <a:buClr>
                <a:srgbClr val="595959"/>
              </a:buClr>
              <a:buSzPts val="1482"/>
              <a:buFont typeface="Montserrat"/>
              <a:buChar char="●"/>
            </a:pPr>
            <a:r>
              <a:rPr b="1" i="0" lang="es" sz="1482" u="none" cap="none" strike="noStrike">
                <a:solidFill>
                  <a:srgbClr val="595959"/>
                </a:solidFill>
                <a:latin typeface="Montserrat"/>
                <a:ea typeface="Montserrat"/>
                <a:cs typeface="Montserrat"/>
                <a:sym typeface="Montserrat"/>
              </a:rPr>
              <a:t>Variables libres:</a:t>
            </a:r>
            <a:r>
              <a:rPr b="0" i="0" lang="es" sz="1482" u="none" cap="none" strike="noStrike">
                <a:solidFill>
                  <a:srgbClr val="595959"/>
                </a:solidFill>
                <a:latin typeface="Montserrat"/>
                <a:ea typeface="Montserrat"/>
                <a:cs typeface="Montserrat"/>
                <a:sym typeface="Montserrat"/>
              </a:rPr>
              <a:t> Son visibles en una sub-función, pero no desde el programa principal.</a:t>
            </a:r>
            <a:endParaRPr b="0" i="0" sz="14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rgbClr val="595959"/>
                </a:solidFill>
                <a:latin typeface="Montserrat"/>
                <a:ea typeface="Montserrat"/>
                <a:cs typeface="Montserrat"/>
                <a:sym typeface="Montserrat"/>
              </a:rPr>
              <a:t>Buenas prácticas de programación respecto del uso de variables:</a:t>
            </a:r>
            <a:endParaRPr b="0" i="0" sz="1682" u="none" cap="none" strike="noStrike">
              <a:solidFill>
                <a:srgbClr val="595959"/>
              </a:solidFill>
              <a:latin typeface="Montserrat"/>
              <a:ea typeface="Montserrat"/>
              <a:cs typeface="Montserrat"/>
              <a:sym typeface="Montserrat"/>
            </a:endParaRPr>
          </a:p>
          <a:p>
            <a:pPr indent="-321184" lvl="0" marL="457200" marR="0" rtl="0" algn="l">
              <a:lnSpc>
                <a:spcPct val="115000"/>
              </a:lnSpc>
              <a:spcBef>
                <a:spcPts val="1199"/>
              </a:spcBef>
              <a:spcAft>
                <a:spcPts val="0"/>
              </a:spcAft>
              <a:buClr>
                <a:srgbClr val="595959"/>
              </a:buClr>
              <a:buSzPts val="1458"/>
              <a:buFont typeface="Montserrat"/>
              <a:buChar char="●"/>
            </a:pPr>
            <a:r>
              <a:rPr b="0" i="0" lang="es" sz="1458" u="none" cap="none" strike="noStrike">
                <a:solidFill>
                  <a:srgbClr val="595959"/>
                </a:solidFill>
                <a:latin typeface="Montserrat"/>
                <a:ea typeface="Montserrat"/>
                <a:cs typeface="Montserrat"/>
                <a:sym typeface="Montserrat"/>
              </a:rPr>
              <a:t>No utilizar variables globales desde dentro de una función</a:t>
            </a:r>
            <a:endParaRPr b="0" i="0" sz="1458" u="none" cap="none" strike="noStrike">
              <a:solidFill>
                <a:srgbClr val="595959"/>
              </a:solidFill>
              <a:latin typeface="Montserrat"/>
              <a:ea typeface="Montserrat"/>
              <a:cs typeface="Montserrat"/>
              <a:sym typeface="Montserrat"/>
            </a:endParaRPr>
          </a:p>
          <a:p>
            <a:pPr indent="-321184" lvl="0" marL="457200" marR="0" rtl="0" algn="l">
              <a:lnSpc>
                <a:spcPct val="115000"/>
              </a:lnSpc>
              <a:spcBef>
                <a:spcPts val="0"/>
              </a:spcBef>
              <a:spcAft>
                <a:spcPts val="0"/>
              </a:spcAft>
              <a:buClr>
                <a:srgbClr val="595959"/>
              </a:buClr>
              <a:buSzPts val="1458"/>
              <a:buFont typeface="Montserrat"/>
              <a:buChar char="●"/>
            </a:pPr>
            <a:r>
              <a:rPr b="0" i="0" lang="es" sz="1458" u="none" cap="none" strike="noStrike">
                <a:solidFill>
                  <a:srgbClr val="595959"/>
                </a:solidFill>
                <a:latin typeface="Montserrat"/>
                <a:ea typeface="Montserrat"/>
                <a:cs typeface="Montserrat"/>
                <a:sym typeface="Montserrat"/>
              </a:rPr>
              <a:t>No anidar definiciones de funciones</a:t>
            </a:r>
            <a:endParaRPr b="0" i="0" sz="1458" u="none" cap="none" strike="noStrike">
              <a:solidFill>
                <a:srgbClr val="595959"/>
              </a:solidFill>
              <a:latin typeface="Montserrat"/>
              <a:ea typeface="Montserrat"/>
              <a:cs typeface="Montserrat"/>
              <a:sym typeface="Montserrat"/>
            </a:endParaRPr>
          </a:p>
          <a:p>
            <a:pPr indent="-321184" lvl="0" marL="457200" marR="0" rtl="0" algn="l">
              <a:lnSpc>
                <a:spcPct val="115000"/>
              </a:lnSpc>
              <a:spcBef>
                <a:spcPts val="0"/>
              </a:spcBef>
              <a:spcAft>
                <a:spcPts val="0"/>
              </a:spcAft>
              <a:buClr>
                <a:srgbClr val="595959"/>
              </a:buClr>
              <a:buSzPts val="1458"/>
              <a:buFont typeface="Montserrat"/>
              <a:buChar char="●"/>
            </a:pPr>
            <a:r>
              <a:rPr b="0" i="0" lang="es" sz="1458" u="none" cap="none" strike="noStrike">
                <a:solidFill>
                  <a:srgbClr val="595959"/>
                </a:solidFill>
                <a:latin typeface="Montserrat"/>
                <a:ea typeface="Montserrat"/>
                <a:cs typeface="Montserrat"/>
                <a:sym typeface="Montserrat"/>
              </a:rPr>
              <a:t>Si se desea utilizar los valores de una variable del programa principal en una función, se debe pasar como un parámetro.</a:t>
            </a:r>
            <a:endParaRPr b="0" i="0" sz="1782"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27"/>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Funciones anónimas o lambda</a:t>
            </a:r>
            <a:endParaRPr/>
          </a:p>
        </p:txBody>
      </p:sp>
      <p:sp>
        <p:nvSpPr>
          <p:cNvPr id="387" name="Google Shape;387;p27"/>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chemeClr val="dk1"/>
              </a:buClr>
              <a:buSzPts val="1100"/>
              <a:buFont typeface="Arial"/>
              <a:buNone/>
            </a:pPr>
            <a:r>
              <a:rPr b="0" i="0" lang="es" sz="1682" u="none" cap="none" strike="noStrike">
                <a:solidFill>
                  <a:srgbClr val="595959"/>
                </a:solidFill>
                <a:latin typeface="Montserrat"/>
                <a:ea typeface="Montserrat"/>
                <a:cs typeface="Montserrat"/>
                <a:sym typeface="Montserrat"/>
              </a:rPr>
              <a:t>A diferencia de las funciones que se definen con la palabra reservada </a:t>
            </a:r>
            <a:r>
              <a:rPr b="1" i="0" lang="es" sz="1682" u="none" cap="none" strike="noStrike">
                <a:solidFill>
                  <a:srgbClr val="595959"/>
                </a:solidFill>
                <a:latin typeface="Montserrat"/>
                <a:ea typeface="Montserrat"/>
                <a:cs typeface="Montserrat"/>
                <a:sym typeface="Montserrat"/>
              </a:rPr>
              <a:t>def</a:t>
            </a:r>
            <a:r>
              <a:rPr b="0" i="0" lang="es" sz="1682" u="none" cap="none" strike="noStrike">
                <a:solidFill>
                  <a:srgbClr val="595959"/>
                </a:solidFill>
                <a:latin typeface="Montserrat"/>
                <a:ea typeface="Montserrat"/>
                <a:cs typeface="Montserrat"/>
                <a:sym typeface="Montserrat"/>
              </a:rPr>
              <a:t>, las </a:t>
            </a:r>
            <a:r>
              <a:rPr b="1" i="0" lang="es" sz="1682" u="none" cap="none" strike="noStrike">
                <a:solidFill>
                  <a:srgbClr val="595959"/>
                </a:solidFill>
                <a:latin typeface="Montserrat"/>
                <a:ea typeface="Montserrat"/>
                <a:cs typeface="Montserrat"/>
                <a:sym typeface="Montserrat"/>
              </a:rPr>
              <a:t>funciones anónimas</a:t>
            </a:r>
            <a:r>
              <a:rPr b="0" i="0" lang="es" sz="1682" u="none" cap="none" strike="noStrike">
                <a:solidFill>
                  <a:srgbClr val="595959"/>
                </a:solidFill>
                <a:latin typeface="Montserrat"/>
                <a:ea typeface="Montserrat"/>
                <a:cs typeface="Montserrat"/>
                <a:sym typeface="Montserrat"/>
              </a:rPr>
              <a:t> se definen con la palabra reservada </a:t>
            </a:r>
            <a:r>
              <a:rPr b="1" i="0" lang="es" sz="1682" u="none" cap="none" strike="noStrike">
                <a:solidFill>
                  <a:srgbClr val="595959"/>
                </a:solidFill>
                <a:latin typeface="Montserrat"/>
                <a:ea typeface="Montserrat"/>
                <a:cs typeface="Montserrat"/>
                <a:sym typeface="Montserrat"/>
              </a:rPr>
              <a:t>lambda</a:t>
            </a:r>
            <a:r>
              <a:rPr b="0" i="0" lang="es" sz="1682" u="none" cap="none" strike="noStrike">
                <a:solidFill>
                  <a:srgbClr val="595959"/>
                </a:solidFill>
                <a:latin typeface="Montserrat"/>
                <a:ea typeface="Montserrat"/>
                <a:cs typeface="Montserrat"/>
                <a:sym typeface="Montserrat"/>
              </a:rPr>
              <a:t>. Su sintaxis es:</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chemeClr val="dk1"/>
              </a:buClr>
              <a:buSzPts val="1100"/>
              <a:buFont typeface="Arial"/>
              <a:buNone/>
            </a:pPr>
            <a:r>
              <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rgbClr val="595959"/>
              </a:solidFill>
              <a:latin typeface="Montserrat"/>
              <a:ea typeface="Montserrat"/>
              <a:cs typeface="Montserrat"/>
              <a:sym typeface="Montserrat"/>
            </a:endParaRPr>
          </a:p>
        </p:txBody>
      </p:sp>
      <p:sp>
        <p:nvSpPr>
          <p:cNvPr id="388" name="Google Shape;388;p27"/>
          <p:cNvSpPr txBox="1"/>
          <p:nvPr/>
        </p:nvSpPr>
        <p:spPr>
          <a:xfrm>
            <a:off x="423450" y="2833775"/>
            <a:ext cx="8279700" cy="1186500"/>
          </a:xfrm>
          <a:prstGeom prst="rect">
            <a:avLst/>
          </a:prstGeom>
          <a:noFill/>
          <a:ln>
            <a:noFill/>
          </a:ln>
        </p:spPr>
        <p:txBody>
          <a:bodyPr anchorCtr="0" anchor="t" bIns="91425" lIns="0" spcFirstLastPara="1" rIns="0" wrap="square" tIns="91425">
            <a:noAutofit/>
          </a:bodyPr>
          <a:lstStyle/>
          <a:p>
            <a:pPr indent="0" lvl="0" marL="0" marR="0" rtl="0" algn="l">
              <a:lnSpc>
                <a:spcPct val="100000"/>
              </a:lnSpc>
              <a:spcBef>
                <a:spcPts val="0"/>
              </a:spcBef>
              <a:spcAft>
                <a:spcPts val="0"/>
              </a:spcAft>
              <a:buClr>
                <a:srgbClr val="000000"/>
              </a:buClr>
              <a:buSzPts val="1650"/>
              <a:buFont typeface="Arial"/>
              <a:buNone/>
            </a:pPr>
            <a:r>
              <a:rPr b="0" i="0" lang="es" sz="1650" u="none" cap="none" strike="noStrike">
                <a:solidFill>
                  <a:schemeClr val="dk2"/>
                </a:solidFill>
                <a:latin typeface="Montserrat"/>
                <a:ea typeface="Montserrat"/>
                <a:cs typeface="Montserrat"/>
                <a:sym typeface="Montserrat"/>
              </a:rPr>
              <a:t>Dada su sintaxis, estas funciones se suelen llamar “funciones lambda”.</a:t>
            </a:r>
            <a:endParaRPr b="0" i="0" sz="1650" u="none" cap="none" strike="noStrike">
              <a:solidFill>
                <a:schemeClr val="dk2"/>
              </a:solidFill>
              <a:latin typeface="Montserrat"/>
              <a:ea typeface="Montserrat"/>
              <a:cs typeface="Montserrat"/>
              <a:sym typeface="Montserrat"/>
            </a:endParaRPr>
          </a:p>
          <a:p>
            <a:pPr indent="-333375" lvl="0" marL="457200" marR="0" rtl="0" algn="l">
              <a:lnSpc>
                <a:spcPct val="100000"/>
              </a:lnSpc>
              <a:spcBef>
                <a:spcPts val="0"/>
              </a:spcBef>
              <a:spcAft>
                <a:spcPts val="0"/>
              </a:spcAft>
              <a:buClr>
                <a:schemeClr val="dk2"/>
              </a:buClr>
              <a:buSzPts val="1650"/>
              <a:buFont typeface="Montserrat"/>
              <a:buChar char="●"/>
            </a:pPr>
            <a:r>
              <a:rPr b="0" i="0" lang="es" sz="1650" u="none" cap="none" strike="noStrike">
                <a:solidFill>
                  <a:schemeClr val="dk2"/>
                </a:solidFill>
                <a:latin typeface="Montserrat"/>
                <a:ea typeface="Montserrat"/>
                <a:cs typeface="Montserrat"/>
                <a:sym typeface="Montserrat"/>
              </a:rPr>
              <a:t>Pueden tener varios parámetros pero una única expresión. </a:t>
            </a:r>
            <a:endParaRPr b="0" i="0" sz="1650" u="none" cap="none" strike="noStrike">
              <a:solidFill>
                <a:schemeClr val="dk2"/>
              </a:solidFill>
              <a:latin typeface="Montserrat"/>
              <a:ea typeface="Montserrat"/>
              <a:cs typeface="Montserrat"/>
              <a:sym typeface="Montserrat"/>
            </a:endParaRPr>
          </a:p>
          <a:p>
            <a:pPr indent="-333375" lvl="0" marL="457200" marR="0" rtl="0" algn="l">
              <a:lnSpc>
                <a:spcPct val="100000"/>
              </a:lnSpc>
              <a:spcBef>
                <a:spcPts val="0"/>
              </a:spcBef>
              <a:spcAft>
                <a:spcPts val="0"/>
              </a:spcAft>
              <a:buClr>
                <a:schemeClr val="dk2"/>
              </a:buClr>
              <a:buSzPts val="1650"/>
              <a:buFont typeface="Montserrat"/>
              <a:buChar char="●"/>
            </a:pPr>
            <a:r>
              <a:rPr b="0" i="0" lang="es" sz="1650" u="none" cap="none" strike="noStrike">
                <a:solidFill>
                  <a:schemeClr val="dk2"/>
                </a:solidFill>
                <a:latin typeface="Montserrat"/>
                <a:ea typeface="Montserrat"/>
                <a:cs typeface="Montserrat"/>
                <a:sym typeface="Montserrat"/>
              </a:rPr>
              <a:t>Se suelen usar en combinación con otras funciones, generalmente como argumentos de otra función.</a:t>
            </a:r>
            <a:endParaRPr b="0" i="0" sz="165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b="0" i="0" sz="165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50"/>
              <a:buFont typeface="Arial"/>
              <a:buNone/>
            </a:pPr>
            <a:r>
              <a:t/>
            </a:r>
            <a:endParaRPr b="0" i="0" sz="1650"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p:txBody>
      </p:sp>
      <p:sp>
        <p:nvSpPr>
          <p:cNvPr id="389" name="Google Shape;389;p27"/>
          <p:cNvSpPr/>
          <p:nvPr/>
        </p:nvSpPr>
        <p:spPr>
          <a:xfrm>
            <a:off x="2478425" y="2349050"/>
            <a:ext cx="4173000" cy="3693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1785"/>
              </a:lnSpc>
              <a:spcBef>
                <a:spcPts val="0"/>
              </a:spcBef>
              <a:spcAft>
                <a:spcPts val="0"/>
              </a:spcAft>
              <a:buClr>
                <a:schemeClr val="dk1"/>
              </a:buClr>
              <a:buSzPts val="1400"/>
              <a:buFont typeface="Arial"/>
              <a:buNone/>
            </a:pPr>
            <a:r>
              <a:rPr b="0" i="0" lang="es" sz="1400" u="none" cap="none" strike="noStrike">
                <a:solidFill>
                  <a:srgbClr val="C74DED"/>
                </a:solidFill>
                <a:latin typeface="Consolas"/>
                <a:ea typeface="Consolas"/>
                <a:cs typeface="Consolas"/>
                <a:sym typeface="Consolas"/>
              </a:rPr>
              <a:t>lambda</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00E8C6"/>
                </a:solidFill>
                <a:latin typeface="Consolas"/>
                <a:ea typeface="Consolas"/>
                <a:cs typeface="Consolas"/>
                <a:sym typeface="Consolas"/>
              </a:rPr>
              <a:t>parámetros</a:t>
            </a:r>
            <a:r>
              <a:rPr b="0" i="0" lang="es" sz="1400" u="none" cap="none" strike="noStrike">
                <a:solidFill>
                  <a:srgbClr val="D5CED9"/>
                </a:solidFill>
                <a:latin typeface="Consolas"/>
                <a:ea typeface="Consolas"/>
                <a:cs typeface="Consolas"/>
                <a:sym typeface="Consolas"/>
              </a:rPr>
              <a:t>: expresión</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200"/>
              <a:buFont typeface="Consolas"/>
              <a:buNone/>
            </a:pPr>
            <a:r>
              <a:t/>
            </a:r>
            <a:endParaRPr b="0" i="0" sz="1200" u="none" cap="none" strike="noStrike">
              <a:solidFill>
                <a:srgbClr val="D5CED9"/>
              </a:solidFill>
              <a:latin typeface="Consolas"/>
              <a:ea typeface="Consolas"/>
              <a:cs typeface="Consolas"/>
              <a:sym typeface="Consolas"/>
            </a:endParaRPr>
          </a:p>
        </p:txBody>
      </p:sp>
      <p:sp>
        <p:nvSpPr>
          <p:cNvPr id="390" name="Google Shape;390;p27"/>
          <p:cNvSpPr/>
          <p:nvPr/>
        </p:nvSpPr>
        <p:spPr>
          <a:xfrm>
            <a:off x="2475188" y="2120150"/>
            <a:ext cx="41730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Funciones anónimas o lambda</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28"/>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Funciones anónimas o lambda</a:t>
            </a:r>
            <a:endParaRPr/>
          </a:p>
        </p:txBody>
      </p:sp>
      <p:sp>
        <p:nvSpPr>
          <p:cNvPr id="396" name="Google Shape;396;p28"/>
          <p:cNvSpPr txBox="1"/>
          <p:nvPr/>
        </p:nvSpPr>
        <p:spPr>
          <a:xfrm>
            <a:off x="436425" y="1995875"/>
            <a:ext cx="8279700" cy="25611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rgbClr val="595959"/>
                </a:solidFill>
                <a:latin typeface="Montserrat"/>
                <a:ea typeface="Montserrat"/>
                <a:cs typeface="Montserrat"/>
                <a:sym typeface="Montserrat"/>
              </a:rPr>
              <a:t>En este ejemplo, </a:t>
            </a:r>
            <a:r>
              <a:rPr b="1" i="0" lang="es" sz="1682" u="none" cap="none" strike="noStrike">
                <a:solidFill>
                  <a:srgbClr val="595959"/>
                </a:solidFill>
                <a:latin typeface="Montserrat"/>
                <a:ea typeface="Montserrat"/>
                <a:cs typeface="Montserrat"/>
                <a:sym typeface="Montserrat"/>
              </a:rPr>
              <a:t>x</a:t>
            </a:r>
            <a:r>
              <a:rPr b="0" i="0" lang="es" sz="1682" u="none" cap="none" strike="noStrike">
                <a:solidFill>
                  <a:srgbClr val="595959"/>
                </a:solidFill>
                <a:latin typeface="Montserrat"/>
                <a:ea typeface="Montserrat"/>
                <a:cs typeface="Montserrat"/>
                <a:sym typeface="Montserrat"/>
              </a:rPr>
              <a:t> es el parámetro y </a:t>
            </a:r>
            <a:r>
              <a:rPr b="1" i="0" lang="es" sz="1682" u="none" cap="none" strike="noStrike">
                <a:solidFill>
                  <a:srgbClr val="595959"/>
                </a:solidFill>
                <a:latin typeface="Montserrat"/>
                <a:ea typeface="Montserrat"/>
                <a:cs typeface="Montserrat"/>
                <a:sym typeface="Montserrat"/>
              </a:rPr>
              <a:t>x ** 2</a:t>
            </a:r>
            <a:r>
              <a:rPr b="0" i="0" lang="es" sz="1682" u="none" cap="none" strike="noStrike">
                <a:solidFill>
                  <a:srgbClr val="595959"/>
                </a:solidFill>
                <a:latin typeface="Montserrat"/>
                <a:ea typeface="Montserrat"/>
                <a:cs typeface="Montserrat"/>
                <a:sym typeface="Montserrat"/>
              </a:rPr>
              <a:t> la expresión que se evalúa y se devuelve. Esta función no tiene nombre y toda la definición devuelve una función que se asigna al identificador cuadrado. Luego podemos utilizarla como una función normal.</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rgbClr val="595959"/>
                </a:solidFill>
                <a:latin typeface="Montserrat"/>
                <a:ea typeface="Montserrat"/>
                <a:cs typeface="Montserrat"/>
                <a:sym typeface="Montserrat"/>
              </a:rPr>
              <a:t>La función </a:t>
            </a:r>
            <a:r>
              <a:rPr b="1" i="0" lang="es" sz="1682" u="none" cap="none" strike="noStrike">
                <a:solidFill>
                  <a:srgbClr val="595959"/>
                </a:solidFill>
                <a:latin typeface="Montserrat"/>
                <a:ea typeface="Montserrat"/>
                <a:cs typeface="Montserrat"/>
                <a:sym typeface="Montserrat"/>
              </a:rPr>
              <a:t>map()</a:t>
            </a:r>
            <a:r>
              <a:rPr b="0" i="0" lang="es" sz="1682" u="none" cap="none" strike="noStrike">
                <a:solidFill>
                  <a:srgbClr val="595959"/>
                </a:solidFill>
                <a:latin typeface="Montserrat"/>
                <a:ea typeface="Montserrat"/>
                <a:cs typeface="Montserrat"/>
                <a:sym typeface="Montserrat"/>
              </a:rPr>
              <a:t> en Python aplica una función a cada uno de los elementos de una lista:</a:t>
            </a:r>
            <a:endParaRPr b="0" i="0" sz="1682" u="none" cap="none" strike="noStrike">
              <a:solidFill>
                <a:srgbClr val="595959"/>
              </a:solidFill>
              <a:latin typeface="Montserrat"/>
              <a:ea typeface="Montserrat"/>
              <a:cs typeface="Montserrat"/>
              <a:sym typeface="Montserrat"/>
            </a:endParaRPr>
          </a:p>
        </p:txBody>
      </p:sp>
      <p:sp>
        <p:nvSpPr>
          <p:cNvPr id="397" name="Google Shape;397;p28"/>
          <p:cNvSpPr/>
          <p:nvPr/>
        </p:nvSpPr>
        <p:spPr>
          <a:xfrm>
            <a:off x="1403750" y="1510600"/>
            <a:ext cx="4173000" cy="5211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cuadrado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lambda</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00E8C6"/>
                </a:solidFill>
                <a:highlight>
                  <a:srgbClr val="23262E"/>
                </a:highlight>
                <a:latin typeface="Consolas"/>
                <a:ea typeface="Consolas"/>
                <a:cs typeface="Consolas"/>
                <a:sym typeface="Consolas"/>
              </a:rPr>
              <a:t>x</a:t>
            </a:r>
            <a:r>
              <a:rPr b="0" i="0" lang="es" sz="1200" u="none" cap="none" strike="noStrike">
                <a:solidFill>
                  <a:srgbClr val="D5CED9"/>
                </a:solidFill>
                <a:highlight>
                  <a:srgbClr val="23262E"/>
                </a:highlight>
                <a:latin typeface="Consolas"/>
                <a:ea typeface="Consolas"/>
                <a:cs typeface="Consolas"/>
                <a:sym typeface="Consolas"/>
              </a:rPr>
              <a:t>: x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2</a:t>
            </a:r>
            <a:endParaRPr b="0" i="0" sz="1200" u="none" cap="none" strike="noStrike">
              <a:solidFill>
                <a:srgbClr val="F39C1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FE66D"/>
                </a:solidFill>
                <a:highlight>
                  <a:srgbClr val="23262E"/>
                </a:highlight>
                <a:latin typeface="Consolas"/>
                <a:ea typeface="Consolas"/>
                <a:cs typeface="Consolas"/>
                <a:sym typeface="Consolas"/>
              </a:rPr>
              <a:t>cuadrado</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4</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200"/>
              <a:buFont typeface="Consolas"/>
              <a:buNone/>
            </a:pPr>
            <a:r>
              <a:t/>
            </a:r>
            <a:endParaRPr b="0" i="0" sz="1200" u="none" cap="none" strike="noStrike">
              <a:solidFill>
                <a:srgbClr val="D5CED9"/>
              </a:solidFill>
              <a:latin typeface="Consolas"/>
              <a:ea typeface="Consolas"/>
              <a:cs typeface="Consolas"/>
              <a:sym typeface="Consolas"/>
            </a:endParaRPr>
          </a:p>
        </p:txBody>
      </p:sp>
      <p:sp>
        <p:nvSpPr>
          <p:cNvPr id="398" name="Google Shape;398;p28"/>
          <p:cNvSpPr/>
          <p:nvPr/>
        </p:nvSpPr>
        <p:spPr>
          <a:xfrm>
            <a:off x="1402125" y="1281700"/>
            <a:ext cx="41730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Ejemplo de función lambda</a:t>
            </a:r>
            <a:endParaRPr b="0" i="0" sz="1400" u="none" cap="none" strike="noStrike">
              <a:solidFill>
                <a:schemeClr val="dk2"/>
              </a:solidFill>
              <a:latin typeface="Montserrat"/>
              <a:ea typeface="Montserrat"/>
              <a:cs typeface="Montserrat"/>
              <a:sym typeface="Montserrat"/>
            </a:endParaRPr>
          </a:p>
        </p:txBody>
      </p:sp>
      <p:sp>
        <p:nvSpPr>
          <p:cNvPr id="399" name="Google Shape;399;p28"/>
          <p:cNvSpPr/>
          <p:nvPr/>
        </p:nvSpPr>
        <p:spPr>
          <a:xfrm>
            <a:off x="5757400" y="1513350"/>
            <a:ext cx="1998300" cy="5211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16</a:t>
            </a:r>
            <a:endParaRPr b="0" i="0" sz="14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200"/>
              <a:buFont typeface="Consolas"/>
              <a:buNone/>
            </a:pPr>
            <a:r>
              <a:t/>
            </a:r>
            <a:endParaRPr b="0" i="0" sz="1200" u="none" cap="none" strike="noStrike">
              <a:solidFill>
                <a:srgbClr val="D5CED9"/>
              </a:solidFill>
              <a:latin typeface="Consolas"/>
              <a:ea typeface="Consolas"/>
              <a:cs typeface="Consolas"/>
              <a:sym typeface="Consolas"/>
            </a:endParaRPr>
          </a:p>
        </p:txBody>
      </p:sp>
      <p:sp>
        <p:nvSpPr>
          <p:cNvPr id="400" name="Google Shape;400;p28"/>
          <p:cNvSpPr/>
          <p:nvPr/>
        </p:nvSpPr>
        <p:spPr>
          <a:xfrm>
            <a:off x="5757357" y="1281700"/>
            <a:ext cx="19983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
        <p:nvSpPr>
          <p:cNvPr id="401" name="Google Shape;401;p28"/>
          <p:cNvSpPr/>
          <p:nvPr/>
        </p:nvSpPr>
        <p:spPr>
          <a:xfrm>
            <a:off x="2490588" y="4217075"/>
            <a:ext cx="4173000" cy="3399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FFE66D"/>
                </a:solidFill>
                <a:latin typeface="Consolas"/>
                <a:ea typeface="Consolas"/>
                <a:cs typeface="Consolas"/>
                <a:sym typeface="Consolas"/>
              </a:rPr>
              <a:t>map</a:t>
            </a:r>
            <a:r>
              <a:rPr b="0" i="0" lang="es" sz="1200" u="none" cap="none" strike="noStrike">
                <a:solidFill>
                  <a:srgbClr val="D5CED9"/>
                </a:solidFill>
                <a:latin typeface="Consolas"/>
                <a:ea typeface="Consolas"/>
                <a:cs typeface="Consolas"/>
                <a:sym typeface="Consolas"/>
              </a:rPr>
              <a:t>(una_funcion, una_lista)</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200"/>
              <a:buFont typeface="Consolas"/>
              <a:buNone/>
            </a:pPr>
            <a:r>
              <a:t/>
            </a:r>
            <a:endParaRPr b="0" i="0" sz="1200" u="none" cap="none" strike="noStrike">
              <a:solidFill>
                <a:srgbClr val="D5CED9"/>
              </a:solidFill>
              <a:latin typeface="Consolas"/>
              <a:ea typeface="Consolas"/>
              <a:cs typeface="Consolas"/>
              <a:sym typeface="Consolas"/>
            </a:endParaRPr>
          </a:p>
        </p:txBody>
      </p:sp>
      <p:sp>
        <p:nvSpPr>
          <p:cNvPr id="402" name="Google Shape;402;p28"/>
          <p:cNvSpPr/>
          <p:nvPr/>
        </p:nvSpPr>
        <p:spPr>
          <a:xfrm>
            <a:off x="2488950" y="3988175"/>
            <a:ext cx="41730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Función map()</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29"/>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Funciones anónimas o lambda con map()</a:t>
            </a:r>
            <a:endParaRPr/>
          </a:p>
        </p:txBody>
      </p:sp>
      <p:sp>
        <p:nvSpPr>
          <p:cNvPr id="408" name="Google Shape;408;p29"/>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chemeClr val="dk1"/>
              </a:buClr>
              <a:buSzPts val="1100"/>
              <a:buFont typeface="Arial"/>
              <a:buNone/>
            </a:pPr>
            <a:r>
              <a:rPr b="0" i="0" lang="es" sz="1682" u="none" cap="none" strike="noStrike">
                <a:solidFill>
                  <a:srgbClr val="595959"/>
                </a:solidFill>
                <a:latin typeface="Montserrat"/>
                <a:ea typeface="Montserrat"/>
                <a:cs typeface="Montserrat"/>
                <a:sym typeface="Montserrat"/>
              </a:rPr>
              <a:t>Una función lambda combinada con otras funciones, como </a:t>
            </a:r>
            <a:r>
              <a:rPr b="1" i="0" lang="es" sz="1682" u="none" cap="none" strike="noStrike">
                <a:solidFill>
                  <a:srgbClr val="595959"/>
                </a:solidFill>
                <a:latin typeface="Montserrat"/>
                <a:ea typeface="Montserrat"/>
                <a:cs typeface="Montserrat"/>
                <a:sym typeface="Montserrat"/>
              </a:rPr>
              <a:t>map()</a:t>
            </a:r>
            <a:r>
              <a:rPr b="0" i="0" lang="es" sz="1682" u="none" cap="none" strike="noStrike">
                <a:solidFill>
                  <a:srgbClr val="595959"/>
                </a:solidFill>
                <a:latin typeface="Montserrat"/>
                <a:ea typeface="Montserrat"/>
                <a:cs typeface="Montserrat"/>
                <a:sym typeface="Montserrat"/>
              </a:rPr>
              <a:t>, adquiere más potencia.</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rgbClr val="595959"/>
              </a:solidFill>
              <a:latin typeface="Montserrat"/>
              <a:ea typeface="Montserrat"/>
              <a:cs typeface="Montserrat"/>
              <a:sym typeface="Montserrat"/>
            </a:endParaRPr>
          </a:p>
        </p:txBody>
      </p:sp>
      <p:sp>
        <p:nvSpPr>
          <p:cNvPr id="409" name="Google Shape;409;p29"/>
          <p:cNvSpPr/>
          <p:nvPr/>
        </p:nvSpPr>
        <p:spPr>
          <a:xfrm>
            <a:off x="1916475" y="2241025"/>
            <a:ext cx="5319600" cy="7902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enteros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1</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2</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4</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7</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cuadrados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list(</a:t>
            </a:r>
            <a:r>
              <a:rPr b="0" i="0" lang="es" sz="1200" u="none" cap="none" strike="noStrike">
                <a:solidFill>
                  <a:srgbClr val="FFE66D"/>
                </a:solidFill>
                <a:highlight>
                  <a:srgbClr val="23262E"/>
                </a:highlight>
                <a:latin typeface="Consolas"/>
                <a:ea typeface="Consolas"/>
                <a:cs typeface="Consolas"/>
                <a:sym typeface="Consolas"/>
              </a:rPr>
              <a:t>map</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C74DED"/>
                </a:solidFill>
                <a:highlight>
                  <a:srgbClr val="23262E"/>
                </a:highlight>
                <a:latin typeface="Consolas"/>
                <a:ea typeface="Consolas"/>
                <a:cs typeface="Consolas"/>
                <a:sym typeface="Consolas"/>
              </a:rPr>
              <a:t>lambda</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00E8C6"/>
                </a:solidFill>
                <a:highlight>
                  <a:srgbClr val="23262E"/>
                </a:highlight>
                <a:latin typeface="Consolas"/>
                <a:ea typeface="Consolas"/>
                <a:cs typeface="Consolas"/>
                <a:sym typeface="Consolas"/>
              </a:rPr>
              <a:t>x</a:t>
            </a:r>
            <a:r>
              <a:rPr b="0" i="0" lang="es" sz="1200" u="none" cap="none" strike="noStrike">
                <a:solidFill>
                  <a:srgbClr val="D5CED9"/>
                </a:solidFill>
                <a:highlight>
                  <a:srgbClr val="23262E"/>
                </a:highlight>
                <a:latin typeface="Consolas"/>
                <a:ea typeface="Consolas"/>
                <a:cs typeface="Consolas"/>
                <a:sym typeface="Consolas"/>
              </a:rPr>
              <a:t> : x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2</a:t>
            </a:r>
            <a:r>
              <a:rPr b="0" i="0" lang="es" sz="1200" u="none" cap="none" strike="noStrike">
                <a:solidFill>
                  <a:srgbClr val="D5CED9"/>
                </a:solidFill>
                <a:highlight>
                  <a:srgbClr val="23262E"/>
                </a:highlight>
                <a:latin typeface="Consolas"/>
                <a:ea typeface="Consolas"/>
                <a:cs typeface="Consolas"/>
                <a:sym typeface="Consolas"/>
              </a:rPr>
              <a:t>, enteros))</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(cuadrados) </a:t>
            </a:r>
            <a:r>
              <a:rPr b="0" i="0" lang="es" sz="1200" u="none" cap="none" strike="noStrike">
                <a:solidFill>
                  <a:srgbClr val="5F6167"/>
                </a:solidFill>
                <a:highlight>
                  <a:srgbClr val="23262E"/>
                </a:highlight>
                <a:latin typeface="Consolas"/>
                <a:ea typeface="Consolas"/>
                <a:cs typeface="Consolas"/>
                <a:sym typeface="Consolas"/>
              </a:rPr>
              <a:t># [1, 4, 16, 49]</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FFE66D"/>
              </a:buClr>
              <a:buSzPts val="1400"/>
              <a:buFont typeface="Consolas"/>
              <a:buNone/>
            </a:pPr>
            <a:r>
              <a:t/>
            </a:r>
            <a:endParaRPr b="0" i="0" sz="1200" u="none" cap="none" strike="noStrike">
              <a:solidFill>
                <a:srgbClr val="D5CED9"/>
              </a:solidFill>
              <a:latin typeface="Consolas"/>
              <a:ea typeface="Consolas"/>
              <a:cs typeface="Consolas"/>
              <a:sym typeface="Consolas"/>
            </a:endParaRPr>
          </a:p>
        </p:txBody>
      </p:sp>
      <p:sp>
        <p:nvSpPr>
          <p:cNvPr id="410" name="Google Shape;410;p29"/>
          <p:cNvSpPr/>
          <p:nvPr/>
        </p:nvSpPr>
        <p:spPr>
          <a:xfrm>
            <a:off x="1916475" y="2012125"/>
            <a:ext cx="53196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Función lambda con map()</a:t>
            </a:r>
            <a:endParaRPr b="0" i="0" sz="1400" u="none" cap="none" strike="noStrike">
              <a:solidFill>
                <a:schemeClr val="dk2"/>
              </a:solidFill>
              <a:latin typeface="Montserrat"/>
              <a:ea typeface="Montserrat"/>
              <a:cs typeface="Montserrat"/>
              <a:sym typeface="Montserrat"/>
            </a:endParaRPr>
          </a:p>
        </p:txBody>
      </p:sp>
      <p:sp>
        <p:nvSpPr>
          <p:cNvPr id="411" name="Google Shape;411;p29"/>
          <p:cNvSpPr txBox="1"/>
          <p:nvPr/>
        </p:nvSpPr>
        <p:spPr>
          <a:xfrm>
            <a:off x="436425" y="3031225"/>
            <a:ext cx="8279700" cy="1454100"/>
          </a:xfrm>
          <a:prstGeom prst="rect">
            <a:avLst/>
          </a:prstGeom>
          <a:noFill/>
          <a:ln>
            <a:noFill/>
          </a:ln>
        </p:spPr>
        <p:txBody>
          <a:bodyPr anchorCtr="0" anchor="t" bIns="91425" lIns="0" spcFirstLastPara="1" rIns="0" wrap="square" tIns="91425">
            <a:noAutofit/>
          </a:bodyPr>
          <a:lstStyle/>
          <a:p>
            <a:pPr indent="0" lvl="0" marL="0" marR="0" rtl="0" algn="l">
              <a:lnSpc>
                <a:spcPct val="100000"/>
              </a:lnSpc>
              <a:spcBef>
                <a:spcPts val="0"/>
              </a:spcBef>
              <a:spcAft>
                <a:spcPts val="0"/>
              </a:spcAft>
              <a:buClr>
                <a:srgbClr val="000000"/>
              </a:buClr>
              <a:buSzPts val="1650"/>
              <a:buFont typeface="Arial"/>
              <a:buNone/>
            </a:pPr>
            <a:r>
              <a:rPr b="0" i="0" lang="es" sz="1650" u="none" cap="none" strike="noStrike">
                <a:solidFill>
                  <a:schemeClr val="dk2"/>
                </a:solidFill>
                <a:latin typeface="Montserrat"/>
                <a:ea typeface="Montserrat"/>
                <a:cs typeface="Montserrat"/>
                <a:sym typeface="Montserrat"/>
              </a:rPr>
              <a:t>En el código anterior se define una lista, y luego se utiliza </a:t>
            </a:r>
            <a:r>
              <a:rPr b="1" i="0" lang="es" sz="1650" u="none" cap="none" strike="noStrike">
                <a:solidFill>
                  <a:schemeClr val="dk2"/>
                </a:solidFill>
                <a:latin typeface="Montserrat"/>
                <a:ea typeface="Montserrat"/>
                <a:cs typeface="Montserrat"/>
                <a:sym typeface="Montserrat"/>
              </a:rPr>
              <a:t>map()</a:t>
            </a:r>
            <a:r>
              <a:rPr b="0" i="0" lang="es" sz="1650" u="none" cap="none" strike="noStrike">
                <a:solidFill>
                  <a:schemeClr val="dk2"/>
                </a:solidFill>
                <a:latin typeface="Montserrat"/>
                <a:ea typeface="Montserrat"/>
                <a:cs typeface="Montserrat"/>
                <a:sym typeface="Montserrat"/>
              </a:rPr>
              <a:t> para aplicar una </a:t>
            </a:r>
            <a:r>
              <a:rPr b="1" i="0" lang="es" sz="1650" u="none" cap="none" strike="noStrike">
                <a:solidFill>
                  <a:schemeClr val="dk2"/>
                </a:solidFill>
                <a:latin typeface="Montserrat"/>
                <a:ea typeface="Montserrat"/>
                <a:cs typeface="Montserrat"/>
                <a:sym typeface="Montserrat"/>
              </a:rPr>
              <a:t>función lambda </a:t>
            </a:r>
            <a:r>
              <a:rPr b="0" i="0" lang="es" sz="1650" u="none" cap="none" strike="noStrike">
                <a:solidFill>
                  <a:schemeClr val="dk2"/>
                </a:solidFill>
                <a:latin typeface="Montserrat"/>
                <a:ea typeface="Montserrat"/>
                <a:cs typeface="Montserrat"/>
                <a:sym typeface="Montserrat"/>
              </a:rPr>
              <a:t>a cada uno de sus elementos. Esto da como resultado una nueva lista, que se almacena en </a:t>
            </a:r>
            <a:r>
              <a:rPr b="0" i="1" lang="es" sz="1650" u="none" cap="none" strike="noStrike">
                <a:solidFill>
                  <a:schemeClr val="dk2"/>
                </a:solidFill>
                <a:latin typeface="Montserrat"/>
                <a:ea typeface="Montserrat"/>
                <a:cs typeface="Montserrat"/>
                <a:sym typeface="Montserrat"/>
              </a:rPr>
              <a:t>cuadrados</a:t>
            </a:r>
            <a:r>
              <a:rPr b="0" i="0" lang="es" sz="1650" u="none" cap="none" strike="noStrike">
                <a:solidFill>
                  <a:schemeClr val="dk2"/>
                </a:solidFill>
                <a:latin typeface="Montserrat"/>
                <a:ea typeface="Montserrat"/>
                <a:cs typeface="Montserrat"/>
                <a:sym typeface="Montserrat"/>
              </a:rPr>
              <a:t>.</a:t>
            </a:r>
            <a:endParaRPr b="0" i="0" sz="165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50"/>
              <a:buFont typeface="Arial"/>
              <a:buNone/>
            </a:pPr>
            <a:r>
              <a:rPr b="0" i="0" lang="es" sz="1650" u="none" cap="none" strike="noStrike">
                <a:solidFill>
                  <a:schemeClr val="dk2"/>
                </a:solidFill>
                <a:latin typeface="Montserrat"/>
                <a:ea typeface="Montserrat"/>
                <a:cs typeface="Montserrat"/>
                <a:sym typeface="Montserrat"/>
              </a:rPr>
              <a:t>La ventaja de usar map() es la simplicidad con la que se puede hacer esto, sin usar bucles ni otra estructura accesoria.</a:t>
            </a:r>
            <a:endParaRPr b="0" i="0" sz="1650"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30"/>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Funciones anónimas o lambda con map()</a:t>
            </a:r>
            <a:endParaRPr/>
          </a:p>
        </p:txBody>
      </p:sp>
      <p:sp>
        <p:nvSpPr>
          <p:cNvPr id="417" name="Google Shape;417;p30"/>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chemeClr val="dk1"/>
              </a:buClr>
              <a:buSzPts val="1100"/>
              <a:buFont typeface="Arial"/>
              <a:buNone/>
            </a:pPr>
            <a:r>
              <a:rPr b="0" i="0" lang="es" sz="1682" u="none" cap="none" strike="noStrike">
                <a:solidFill>
                  <a:srgbClr val="595959"/>
                </a:solidFill>
                <a:latin typeface="Montserrat"/>
                <a:ea typeface="Montserrat"/>
                <a:cs typeface="Montserrat"/>
                <a:sym typeface="Montserrat"/>
              </a:rPr>
              <a:t>Un ejemplo más interesante es, en lugar de pasar una lista de valores, pasamos como segundo parámetro una lista de funciones:</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chemeClr val="dk1"/>
              </a:buClr>
              <a:buSzPts val="1100"/>
              <a:buFont typeface="Arial"/>
              <a:buNone/>
            </a:pPr>
            <a:r>
              <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chemeClr val="dk1"/>
              </a:buClr>
              <a:buSzPts val="1100"/>
              <a:buFont typeface="Arial"/>
              <a:buNone/>
            </a:pPr>
            <a:r>
              <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rgbClr val="595959"/>
              </a:solidFill>
              <a:latin typeface="Montserrat"/>
              <a:ea typeface="Montserrat"/>
              <a:cs typeface="Montserrat"/>
              <a:sym typeface="Montserrat"/>
            </a:endParaRPr>
          </a:p>
        </p:txBody>
      </p:sp>
      <p:sp>
        <p:nvSpPr>
          <p:cNvPr id="418" name="Google Shape;418;p30"/>
          <p:cNvSpPr/>
          <p:nvPr/>
        </p:nvSpPr>
        <p:spPr>
          <a:xfrm>
            <a:off x="833288" y="2248175"/>
            <a:ext cx="5319600" cy="21585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cuadrado</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x</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return</a:t>
            </a:r>
            <a:r>
              <a:rPr b="0" i="0" lang="es" sz="1200" u="none" cap="none" strike="noStrike">
                <a:solidFill>
                  <a:srgbClr val="D5CED9"/>
                </a:solidFill>
                <a:highlight>
                  <a:srgbClr val="23262E"/>
                </a:highlight>
                <a:latin typeface="Consolas"/>
                <a:ea typeface="Consolas"/>
                <a:cs typeface="Consolas"/>
                <a:sym typeface="Consolas"/>
              </a:rPr>
              <a:t> x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2</a:t>
            </a:r>
            <a:endParaRPr b="0" i="0" sz="1200" u="none" cap="none" strike="noStrike">
              <a:solidFill>
                <a:srgbClr val="F39C1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F39C1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cubo</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x</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return</a:t>
            </a:r>
            <a:r>
              <a:rPr b="0" i="0" lang="es" sz="1200" u="none" cap="none" strike="noStrike">
                <a:solidFill>
                  <a:srgbClr val="D5CED9"/>
                </a:solidFill>
                <a:highlight>
                  <a:srgbClr val="23262E"/>
                </a:highlight>
                <a:latin typeface="Consolas"/>
                <a:ea typeface="Consolas"/>
                <a:cs typeface="Consolas"/>
                <a:sym typeface="Consolas"/>
              </a:rPr>
              <a:t> x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3</a:t>
            </a:r>
            <a:endParaRPr b="0" i="0" sz="1200" u="none" cap="none" strike="noStrike">
              <a:solidFill>
                <a:srgbClr val="F39C1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enteros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1</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2</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4</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7</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funciones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[cuadrado, cubo]</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for</a:t>
            </a:r>
            <a:r>
              <a:rPr b="0" i="0" lang="es" sz="1200" u="none" cap="none" strike="noStrike">
                <a:solidFill>
                  <a:srgbClr val="D5CED9"/>
                </a:solidFill>
                <a:highlight>
                  <a:srgbClr val="23262E"/>
                </a:highlight>
                <a:latin typeface="Consolas"/>
                <a:ea typeface="Consolas"/>
                <a:cs typeface="Consolas"/>
                <a:sym typeface="Consolas"/>
              </a:rPr>
              <a:t> e </a:t>
            </a:r>
            <a:r>
              <a:rPr b="0" i="0" lang="es" sz="1200" u="none" cap="none" strike="noStrike">
                <a:solidFill>
                  <a:srgbClr val="C74DED"/>
                </a:solidFill>
                <a:highlight>
                  <a:srgbClr val="23262E"/>
                </a:highlight>
                <a:latin typeface="Consolas"/>
                <a:ea typeface="Consolas"/>
                <a:cs typeface="Consolas"/>
                <a:sym typeface="Consolas"/>
              </a:rPr>
              <a:t>in</a:t>
            </a:r>
            <a:r>
              <a:rPr b="0" i="0" lang="es" sz="1200" u="none" cap="none" strike="noStrike">
                <a:solidFill>
                  <a:srgbClr val="D5CED9"/>
                </a:solidFill>
                <a:highlight>
                  <a:srgbClr val="23262E"/>
                </a:highlight>
                <a:latin typeface="Consolas"/>
                <a:ea typeface="Consolas"/>
                <a:cs typeface="Consolas"/>
                <a:sym typeface="Consolas"/>
              </a:rPr>
              <a:t> enteros:</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valores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list(</a:t>
            </a:r>
            <a:r>
              <a:rPr b="0" i="0" lang="es" sz="1200" u="none" cap="none" strike="noStrike">
                <a:solidFill>
                  <a:srgbClr val="FFE66D"/>
                </a:solidFill>
                <a:highlight>
                  <a:srgbClr val="23262E"/>
                </a:highlight>
                <a:latin typeface="Consolas"/>
                <a:ea typeface="Consolas"/>
                <a:cs typeface="Consolas"/>
                <a:sym typeface="Consolas"/>
              </a:rPr>
              <a:t>map</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C74DED"/>
                </a:solidFill>
                <a:highlight>
                  <a:srgbClr val="23262E"/>
                </a:highlight>
                <a:latin typeface="Consolas"/>
                <a:ea typeface="Consolas"/>
                <a:cs typeface="Consolas"/>
                <a:sym typeface="Consolas"/>
              </a:rPr>
              <a:t>lambda</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00E8C6"/>
                </a:solidFill>
                <a:highlight>
                  <a:srgbClr val="23262E"/>
                </a:highlight>
                <a:latin typeface="Consolas"/>
                <a:ea typeface="Consolas"/>
                <a:cs typeface="Consolas"/>
                <a:sym typeface="Consolas"/>
              </a:rPr>
              <a:t>x</a:t>
            </a:r>
            <a:r>
              <a:rPr b="0" i="0" lang="es" sz="1200" u="none" cap="none" strike="noStrike">
                <a:solidFill>
                  <a:srgbClr val="D5CED9"/>
                </a:solidFill>
                <a:highlight>
                  <a:srgbClr val="23262E"/>
                </a:highlight>
                <a:latin typeface="Consolas"/>
                <a:ea typeface="Consolas"/>
                <a:cs typeface="Consolas"/>
                <a:sym typeface="Consolas"/>
              </a:rPr>
              <a:t> : </a:t>
            </a:r>
            <a:r>
              <a:rPr b="0" i="0" lang="es" sz="1200" u="none" cap="none" strike="noStrike">
                <a:solidFill>
                  <a:srgbClr val="FFE66D"/>
                </a:solidFill>
                <a:highlight>
                  <a:srgbClr val="23262E"/>
                </a:highlight>
                <a:latin typeface="Consolas"/>
                <a:ea typeface="Consolas"/>
                <a:cs typeface="Consolas"/>
                <a:sym typeface="Consolas"/>
              </a:rPr>
              <a:t>x</a:t>
            </a:r>
            <a:r>
              <a:rPr b="0" i="0" lang="es" sz="1200" u="none" cap="none" strike="noStrike">
                <a:solidFill>
                  <a:srgbClr val="D5CED9"/>
                </a:solidFill>
                <a:highlight>
                  <a:srgbClr val="23262E"/>
                </a:highlight>
                <a:latin typeface="Consolas"/>
                <a:ea typeface="Consolas"/>
                <a:cs typeface="Consolas"/>
                <a:sym typeface="Consolas"/>
              </a:rPr>
              <a:t>(e), funciones))</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(valores)</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FFE66D"/>
              </a:buClr>
              <a:buSzPts val="1400"/>
              <a:buFont typeface="Consolas"/>
              <a:buNone/>
            </a:pPr>
            <a:r>
              <a:t/>
            </a:r>
            <a:endParaRPr b="0" i="0" sz="1200" u="none" cap="none" strike="noStrike">
              <a:solidFill>
                <a:srgbClr val="D5CED9"/>
              </a:solidFill>
              <a:highlight>
                <a:srgbClr val="23262E"/>
              </a:highlight>
              <a:latin typeface="Consolas"/>
              <a:ea typeface="Consolas"/>
              <a:cs typeface="Consolas"/>
              <a:sym typeface="Consolas"/>
            </a:endParaRPr>
          </a:p>
        </p:txBody>
      </p:sp>
      <p:sp>
        <p:nvSpPr>
          <p:cNvPr id="419" name="Google Shape;419;p30"/>
          <p:cNvSpPr/>
          <p:nvPr/>
        </p:nvSpPr>
        <p:spPr>
          <a:xfrm>
            <a:off x="833288" y="2019275"/>
            <a:ext cx="53196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Función lambda con map()</a:t>
            </a:r>
            <a:endParaRPr b="0" i="0" sz="1400" u="none" cap="none" strike="noStrike">
              <a:solidFill>
                <a:schemeClr val="dk2"/>
              </a:solidFill>
              <a:latin typeface="Montserrat"/>
              <a:ea typeface="Montserrat"/>
              <a:cs typeface="Montserrat"/>
              <a:sym typeface="Montserrat"/>
            </a:endParaRPr>
          </a:p>
        </p:txBody>
      </p:sp>
      <p:sp>
        <p:nvSpPr>
          <p:cNvPr id="420" name="Google Shape;420;p30"/>
          <p:cNvSpPr/>
          <p:nvPr/>
        </p:nvSpPr>
        <p:spPr>
          <a:xfrm>
            <a:off x="6312413" y="2250925"/>
            <a:ext cx="1998300" cy="21585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[1, 1]</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[4, 8]</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[16, 64]</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[49, 343]</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200"/>
              <a:buFont typeface="Consolas"/>
              <a:buNone/>
            </a:pPr>
            <a:r>
              <a:t/>
            </a:r>
            <a:endParaRPr b="0" i="0" sz="1200" u="none" cap="none" strike="noStrike">
              <a:solidFill>
                <a:srgbClr val="D5CED9"/>
              </a:solidFill>
              <a:latin typeface="Consolas"/>
              <a:ea typeface="Consolas"/>
              <a:cs typeface="Consolas"/>
              <a:sym typeface="Consolas"/>
            </a:endParaRPr>
          </a:p>
        </p:txBody>
      </p:sp>
      <p:sp>
        <p:nvSpPr>
          <p:cNvPr id="421" name="Google Shape;421;p30"/>
          <p:cNvSpPr/>
          <p:nvPr/>
        </p:nvSpPr>
        <p:spPr>
          <a:xfrm>
            <a:off x="6312369" y="2019275"/>
            <a:ext cx="19983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31"/>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Docstrings | Documentar funciones</a:t>
            </a:r>
            <a:endParaRPr/>
          </a:p>
        </p:txBody>
      </p:sp>
      <p:sp>
        <p:nvSpPr>
          <p:cNvPr id="427" name="Google Shape;427;p31"/>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chemeClr val="dk1"/>
              </a:buClr>
              <a:buSzPts val="1100"/>
              <a:buFont typeface="Arial"/>
              <a:buNone/>
            </a:pPr>
            <a:r>
              <a:rPr b="0" i="0" lang="es" sz="1682" u="none" cap="none" strike="noStrike">
                <a:solidFill>
                  <a:srgbClr val="595959"/>
                </a:solidFill>
                <a:latin typeface="Montserrat"/>
                <a:ea typeface="Montserrat"/>
                <a:cs typeface="Montserrat"/>
                <a:sym typeface="Montserrat"/>
              </a:rPr>
              <a:t>Los comentarios  delimitados por triples</a:t>
            </a:r>
            <a:r>
              <a:rPr b="0" i="0" lang="es" sz="1682" u="none" cap="none" strike="noStrike">
                <a:solidFill>
                  <a:schemeClr val="dk2"/>
                </a:solidFill>
                <a:latin typeface="Montserrat"/>
                <a:ea typeface="Montserrat"/>
                <a:cs typeface="Montserrat"/>
                <a:sym typeface="Montserrat"/>
              </a:rPr>
              <a:t> comillas dobles sirven </a:t>
            </a:r>
            <a:r>
              <a:rPr b="0" i="0" lang="es" sz="1682" u="none" cap="none" strike="noStrike">
                <a:solidFill>
                  <a:srgbClr val="595959"/>
                </a:solidFill>
                <a:latin typeface="Montserrat"/>
                <a:ea typeface="Montserrat"/>
                <a:cs typeface="Montserrat"/>
                <a:sym typeface="Montserrat"/>
              </a:rPr>
              <a:t>para </a:t>
            </a:r>
            <a:r>
              <a:rPr b="1" i="0" lang="es" sz="1682" u="none" cap="none" strike="noStrike">
                <a:solidFill>
                  <a:srgbClr val="595959"/>
                </a:solidFill>
                <a:latin typeface="Montserrat"/>
                <a:ea typeface="Montserrat"/>
                <a:cs typeface="Montserrat"/>
                <a:sym typeface="Montserrat"/>
              </a:rPr>
              <a:t>documentar funciones</a:t>
            </a:r>
            <a:r>
              <a:rPr b="0" i="0" lang="es" sz="1682" u="none" cap="none" strike="noStrike">
                <a:solidFill>
                  <a:srgbClr val="595959"/>
                </a:solidFill>
                <a:latin typeface="Montserrat"/>
                <a:ea typeface="Montserrat"/>
                <a:cs typeface="Montserrat"/>
                <a:sym typeface="Montserrat"/>
              </a:rPr>
              <a:t> o bloques de código. Son la primera sentencia de cada uno de ellos. </a:t>
            </a:r>
            <a:r>
              <a:rPr b="0" i="0" lang="es" sz="1682" u="sng" cap="none" strike="noStrike">
                <a:solidFill>
                  <a:schemeClr val="hlink"/>
                </a:solidFill>
                <a:latin typeface="Montserrat"/>
                <a:ea typeface="Montserrat"/>
                <a:cs typeface="Montserrat"/>
                <a:sym typeface="Montserrat"/>
                <a:hlinkClick r:id="rId3"/>
              </a:rPr>
              <a:t>+info</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chemeClr val="dk1"/>
              </a:buClr>
              <a:buSzPts val="1100"/>
              <a:buFont typeface="Arial"/>
              <a:buNone/>
            </a:pPr>
            <a:r>
              <a:rPr b="0" i="0" lang="es" sz="1682" u="none" cap="none" strike="noStrike">
                <a:solidFill>
                  <a:srgbClr val="595959"/>
                </a:solidFill>
                <a:latin typeface="Montserrat"/>
                <a:ea typeface="Montserrat"/>
                <a:cs typeface="Montserrat"/>
                <a:sym typeface="Montserrat"/>
              </a:rPr>
              <a:t>Todos los módulos deberían tener </a:t>
            </a:r>
            <a:r>
              <a:rPr b="1" i="0" lang="es" sz="1682" u="none" cap="none" strike="noStrike">
                <a:solidFill>
                  <a:srgbClr val="595959"/>
                </a:solidFill>
                <a:latin typeface="Montserrat"/>
                <a:ea typeface="Montserrat"/>
                <a:cs typeface="Montserrat"/>
                <a:sym typeface="Montserrat"/>
              </a:rPr>
              <a:t>docstrings</a:t>
            </a:r>
            <a:r>
              <a:rPr b="0" i="0" lang="es" sz="1682" u="none" cap="none" strike="noStrike">
                <a:solidFill>
                  <a:srgbClr val="595959"/>
                </a:solidFill>
                <a:latin typeface="Montserrat"/>
                <a:ea typeface="Montserrat"/>
                <a:cs typeface="Montserrat"/>
                <a:sym typeface="Montserrat"/>
              </a:rPr>
              <a:t>, y todas las funciones y clases exportadas por un módulo también deberían tenerlos. En los objetos, veremos que el </a:t>
            </a:r>
            <a:r>
              <a:rPr b="1" i="0" lang="es" sz="1682" u="none" cap="none" strike="noStrike">
                <a:solidFill>
                  <a:srgbClr val="595959"/>
                </a:solidFill>
                <a:latin typeface="Montserrat"/>
                <a:ea typeface="Montserrat"/>
                <a:cs typeface="Montserrat"/>
                <a:sym typeface="Montserrat"/>
              </a:rPr>
              <a:t>docstring</a:t>
            </a:r>
            <a:r>
              <a:rPr b="0" i="0" lang="es" sz="1682" u="none" cap="none" strike="noStrike">
                <a:solidFill>
                  <a:srgbClr val="595959"/>
                </a:solidFill>
                <a:latin typeface="Montserrat"/>
                <a:ea typeface="Montserrat"/>
                <a:cs typeface="Montserrat"/>
                <a:sym typeface="Montserrat"/>
              </a:rPr>
              <a:t> se convierte en el atributo especial __doc__.</a:t>
            </a:r>
            <a:endParaRPr b="0" i="0" sz="1682" u="none" cap="none" strike="noStrike">
              <a:solidFill>
                <a:srgbClr val="595959"/>
              </a:solidFill>
              <a:latin typeface="Montserrat"/>
              <a:ea typeface="Montserrat"/>
              <a:cs typeface="Montserrat"/>
              <a:sym typeface="Montserrat"/>
            </a:endParaRPr>
          </a:p>
        </p:txBody>
      </p:sp>
      <p:sp>
        <p:nvSpPr>
          <p:cNvPr id="428" name="Google Shape;428;p31"/>
          <p:cNvSpPr/>
          <p:nvPr/>
        </p:nvSpPr>
        <p:spPr>
          <a:xfrm>
            <a:off x="1458300" y="3593050"/>
            <a:ext cx="6210000" cy="7902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C74DED"/>
                </a:solidFill>
                <a:latin typeface="Consolas"/>
                <a:ea typeface="Consolas"/>
                <a:cs typeface="Consolas"/>
                <a:sym typeface="Consolas"/>
              </a:rPr>
              <a:t>def</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FE66D"/>
                </a:solidFill>
                <a:latin typeface="Consolas"/>
                <a:ea typeface="Consolas"/>
                <a:cs typeface="Consolas"/>
                <a:sym typeface="Consolas"/>
              </a:rPr>
              <a:t>suma</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00E8C6"/>
                </a:solidFill>
                <a:latin typeface="Consolas"/>
                <a:ea typeface="Consolas"/>
                <a:cs typeface="Consolas"/>
                <a:sym typeface="Consolas"/>
              </a:rPr>
              <a:t>a</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00E8C6"/>
                </a:solidFill>
                <a:latin typeface="Consolas"/>
                <a:ea typeface="Consolas"/>
                <a:cs typeface="Consolas"/>
                <a:sym typeface="Consolas"/>
              </a:rPr>
              <a:t>b</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96E072"/>
                </a:solidFill>
                <a:latin typeface="Consolas"/>
                <a:ea typeface="Consolas"/>
                <a:cs typeface="Consolas"/>
                <a:sym typeface="Consolas"/>
              </a:rPr>
              <a:t>"""Esta función devuelve la suma de los parámetros a y b"""</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C74DED"/>
                </a:solidFill>
                <a:latin typeface="Consolas"/>
                <a:ea typeface="Consolas"/>
                <a:cs typeface="Consolas"/>
                <a:sym typeface="Consolas"/>
              </a:rPr>
              <a:t>return</a:t>
            </a:r>
            <a:r>
              <a:rPr b="0" i="0" lang="es" sz="1200" u="none" cap="none" strike="noStrike">
                <a:solidFill>
                  <a:srgbClr val="D5CED9"/>
                </a:solidFill>
                <a:latin typeface="Consolas"/>
                <a:ea typeface="Consolas"/>
                <a:cs typeface="Consolas"/>
                <a:sym typeface="Consolas"/>
              </a:rPr>
              <a:t> a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b</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FFE66D"/>
              </a:buClr>
              <a:buSzPts val="1400"/>
              <a:buFont typeface="Consolas"/>
              <a:buNone/>
            </a:pPr>
            <a:r>
              <a:t/>
            </a:r>
            <a:endParaRPr b="0" i="0" sz="1200" u="none" cap="none" strike="noStrike">
              <a:solidFill>
                <a:srgbClr val="D5CED9"/>
              </a:solidFill>
              <a:latin typeface="Consolas"/>
              <a:ea typeface="Consolas"/>
              <a:cs typeface="Consolas"/>
              <a:sym typeface="Consolas"/>
            </a:endParaRPr>
          </a:p>
        </p:txBody>
      </p:sp>
      <p:sp>
        <p:nvSpPr>
          <p:cNvPr id="429" name="Google Shape;429;p31"/>
          <p:cNvSpPr/>
          <p:nvPr/>
        </p:nvSpPr>
        <p:spPr>
          <a:xfrm>
            <a:off x="1458300" y="3364150"/>
            <a:ext cx="62100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Función documentada con docstring</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32"/>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Docstrings | Documentar funciones</a:t>
            </a:r>
            <a:endParaRPr/>
          </a:p>
        </p:txBody>
      </p:sp>
      <p:sp>
        <p:nvSpPr>
          <p:cNvPr id="435" name="Google Shape;435;p32"/>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chemeClr val="dk1"/>
              </a:buClr>
              <a:buSzPts val="1100"/>
              <a:buFont typeface="Arial"/>
              <a:buNone/>
            </a:pPr>
            <a:r>
              <a:rPr b="0" i="0" lang="es" sz="1682" u="none" cap="none" strike="noStrike">
                <a:solidFill>
                  <a:srgbClr val="595959"/>
                </a:solidFill>
                <a:latin typeface="Montserrat"/>
                <a:ea typeface="Montserrat"/>
                <a:cs typeface="Montserrat"/>
                <a:sym typeface="Montserrat"/>
              </a:rPr>
              <a:t>El siguiente es un ejemplo real de documentación mediante </a:t>
            </a:r>
            <a:r>
              <a:rPr b="1" i="0" lang="es" sz="1682" u="none" cap="none" strike="noStrike">
                <a:solidFill>
                  <a:srgbClr val="595959"/>
                </a:solidFill>
                <a:latin typeface="Montserrat"/>
                <a:ea typeface="Montserrat"/>
                <a:cs typeface="Montserrat"/>
                <a:sym typeface="Montserrat"/>
              </a:rPr>
              <a:t>docstrings</a:t>
            </a:r>
            <a:r>
              <a:rPr b="0" i="0" lang="es" sz="1682" u="none" cap="none" strike="noStrike">
                <a:solidFill>
                  <a:srgbClr val="595959"/>
                </a:solidFill>
                <a:latin typeface="Montserrat"/>
                <a:ea typeface="Montserrat"/>
                <a:cs typeface="Montserrat"/>
                <a:sym typeface="Montserrat"/>
              </a:rPr>
              <a:t>:</a:t>
            </a:r>
            <a:endParaRPr b="0" i="0" sz="1682" u="none" cap="none" strike="noStrike">
              <a:solidFill>
                <a:srgbClr val="595959"/>
              </a:solidFill>
              <a:latin typeface="Montserrat"/>
              <a:ea typeface="Montserrat"/>
              <a:cs typeface="Montserrat"/>
              <a:sym typeface="Montserrat"/>
            </a:endParaRPr>
          </a:p>
        </p:txBody>
      </p:sp>
      <p:sp>
        <p:nvSpPr>
          <p:cNvPr id="436" name="Google Shape;436;p32"/>
          <p:cNvSpPr/>
          <p:nvPr/>
        </p:nvSpPr>
        <p:spPr>
          <a:xfrm>
            <a:off x="1848000" y="1983475"/>
            <a:ext cx="5430600" cy="24732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C74DED"/>
                </a:solidFill>
                <a:latin typeface="Consolas"/>
                <a:ea typeface="Consolas"/>
                <a:cs typeface="Consolas"/>
                <a:sym typeface="Consolas"/>
              </a:rPr>
              <a:t>def</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FE66D"/>
                </a:solidFill>
                <a:latin typeface="Consolas"/>
                <a:ea typeface="Consolas"/>
                <a:cs typeface="Consolas"/>
                <a:sym typeface="Consolas"/>
              </a:rPr>
              <a:t>cuad</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00E8C6"/>
                </a:solidFill>
                <a:latin typeface="Consolas"/>
                <a:ea typeface="Consolas"/>
                <a:cs typeface="Consolas"/>
                <a:sym typeface="Consolas"/>
              </a:rPr>
              <a:t>x</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96E072"/>
                </a:solidFill>
                <a:latin typeface="Consolas"/>
                <a:ea typeface="Consolas"/>
                <a:cs typeface="Consolas"/>
                <a:sym typeface="Consolas"/>
              </a:rPr>
              <a:t>"""Dado un número x, calcula x²"""</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C74DED"/>
                </a:solidFill>
                <a:latin typeface="Consolas"/>
                <a:ea typeface="Consolas"/>
                <a:cs typeface="Consolas"/>
                <a:sym typeface="Consolas"/>
              </a:rPr>
              <a:t>return</a:t>
            </a:r>
            <a:r>
              <a:rPr b="0" i="0" lang="es" sz="1200" u="none" cap="none" strike="noStrike">
                <a:solidFill>
                  <a:srgbClr val="D5CED9"/>
                </a:solidFill>
                <a:latin typeface="Consolas"/>
                <a:ea typeface="Consolas"/>
                <a:cs typeface="Consolas"/>
                <a:sym typeface="Consolas"/>
              </a:rPr>
              <a:t> x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x </a:t>
            </a:r>
            <a:r>
              <a:rPr b="0" i="0" lang="es" sz="1200" u="none" cap="none" strike="noStrike">
                <a:solidFill>
                  <a:srgbClr val="5F6167"/>
                </a:solidFill>
                <a:latin typeface="Consolas"/>
                <a:ea typeface="Consolas"/>
                <a:cs typeface="Consolas"/>
                <a:sym typeface="Consolas"/>
              </a:rPr>
              <a:t># También podríamos haber hecho x ** 2</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br>
              <a:rPr b="0" i="0" lang="es" sz="1200" u="none" cap="none" strike="noStrike">
                <a:solidFill>
                  <a:srgbClr val="D5CED9"/>
                </a:solidFill>
                <a:latin typeface="Consolas"/>
                <a:ea typeface="Consolas"/>
                <a:cs typeface="Consolas"/>
                <a:sym typeface="Consolas"/>
              </a:rPr>
            </a:br>
            <a:r>
              <a:rPr b="0" i="0" lang="es" sz="1200" u="none" cap="none" strike="noStrike">
                <a:solidFill>
                  <a:srgbClr val="C74DED"/>
                </a:solidFill>
                <a:latin typeface="Consolas"/>
                <a:ea typeface="Consolas"/>
                <a:cs typeface="Consolas"/>
                <a:sym typeface="Consolas"/>
              </a:rPr>
              <a:t>def</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FE66D"/>
                </a:solidFill>
                <a:latin typeface="Consolas"/>
                <a:ea typeface="Consolas"/>
                <a:cs typeface="Consolas"/>
                <a:sym typeface="Consolas"/>
              </a:rPr>
              <a:t>modulo_vector</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00E8C6"/>
                </a:solidFill>
                <a:latin typeface="Consolas"/>
                <a:ea typeface="Consolas"/>
                <a:cs typeface="Consolas"/>
                <a:sym typeface="Consolas"/>
              </a:rPr>
              <a:t>x</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00E8C6"/>
                </a:solidFill>
                <a:latin typeface="Consolas"/>
                <a:ea typeface="Consolas"/>
                <a:cs typeface="Consolas"/>
                <a:sym typeface="Consolas"/>
              </a:rPr>
              <a:t>y</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96E072"/>
                </a:solidFill>
                <a:latin typeface="Consolas"/>
                <a:ea typeface="Consolas"/>
                <a:cs typeface="Consolas"/>
                <a:sym typeface="Consolas"/>
              </a:rPr>
              <a:t>"""Calcula el módulo de un vector en 2D.</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96E072"/>
                </a:solidFill>
                <a:latin typeface="Consolas"/>
                <a:ea typeface="Consolas"/>
                <a:cs typeface="Consolas"/>
                <a:sym typeface="Consolas"/>
              </a:rPr>
              <a:t>    Argumentos:</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96E072"/>
                </a:solidFill>
                <a:latin typeface="Consolas"/>
                <a:ea typeface="Consolas"/>
                <a:cs typeface="Consolas"/>
                <a:sym typeface="Consolas"/>
              </a:rPr>
              <a:t>        x: (float|int) coordenada de las abscisas</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96E072"/>
                </a:solidFill>
                <a:latin typeface="Consolas"/>
                <a:ea typeface="Consolas"/>
                <a:cs typeface="Consolas"/>
                <a:sym typeface="Consolas"/>
              </a:rPr>
              <a:t>        y: (float|int) coordenada de las ordenadas</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96E072"/>
                </a:solidFill>
                <a:latin typeface="Consolas"/>
                <a:ea typeface="Consolas"/>
                <a:cs typeface="Consolas"/>
                <a:sym typeface="Consolas"/>
              </a:rPr>
              <a:t>    Devuelve: (float) el módulo del vector</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96E072"/>
                </a:solidFill>
                <a:latin typeface="Consolas"/>
                <a:ea typeface="Consolas"/>
                <a:cs typeface="Consolas"/>
                <a:sym typeface="Consolas"/>
              </a:rPr>
              <a:t>    """</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rPr b="0" i="0" lang="es" sz="1200" u="none" cap="none" strike="noStrike">
                <a:solidFill>
                  <a:srgbClr val="C74DED"/>
                </a:solidFill>
                <a:latin typeface="Consolas"/>
                <a:ea typeface="Consolas"/>
                <a:cs typeface="Consolas"/>
                <a:sym typeface="Consolas"/>
              </a:rPr>
              <a:t>return</a:t>
            </a:r>
            <a:r>
              <a:rPr b="0" i="0" lang="es" sz="1200" u="none" cap="none" strike="noStrike">
                <a:solidFill>
                  <a:srgbClr val="D5CED9"/>
                </a:solidFill>
                <a:latin typeface="Consolas"/>
                <a:ea typeface="Consolas"/>
                <a:cs typeface="Consolas"/>
                <a:sym typeface="Consolas"/>
              </a:rPr>
              <a:t> (x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2</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y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2</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0.5</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FFE66D"/>
              </a:buClr>
              <a:buSzPts val="1400"/>
              <a:buFont typeface="Consolas"/>
              <a:buNone/>
            </a:pPr>
            <a:r>
              <a:t/>
            </a:r>
            <a:endParaRPr b="0" i="0" sz="1200" u="none" cap="none" strike="noStrike">
              <a:solidFill>
                <a:srgbClr val="C74DED"/>
              </a:solidFill>
              <a:latin typeface="Consolas"/>
              <a:ea typeface="Consolas"/>
              <a:cs typeface="Consolas"/>
              <a:sym typeface="Consolas"/>
            </a:endParaRPr>
          </a:p>
        </p:txBody>
      </p:sp>
      <p:sp>
        <p:nvSpPr>
          <p:cNvPr id="437" name="Google Shape;437;p32"/>
          <p:cNvSpPr/>
          <p:nvPr/>
        </p:nvSpPr>
        <p:spPr>
          <a:xfrm>
            <a:off x="1848000" y="1754575"/>
            <a:ext cx="54306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Función documentada con docstring</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33"/>
          <p:cNvSpPr txBox="1"/>
          <p:nvPr>
            <p:ph type="ctrTitle"/>
          </p:nvPr>
        </p:nvSpPr>
        <p:spPr>
          <a:xfrm>
            <a:off x="311700" y="1226800"/>
            <a:ext cx="8520600" cy="15705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Clr>
                <a:schemeClr val="dk1"/>
              </a:buClr>
              <a:buSzPts val="1100"/>
              <a:buFont typeface="Arial"/>
              <a:buNone/>
            </a:pPr>
            <a:r>
              <a:rPr lang="es"/>
              <a:t>Material extra</a:t>
            </a:r>
            <a:endParaRPr/>
          </a:p>
        </p:txBody>
      </p:sp>
      <p:sp>
        <p:nvSpPr>
          <p:cNvPr id="443" name="Google Shape;443;p3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500"/>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34"/>
          <p:cNvSpPr txBox="1"/>
          <p:nvPr/>
        </p:nvSpPr>
        <p:spPr>
          <a:xfrm>
            <a:off x="311700" y="597425"/>
            <a:ext cx="8503200" cy="572700"/>
          </a:xfrm>
          <a:prstGeom prst="rect">
            <a:avLst/>
          </a:prstGeom>
          <a:noFill/>
          <a:ln>
            <a:noFill/>
          </a:ln>
        </p:spPr>
        <p:txBody>
          <a:bodyPr anchorCtr="0" anchor="t" bIns="91425" lIns="91425" spcFirstLastPara="1" rIns="91425" wrap="square" tIns="91425">
            <a:normAutofit lnSpcReduction="10000"/>
          </a:bodyPr>
          <a:lstStyle/>
          <a:p>
            <a:pPr indent="0" lvl="0" marL="0" marR="0" rtl="0" algn="l">
              <a:lnSpc>
                <a:spcPct val="100000"/>
              </a:lnSpc>
              <a:spcBef>
                <a:spcPts val="0"/>
              </a:spcBef>
              <a:spcAft>
                <a:spcPts val="0"/>
              </a:spcAft>
              <a:buClr>
                <a:srgbClr val="000000"/>
              </a:buClr>
              <a:buSzPts val="2700"/>
              <a:buFont typeface="Arial"/>
              <a:buNone/>
            </a:pPr>
            <a:r>
              <a:rPr b="0" i="0" lang="es" sz="2700" u="none" cap="none" strike="noStrike">
                <a:solidFill>
                  <a:srgbClr val="000000"/>
                </a:solidFill>
                <a:latin typeface="Montserrat Medium"/>
                <a:ea typeface="Montserrat Medium"/>
                <a:cs typeface="Montserrat Medium"/>
                <a:sym typeface="Montserrat Medium"/>
              </a:rPr>
              <a:t>Artículos de interés</a:t>
            </a:r>
            <a:endParaRPr b="0" i="0" sz="2700" u="none" cap="none" strike="noStrike">
              <a:solidFill>
                <a:srgbClr val="000000"/>
              </a:solidFill>
              <a:latin typeface="Montserrat Medium"/>
              <a:ea typeface="Montserrat Medium"/>
              <a:cs typeface="Montserrat Medium"/>
              <a:sym typeface="Montserrat Medium"/>
            </a:endParaRPr>
          </a:p>
        </p:txBody>
      </p:sp>
      <p:sp>
        <p:nvSpPr>
          <p:cNvPr id="449" name="Google Shape;449;p34"/>
          <p:cNvSpPr txBox="1"/>
          <p:nvPr/>
        </p:nvSpPr>
        <p:spPr>
          <a:xfrm>
            <a:off x="432000" y="1297200"/>
            <a:ext cx="8280000" cy="33180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rgbClr val="000000"/>
              </a:buClr>
              <a:buSzPts val="1500"/>
              <a:buFont typeface="Arial"/>
              <a:buNone/>
            </a:pPr>
            <a:r>
              <a:rPr b="0" i="0" lang="es" sz="1500" u="none" cap="none" strike="noStrike">
                <a:solidFill>
                  <a:srgbClr val="595959"/>
                </a:solidFill>
                <a:latin typeface="Montserrat"/>
                <a:ea typeface="Montserrat"/>
                <a:cs typeface="Montserrat"/>
                <a:sym typeface="Montserrat"/>
              </a:rPr>
              <a:t>Material extra:</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1200"/>
              </a:spcBef>
              <a:spcAft>
                <a:spcPts val="0"/>
              </a:spcAft>
              <a:buClr>
                <a:srgbClr val="595959"/>
              </a:buClr>
              <a:buSzPts val="1500"/>
              <a:buFont typeface="Montserrat"/>
              <a:buChar char="●"/>
            </a:pPr>
            <a:r>
              <a:rPr b="0" i="0" lang="es" sz="1500" u="none" cap="none" strike="noStrike">
                <a:solidFill>
                  <a:srgbClr val="595959"/>
                </a:solidFill>
                <a:latin typeface="Montserrat"/>
                <a:ea typeface="Montserrat"/>
                <a:cs typeface="Montserrat"/>
                <a:sym typeface="Montserrat"/>
              </a:rPr>
              <a:t>Variables y funciones: </a:t>
            </a:r>
            <a:r>
              <a:rPr b="0" i="0" lang="es" sz="1500" u="sng" cap="none" strike="noStrike">
                <a:solidFill>
                  <a:schemeClr val="hlink"/>
                </a:solidFill>
                <a:latin typeface="Montserrat"/>
                <a:ea typeface="Montserrat"/>
                <a:cs typeface="Montserrat"/>
                <a:sym typeface="Montserrat"/>
                <a:hlinkClick r:id="rId3"/>
              </a:rPr>
              <a:t>Paso por valor y referencia</a:t>
            </a:r>
            <a:r>
              <a:rPr b="0" i="0" lang="es" sz="1500" u="none" cap="none" strike="noStrike">
                <a:solidFill>
                  <a:srgbClr val="595959"/>
                </a:solidFill>
                <a:latin typeface="Montserrat"/>
                <a:ea typeface="Montserrat"/>
                <a:cs typeface="Montserrat"/>
                <a:sym typeface="Montserrat"/>
              </a:rPr>
              <a:t>, en Hektor Docs</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4"/>
              </a:rPr>
              <a:t>Guía de funciones de Python con ejemplos</a:t>
            </a:r>
            <a:r>
              <a:rPr b="0" i="0" lang="es" sz="1500" u="none" cap="none" strike="noStrike">
                <a:solidFill>
                  <a:srgbClr val="595959"/>
                </a:solidFill>
                <a:latin typeface="Montserrat"/>
                <a:ea typeface="Montserrat"/>
                <a:cs typeface="Montserrat"/>
                <a:sym typeface="Montserrat"/>
              </a:rPr>
              <a:t>, en freeCodeCamp</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5"/>
              </a:rPr>
              <a:t>Expresiones Lambda en Python</a:t>
            </a:r>
            <a:r>
              <a:rPr b="0" i="0" lang="es" sz="1500" u="none" cap="none" strike="noStrike">
                <a:solidFill>
                  <a:schemeClr val="dk2"/>
                </a:solidFill>
                <a:latin typeface="Montserrat"/>
                <a:ea typeface="Montserrat"/>
                <a:cs typeface="Montserrat"/>
                <a:sym typeface="Montserrat"/>
              </a:rPr>
              <a:t>, en freeCodeCamp</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6"/>
              </a:rPr>
              <a:t>La función map()</a:t>
            </a:r>
            <a:r>
              <a:rPr b="0" i="0" lang="es" sz="1500" u="none" cap="none" strike="noStrike">
                <a:solidFill>
                  <a:schemeClr val="dk2"/>
                </a:solidFill>
                <a:latin typeface="Montserrat"/>
                <a:ea typeface="Montserrat"/>
                <a:cs typeface="Montserrat"/>
                <a:sym typeface="Montserrat"/>
              </a:rPr>
              <a:t>, en Hektor Docs</a:t>
            </a:r>
            <a:endParaRPr b="0" i="0" sz="1500" u="none" cap="none" strike="noStrike">
              <a:solidFill>
                <a:schemeClr val="dk2"/>
              </a:solidFill>
              <a:latin typeface="Montserrat"/>
              <a:ea typeface="Montserrat"/>
              <a:cs typeface="Montserrat"/>
              <a:sym typeface="Montserrat"/>
            </a:endParaRPr>
          </a:p>
          <a:p>
            <a:pPr indent="0" lvl="0" marL="0" marR="0" rtl="0" algn="l">
              <a:lnSpc>
                <a:spcPct val="115000"/>
              </a:lnSpc>
              <a:spcBef>
                <a:spcPts val="1200"/>
              </a:spcBef>
              <a:spcAft>
                <a:spcPts val="0"/>
              </a:spcAft>
              <a:buClr>
                <a:srgbClr val="000000"/>
              </a:buClr>
              <a:buSzPts val="1500"/>
              <a:buFont typeface="Arial"/>
              <a:buNone/>
            </a:pPr>
            <a:r>
              <a:rPr b="0" i="0" lang="es" sz="1500" u="none" cap="none" strike="noStrike">
                <a:solidFill>
                  <a:srgbClr val="595959"/>
                </a:solidFill>
                <a:latin typeface="Montserrat"/>
                <a:ea typeface="Montserrat"/>
                <a:cs typeface="Montserrat"/>
                <a:sym typeface="Montserrat"/>
              </a:rPr>
              <a:t>Videos:</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120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7"/>
              </a:rPr>
              <a:t>Uso de parámetros y return</a:t>
            </a:r>
            <a:r>
              <a:rPr b="0" i="0" lang="es" sz="1500" u="none" cap="none" strike="noStrike">
                <a:solidFill>
                  <a:srgbClr val="595959"/>
                </a:solidFill>
                <a:latin typeface="Montserrat"/>
                <a:ea typeface="Montserrat"/>
                <a:cs typeface="Montserrat"/>
                <a:sym typeface="Montserrat"/>
              </a:rPr>
              <a:t>, en Code Hive</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8"/>
              </a:rPr>
              <a:t>Funciones Lambda</a:t>
            </a:r>
            <a:r>
              <a:rPr b="0" i="0" lang="es" sz="1500" u="none" cap="none" strike="noStrike">
                <a:solidFill>
                  <a:srgbClr val="595959"/>
                </a:solidFill>
                <a:latin typeface="Montserrat"/>
                <a:ea typeface="Montserrat"/>
                <a:cs typeface="Montserrat"/>
                <a:sym typeface="Montserrat"/>
              </a:rPr>
              <a:t>, en Píldoras Informáticas</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9"/>
              </a:rPr>
              <a:t>https://www.youtube.com/watch?v=4dkjpHI6vpA</a:t>
            </a:r>
            <a:r>
              <a:rPr b="0" i="0" lang="es" sz="1500" u="none" cap="none" strike="noStrike">
                <a:solidFill>
                  <a:schemeClr val="dk2"/>
                </a:solidFill>
                <a:latin typeface="Montserrat"/>
                <a:ea typeface="Montserrat"/>
                <a:cs typeface="Montserrat"/>
                <a:sym typeface="Montserrat"/>
              </a:rPr>
              <a:t>, en Píldoras Informáticas</a:t>
            </a:r>
            <a:endParaRPr b="0" i="0" sz="1500"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35"/>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3700"/>
              <a:buNone/>
            </a:pPr>
            <a:r>
              <a:rPr lang="es"/>
              <a:t>No te olvides de dar el presente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36"/>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3700"/>
              <a:buNone/>
            </a:pPr>
            <a:r>
              <a:rPr lang="es"/>
              <a:t>Recordá: </a:t>
            </a:r>
            <a:endParaRPr/>
          </a:p>
          <a:p>
            <a:pPr indent="-431800" lvl="0" marL="457200" rtl="0" algn="l">
              <a:lnSpc>
                <a:spcPct val="100000"/>
              </a:lnSpc>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Revisar la Cartelera de Novedades.</a:t>
            </a:r>
            <a:endParaRPr b="0" sz="3200">
              <a:latin typeface="Montserrat SemiBold"/>
              <a:ea typeface="Montserrat SemiBold"/>
              <a:cs typeface="Montserrat SemiBold"/>
              <a:sym typeface="Montserrat SemiBold"/>
            </a:endParaRPr>
          </a:p>
          <a:p>
            <a:pPr indent="-431800" lvl="0" marL="457200" rtl="0" algn="l">
              <a:lnSpc>
                <a:spcPct val="100000"/>
              </a:lnSpc>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Hacer tus consultas en el Foro.</a:t>
            </a:r>
            <a:endParaRPr b="0" sz="3200">
              <a:latin typeface="Montserrat SemiBold"/>
              <a:ea typeface="Montserrat SemiBold"/>
              <a:cs typeface="Montserrat SemiBold"/>
              <a:sym typeface="Montserrat SemiBold"/>
            </a:endParaRPr>
          </a:p>
          <a:p>
            <a:pPr indent="-431800" lvl="0" marL="457200" rtl="0" algn="l">
              <a:lnSpc>
                <a:spcPct val="100000"/>
              </a:lnSpc>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Realizar los Ejercicios obligatorios.</a:t>
            </a:r>
            <a:endParaRPr b="0" sz="3200">
              <a:latin typeface="Montserrat SemiBold"/>
              <a:ea typeface="Montserrat SemiBold"/>
              <a:cs typeface="Montserrat SemiBold"/>
              <a:sym typeface="Montserrat SemiBold"/>
            </a:endParaRPr>
          </a:p>
          <a:p>
            <a:pPr indent="0" lvl="0" marL="0" rtl="0" algn="l">
              <a:lnSpc>
                <a:spcPct val="100000"/>
              </a:lnSpc>
              <a:spcBef>
                <a:spcPts val="0"/>
              </a:spcBef>
              <a:spcAft>
                <a:spcPts val="0"/>
              </a:spcAft>
              <a:buSzPts val="3700"/>
              <a:buNone/>
            </a:pPr>
            <a:r>
              <a:t/>
            </a:r>
            <a:endParaRPr sz="3200"/>
          </a:p>
          <a:p>
            <a:pPr indent="0" lvl="0" marL="0" rtl="0" algn="l">
              <a:lnSpc>
                <a:spcPct val="100000"/>
              </a:lnSpc>
              <a:spcBef>
                <a:spcPts val="0"/>
              </a:spcBef>
              <a:spcAft>
                <a:spcPts val="0"/>
              </a:spcAft>
              <a:buSzPts val="3700"/>
              <a:buNone/>
            </a:pPr>
            <a:r>
              <a:rPr lang="es" sz="3200"/>
              <a:t>Todo en el Aula Virtual.</a:t>
            </a:r>
            <a:endParaRPr sz="32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