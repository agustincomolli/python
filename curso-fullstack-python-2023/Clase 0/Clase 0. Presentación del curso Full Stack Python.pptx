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5143500" cx="9144000"/>
  <p:notesSz cx="6858000" cy="9144000"/>
  <p:embeddedFontLst>
    <p:embeddedFont>
      <p:font typeface="Montserrat SemiBold"/>
      <p:regular r:id="rId42"/>
      <p:bold r:id="rId43"/>
      <p:italic r:id="rId44"/>
      <p:boldItalic r:id="rId45"/>
    </p:embeddedFont>
    <p:embeddedFont>
      <p:font typeface="Montserrat"/>
      <p:regular r:id="rId46"/>
      <p:bold r:id="rId47"/>
      <p:italic r:id="rId48"/>
      <p:boldItalic r:id="rId49"/>
    </p:embeddedFont>
    <p:embeddedFont>
      <p:font typeface="Montserrat Medium"/>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37">
          <p15:clr>
            <a:srgbClr val="A4A3A4"/>
          </p15:clr>
        </p15:guide>
        <p15:guide id="2" pos="2880">
          <p15:clr>
            <a:srgbClr val="A4A3A4"/>
          </p15:clr>
        </p15:guide>
      </p15:sldGuideLst>
    </p:ext>
    <p:ext uri="GoogleSlidesCustomDataVersion2">
      <go:slidesCustomData xmlns:go="http://customooxmlschemas.google.com/" r:id="rId54" roundtripDataSignature="AMtx7mhWEBAQ1C8wehsLUyWC8e+q5u0Zf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37"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font" Target="fonts/MontserratSemiBold-regular.fntdata"/><Relationship Id="rId41" Type="http://schemas.openxmlformats.org/officeDocument/2006/relationships/slide" Target="slides/slide36.xml"/><Relationship Id="rId44" Type="http://schemas.openxmlformats.org/officeDocument/2006/relationships/font" Target="fonts/MontserratSemiBold-italic.fntdata"/><Relationship Id="rId43" Type="http://schemas.openxmlformats.org/officeDocument/2006/relationships/font" Target="fonts/MontserratSemiBold-bold.fntdata"/><Relationship Id="rId46" Type="http://schemas.openxmlformats.org/officeDocument/2006/relationships/font" Target="fonts/Montserrat-regular.fntdata"/><Relationship Id="rId45" Type="http://schemas.openxmlformats.org/officeDocument/2006/relationships/font" Target="fonts/MontserratSemiBol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Montserrat-italic.fntdata"/><Relationship Id="rId47" Type="http://schemas.openxmlformats.org/officeDocument/2006/relationships/font" Target="fonts/Montserrat-bold.fntdata"/><Relationship Id="rId49" Type="http://schemas.openxmlformats.org/officeDocument/2006/relationships/font" Target="fonts/Montserrat-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MontserratMedium-bold.fntdata"/><Relationship Id="rId50" Type="http://schemas.openxmlformats.org/officeDocument/2006/relationships/font" Target="fonts/MontserratMedium-regular.fntdata"/><Relationship Id="rId53" Type="http://schemas.openxmlformats.org/officeDocument/2006/relationships/font" Target="fonts/MontserratMedium-boldItalic.fntdata"/><Relationship Id="rId52" Type="http://schemas.openxmlformats.org/officeDocument/2006/relationships/font" Target="fonts/MontserratMedium-italic.fntdata"/><Relationship Id="rId11" Type="http://schemas.openxmlformats.org/officeDocument/2006/relationships/slide" Target="slides/slide6.xml"/><Relationship Id="rId10" Type="http://schemas.openxmlformats.org/officeDocument/2006/relationships/slide" Target="slides/slide5.xml"/><Relationship Id="rId54"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ve.google.com/file/d/1j94ofM6qEFg8EiPMJsNjR8he_X7s6gp1/view?usp=share_link"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telam.com.ar/notas/202206/594937-salarios-industria-software-incremento-empleo.html#:~:text=Entre%202019%20y%202021%20la,Argentina%20del%20Software%20(Cessi)" TargetMode="External"/><Relationship Id="rId3" Type="http://schemas.openxmlformats.org/officeDocument/2006/relationships/hyperlink" Target="https://www.iprofesional.com/management/352621-esto-cobrara-un-programador-en-argentina-en-2022" TargetMode="External"/><Relationship Id="rId4" Type="http://schemas.openxmlformats.org/officeDocument/2006/relationships/hyperlink" Target="https://cessi.org.ar/ver-noticias-cessi-la-evolucion-de-los-salarios-en-la-industria-it-2755"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forbesargentina.com/innovacion/esta-industria-tiene-salarios-promedios-210600-busca-ocupar-empleos-vacantes-n16998#:~:text=La%20C%C3%A1mara%20de%20la%20Industria,m%C3%A1s%20cobran%20en%20el%20pa%C3%ADs" TargetMode="External"/><Relationship Id="rId3" Type="http://schemas.openxmlformats.org/officeDocument/2006/relationships/hyperlink" Target="https://www.telam.com.ar/notas/202206/594937-salarios-industria-software-incremento-empleo.html#:~:text=Entre%202019%20y%202021%20la,Argentina%20del%20Software%20(Cessi)"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telam.com.ar/notas/202206/594937-salarios-industria-software-incremento-empleo.html#:~:text=Entre%202019%20y%202021%20la,Argentina%20del%20Software%20(Cessi)"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
              <a:t>Este slide lo dejo a modo informativo. Es contenido que pueden compartir si llegan a consultar los estudiantes.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rPr>
              <a:t>Plan de estudios Full Stack Python: </a:t>
            </a:r>
            <a:r>
              <a:rPr lang="es" u="sng">
                <a:solidFill>
                  <a:schemeClr val="hlink"/>
                </a:solidFill>
                <a:hlinkClick r:id="rId2"/>
              </a:rPr>
              <a:t>https://drive.google.com/file/d/1j94ofM6qEFg8EiPMJsNjR8he_X7s6gp1/view?usp=share_link</a:t>
            </a:r>
            <a:r>
              <a:rPr lang="es">
                <a:solidFill>
                  <a:schemeClr val="dk1"/>
                </a:solidFill>
              </a:rPr>
              <a:t> (por el momento sólo se puede compartir este Plan de estudios a los Estudiantes)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s">
                <a:solidFill>
                  <a:srgbClr val="FF0000"/>
                </a:solidFill>
              </a:rPr>
              <a:t>Nota para los Docentes: </a:t>
            </a:r>
            <a:r>
              <a:rPr lang="es">
                <a:solidFill>
                  <a:schemeClr val="dk1"/>
                </a:solidFill>
              </a:rPr>
              <a:t>Codo a Codo entrega Diploma, no certificado. Importante a tener en cuenta durante la cursada por las consultas de los estudiantes sobre este tema. El diploma se entrega aprox. 9 meses después de finalizada la cursada. Apelar por favor a que tengan paciencia ya que son muchos egresados por cohorte y los diplomas se envían por tandas.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s">
                <a:solidFill>
                  <a:schemeClr val="dk1"/>
                </a:solidFill>
              </a:rPr>
              <a:t>Fuente (importante, siempre citar fuente): </a:t>
            </a:r>
            <a:endParaRPr b="1">
              <a:solidFill>
                <a:schemeClr val="dk1"/>
              </a:solidFill>
            </a:endParaRPr>
          </a:p>
          <a:p>
            <a:pPr indent="0" lvl="0" marL="0" rtl="0" algn="l">
              <a:lnSpc>
                <a:spcPct val="100000"/>
              </a:lnSpc>
              <a:spcBef>
                <a:spcPts val="0"/>
              </a:spcBef>
              <a:spcAft>
                <a:spcPts val="0"/>
              </a:spcAft>
              <a:buSzPts val="1100"/>
              <a:buNone/>
            </a:pPr>
            <a:r>
              <a:rPr lang="es" u="sng">
                <a:solidFill>
                  <a:schemeClr val="hlink"/>
                </a:solidFill>
                <a:hlinkClick r:id="rId2"/>
              </a:rPr>
              <a:t>https://www.telam.com.ar/notas/202206/594937-salarios-industria-software-incremento-empleo.html#:~:text=Entre%202019%20y%202021%20la,Argentina%20del%20Software%20(Cessi)</a:t>
            </a:r>
            <a:r>
              <a:rPr lang="es">
                <a:solidFill>
                  <a:schemeClr val="dk1"/>
                </a:solidFill>
              </a:rPr>
              <a:t>. </a:t>
            </a:r>
            <a:endParaRPr>
              <a:solidFill>
                <a:schemeClr val="dk1"/>
              </a:solidFill>
            </a:endParaRPr>
          </a:p>
          <a:p>
            <a:pPr indent="0" lvl="0" marL="0" rtl="0" algn="l">
              <a:lnSpc>
                <a:spcPct val="100000"/>
              </a:lnSpc>
              <a:spcBef>
                <a:spcPts val="0"/>
              </a:spcBef>
              <a:spcAft>
                <a:spcPts val="0"/>
              </a:spcAft>
              <a:buSzPts val="1100"/>
              <a:buNone/>
            </a:pPr>
            <a:r>
              <a:rPr lang="es">
                <a:solidFill>
                  <a:schemeClr val="dk1"/>
                </a:solidFill>
              </a:rPr>
              <a:t>Fuente 2021:</a:t>
            </a:r>
            <a:endParaRPr>
              <a:solidFill>
                <a:schemeClr val="dk1"/>
              </a:solidFill>
            </a:endParaRPr>
          </a:p>
          <a:p>
            <a:pPr indent="0" lvl="0" marL="0" rtl="0" algn="l">
              <a:lnSpc>
                <a:spcPct val="100000"/>
              </a:lnSpc>
              <a:spcBef>
                <a:spcPts val="0"/>
              </a:spcBef>
              <a:spcAft>
                <a:spcPts val="0"/>
              </a:spcAft>
              <a:buSzPts val="1100"/>
              <a:buNone/>
            </a:pPr>
            <a:r>
              <a:rPr lang="es" u="sng">
                <a:solidFill>
                  <a:schemeClr val="hlink"/>
                </a:solidFill>
                <a:hlinkClick r:id="rId3"/>
              </a:rPr>
              <a:t>https://www.iprofesional.com/management/352621-esto-cobrara-un-programador-en-argentina-en-2022</a:t>
            </a:r>
            <a:r>
              <a:rPr lang="es">
                <a:solidFill>
                  <a:schemeClr val="dk1"/>
                </a:solidFill>
              </a:rPr>
              <a:t> </a:t>
            </a:r>
            <a:endParaRPr>
              <a:solidFill>
                <a:schemeClr val="dk1"/>
              </a:solidFill>
            </a:endParaRPr>
          </a:p>
          <a:p>
            <a:pPr indent="0" lvl="0" marL="0" rtl="0" algn="l">
              <a:lnSpc>
                <a:spcPct val="100000"/>
              </a:lnSpc>
              <a:spcBef>
                <a:spcPts val="0"/>
              </a:spcBef>
              <a:spcAft>
                <a:spcPts val="0"/>
              </a:spcAft>
              <a:buSzPts val="1100"/>
              <a:buNone/>
            </a:pPr>
            <a:r>
              <a:rPr lang="es" u="sng">
                <a:solidFill>
                  <a:schemeClr val="hlink"/>
                </a:solidFill>
                <a:hlinkClick r:id="rId4"/>
              </a:rPr>
              <a:t>https://cessi.org.ar/ver-noticias-cessi-la-evolucion-de-los-salarios-en-la-industria-it-2755</a:t>
            </a:r>
            <a:r>
              <a:rPr lang="es">
                <a:solidFill>
                  <a:schemeClr val="dk1"/>
                </a:solidFill>
              </a:rPr>
              <a:t>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s">
                <a:solidFill>
                  <a:schemeClr val="dk1"/>
                </a:solidFill>
              </a:rPr>
              <a:t>Fuente:</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s" u="sng">
                <a:solidFill>
                  <a:schemeClr val="hlink"/>
                </a:solidFill>
                <a:hlinkClick r:id="rId2"/>
              </a:rPr>
              <a:t>https://www.forbesargentina.com/innovacion/esta-industria-tiene-salarios-promedios-210600-busca-ocupar-empleos-vacantes-n16998#:~:text=La%20C%C3%A1mara%20de%20la%20Industria,m%C3%A1s%20cobran%20en%20el%20pa%C3%ADs</a:t>
            </a:r>
            <a:r>
              <a:rPr lang="es">
                <a:solidFill>
                  <a:schemeClr val="dk1"/>
                </a:solidFill>
              </a:rPr>
              <a:t>.</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s">
                <a:solidFill>
                  <a:schemeClr val="dk1"/>
                </a:solidFill>
              </a:rPr>
              <a:t>Fuente 2021:</a:t>
            </a:r>
            <a:br>
              <a:rPr lang="es">
                <a:solidFill>
                  <a:schemeClr val="dk1"/>
                </a:solidFill>
              </a:rPr>
            </a:br>
            <a:r>
              <a:rPr lang="es" u="sng">
                <a:solidFill>
                  <a:schemeClr val="hlink"/>
                </a:solidFill>
                <a:hlinkClick r:id="rId3"/>
              </a:rPr>
              <a:t>https://www.telam.com.ar/notas/202206/594937-salarios-industria-software-incremento-empleo.html#:~:text=Entre%202019%20y%202021%20la,Argentina%20del%20Software%20(Cessi)</a:t>
            </a:r>
            <a:r>
              <a:rPr lang="es">
                <a:solidFill>
                  <a:schemeClr val="dk1"/>
                </a:solidFill>
              </a:rPr>
              <a:t>.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 name="Google Shape;275;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
              <a:t>Fuente: </a:t>
            </a:r>
            <a:r>
              <a:rPr lang="es" u="sng">
                <a:solidFill>
                  <a:schemeClr val="hlink"/>
                </a:solidFill>
                <a:hlinkClick r:id="rId2"/>
              </a:rPr>
              <a:t>https://www.telam.com.ar/notas/202206/594937-salarios-industria-software-incremento-empleo.html#:~:text=Entre%202019%20y%202021%20la,Argentina%20del%20Software%20(Cessi)</a:t>
            </a:r>
            <a:r>
              <a:rPr lang="es"/>
              <a:t>.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0" name="Google Shape;300;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s"/>
              <a:t>Nota:</a:t>
            </a:r>
            <a:r>
              <a:rPr lang="es"/>
              <a:t> La aplicación oficial para móviles de Moodle sólo funciona con sitios que se han configurado para permitirlo.</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2" name="Google Shape;312;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8" name="Google Shape;318;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4" name="Google Shape;324;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0" name="Google Shape;330;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s"/>
              <a:t>Fecha de entrega 1er cuatrimestre:</a:t>
            </a:r>
            <a:r>
              <a:rPr lang="es"/>
              <a:t> Clase 22. Miércoles 17 al viernes 19 de mayo.</a:t>
            </a:r>
            <a:endParaRPr/>
          </a:p>
          <a:p>
            <a:pPr indent="0" lvl="0" marL="0" rtl="0" algn="l">
              <a:lnSpc>
                <a:spcPct val="100000"/>
              </a:lnSpc>
              <a:spcBef>
                <a:spcPts val="0"/>
              </a:spcBef>
              <a:spcAft>
                <a:spcPts val="0"/>
              </a:spcAft>
              <a:buSzPts val="1100"/>
              <a:buNone/>
            </a:pPr>
            <a:r>
              <a:rPr b="1" lang="es"/>
              <a:t>Fecha de entrega 2do cuatrimestre:</a:t>
            </a:r>
            <a:r>
              <a:rPr lang="es"/>
              <a:t> Clase 22. Miércoles 19 al viernes 21 de octubre.</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5" name="Google Shape;335;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2" name="Google Shape;342;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8" name="Google Shape;348;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3" name="Google Shape;353;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8" name="Google Shape;358;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1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5.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6.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5.pn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5.pn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6.png"/><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6.pn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1.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4.png"/><Relationship Id="rId4" Type="http://schemas.openxmlformats.org/officeDocument/2006/relationships/image" Target="../media/image1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6.png"/><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6.png"/><Relationship Id="rId4" Type="http://schemas.openxmlformats.org/officeDocument/2006/relationships/image" Target="../media/image15.png"/><Relationship Id="rId5" Type="http://schemas.openxmlformats.org/officeDocument/2006/relationships/image" Target="../media/image6.png"/><Relationship Id="rId6"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4.png"/><Relationship Id="rId4"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6.png"/><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6.png"/><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 name="Shape 9"/>
        <p:cNvGrpSpPr/>
        <p:nvPr/>
      </p:nvGrpSpPr>
      <p:grpSpPr>
        <a:xfrm>
          <a:off x="0" y="0"/>
          <a:ext cx="0" cy="0"/>
          <a:chOff x="0" y="0"/>
          <a:chExt cx="0" cy="0"/>
        </a:xfrm>
      </p:grpSpPr>
      <p:sp>
        <p:nvSpPr>
          <p:cNvPr id="10" name="Google Shape;10;p38"/>
          <p:cNvSpPr txBox="1"/>
          <p:nvPr>
            <p:ph type="title"/>
          </p:nvPr>
        </p:nvSpPr>
        <p:spPr>
          <a:xfrm>
            <a:off x="3335100" y="1617575"/>
            <a:ext cx="5497200" cy="13752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700"/>
              <a:buFont typeface="Montserrat"/>
              <a:buNone/>
              <a:defRPr b="1" sz="3700">
                <a:latin typeface="Montserrat"/>
                <a:ea typeface="Montserrat"/>
                <a:cs typeface="Montserrat"/>
                <a:sym typeface="Montserrat"/>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pic>
        <p:nvPicPr>
          <p:cNvPr id="11" name="Google Shape;11;p38"/>
          <p:cNvPicPr preferRelativeResize="0"/>
          <p:nvPr/>
        </p:nvPicPr>
        <p:blipFill rotWithShape="1">
          <a:blip r:embed="rId2">
            <a:alphaModFix/>
          </a:blip>
          <a:srcRect b="0" l="0" r="0" t="0"/>
          <a:stretch/>
        </p:blipFill>
        <p:spPr>
          <a:xfrm>
            <a:off x="0" y="1290050"/>
            <a:ext cx="3040999" cy="2072300"/>
          </a:xfrm>
          <a:prstGeom prst="rect">
            <a:avLst/>
          </a:prstGeom>
          <a:noFill/>
          <a:ln>
            <a:noFill/>
          </a:ln>
        </p:spPr>
      </p:pic>
      <p:pic>
        <p:nvPicPr>
          <p:cNvPr id="12" name="Google Shape;12;p38"/>
          <p:cNvPicPr preferRelativeResize="0"/>
          <p:nvPr/>
        </p:nvPicPr>
        <p:blipFill rotWithShape="1">
          <a:blip r:embed="rId3">
            <a:alphaModFix/>
          </a:blip>
          <a:srcRect b="0" l="0" r="0" t="0"/>
          <a:stretch/>
        </p:blipFill>
        <p:spPr>
          <a:xfrm>
            <a:off x="8222877" y="4573625"/>
            <a:ext cx="741498" cy="399274"/>
          </a:xfrm>
          <a:prstGeom prst="rect">
            <a:avLst/>
          </a:prstGeom>
          <a:noFill/>
          <a:ln>
            <a:noFill/>
          </a:ln>
        </p:spPr>
      </p:pic>
      <p:sp>
        <p:nvSpPr>
          <p:cNvPr id="13" name="Google Shape;13;p38"/>
          <p:cNvSpPr txBox="1"/>
          <p:nvPr/>
        </p:nvSpPr>
        <p:spPr>
          <a:xfrm>
            <a:off x="3326000" y="3062475"/>
            <a:ext cx="5534400" cy="4002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Medium"/>
              <a:ea typeface="Montserrat Medium"/>
              <a:cs typeface="Montserrat Medium"/>
              <a:sym typeface="Montserrat Medium"/>
            </a:endParaRPr>
          </a:p>
        </p:txBody>
      </p:sp>
      <p:sp>
        <p:nvSpPr>
          <p:cNvPr id="14" name="Google Shape;14;p38"/>
          <p:cNvSpPr txBox="1"/>
          <p:nvPr>
            <p:ph idx="1" type="subTitle"/>
          </p:nvPr>
        </p:nvSpPr>
        <p:spPr>
          <a:xfrm>
            <a:off x="3335025" y="2986525"/>
            <a:ext cx="55344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5" name="Google Shape;15;p38"/>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 name="Google Shape;16;p38"/>
          <p:cNvPicPr preferRelativeResize="0"/>
          <p:nvPr/>
        </p:nvPicPr>
        <p:blipFill rotWithShape="1">
          <a:blip r:embed="rId4">
            <a:alphaModFix/>
          </a:blip>
          <a:srcRect b="0" l="0" r="0" t="0"/>
          <a:stretch/>
        </p:blipFill>
        <p:spPr>
          <a:xfrm>
            <a:off x="8155184" y="33947"/>
            <a:ext cx="876879" cy="3992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con título y subtítulo" type="title">
  <p:cSld name="TITLE">
    <p:spTree>
      <p:nvGrpSpPr>
        <p:cNvPr id="17" name="Shape 17"/>
        <p:cNvGrpSpPr/>
        <p:nvPr/>
      </p:nvGrpSpPr>
      <p:grpSpPr>
        <a:xfrm>
          <a:off x="0" y="0"/>
          <a:ext cx="0" cy="0"/>
          <a:chOff x="0" y="0"/>
          <a:chExt cx="0" cy="0"/>
        </a:xfrm>
      </p:grpSpPr>
      <p:sp>
        <p:nvSpPr>
          <p:cNvPr id="18" name="Google Shape;18;p39"/>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39"/>
          <p:cNvSpPr txBox="1"/>
          <p:nvPr>
            <p:ph type="ctrTitle"/>
          </p:nvPr>
        </p:nvSpPr>
        <p:spPr>
          <a:xfrm>
            <a:off x="311700" y="1226800"/>
            <a:ext cx="8520600" cy="1570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rgbClr val="333333"/>
              </a:buClr>
              <a:buSzPts val="4900"/>
              <a:buFont typeface="Montserrat"/>
              <a:buNone/>
              <a:defRPr b="1" sz="49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0" name="Google Shape;20;p3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21" name="Google Shape;21;p39"/>
          <p:cNvPicPr preferRelativeResize="0"/>
          <p:nvPr/>
        </p:nvPicPr>
        <p:blipFill rotWithShape="1">
          <a:blip r:embed="rId2">
            <a:alphaModFix/>
          </a:blip>
          <a:srcRect b="0" l="0" r="0" t="0"/>
          <a:stretch/>
        </p:blipFill>
        <p:spPr>
          <a:xfrm>
            <a:off x="7910675" y="4073939"/>
            <a:ext cx="1365875" cy="1365875"/>
          </a:xfrm>
          <a:prstGeom prst="rect">
            <a:avLst/>
          </a:prstGeom>
          <a:noFill/>
          <a:ln>
            <a:noFill/>
          </a:ln>
        </p:spPr>
      </p:pic>
      <p:sp>
        <p:nvSpPr>
          <p:cNvPr id="22" name="Google Shape;22;p39"/>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 name="Google Shape;23;p39"/>
          <p:cNvPicPr preferRelativeResize="0"/>
          <p:nvPr/>
        </p:nvPicPr>
        <p:blipFill rotWithShape="1">
          <a:blip r:embed="rId3">
            <a:alphaModFix/>
          </a:blip>
          <a:srcRect b="0" l="0" r="0" t="0"/>
          <a:stretch/>
        </p:blipFill>
        <p:spPr>
          <a:xfrm>
            <a:off x="8155184" y="33947"/>
            <a:ext cx="876879" cy="399275"/>
          </a:xfrm>
          <a:prstGeom prst="rect">
            <a:avLst/>
          </a:prstGeom>
          <a:noFill/>
          <a:ln>
            <a:noFill/>
          </a:ln>
        </p:spPr>
      </p:pic>
      <p:pic>
        <p:nvPicPr>
          <p:cNvPr id="24" name="Google Shape;24;p39"/>
          <p:cNvPicPr preferRelativeResize="0"/>
          <p:nvPr/>
        </p:nvPicPr>
        <p:blipFill rotWithShape="1">
          <a:blip r:embed="rId4">
            <a:alphaModFix/>
          </a:blip>
          <a:srcRect b="0" l="0" r="0" t="0"/>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0">
  <p:cSld name="BLANK_1">
    <p:spTree>
      <p:nvGrpSpPr>
        <p:cNvPr id="25" name="Shape 25"/>
        <p:cNvGrpSpPr/>
        <p:nvPr/>
      </p:nvGrpSpPr>
      <p:grpSpPr>
        <a:xfrm>
          <a:off x="0" y="0"/>
          <a:ext cx="0" cy="0"/>
          <a:chOff x="0" y="0"/>
          <a:chExt cx="0" cy="0"/>
        </a:xfrm>
      </p:grpSpPr>
      <p:sp>
        <p:nvSpPr>
          <p:cNvPr id="26" name="Google Shape;26;p40"/>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27" name="Google Shape;27;p40"/>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40"/>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40"/>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30" name="Google Shape;30;p40"/>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31" name="Google Shape;31;p40"/>
          <p:cNvSpPr txBox="1"/>
          <p:nvPr>
            <p:ph type="title"/>
          </p:nvPr>
        </p:nvSpPr>
        <p:spPr>
          <a:xfrm>
            <a:off x="3331525" y="2159925"/>
            <a:ext cx="2397900" cy="2121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2" name="Google Shape;32;p40"/>
          <p:cNvSpPr txBox="1"/>
          <p:nvPr>
            <p:ph idx="2" type="title"/>
          </p:nvPr>
        </p:nvSpPr>
        <p:spPr>
          <a:xfrm>
            <a:off x="6134350" y="2196275"/>
            <a:ext cx="2397900" cy="2075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 name="Google Shape;33;p40"/>
          <p:cNvSpPr txBox="1"/>
          <p:nvPr>
            <p:ph idx="3" type="title"/>
          </p:nvPr>
        </p:nvSpPr>
        <p:spPr>
          <a:xfrm>
            <a:off x="4039950" y="116422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400"/>
              <a:buFont typeface="Montserrat"/>
              <a:buNone/>
              <a:defRPr b="1" sz="14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4" name="Google Shape;34;p40"/>
          <p:cNvSpPr txBox="1"/>
          <p:nvPr>
            <p:ph idx="4" type="title"/>
          </p:nvPr>
        </p:nvSpPr>
        <p:spPr>
          <a:xfrm>
            <a:off x="6877450" y="116422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5" name="Google Shape;35;p40"/>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6" name="Google Shape;36;p40"/>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37" name="Google Shape;37;p40"/>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pic>
        <p:nvPicPr>
          <p:cNvPr id="38" name="Google Shape;38;p40"/>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epto destacado y explicación">
  <p:cSld name="TITLE_1">
    <p:spTree>
      <p:nvGrpSpPr>
        <p:cNvPr id="39" name="Shape 39"/>
        <p:cNvGrpSpPr/>
        <p:nvPr/>
      </p:nvGrpSpPr>
      <p:grpSpPr>
        <a:xfrm>
          <a:off x="0" y="0"/>
          <a:ext cx="0" cy="0"/>
          <a:chOff x="0" y="0"/>
          <a:chExt cx="0" cy="0"/>
        </a:xfrm>
      </p:grpSpPr>
      <p:sp>
        <p:nvSpPr>
          <p:cNvPr id="40" name="Google Shape;40;p41"/>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41"/>
          <p:cNvSpPr txBox="1"/>
          <p:nvPr>
            <p:ph type="ctrTitle"/>
          </p:nvPr>
        </p:nvSpPr>
        <p:spPr>
          <a:xfrm>
            <a:off x="550375" y="7600"/>
            <a:ext cx="8043300" cy="1570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4000"/>
              <a:buFont typeface="Montserrat"/>
              <a:buNone/>
              <a:defRPr b="1" sz="4000">
                <a:solidFill>
                  <a:schemeClr val="lt1"/>
                </a:solidFill>
                <a:latin typeface="Montserrat"/>
                <a:ea typeface="Montserrat"/>
                <a:cs typeface="Montserrat"/>
                <a:sym typeface="Montserrat"/>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42" name="Google Shape;42;p41"/>
          <p:cNvSpPr txBox="1"/>
          <p:nvPr>
            <p:ph idx="1" type="subTitle"/>
          </p:nvPr>
        </p:nvSpPr>
        <p:spPr>
          <a:xfrm>
            <a:off x="550375" y="1614925"/>
            <a:ext cx="8043300" cy="264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700"/>
              <a:buFont typeface="Montserrat Medium"/>
              <a:buNone/>
              <a:defRPr sz="17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43" name="Google Shape;43;p41"/>
          <p:cNvPicPr preferRelativeResize="0"/>
          <p:nvPr/>
        </p:nvPicPr>
        <p:blipFill rotWithShape="1">
          <a:blip r:embed="rId2">
            <a:alphaModFix/>
          </a:blip>
          <a:srcRect b="0" l="0" r="0" t="0"/>
          <a:stretch/>
        </p:blipFill>
        <p:spPr>
          <a:xfrm>
            <a:off x="7910675" y="4073939"/>
            <a:ext cx="1365875" cy="1365875"/>
          </a:xfrm>
          <a:prstGeom prst="rect">
            <a:avLst/>
          </a:prstGeom>
          <a:noFill/>
          <a:ln>
            <a:noFill/>
          </a:ln>
        </p:spPr>
      </p:pic>
      <p:pic>
        <p:nvPicPr>
          <p:cNvPr id="44" name="Google Shape;44;p41"/>
          <p:cNvPicPr preferRelativeResize="0"/>
          <p:nvPr/>
        </p:nvPicPr>
        <p:blipFill rotWithShape="1">
          <a:blip r:embed="rId3">
            <a:alphaModFix/>
          </a:blip>
          <a:srcRect b="0" l="0" r="0" t="0"/>
          <a:stretch/>
        </p:blipFill>
        <p:spPr>
          <a:xfrm>
            <a:off x="8155184" y="33947"/>
            <a:ext cx="876879" cy="399275"/>
          </a:xfrm>
          <a:prstGeom prst="rect">
            <a:avLst/>
          </a:prstGeom>
          <a:noFill/>
          <a:ln>
            <a:noFill/>
          </a:ln>
        </p:spPr>
      </p:pic>
      <p:pic>
        <p:nvPicPr>
          <p:cNvPr id="45" name="Google Shape;45;p41"/>
          <p:cNvPicPr preferRelativeResize="0"/>
          <p:nvPr/>
        </p:nvPicPr>
        <p:blipFill rotWithShape="1">
          <a:blip r:embed="rId4">
            <a:alphaModFix/>
          </a:blip>
          <a:srcRect b="0" l="0" r="0" t="0"/>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6" name="Shape 46"/>
        <p:cNvGrpSpPr/>
        <p:nvPr/>
      </p:nvGrpSpPr>
      <p:grpSpPr>
        <a:xfrm>
          <a:off x="0" y="0"/>
          <a:ext cx="0" cy="0"/>
          <a:chOff x="0" y="0"/>
          <a:chExt cx="0" cy="0"/>
        </a:xfrm>
      </p:grpSpPr>
      <p:sp>
        <p:nvSpPr>
          <p:cNvPr id="47" name="Google Shape;47;p42"/>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700"/>
              <a:buFont typeface="Montserrat Medium"/>
              <a:buNone/>
              <a:defRPr sz="2700">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8" name="Google Shape;48;p42"/>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Font typeface="Montserrat"/>
              <a:buChar char="●"/>
              <a:defRPr>
                <a:latin typeface="Montserrat"/>
                <a:ea typeface="Montserrat"/>
                <a:cs typeface="Montserrat"/>
                <a:sym typeface="Montserrat"/>
              </a:defRPr>
            </a:lvl1pPr>
            <a:lvl2pPr indent="-317500" lvl="1" marL="914400" algn="l">
              <a:lnSpc>
                <a:spcPct val="115000"/>
              </a:lnSpc>
              <a:spcBef>
                <a:spcPts val="0"/>
              </a:spcBef>
              <a:spcAft>
                <a:spcPts val="0"/>
              </a:spcAft>
              <a:buSzPts val="1400"/>
              <a:buFont typeface="Montserrat"/>
              <a:buChar char="○"/>
              <a:defRPr>
                <a:latin typeface="Montserrat"/>
                <a:ea typeface="Montserrat"/>
                <a:cs typeface="Montserrat"/>
                <a:sym typeface="Montserrat"/>
              </a:defRPr>
            </a:lvl2pPr>
            <a:lvl3pPr indent="-317500" lvl="2" marL="1371600" algn="l">
              <a:lnSpc>
                <a:spcPct val="115000"/>
              </a:lnSpc>
              <a:spcBef>
                <a:spcPts val="0"/>
              </a:spcBef>
              <a:spcAft>
                <a:spcPts val="0"/>
              </a:spcAft>
              <a:buSzPts val="1400"/>
              <a:buFont typeface="Montserrat"/>
              <a:buChar char="■"/>
              <a:defRPr>
                <a:latin typeface="Montserrat"/>
                <a:ea typeface="Montserrat"/>
                <a:cs typeface="Montserrat"/>
                <a:sym typeface="Montserrat"/>
              </a:defRPr>
            </a:lvl3pPr>
            <a:lvl4pPr indent="-317500" lvl="3" marL="1828800" algn="l">
              <a:lnSpc>
                <a:spcPct val="115000"/>
              </a:lnSpc>
              <a:spcBef>
                <a:spcPts val="0"/>
              </a:spcBef>
              <a:spcAft>
                <a:spcPts val="0"/>
              </a:spcAft>
              <a:buSzPts val="1400"/>
              <a:buFont typeface="Montserrat"/>
              <a:buChar char="●"/>
              <a:defRPr>
                <a:latin typeface="Montserrat"/>
                <a:ea typeface="Montserrat"/>
                <a:cs typeface="Montserrat"/>
                <a:sym typeface="Montserrat"/>
              </a:defRPr>
            </a:lvl4pPr>
            <a:lvl5pPr indent="-317500" lvl="4" marL="2286000" algn="l">
              <a:lnSpc>
                <a:spcPct val="115000"/>
              </a:lnSpc>
              <a:spcBef>
                <a:spcPts val="0"/>
              </a:spcBef>
              <a:spcAft>
                <a:spcPts val="0"/>
              </a:spcAft>
              <a:buSzPts val="1400"/>
              <a:buFont typeface="Montserrat"/>
              <a:buChar char="○"/>
              <a:defRPr>
                <a:latin typeface="Montserrat"/>
                <a:ea typeface="Montserrat"/>
                <a:cs typeface="Montserrat"/>
                <a:sym typeface="Montserrat"/>
              </a:defRPr>
            </a:lvl5pPr>
            <a:lvl6pPr indent="-317500" lvl="5" marL="2743200" algn="l">
              <a:lnSpc>
                <a:spcPct val="115000"/>
              </a:lnSpc>
              <a:spcBef>
                <a:spcPts val="0"/>
              </a:spcBef>
              <a:spcAft>
                <a:spcPts val="0"/>
              </a:spcAft>
              <a:buSzPts val="1400"/>
              <a:buFont typeface="Montserrat"/>
              <a:buChar char="■"/>
              <a:defRPr>
                <a:latin typeface="Montserrat"/>
                <a:ea typeface="Montserrat"/>
                <a:cs typeface="Montserrat"/>
                <a:sym typeface="Montserrat"/>
              </a:defRPr>
            </a:lvl6pPr>
            <a:lvl7pPr indent="-317500" lvl="6" marL="3200400" algn="l">
              <a:lnSpc>
                <a:spcPct val="115000"/>
              </a:lnSpc>
              <a:spcBef>
                <a:spcPts val="0"/>
              </a:spcBef>
              <a:spcAft>
                <a:spcPts val="0"/>
              </a:spcAft>
              <a:buSzPts val="1400"/>
              <a:buFont typeface="Montserrat"/>
              <a:buChar char="●"/>
              <a:defRPr>
                <a:latin typeface="Montserrat"/>
                <a:ea typeface="Montserrat"/>
                <a:cs typeface="Montserrat"/>
                <a:sym typeface="Montserrat"/>
              </a:defRPr>
            </a:lvl7pPr>
            <a:lvl8pPr indent="-317500" lvl="7" marL="3657600" algn="l">
              <a:lnSpc>
                <a:spcPct val="115000"/>
              </a:lnSpc>
              <a:spcBef>
                <a:spcPts val="0"/>
              </a:spcBef>
              <a:spcAft>
                <a:spcPts val="0"/>
              </a:spcAft>
              <a:buSzPts val="1400"/>
              <a:buFont typeface="Montserrat"/>
              <a:buChar char="○"/>
              <a:defRPr>
                <a:latin typeface="Montserrat"/>
                <a:ea typeface="Montserrat"/>
                <a:cs typeface="Montserrat"/>
                <a:sym typeface="Montserrat"/>
              </a:defRPr>
            </a:lvl8pPr>
            <a:lvl9pPr indent="-317500" lvl="8" marL="4114800" algn="l">
              <a:lnSpc>
                <a:spcPct val="115000"/>
              </a:lnSpc>
              <a:spcBef>
                <a:spcPts val="0"/>
              </a:spcBef>
              <a:spcAft>
                <a:spcPts val="0"/>
              </a:spcAft>
              <a:buSzPts val="1400"/>
              <a:buFont typeface="Montserrat"/>
              <a:buChar char="■"/>
              <a:defRPr>
                <a:latin typeface="Montserrat"/>
                <a:ea typeface="Montserrat"/>
                <a:cs typeface="Montserrat"/>
                <a:sym typeface="Montserrat"/>
              </a:defRPr>
            </a:lvl9pPr>
          </a:lstStyle>
          <a:p/>
        </p:txBody>
      </p:sp>
      <p:pic>
        <p:nvPicPr>
          <p:cNvPr id="49" name="Google Shape;49;p42"/>
          <p:cNvPicPr preferRelativeResize="0"/>
          <p:nvPr/>
        </p:nvPicPr>
        <p:blipFill rotWithShape="1">
          <a:blip r:embed="rId2">
            <a:alphaModFix/>
          </a:blip>
          <a:srcRect b="0" l="0" r="0" t="0"/>
          <a:stretch/>
        </p:blipFill>
        <p:spPr>
          <a:xfrm>
            <a:off x="8078975" y="4699100"/>
            <a:ext cx="558475" cy="300725"/>
          </a:xfrm>
          <a:prstGeom prst="rect">
            <a:avLst/>
          </a:prstGeom>
          <a:noFill/>
          <a:ln>
            <a:noFill/>
          </a:ln>
        </p:spPr>
      </p:pic>
      <p:sp>
        <p:nvSpPr>
          <p:cNvPr id="50" name="Google Shape;50;p42"/>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1" name="Google Shape;51;p42"/>
          <p:cNvPicPr preferRelativeResize="0"/>
          <p:nvPr/>
        </p:nvPicPr>
        <p:blipFill rotWithShape="1">
          <a:blip r:embed="rId3">
            <a:alphaModFix/>
          </a:blip>
          <a:srcRect b="0" l="0" r="0" t="0"/>
          <a:stretch/>
        </p:blipFill>
        <p:spPr>
          <a:xfrm>
            <a:off x="8155184" y="33947"/>
            <a:ext cx="876879" cy="399275"/>
          </a:xfrm>
          <a:prstGeom prst="rect">
            <a:avLst/>
          </a:prstGeom>
          <a:noFill/>
          <a:ln>
            <a:noFill/>
          </a:ln>
        </p:spPr>
      </p:pic>
      <p:pic>
        <p:nvPicPr>
          <p:cNvPr id="52" name="Google Shape;52;p42"/>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88">
          <p15:clr>
            <a:srgbClr val="FA7B17"/>
          </p15:clr>
        </p15:guide>
        <p15:guide id="3" orient="horz" pos="2960">
          <p15:clr>
            <a:srgbClr val="FA7B17"/>
          </p15:clr>
        </p15:guide>
        <p15:guide id="4" orient="horz" pos="3149">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3" name="Shape 53"/>
        <p:cNvGrpSpPr/>
        <p:nvPr/>
      </p:nvGrpSpPr>
      <p:grpSpPr>
        <a:xfrm>
          <a:off x="0" y="0"/>
          <a:ext cx="0" cy="0"/>
          <a:chOff x="0" y="0"/>
          <a:chExt cx="0" cy="0"/>
        </a:xfrm>
      </p:grpSpPr>
      <p:sp>
        <p:nvSpPr>
          <p:cNvPr id="54" name="Google Shape;54;p43"/>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43"/>
          <p:cNvSpPr txBox="1"/>
          <p:nvPr>
            <p:ph type="title"/>
          </p:nvPr>
        </p:nvSpPr>
        <p:spPr>
          <a:xfrm>
            <a:off x="311700" y="5974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Font typeface="Montserrat Medium"/>
              <a:buNone/>
              <a:defRPr>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6" name="Google Shape;56;p43"/>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lgn="l">
              <a:lnSpc>
                <a:spcPct val="115000"/>
              </a:lnSpc>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lgn="l">
              <a:lnSpc>
                <a:spcPct val="115000"/>
              </a:lnSpc>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9pPr>
          </a:lstStyle>
          <a:p/>
        </p:txBody>
      </p:sp>
      <p:sp>
        <p:nvSpPr>
          <p:cNvPr id="57" name="Google Shape;57;p43"/>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lgn="l">
              <a:lnSpc>
                <a:spcPct val="115000"/>
              </a:lnSpc>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lgn="l">
              <a:lnSpc>
                <a:spcPct val="115000"/>
              </a:lnSpc>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9pPr>
          </a:lstStyle>
          <a:p/>
        </p:txBody>
      </p:sp>
      <p:pic>
        <p:nvPicPr>
          <p:cNvPr id="58" name="Google Shape;58;p43"/>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59" name="Google Shape;59;p43"/>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pic>
        <p:nvPicPr>
          <p:cNvPr id="60" name="Google Shape;60;p43"/>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ágenes o gráficos" type="titleOnly">
  <p:cSld name="TITLE_ONLY">
    <p:spTree>
      <p:nvGrpSpPr>
        <p:cNvPr id="61" name="Shape 61"/>
        <p:cNvGrpSpPr/>
        <p:nvPr/>
      </p:nvGrpSpPr>
      <p:grpSpPr>
        <a:xfrm>
          <a:off x="0" y="0"/>
          <a:ext cx="0" cy="0"/>
          <a:chOff x="0" y="0"/>
          <a:chExt cx="0" cy="0"/>
        </a:xfrm>
      </p:grpSpPr>
      <p:sp>
        <p:nvSpPr>
          <p:cNvPr id="62" name="Google Shape;62;p44"/>
          <p:cNvSpPr txBox="1"/>
          <p:nvPr>
            <p:ph type="title"/>
          </p:nvPr>
        </p:nvSpPr>
        <p:spPr>
          <a:xfrm>
            <a:off x="311700" y="-12175"/>
            <a:ext cx="77490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63" name="Google Shape;63;p44"/>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64" name="Google Shape;64;p44"/>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pic>
        <p:nvPicPr>
          <p:cNvPr id="65" name="Google Shape;65;p44"/>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6" name="Shape 66"/>
        <p:cNvGrpSpPr/>
        <p:nvPr/>
      </p:nvGrpSpPr>
      <p:grpSpPr>
        <a:xfrm>
          <a:off x="0" y="0"/>
          <a:ext cx="0" cy="0"/>
          <a:chOff x="0" y="0"/>
          <a:chExt cx="0" cy="0"/>
        </a:xfrm>
      </p:grpSpPr>
      <p:sp>
        <p:nvSpPr>
          <p:cNvPr id="67" name="Google Shape;67;p45"/>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45"/>
          <p:cNvSpPr txBox="1"/>
          <p:nvPr>
            <p:ph type="title"/>
          </p:nvPr>
        </p:nvSpPr>
        <p:spPr>
          <a:xfrm>
            <a:off x="490250" y="450150"/>
            <a:ext cx="8061000" cy="37629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414141"/>
              </a:buClr>
              <a:buSzPts val="4000"/>
              <a:buFont typeface="Montserrat"/>
              <a:buNone/>
              <a:defRPr b="1" sz="4000">
                <a:solidFill>
                  <a:srgbClr val="414141"/>
                </a:solidFill>
                <a:latin typeface="Montserrat"/>
                <a:ea typeface="Montserrat"/>
                <a:cs typeface="Montserrat"/>
                <a:sym typeface="Montserrat"/>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69" name="Google Shape;69;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70" name="Google Shape;70;p45"/>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71" name="Google Shape;71;p45"/>
          <p:cNvPicPr preferRelativeResize="0"/>
          <p:nvPr/>
        </p:nvPicPr>
        <p:blipFill rotWithShape="1">
          <a:blip r:embed="rId3">
            <a:alphaModFix/>
          </a:blip>
          <a:srcRect b="0" l="0" r="0" t="0"/>
          <a:stretch/>
        </p:blipFill>
        <p:spPr>
          <a:xfrm>
            <a:off x="7910675" y="4073939"/>
            <a:ext cx="1365875" cy="1365875"/>
          </a:xfrm>
          <a:prstGeom prst="rect">
            <a:avLst/>
          </a:prstGeom>
          <a:noFill/>
          <a:ln>
            <a:noFill/>
          </a:ln>
        </p:spPr>
      </p:pic>
      <p:pic>
        <p:nvPicPr>
          <p:cNvPr id="72" name="Google Shape;72;p45"/>
          <p:cNvPicPr preferRelativeResize="0"/>
          <p:nvPr/>
        </p:nvPicPr>
        <p:blipFill rotWithShape="1">
          <a:blip r:embed="rId4">
            <a:alphaModFix/>
          </a:blip>
          <a:srcRect b="0" l="0" r="0" t="0"/>
          <a:stretch/>
        </p:blipFill>
        <p:spPr>
          <a:xfrm>
            <a:off x="0" y="4264238"/>
            <a:ext cx="1163080" cy="792599"/>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portante o recordatorio" type="blank">
  <p:cSld name="BLANK">
    <p:spTree>
      <p:nvGrpSpPr>
        <p:cNvPr id="73" name="Shape 73"/>
        <p:cNvGrpSpPr/>
        <p:nvPr/>
      </p:nvGrpSpPr>
      <p:grpSpPr>
        <a:xfrm>
          <a:off x="0" y="0"/>
          <a:ext cx="0" cy="0"/>
          <a:chOff x="0" y="0"/>
          <a:chExt cx="0" cy="0"/>
        </a:xfrm>
      </p:grpSpPr>
      <p:sp>
        <p:nvSpPr>
          <p:cNvPr id="74" name="Google Shape;74;p46"/>
          <p:cNvSpPr/>
          <p:nvPr/>
        </p:nvSpPr>
        <p:spPr>
          <a:xfrm>
            <a:off x="-13650" y="-577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5" name="Google Shape;75;p46"/>
          <p:cNvPicPr preferRelativeResize="0"/>
          <p:nvPr/>
        </p:nvPicPr>
        <p:blipFill rotWithShape="1">
          <a:blip r:embed="rId2">
            <a:alphaModFix/>
          </a:blip>
          <a:srcRect b="0" l="0" r="0" t="0"/>
          <a:stretch/>
        </p:blipFill>
        <p:spPr>
          <a:xfrm>
            <a:off x="7910675" y="-260761"/>
            <a:ext cx="1365875" cy="1365875"/>
          </a:xfrm>
          <a:prstGeom prst="rect">
            <a:avLst/>
          </a:prstGeom>
          <a:noFill/>
          <a:ln>
            <a:noFill/>
          </a:ln>
        </p:spPr>
      </p:pic>
      <p:pic>
        <p:nvPicPr>
          <p:cNvPr id="76" name="Google Shape;76;p46"/>
          <p:cNvPicPr preferRelativeResize="0"/>
          <p:nvPr/>
        </p:nvPicPr>
        <p:blipFill rotWithShape="1">
          <a:blip r:embed="rId3">
            <a:alphaModFix/>
          </a:blip>
          <a:srcRect b="0" l="0" r="0" t="0"/>
          <a:stretch/>
        </p:blipFill>
        <p:spPr>
          <a:xfrm>
            <a:off x="0" y="5738"/>
            <a:ext cx="1163080" cy="792599"/>
          </a:xfrm>
          <a:prstGeom prst="rect">
            <a:avLst/>
          </a:prstGeom>
          <a:noFill/>
          <a:ln>
            <a:noFill/>
          </a:ln>
        </p:spPr>
      </p:pic>
      <p:pic>
        <p:nvPicPr>
          <p:cNvPr id="77" name="Google Shape;77;p46"/>
          <p:cNvPicPr preferRelativeResize="0"/>
          <p:nvPr/>
        </p:nvPicPr>
        <p:blipFill rotWithShape="1">
          <a:blip r:embed="rId4">
            <a:alphaModFix/>
          </a:blip>
          <a:srcRect b="0" l="0" r="0" t="0"/>
          <a:stretch/>
        </p:blipFill>
        <p:spPr>
          <a:xfrm>
            <a:off x="4026135" y="164938"/>
            <a:ext cx="1091725" cy="497100"/>
          </a:xfrm>
          <a:prstGeom prst="rect">
            <a:avLst/>
          </a:prstGeom>
          <a:noFill/>
          <a:ln>
            <a:noFill/>
          </a:ln>
        </p:spPr>
      </p:pic>
      <p:sp>
        <p:nvSpPr>
          <p:cNvPr id="78" name="Google Shape;78;p46"/>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333333"/>
              </a:buClr>
              <a:buSzPts val="3700"/>
              <a:buFont typeface="Montserrat"/>
              <a:buNone/>
              <a:defRPr b="1" sz="3700">
                <a:solidFill>
                  <a:srgbClr val="333333"/>
                </a:solidFill>
                <a:latin typeface="Montserrat"/>
                <a:ea typeface="Montserrat"/>
                <a:cs typeface="Montserrat"/>
                <a:sym typeface="Montserrat"/>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jercicios e imagen">
  <p:cSld name="SECTION_TITLE_AND_DESCRIPTION">
    <p:spTree>
      <p:nvGrpSpPr>
        <p:cNvPr id="79" name="Shape 79"/>
        <p:cNvGrpSpPr/>
        <p:nvPr/>
      </p:nvGrpSpPr>
      <p:grpSpPr>
        <a:xfrm>
          <a:off x="0" y="0"/>
          <a:ext cx="0" cy="0"/>
          <a:chOff x="0" y="0"/>
          <a:chExt cx="0" cy="0"/>
        </a:xfrm>
      </p:grpSpPr>
      <p:sp>
        <p:nvSpPr>
          <p:cNvPr id="80" name="Google Shape;80;p47"/>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47"/>
          <p:cNvSpPr txBox="1"/>
          <p:nvPr>
            <p:ph type="title"/>
          </p:nvPr>
        </p:nvSpPr>
        <p:spPr>
          <a:xfrm>
            <a:off x="265500" y="7759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3800"/>
              <a:buFont typeface="Montserrat"/>
              <a:buNone/>
              <a:defRPr sz="3800">
                <a:latin typeface="Montserrat"/>
                <a:ea typeface="Montserrat"/>
                <a:cs typeface="Montserrat"/>
                <a:sym typeface="Montserrat"/>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2" name="Google Shape;82;p47"/>
          <p:cNvSpPr txBox="1"/>
          <p:nvPr>
            <p:ph idx="1" type="subTitle"/>
          </p:nvPr>
        </p:nvSpPr>
        <p:spPr>
          <a:xfrm>
            <a:off x="265500" y="24982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Montserrat"/>
              <a:buNone/>
              <a:defRPr sz="2100">
                <a:latin typeface="Montserrat"/>
                <a:ea typeface="Montserrat"/>
                <a:cs typeface="Montserrat"/>
                <a:sym typeface="Montserrat"/>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3" name="Google Shape;83;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
        <p:nvSpPr>
          <p:cNvPr id="84" name="Google Shape;84;p47"/>
          <p:cNvSpPr/>
          <p:nvPr/>
        </p:nvSpPr>
        <p:spPr>
          <a:xfrm>
            <a:off x="4572150" y="-18175"/>
            <a:ext cx="45720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5" name="Google Shape;85;p47"/>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86" name="Google Shape;86;p47"/>
          <p:cNvPicPr preferRelativeResize="0"/>
          <p:nvPr/>
        </p:nvPicPr>
        <p:blipFill rotWithShape="1">
          <a:blip r:embed="rId3">
            <a:alphaModFix/>
          </a:blip>
          <a:srcRect b="0" l="0" r="0" t="0"/>
          <a:stretch/>
        </p:blipFill>
        <p:spPr>
          <a:xfrm>
            <a:off x="3506975" y="4699100"/>
            <a:ext cx="558475" cy="300725"/>
          </a:xfrm>
          <a:prstGeom prst="rect">
            <a:avLst/>
          </a:prstGeom>
          <a:noFill/>
          <a:ln>
            <a:noFill/>
          </a:ln>
        </p:spPr>
      </p:pic>
      <p:pic>
        <p:nvPicPr>
          <p:cNvPr id="87" name="Google Shape;87;p47"/>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s">
  <p:cSld name="CAPTION_ONLY">
    <p:spTree>
      <p:nvGrpSpPr>
        <p:cNvPr id="88" name="Shape 88"/>
        <p:cNvGrpSpPr/>
        <p:nvPr/>
      </p:nvGrpSpPr>
      <p:grpSpPr>
        <a:xfrm>
          <a:off x="0" y="0"/>
          <a:ext cx="0" cy="0"/>
          <a:chOff x="0" y="0"/>
          <a:chExt cx="0" cy="0"/>
        </a:xfrm>
      </p:grpSpPr>
      <p:sp>
        <p:nvSpPr>
          <p:cNvPr id="89" name="Google Shape;89;p48"/>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48"/>
          <p:cNvSpPr txBox="1"/>
          <p:nvPr>
            <p:ph idx="1" type="body"/>
          </p:nvPr>
        </p:nvSpPr>
        <p:spPr>
          <a:xfrm>
            <a:off x="433800" y="1715975"/>
            <a:ext cx="8203800" cy="14820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000"/>
              <a:buFont typeface="Montserrat"/>
              <a:buNone/>
              <a:defRPr i="1" sz="2000">
                <a:latin typeface="Montserrat"/>
                <a:ea typeface="Montserrat"/>
                <a:cs typeface="Montserrat"/>
                <a:sym typeface="Montserrat"/>
              </a:defRPr>
            </a:lvl1pPr>
          </a:lstStyle>
          <a:p/>
        </p:txBody>
      </p:sp>
      <p:pic>
        <p:nvPicPr>
          <p:cNvPr id="91" name="Google Shape;91;p48"/>
          <p:cNvPicPr preferRelativeResize="0"/>
          <p:nvPr/>
        </p:nvPicPr>
        <p:blipFill rotWithShape="1">
          <a:blip r:embed="rId2">
            <a:alphaModFix/>
          </a:blip>
          <a:srcRect b="0" l="0" r="0" t="0"/>
          <a:stretch/>
        </p:blipFill>
        <p:spPr>
          <a:xfrm>
            <a:off x="127225" y="906000"/>
            <a:ext cx="1429649" cy="936662"/>
          </a:xfrm>
          <a:prstGeom prst="rect">
            <a:avLst/>
          </a:prstGeom>
          <a:noFill/>
          <a:ln>
            <a:noFill/>
          </a:ln>
        </p:spPr>
      </p:pic>
      <p:pic>
        <p:nvPicPr>
          <p:cNvPr id="92" name="Google Shape;92;p48"/>
          <p:cNvPicPr preferRelativeResize="0"/>
          <p:nvPr/>
        </p:nvPicPr>
        <p:blipFill rotWithShape="1">
          <a:blip r:embed="rId3">
            <a:alphaModFix/>
          </a:blip>
          <a:srcRect b="0" l="0" r="0" t="0"/>
          <a:stretch/>
        </p:blipFill>
        <p:spPr>
          <a:xfrm>
            <a:off x="7632800" y="2758064"/>
            <a:ext cx="1385650" cy="907836"/>
          </a:xfrm>
          <a:prstGeom prst="rect">
            <a:avLst/>
          </a:prstGeom>
          <a:noFill/>
          <a:ln>
            <a:noFill/>
          </a:ln>
        </p:spPr>
      </p:pic>
      <p:sp>
        <p:nvSpPr>
          <p:cNvPr id="93" name="Google Shape;93;p48"/>
          <p:cNvSpPr txBox="1"/>
          <p:nvPr/>
        </p:nvSpPr>
        <p:spPr>
          <a:xfrm>
            <a:off x="432025" y="3792225"/>
            <a:ext cx="8401800" cy="4002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s" sz="1400" u="none" cap="none" strike="noStrike">
                <a:solidFill>
                  <a:schemeClr val="dk1"/>
                </a:solidFill>
                <a:latin typeface="Montserrat"/>
                <a:ea typeface="Montserrat"/>
                <a:cs typeface="Montserrat"/>
                <a:sym typeface="Montserrat"/>
              </a:rPr>
              <a:t>Autor/as/es:</a:t>
            </a:r>
            <a:endParaRPr b="1" i="0" sz="1400" u="none" cap="none" strike="noStrike">
              <a:solidFill>
                <a:schemeClr val="dk1"/>
              </a:solidFill>
              <a:latin typeface="Montserrat"/>
              <a:ea typeface="Montserrat"/>
              <a:cs typeface="Montserrat"/>
              <a:sym typeface="Montserrat"/>
            </a:endParaRPr>
          </a:p>
        </p:txBody>
      </p:sp>
      <p:pic>
        <p:nvPicPr>
          <p:cNvPr id="94" name="Google Shape;94;p48"/>
          <p:cNvPicPr preferRelativeResize="0"/>
          <p:nvPr/>
        </p:nvPicPr>
        <p:blipFill rotWithShape="1">
          <a:blip r:embed="rId4">
            <a:alphaModFix/>
          </a:blip>
          <a:srcRect b="0" l="0" r="0" t="0"/>
          <a:stretch/>
        </p:blipFill>
        <p:spPr>
          <a:xfrm>
            <a:off x="8155184" y="33947"/>
            <a:ext cx="876879" cy="399275"/>
          </a:xfrm>
          <a:prstGeom prst="rect">
            <a:avLst/>
          </a:prstGeom>
          <a:noFill/>
          <a:ln>
            <a:noFill/>
          </a:ln>
        </p:spPr>
      </p:pic>
      <p:pic>
        <p:nvPicPr>
          <p:cNvPr id="95" name="Google Shape;95;p48"/>
          <p:cNvPicPr preferRelativeResize="0"/>
          <p:nvPr/>
        </p:nvPicPr>
        <p:blipFill rotWithShape="1">
          <a:blip r:embed="rId5">
            <a:alphaModFix/>
          </a:blip>
          <a:srcRect b="0" l="0" r="0" t="0"/>
          <a:stretch/>
        </p:blipFill>
        <p:spPr>
          <a:xfrm>
            <a:off x="8078975" y="4699100"/>
            <a:ext cx="558475" cy="300725"/>
          </a:xfrm>
          <a:prstGeom prst="rect">
            <a:avLst/>
          </a:prstGeom>
          <a:noFill/>
          <a:ln>
            <a:noFill/>
          </a:ln>
        </p:spPr>
      </p:pic>
      <p:sp>
        <p:nvSpPr>
          <p:cNvPr id="96" name="Google Shape;96;p48"/>
          <p:cNvSpPr txBox="1"/>
          <p:nvPr>
            <p:ph type="title"/>
          </p:nvPr>
        </p:nvSpPr>
        <p:spPr>
          <a:xfrm>
            <a:off x="1766475" y="3773600"/>
            <a:ext cx="7145100" cy="300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500"/>
              <a:buFont typeface="Montserrat Medium"/>
              <a:buNone/>
              <a:defRPr sz="1500">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7" name="Google Shape;97;p48"/>
          <p:cNvSpPr txBox="1"/>
          <p:nvPr>
            <p:ph idx="2" type="title"/>
          </p:nvPr>
        </p:nvSpPr>
        <p:spPr>
          <a:xfrm>
            <a:off x="432025" y="83275"/>
            <a:ext cx="7145100" cy="39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500"/>
              <a:buFont typeface="Montserrat SemiBold"/>
              <a:buNone/>
              <a:defRPr sz="1500">
                <a:latin typeface="Montserrat SemiBold"/>
                <a:ea typeface="Montserrat SemiBold"/>
                <a:cs typeface="Montserrat SemiBold"/>
                <a:sym typeface="Montserrat SemiBol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98" name="Google Shape;98;p48"/>
          <p:cNvPicPr preferRelativeResize="0"/>
          <p:nvPr/>
        </p:nvPicPr>
        <p:blipFill rotWithShape="1">
          <a:blip r:embed="rId6">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41">
          <p15:clr>
            <a:srgbClr val="FA7B17"/>
          </p15:clr>
        </p15:guide>
        <p15:guide id="3" orient="horz" pos="2551">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tarea y consigna">
  <p:cSld name="BIG_NUMBER">
    <p:spTree>
      <p:nvGrpSpPr>
        <p:cNvPr id="99" name="Shape 99"/>
        <p:cNvGrpSpPr/>
        <p:nvPr/>
      </p:nvGrpSpPr>
      <p:grpSpPr>
        <a:xfrm>
          <a:off x="0" y="0"/>
          <a:ext cx="0" cy="0"/>
          <a:chOff x="0" y="0"/>
          <a:chExt cx="0" cy="0"/>
        </a:xfrm>
      </p:grpSpPr>
      <p:sp>
        <p:nvSpPr>
          <p:cNvPr id="100" name="Google Shape;100;p49"/>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102" name="Google Shape;102;p49"/>
          <p:cNvPicPr preferRelativeResize="0"/>
          <p:nvPr/>
        </p:nvPicPr>
        <p:blipFill rotWithShape="1">
          <a:blip r:embed="rId2">
            <a:alphaModFix/>
          </a:blip>
          <a:srcRect b="0" l="0" r="0" t="0"/>
          <a:stretch/>
        </p:blipFill>
        <p:spPr>
          <a:xfrm>
            <a:off x="4026135" y="4508338"/>
            <a:ext cx="1091725" cy="497100"/>
          </a:xfrm>
          <a:prstGeom prst="rect">
            <a:avLst/>
          </a:prstGeom>
          <a:noFill/>
          <a:ln>
            <a:noFill/>
          </a:ln>
        </p:spPr>
      </p:pic>
      <p:pic>
        <p:nvPicPr>
          <p:cNvPr id="103" name="Google Shape;103;p49"/>
          <p:cNvPicPr preferRelativeResize="0"/>
          <p:nvPr/>
        </p:nvPicPr>
        <p:blipFill rotWithShape="1">
          <a:blip r:embed="rId3">
            <a:alphaModFix/>
          </a:blip>
          <a:srcRect b="0" l="0" r="0" t="0"/>
          <a:stretch/>
        </p:blipFill>
        <p:spPr>
          <a:xfrm>
            <a:off x="0" y="4264238"/>
            <a:ext cx="1163080" cy="792599"/>
          </a:xfrm>
          <a:prstGeom prst="rect">
            <a:avLst/>
          </a:prstGeom>
          <a:noFill/>
          <a:ln>
            <a:noFill/>
          </a:ln>
        </p:spPr>
      </p:pic>
      <p:pic>
        <p:nvPicPr>
          <p:cNvPr id="104" name="Google Shape;104;p49"/>
          <p:cNvPicPr preferRelativeResize="0"/>
          <p:nvPr/>
        </p:nvPicPr>
        <p:blipFill rotWithShape="1">
          <a:blip r:embed="rId4">
            <a:alphaModFix/>
          </a:blip>
          <a:srcRect b="0" l="0" r="0" t="0"/>
          <a:stretch/>
        </p:blipFill>
        <p:spPr>
          <a:xfrm>
            <a:off x="7910675" y="4073939"/>
            <a:ext cx="1365875" cy="1365875"/>
          </a:xfrm>
          <a:prstGeom prst="rect">
            <a:avLst/>
          </a:prstGeom>
          <a:noFill/>
          <a:ln>
            <a:noFill/>
          </a:ln>
        </p:spPr>
      </p:pic>
      <p:sp>
        <p:nvSpPr>
          <p:cNvPr id="105" name="Google Shape;105;p49"/>
          <p:cNvSpPr txBox="1"/>
          <p:nvPr>
            <p:ph type="title"/>
          </p:nvPr>
        </p:nvSpPr>
        <p:spPr>
          <a:xfrm>
            <a:off x="432025" y="187325"/>
            <a:ext cx="7982100" cy="497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600"/>
              <a:buFont typeface="Montserrat Medium"/>
              <a:buNone/>
              <a:defRPr sz="2600">
                <a:latin typeface="Montserrat Medium"/>
                <a:ea typeface="Montserrat Medium"/>
                <a:cs typeface="Montserrat Medium"/>
                <a:sym typeface="Montserrat Medium"/>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06" name="Google Shape;106;p49"/>
          <p:cNvSpPr txBox="1"/>
          <p:nvPr>
            <p:ph idx="1" type="body"/>
          </p:nvPr>
        </p:nvSpPr>
        <p:spPr>
          <a:xfrm>
            <a:off x="432025" y="847675"/>
            <a:ext cx="8280000" cy="3318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Font typeface="Montserrat"/>
              <a:buChar char="●"/>
              <a:defRPr>
                <a:latin typeface="Montserrat"/>
                <a:ea typeface="Montserrat"/>
                <a:cs typeface="Montserrat"/>
                <a:sym typeface="Montserrat"/>
              </a:defRPr>
            </a:lvl1pPr>
            <a:lvl2pPr indent="-317500" lvl="1" marL="914400" algn="l">
              <a:lnSpc>
                <a:spcPct val="115000"/>
              </a:lnSpc>
              <a:spcBef>
                <a:spcPts val="0"/>
              </a:spcBef>
              <a:spcAft>
                <a:spcPts val="0"/>
              </a:spcAft>
              <a:buSzPts val="1400"/>
              <a:buFont typeface="Montserrat"/>
              <a:buChar char="○"/>
              <a:defRPr>
                <a:latin typeface="Montserrat"/>
                <a:ea typeface="Montserrat"/>
                <a:cs typeface="Montserrat"/>
                <a:sym typeface="Montserrat"/>
              </a:defRPr>
            </a:lvl2pPr>
            <a:lvl3pPr indent="-317500" lvl="2" marL="1371600" algn="l">
              <a:lnSpc>
                <a:spcPct val="115000"/>
              </a:lnSpc>
              <a:spcBef>
                <a:spcPts val="0"/>
              </a:spcBef>
              <a:spcAft>
                <a:spcPts val="0"/>
              </a:spcAft>
              <a:buSzPts val="1400"/>
              <a:buFont typeface="Montserrat"/>
              <a:buChar char="■"/>
              <a:defRPr>
                <a:latin typeface="Montserrat"/>
                <a:ea typeface="Montserrat"/>
                <a:cs typeface="Montserrat"/>
                <a:sym typeface="Montserrat"/>
              </a:defRPr>
            </a:lvl3pPr>
            <a:lvl4pPr indent="-317500" lvl="3" marL="1828800" algn="l">
              <a:lnSpc>
                <a:spcPct val="115000"/>
              </a:lnSpc>
              <a:spcBef>
                <a:spcPts val="0"/>
              </a:spcBef>
              <a:spcAft>
                <a:spcPts val="0"/>
              </a:spcAft>
              <a:buSzPts val="1400"/>
              <a:buFont typeface="Montserrat"/>
              <a:buChar char="●"/>
              <a:defRPr>
                <a:latin typeface="Montserrat"/>
                <a:ea typeface="Montserrat"/>
                <a:cs typeface="Montserrat"/>
                <a:sym typeface="Montserrat"/>
              </a:defRPr>
            </a:lvl4pPr>
            <a:lvl5pPr indent="-317500" lvl="4" marL="2286000" algn="l">
              <a:lnSpc>
                <a:spcPct val="115000"/>
              </a:lnSpc>
              <a:spcBef>
                <a:spcPts val="0"/>
              </a:spcBef>
              <a:spcAft>
                <a:spcPts val="0"/>
              </a:spcAft>
              <a:buSzPts val="1400"/>
              <a:buFont typeface="Montserrat"/>
              <a:buChar char="○"/>
              <a:defRPr>
                <a:latin typeface="Montserrat"/>
                <a:ea typeface="Montserrat"/>
                <a:cs typeface="Montserrat"/>
                <a:sym typeface="Montserrat"/>
              </a:defRPr>
            </a:lvl5pPr>
            <a:lvl6pPr indent="-317500" lvl="5" marL="2743200" algn="l">
              <a:lnSpc>
                <a:spcPct val="115000"/>
              </a:lnSpc>
              <a:spcBef>
                <a:spcPts val="0"/>
              </a:spcBef>
              <a:spcAft>
                <a:spcPts val="0"/>
              </a:spcAft>
              <a:buSzPts val="1400"/>
              <a:buFont typeface="Montserrat"/>
              <a:buChar char="■"/>
              <a:defRPr>
                <a:latin typeface="Montserrat"/>
                <a:ea typeface="Montserrat"/>
                <a:cs typeface="Montserrat"/>
                <a:sym typeface="Montserrat"/>
              </a:defRPr>
            </a:lvl6pPr>
            <a:lvl7pPr indent="-317500" lvl="6" marL="3200400" algn="l">
              <a:lnSpc>
                <a:spcPct val="115000"/>
              </a:lnSpc>
              <a:spcBef>
                <a:spcPts val="0"/>
              </a:spcBef>
              <a:spcAft>
                <a:spcPts val="0"/>
              </a:spcAft>
              <a:buSzPts val="1400"/>
              <a:buFont typeface="Montserrat"/>
              <a:buChar char="●"/>
              <a:defRPr>
                <a:latin typeface="Montserrat"/>
                <a:ea typeface="Montserrat"/>
                <a:cs typeface="Montserrat"/>
                <a:sym typeface="Montserrat"/>
              </a:defRPr>
            </a:lvl7pPr>
            <a:lvl8pPr indent="-317500" lvl="7" marL="3657600" algn="l">
              <a:lnSpc>
                <a:spcPct val="115000"/>
              </a:lnSpc>
              <a:spcBef>
                <a:spcPts val="0"/>
              </a:spcBef>
              <a:spcAft>
                <a:spcPts val="0"/>
              </a:spcAft>
              <a:buSzPts val="1400"/>
              <a:buFont typeface="Montserrat"/>
              <a:buChar char="○"/>
              <a:defRPr>
                <a:latin typeface="Montserrat"/>
                <a:ea typeface="Montserrat"/>
                <a:cs typeface="Montserrat"/>
                <a:sym typeface="Montserrat"/>
              </a:defRPr>
            </a:lvl8pPr>
            <a:lvl9pPr indent="-317500" lvl="8" marL="4114800" algn="l">
              <a:lnSpc>
                <a:spcPct val="115000"/>
              </a:lnSpc>
              <a:spcBef>
                <a:spcPts val="0"/>
              </a:spcBef>
              <a:spcAft>
                <a:spcPts val="0"/>
              </a:spcAft>
              <a:buSzPts val="1400"/>
              <a:buFont typeface="Montserrat"/>
              <a:buChar char="■"/>
              <a:defRPr>
                <a:latin typeface="Montserrat"/>
                <a:ea typeface="Montserrat"/>
                <a:cs typeface="Montserrat"/>
                <a:sym typeface="Montserrat"/>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2 - 37">
  <p:cSld name="BLANK_1_1">
    <p:spTree>
      <p:nvGrpSpPr>
        <p:cNvPr id="107" name="Shape 107"/>
        <p:cNvGrpSpPr/>
        <p:nvPr/>
      </p:nvGrpSpPr>
      <p:grpSpPr>
        <a:xfrm>
          <a:off x="0" y="0"/>
          <a:ext cx="0" cy="0"/>
          <a:chOff x="0" y="0"/>
          <a:chExt cx="0" cy="0"/>
        </a:xfrm>
      </p:grpSpPr>
      <p:sp>
        <p:nvSpPr>
          <p:cNvPr id="108" name="Google Shape;108;p50"/>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09" name="Google Shape;109;p50"/>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50"/>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50"/>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50"/>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3" name="Google Shape;113;p50"/>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4" name="Google Shape;114;p50"/>
          <p:cNvSpPr txBox="1"/>
          <p:nvPr>
            <p:ph type="title"/>
          </p:nvPr>
        </p:nvSpPr>
        <p:spPr>
          <a:xfrm>
            <a:off x="1271800" y="115937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15" name="Google Shape;115;p50"/>
          <p:cNvSpPr txBox="1"/>
          <p:nvPr>
            <p:ph idx="2" type="title"/>
          </p:nvPr>
        </p:nvSpPr>
        <p:spPr>
          <a:xfrm>
            <a:off x="3938175" y="1159375"/>
            <a:ext cx="109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400"/>
              <a:buFont typeface="Montserrat"/>
              <a:buNone/>
              <a:defRPr b="1" sz="1400">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16" name="Google Shape;116;p50"/>
          <p:cNvSpPr txBox="1"/>
          <p:nvPr>
            <p:ph idx="3" type="title"/>
          </p:nvPr>
        </p:nvSpPr>
        <p:spPr>
          <a:xfrm>
            <a:off x="6877450" y="1159388"/>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17" name="Google Shape;117;p50"/>
          <p:cNvSpPr txBox="1"/>
          <p:nvPr>
            <p:ph idx="4" type="title"/>
          </p:nvPr>
        </p:nvSpPr>
        <p:spPr>
          <a:xfrm>
            <a:off x="532575" y="2150850"/>
            <a:ext cx="2397900" cy="211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8" name="Google Shape;118;p50"/>
          <p:cNvSpPr txBox="1"/>
          <p:nvPr>
            <p:ph idx="5" type="title"/>
          </p:nvPr>
        </p:nvSpPr>
        <p:spPr>
          <a:xfrm>
            <a:off x="6130475" y="2159925"/>
            <a:ext cx="2397900" cy="211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9" name="Google Shape;119;p50"/>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0" name="Google Shape;120;p50"/>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121" name="Google Shape;121;p50"/>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sp>
        <p:nvSpPr>
          <p:cNvPr id="122" name="Google Shape;122;p50"/>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23" name="Google Shape;123;p50"/>
          <p:cNvSpPr txBox="1"/>
          <p:nvPr>
            <p:ph idx="6" type="title"/>
          </p:nvPr>
        </p:nvSpPr>
        <p:spPr>
          <a:xfrm>
            <a:off x="3331525" y="2159925"/>
            <a:ext cx="2397900" cy="2121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24" name="Google Shape;124;p50"/>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Última clase">
  <p:cSld name="BLANK_1_1_1">
    <p:spTree>
      <p:nvGrpSpPr>
        <p:cNvPr id="125" name="Shape 125"/>
        <p:cNvGrpSpPr/>
        <p:nvPr/>
      </p:nvGrpSpPr>
      <p:grpSpPr>
        <a:xfrm>
          <a:off x="0" y="0"/>
          <a:ext cx="0" cy="0"/>
          <a:chOff x="0" y="0"/>
          <a:chExt cx="0" cy="0"/>
        </a:xfrm>
      </p:grpSpPr>
      <p:sp>
        <p:nvSpPr>
          <p:cNvPr id="126" name="Google Shape;126;p51"/>
          <p:cNvSpPr/>
          <p:nvPr/>
        </p:nvSpPr>
        <p:spPr>
          <a:xfrm>
            <a:off x="212425" y="1172325"/>
            <a:ext cx="4818000" cy="436800"/>
          </a:xfrm>
          <a:prstGeom prst="chevron">
            <a:avLst>
              <a:gd fmla="val 45084"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27" name="Google Shape;127;p51"/>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51"/>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51"/>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0" name="Google Shape;130;p51"/>
          <p:cNvSpPr txBox="1"/>
          <p:nvPr>
            <p:ph type="title"/>
          </p:nvPr>
        </p:nvSpPr>
        <p:spPr>
          <a:xfrm>
            <a:off x="1271800" y="115937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31" name="Google Shape;131;p51"/>
          <p:cNvSpPr txBox="1"/>
          <p:nvPr>
            <p:ph idx="2" type="title"/>
          </p:nvPr>
        </p:nvSpPr>
        <p:spPr>
          <a:xfrm>
            <a:off x="3938175" y="1159375"/>
            <a:ext cx="109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400"/>
              <a:buFont typeface="Montserrat"/>
              <a:buNone/>
              <a:defRPr b="1" sz="1400">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32" name="Google Shape;132;p51"/>
          <p:cNvSpPr txBox="1"/>
          <p:nvPr>
            <p:ph idx="3" type="title"/>
          </p:nvPr>
        </p:nvSpPr>
        <p:spPr>
          <a:xfrm>
            <a:off x="532575" y="2150850"/>
            <a:ext cx="2397900" cy="211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3" name="Google Shape;133;p51"/>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4" name="Google Shape;134;p51"/>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135" name="Google Shape;135;p51"/>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sp>
        <p:nvSpPr>
          <p:cNvPr id="136" name="Google Shape;136;p51"/>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7" name="Google Shape;137;p51"/>
          <p:cNvSpPr txBox="1"/>
          <p:nvPr>
            <p:ph idx="4" type="title"/>
          </p:nvPr>
        </p:nvSpPr>
        <p:spPr>
          <a:xfrm>
            <a:off x="3331525" y="2159925"/>
            <a:ext cx="2397900" cy="2121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38" name="Google Shape;138;p51"/>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hyperlink" Target="https://agenciadeaprendizaje.bue.edu.ar/codo-a-codo/" TargetMode="External"/><Relationship Id="rId4" Type="http://schemas.openxmlformats.org/officeDocument/2006/relationships/hyperlink" Target="https://www.buenosaires.gob.ar/educacion/codoacodo/preguntas-frecuente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hyperlink" Target="https://www.linkedin.com/in/gsettino/"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hyperlink" Target="https://drive.google.com/file/d/1j94ofM6qEFg8EiPMJsNjR8he_X7s6gp1/view?usp=share_link" TargetMode="Externa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hyperlink" Target="https://agenciadeaprendizaje.bue.edu.ar/portfolio-egresados-codo-a-codo" TargetMode="External"/><Relationship Id="rId4" Type="http://schemas.openxmlformats.org/officeDocument/2006/relationships/image" Target="../media/image12.png"/><Relationship Id="rId5" Type="http://schemas.openxmlformats.org/officeDocument/2006/relationships/image" Target="../media/image20.png"/><Relationship Id="rId6" Type="http://schemas.openxmlformats.org/officeDocument/2006/relationships/image" Target="../media/image14.png"/><Relationship Id="rId7"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hyperlink" Target="https://jprigotti.github.io/CaC_2023_Tutor/"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hyperlink" Target="https://aulasvirtuales.bue.edu.ar/"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 Id="rId3" Type="http://schemas.openxmlformats.org/officeDocument/2006/relationships/hyperlink" Target="https://forms.gle/jvJFzgXN9eoxi9TC8"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2.xml"/><Relationship Id="rId3" Type="http://schemas.openxmlformats.org/officeDocument/2006/relationships/image" Target="../media/image1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
          <p:cNvSpPr txBox="1"/>
          <p:nvPr>
            <p:ph type="title"/>
          </p:nvPr>
        </p:nvSpPr>
        <p:spPr>
          <a:xfrm>
            <a:off x="3335100" y="1617575"/>
            <a:ext cx="5497200" cy="13752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700"/>
              <a:buNone/>
            </a:pPr>
            <a:r>
              <a:rPr lang="es"/>
              <a:t>FULL STACK PYTHON</a:t>
            </a:r>
            <a:endParaRPr/>
          </a:p>
          <a:p>
            <a:pPr indent="0" lvl="0" marL="0" rtl="0" algn="ctr">
              <a:lnSpc>
                <a:spcPct val="100000"/>
              </a:lnSpc>
              <a:spcBef>
                <a:spcPts val="0"/>
              </a:spcBef>
              <a:spcAft>
                <a:spcPts val="0"/>
              </a:spcAft>
              <a:buSzPts val="3700"/>
              <a:buNone/>
            </a:pPr>
            <a:r>
              <a:rPr lang="es"/>
              <a:t>Clase 0</a:t>
            </a:r>
            <a:endParaRPr/>
          </a:p>
        </p:txBody>
      </p:sp>
      <p:sp>
        <p:nvSpPr>
          <p:cNvPr id="144" name="Google Shape;144;p1"/>
          <p:cNvSpPr txBox="1"/>
          <p:nvPr>
            <p:ph idx="1" type="subTitle"/>
          </p:nvPr>
        </p:nvSpPr>
        <p:spPr>
          <a:xfrm>
            <a:off x="3335025" y="2986525"/>
            <a:ext cx="55344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500"/>
              <a:buNone/>
            </a:pPr>
            <a:r>
              <a:rPr lang="es"/>
              <a:t>Presentación del curso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
          <p:cNvSpPr txBox="1"/>
          <p:nvPr>
            <p:ph type="ctrTitle"/>
          </p:nvPr>
        </p:nvSpPr>
        <p:spPr>
          <a:xfrm>
            <a:off x="311700" y="1226800"/>
            <a:ext cx="8520600" cy="15705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Clr>
                <a:schemeClr val="dk1"/>
              </a:buClr>
              <a:buSzPts val="1100"/>
              <a:buFont typeface="Arial"/>
              <a:buNone/>
            </a:pPr>
            <a:r>
              <a:rPr lang="es"/>
              <a:t>Les damos la bienvenida</a:t>
            </a:r>
            <a:endParaRPr/>
          </a:p>
        </p:txBody>
      </p:sp>
      <p:sp>
        <p:nvSpPr>
          <p:cNvPr id="150" name="Google Shape;150;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500"/>
              <a:buNone/>
            </a:pPr>
            <a:r>
              <a:rPr lang="es"/>
              <a:t>Vamos a comenzar a grabar la clase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
          <p:cNvSpPr txBox="1"/>
          <p:nvPr>
            <p:ph type="title"/>
          </p:nvPr>
        </p:nvSpPr>
        <p:spPr>
          <a:xfrm>
            <a:off x="3331525" y="2159925"/>
            <a:ext cx="2397900" cy="2121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b="1" lang="es"/>
              <a:t>Presentación del curso</a:t>
            </a:r>
            <a:endParaRPr b="1"/>
          </a:p>
          <a:p>
            <a:pPr indent="0" lvl="0" marL="0" rtl="0" algn="l">
              <a:lnSpc>
                <a:spcPct val="100000"/>
              </a:lnSpc>
              <a:spcBef>
                <a:spcPts val="0"/>
              </a:spcBef>
              <a:spcAft>
                <a:spcPts val="0"/>
              </a:spcAft>
              <a:buSzPts val="1000"/>
              <a:buNone/>
            </a:pPr>
            <a:r>
              <a:t/>
            </a:r>
            <a:endParaRPr/>
          </a:p>
          <a:p>
            <a:pPr indent="-292100" lvl="0" marL="457200" rtl="0" algn="l">
              <a:lnSpc>
                <a:spcPct val="100000"/>
              </a:lnSpc>
              <a:spcBef>
                <a:spcPts val="0"/>
              </a:spcBef>
              <a:spcAft>
                <a:spcPts val="0"/>
              </a:spcAft>
              <a:buSzPts val="1000"/>
              <a:buChar char="●"/>
            </a:pPr>
            <a:r>
              <a:rPr lang="es"/>
              <a:t>Sobre Codo a Codo.</a:t>
            </a:r>
            <a:endParaRPr/>
          </a:p>
          <a:p>
            <a:pPr indent="-292100" lvl="0" marL="457200" rtl="0" algn="l">
              <a:lnSpc>
                <a:spcPct val="100000"/>
              </a:lnSpc>
              <a:spcBef>
                <a:spcPts val="0"/>
              </a:spcBef>
              <a:spcAft>
                <a:spcPts val="0"/>
              </a:spcAft>
              <a:buSzPts val="1000"/>
              <a:buChar char="●"/>
            </a:pPr>
            <a:r>
              <a:rPr lang="es"/>
              <a:t>Objetivo del curso y lineamientos de cursada.</a:t>
            </a:r>
            <a:endParaRPr/>
          </a:p>
          <a:p>
            <a:pPr indent="-292100" lvl="0" marL="457200" rtl="0" algn="l">
              <a:lnSpc>
                <a:spcPct val="100000"/>
              </a:lnSpc>
              <a:spcBef>
                <a:spcPts val="0"/>
              </a:spcBef>
              <a:spcAft>
                <a:spcPts val="0"/>
              </a:spcAft>
              <a:buSzPts val="1000"/>
              <a:buChar char="●"/>
            </a:pPr>
            <a:r>
              <a:rPr lang="es"/>
              <a:t>Conceptos básicos sobre Full Stack.</a:t>
            </a:r>
            <a:endParaRPr/>
          </a:p>
          <a:p>
            <a:pPr indent="-292100" lvl="0" marL="457200" rtl="0" algn="l">
              <a:lnSpc>
                <a:spcPct val="100000"/>
              </a:lnSpc>
              <a:spcBef>
                <a:spcPts val="0"/>
              </a:spcBef>
              <a:spcAft>
                <a:spcPts val="0"/>
              </a:spcAft>
              <a:buSzPts val="1000"/>
              <a:buChar char="●"/>
            </a:pPr>
            <a:r>
              <a:rPr lang="es"/>
              <a:t>Herramientas a utilizar.</a:t>
            </a:r>
            <a:endParaRPr/>
          </a:p>
          <a:p>
            <a:pPr indent="-292100" lvl="0" marL="457200" rtl="0" algn="l">
              <a:lnSpc>
                <a:spcPct val="100000"/>
              </a:lnSpc>
              <a:spcBef>
                <a:spcPts val="0"/>
              </a:spcBef>
              <a:spcAft>
                <a:spcPts val="0"/>
              </a:spcAft>
              <a:buSzPts val="1000"/>
              <a:buChar char="●"/>
            </a:pPr>
            <a:r>
              <a:rPr lang="es"/>
              <a:t>Instalación del software.</a:t>
            </a:r>
            <a:endParaRPr/>
          </a:p>
          <a:p>
            <a:pPr indent="0" lvl="0" marL="0" rtl="0" algn="l">
              <a:lnSpc>
                <a:spcPct val="100000"/>
              </a:lnSpc>
              <a:spcBef>
                <a:spcPts val="0"/>
              </a:spcBef>
              <a:spcAft>
                <a:spcPts val="0"/>
              </a:spcAft>
              <a:buSzPts val="1000"/>
              <a:buNone/>
            </a:pPr>
            <a:r>
              <a:t/>
            </a:r>
            <a:endParaRPr/>
          </a:p>
        </p:txBody>
      </p:sp>
      <p:sp>
        <p:nvSpPr>
          <p:cNvPr id="156" name="Google Shape;156;p3"/>
          <p:cNvSpPr txBox="1"/>
          <p:nvPr>
            <p:ph idx="2" type="title"/>
          </p:nvPr>
        </p:nvSpPr>
        <p:spPr>
          <a:xfrm>
            <a:off x="6134350" y="2196275"/>
            <a:ext cx="2397900" cy="2075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b="1" lang="es"/>
              <a:t>HTML 1 - Conceptos básicos de HTML</a:t>
            </a:r>
            <a:endParaRPr b="1"/>
          </a:p>
          <a:p>
            <a:pPr indent="0" lvl="0" marL="0" rtl="0" algn="l">
              <a:lnSpc>
                <a:spcPct val="100000"/>
              </a:lnSpc>
              <a:spcBef>
                <a:spcPts val="0"/>
              </a:spcBef>
              <a:spcAft>
                <a:spcPts val="0"/>
              </a:spcAft>
              <a:buClr>
                <a:schemeClr val="dk1"/>
              </a:buClr>
              <a:buSzPts val="1100"/>
              <a:buFont typeface="Arial"/>
              <a:buNone/>
            </a:pPr>
            <a:r>
              <a:t/>
            </a:r>
            <a:endParaRPr b="1"/>
          </a:p>
          <a:p>
            <a:pPr indent="-292100" lvl="0" marL="457200" rtl="0" algn="l">
              <a:lnSpc>
                <a:spcPct val="100000"/>
              </a:lnSpc>
              <a:spcBef>
                <a:spcPts val="0"/>
              </a:spcBef>
              <a:spcAft>
                <a:spcPts val="0"/>
              </a:spcAft>
              <a:buSzPts val="1000"/>
              <a:buChar char="●"/>
            </a:pPr>
            <a:r>
              <a:rPr lang="es"/>
              <a:t>Conceptos básicos de la web</a:t>
            </a:r>
            <a:endParaRPr/>
          </a:p>
          <a:p>
            <a:pPr indent="-292100" lvl="0" marL="457200" rtl="0" algn="l">
              <a:lnSpc>
                <a:spcPct val="100000"/>
              </a:lnSpc>
              <a:spcBef>
                <a:spcPts val="0"/>
              </a:spcBef>
              <a:spcAft>
                <a:spcPts val="0"/>
              </a:spcAft>
              <a:buSzPts val="1000"/>
              <a:buChar char="●"/>
            </a:pPr>
            <a:r>
              <a:rPr lang="es"/>
              <a:t>Proyecto web: ¿qué es?</a:t>
            </a:r>
            <a:endParaRPr/>
          </a:p>
          <a:p>
            <a:pPr indent="-292100" lvl="0" marL="457200" rtl="0" algn="l">
              <a:lnSpc>
                <a:spcPct val="100000"/>
              </a:lnSpc>
              <a:spcBef>
                <a:spcPts val="0"/>
              </a:spcBef>
              <a:spcAft>
                <a:spcPts val="0"/>
              </a:spcAft>
              <a:buSzPts val="1000"/>
              <a:buChar char="●"/>
            </a:pPr>
            <a:r>
              <a:rPr lang="es"/>
              <a:t>Concepto Cliente/Servidor</a:t>
            </a:r>
            <a:endParaRPr/>
          </a:p>
          <a:p>
            <a:pPr indent="-292100" lvl="0" marL="457200" rtl="0" algn="l">
              <a:lnSpc>
                <a:spcPct val="100000"/>
              </a:lnSpc>
              <a:spcBef>
                <a:spcPts val="0"/>
              </a:spcBef>
              <a:spcAft>
                <a:spcPts val="0"/>
              </a:spcAft>
              <a:buSzPts val="1000"/>
              <a:buChar char="●"/>
            </a:pPr>
            <a:r>
              <a:rPr lang="es"/>
              <a:t>Introducción a HTML. Etiquetas básicas y atributos.</a:t>
            </a:r>
            <a:endParaRPr/>
          </a:p>
        </p:txBody>
      </p:sp>
      <p:sp>
        <p:nvSpPr>
          <p:cNvPr id="157" name="Google Shape;157;p3"/>
          <p:cNvSpPr txBox="1"/>
          <p:nvPr>
            <p:ph idx="3" type="title"/>
          </p:nvPr>
        </p:nvSpPr>
        <p:spPr>
          <a:xfrm>
            <a:off x="4039950" y="1164225"/>
            <a:ext cx="911700" cy="3006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s"/>
              <a:t>Clase 00</a:t>
            </a:r>
            <a:endParaRPr/>
          </a:p>
        </p:txBody>
      </p:sp>
      <p:sp>
        <p:nvSpPr>
          <p:cNvPr id="158" name="Google Shape;158;p3"/>
          <p:cNvSpPr txBox="1"/>
          <p:nvPr>
            <p:ph idx="4" type="title"/>
          </p:nvPr>
        </p:nvSpPr>
        <p:spPr>
          <a:xfrm>
            <a:off x="6877450" y="1164225"/>
            <a:ext cx="911700" cy="3006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s"/>
              <a:t>Clase 01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4"/>
          <p:cNvSpPr txBox="1"/>
          <p:nvPr>
            <p:ph type="ctrTitle"/>
          </p:nvPr>
        </p:nvSpPr>
        <p:spPr>
          <a:xfrm>
            <a:off x="550375" y="7600"/>
            <a:ext cx="8043300" cy="1570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000"/>
              <a:buNone/>
            </a:pPr>
            <a:r>
              <a:rPr lang="es"/>
              <a:t>Sobre Codo a Codo 4.0</a:t>
            </a:r>
            <a:endParaRPr/>
          </a:p>
        </p:txBody>
      </p:sp>
      <p:sp>
        <p:nvSpPr>
          <p:cNvPr id="164" name="Google Shape;164;p4"/>
          <p:cNvSpPr txBox="1"/>
          <p:nvPr>
            <p:ph idx="1" type="subTitle"/>
          </p:nvPr>
        </p:nvSpPr>
        <p:spPr>
          <a:xfrm>
            <a:off x="550375" y="1614925"/>
            <a:ext cx="8043300" cy="264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700"/>
              <a:buNone/>
            </a:pPr>
            <a:r>
              <a:rPr lang="es"/>
              <a:t>Preparamos a los/as estudiantes para la demanda de las empresas más innovadoras del área de IT.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5"/>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Objetivo</a:t>
            </a:r>
            <a:endParaRPr/>
          </a:p>
        </p:txBody>
      </p:sp>
      <p:sp>
        <p:nvSpPr>
          <p:cNvPr id="170" name="Google Shape;170;p5"/>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Nuestros cursos están destinados a personas jóvenes y adultas, que busquen desarrollarse profesional y personalmente, ampliando sus oportunidades laborales de acuerdo a los desafíos que plantea el Siglo XXI.</a:t>
            </a:r>
            <a:endParaRPr/>
          </a:p>
          <a:p>
            <a:pPr indent="-342900" lvl="0" marL="457200" rtl="0" algn="l">
              <a:lnSpc>
                <a:spcPct val="115000"/>
              </a:lnSpc>
              <a:spcBef>
                <a:spcPts val="0"/>
              </a:spcBef>
              <a:spcAft>
                <a:spcPts val="0"/>
              </a:spcAft>
              <a:buSzPts val="1800"/>
              <a:buChar char="●"/>
            </a:pPr>
            <a:r>
              <a:rPr lang="es"/>
              <a:t>El objetivo es brindar herramientas que faciliten la inserción laboral en el sector Informática (IT), y en particular, fomentar la participación de las mujeres, con el fin de mejorar su empleabilidad.</a:t>
            </a:r>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6"/>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Ofrecemos 7 opciones de aprendizaje</a:t>
            </a:r>
            <a:endParaRPr/>
          </a:p>
        </p:txBody>
      </p:sp>
      <p:sp>
        <p:nvSpPr>
          <p:cNvPr id="176" name="Google Shape;176;p6"/>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rgbClr val="7685E6"/>
              </a:buClr>
              <a:buSzPts val="1800"/>
              <a:buChar char="●"/>
            </a:pPr>
            <a:r>
              <a:rPr b="1" lang="es">
                <a:solidFill>
                  <a:srgbClr val="7685E6"/>
                </a:solidFill>
              </a:rPr>
              <a:t>Full Stack Python</a:t>
            </a:r>
            <a:endParaRPr b="1">
              <a:solidFill>
                <a:srgbClr val="7685E6"/>
              </a:solidFill>
            </a:endParaRPr>
          </a:p>
          <a:p>
            <a:pPr indent="-342900" lvl="0" marL="457200" rtl="0" algn="l">
              <a:lnSpc>
                <a:spcPct val="115000"/>
              </a:lnSpc>
              <a:spcBef>
                <a:spcPts val="0"/>
              </a:spcBef>
              <a:spcAft>
                <a:spcPts val="0"/>
              </a:spcAft>
              <a:buSzPts val="1800"/>
              <a:buChar char="●"/>
            </a:pPr>
            <a:r>
              <a:rPr lang="es"/>
              <a:t>Full Stack Java</a:t>
            </a:r>
            <a:endParaRPr/>
          </a:p>
          <a:p>
            <a:pPr indent="-342900" lvl="0" marL="457200" rtl="0" algn="l">
              <a:lnSpc>
                <a:spcPct val="115000"/>
              </a:lnSpc>
              <a:spcBef>
                <a:spcPts val="0"/>
              </a:spcBef>
              <a:spcAft>
                <a:spcPts val="0"/>
              </a:spcAft>
              <a:buSzPts val="1800"/>
              <a:buChar char="●"/>
            </a:pPr>
            <a:r>
              <a:rPr lang="es"/>
              <a:t>Full Stack Node.js</a:t>
            </a:r>
            <a:endParaRPr/>
          </a:p>
          <a:p>
            <a:pPr indent="-342900" lvl="0" marL="457200" rtl="0" algn="l">
              <a:lnSpc>
                <a:spcPct val="115000"/>
              </a:lnSpc>
              <a:spcBef>
                <a:spcPts val="0"/>
              </a:spcBef>
              <a:spcAft>
                <a:spcPts val="0"/>
              </a:spcAft>
              <a:buSzPts val="1800"/>
              <a:buChar char="●"/>
            </a:pPr>
            <a:r>
              <a:rPr lang="es"/>
              <a:t>Full Stack PHP</a:t>
            </a:r>
            <a:endParaRPr/>
          </a:p>
          <a:p>
            <a:pPr indent="-342900" lvl="0" marL="457200" rtl="0" algn="l">
              <a:lnSpc>
                <a:spcPct val="115000"/>
              </a:lnSpc>
              <a:spcBef>
                <a:spcPts val="0"/>
              </a:spcBef>
              <a:spcAft>
                <a:spcPts val="0"/>
              </a:spcAft>
              <a:buSzPts val="1800"/>
              <a:buChar char="●"/>
            </a:pPr>
            <a:r>
              <a:rPr lang="es"/>
              <a:t>Diseño UX/UI</a:t>
            </a:r>
            <a:endParaRPr/>
          </a:p>
          <a:p>
            <a:pPr indent="-342900" lvl="0" marL="457200" rtl="0" algn="l">
              <a:lnSpc>
                <a:spcPct val="115000"/>
              </a:lnSpc>
              <a:spcBef>
                <a:spcPts val="0"/>
              </a:spcBef>
              <a:spcAft>
                <a:spcPts val="0"/>
              </a:spcAft>
              <a:buSzPts val="1800"/>
              <a:buChar char="●"/>
            </a:pPr>
            <a:r>
              <a:rPr lang="es"/>
              <a:t>Testing &amp; QA</a:t>
            </a:r>
            <a:endParaRPr b="1">
              <a:solidFill>
                <a:srgbClr val="7685E6"/>
              </a:solidFill>
            </a:endParaRPr>
          </a:p>
          <a:p>
            <a:pPr indent="-342900" lvl="0" marL="457200" rtl="0" algn="l">
              <a:lnSpc>
                <a:spcPct val="115000"/>
              </a:lnSpc>
              <a:spcBef>
                <a:spcPts val="0"/>
              </a:spcBef>
              <a:spcAft>
                <a:spcPts val="0"/>
              </a:spcAft>
              <a:buSzPts val="1800"/>
              <a:buChar char="●"/>
            </a:pPr>
            <a:r>
              <a:rPr lang="es"/>
              <a:t>Big Data/Ciencia de Datos</a:t>
            </a:r>
            <a:endParaRPr/>
          </a:p>
          <a:p>
            <a:pPr indent="0" lvl="0" marL="0" rtl="0" algn="l">
              <a:lnSpc>
                <a:spcPct val="115000"/>
              </a:lnSpc>
              <a:spcBef>
                <a:spcPts val="1200"/>
              </a:spcBef>
              <a:spcAft>
                <a:spcPts val="1200"/>
              </a:spcAft>
              <a:buSzPts val="1800"/>
              <a:buNone/>
            </a:pPr>
            <a:r>
              <a:rPr lang="es"/>
              <a:t>Los cursos son </a:t>
            </a:r>
            <a:r>
              <a:rPr b="1" lang="es"/>
              <a:t>gratuitos</a:t>
            </a:r>
            <a:r>
              <a:rPr lang="es"/>
              <a:t> y tienen una duración de </a:t>
            </a:r>
            <a:r>
              <a:rPr b="1" lang="es"/>
              <a:t>20 semanas</a:t>
            </a:r>
            <a:r>
              <a:rPr lang="es"/>
              <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7"/>
          <p:cNvSpPr txBox="1"/>
          <p:nvPr>
            <p:ph type="title"/>
          </p:nvPr>
        </p:nvSpPr>
        <p:spPr>
          <a:xfrm>
            <a:off x="311700" y="5974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Novedades</a:t>
            </a:r>
            <a:endParaRPr/>
          </a:p>
        </p:txBody>
      </p:sp>
      <p:sp>
        <p:nvSpPr>
          <p:cNvPr id="182" name="Google Shape;182;p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Clr>
                <a:schemeClr val="dk1"/>
              </a:buClr>
              <a:buSzPts val="1100"/>
              <a:buFont typeface="Arial"/>
              <a:buNone/>
            </a:pPr>
            <a:r>
              <a:rPr lang="es"/>
              <a:t>Programación Inicial:</a:t>
            </a:r>
            <a:endParaRPr/>
          </a:p>
          <a:p>
            <a:pPr indent="-317500" lvl="0" marL="457200" rtl="0" algn="l">
              <a:lnSpc>
                <a:spcPct val="115000"/>
              </a:lnSpc>
              <a:spcBef>
                <a:spcPts val="1200"/>
              </a:spcBef>
              <a:spcAft>
                <a:spcPts val="0"/>
              </a:spcAft>
              <a:buSzPts val="1400"/>
              <a:buChar char="●"/>
            </a:pPr>
            <a:r>
              <a:rPr lang="es"/>
              <a:t>Codo a Codo Inicial</a:t>
            </a:r>
            <a:endParaRPr/>
          </a:p>
          <a:p>
            <a:pPr indent="-317500" lvl="0" marL="457200" rtl="0" algn="l">
              <a:lnSpc>
                <a:spcPct val="115000"/>
              </a:lnSpc>
              <a:spcBef>
                <a:spcPts val="1200"/>
              </a:spcBef>
              <a:spcAft>
                <a:spcPts val="0"/>
              </a:spcAft>
              <a:buSzPts val="1400"/>
              <a:buChar char="●"/>
            </a:pPr>
            <a:r>
              <a:rPr lang="es"/>
              <a:t>Programacion Full Stack Python</a:t>
            </a:r>
            <a:endParaRPr/>
          </a:p>
          <a:p>
            <a:pPr indent="0" lvl="0" marL="0" rtl="0" algn="l">
              <a:lnSpc>
                <a:spcPct val="115000"/>
              </a:lnSpc>
              <a:spcBef>
                <a:spcPts val="1200"/>
              </a:spcBef>
              <a:spcAft>
                <a:spcPts val="0"/>
              </a:spcAft>
              <a:buSzPts val="1400"/>
              <a:buNone/>
            </a:pPr>
            <a:r>
              <a:rPr lang="es" sz="1300"/>
              <a:t>Cursos avanzados exclusivo para egresados Full Stack:</a:t>
            </a:r>
            <a:endParaRPr sz="1300"/>
          </a:p>
          <a:p>
            <a:pPr indent="-317500" lvl="0" marL="457200" rtl="0" algn="l">
              <a:lnSpc>
                <a:spcPct val="115000"/>
              </a:lnSpc>
              <a:spcBef>
                <a:spcPts val="1200"/>
              </a:spcBef>
              <a:spcAft>
                <a:spcPts val="0"/>
              </a:spcAft>
              <a:buSzPts val="1400"/>
              <a:buChar char="●"/>
            </a:pPr>
            <a:r>
              <a:rPr lang="es"/>
              <a:t>Spring</a:t>
            </a:r>
            <a:endParaRPr/>
          </a:p>
          <a:p>
            <a:pPr indent="-317500" lvl="0" marL="457200" rtl="0" algn="l">
              <a:lnSpc>
                <a:spcPct val="115000"/>
              </a:lnSpc>
              <a:spcBef>
                <a:spcPts val="0"/>
              </a:spcBef>
              <a:spcAft>
                <a:spcPts val="0"/>
              </a:spcAft>
              <a:buSzPts val="1400"/>
              <a:buChar char="●"/>
            </a:pPr>
            <a:r>
              <a:rPr lang="es"/>
              <a:t>Django</a:t>
            </a:r>
            <a:endParaRPr/>
          </a:p>
          <a:p>
            <a:pPr indent="-317500" lvl="0" marL="457200" rtl="0" algn="l">
              <a:lnSpc>
                <a:spcPct val="115000"/>
              </a:lnSpc>
              <a:spcBef>
                <a:spcPts val="0"/>
              </a:spcBef>
              <a:spcAft>
                <a:spcPts val="0"/>
              </a:spcAft>
              <a:buSzPts val="1400"/>
              <a:buChar char="●"/>
            </a:pPr>
            <a:r>
              <a:rPr lang="es"/>
              <a:t>React</a:t>
            </a:r>
            <a:endParaRPr/>
          </a:p>
          <a:p>
            <a:pPr indent="-317500" lvl="0" marL="457200" rtl="0" algn="l">
              <a:lnSpc>
                <a:spcPct val="115000"/>
              </a:lnSpc>
              <a:spcBef>
                <a:spcPts val="0"/>
              </a:spcBef>
              <a:spcAft>
                <a:spcPts val="0"/>
              </a:spcAft>
              <a:buSzPts val="1400"/>
              <a:buChar char="●"/>
            </a:pPr>
            <a:r>
              <a:rPr lang="es"/>
              <a:t>Unity</a:t>
            </a:r>
            <a:endParaRPr/>
          </a:p>
          <a:p>
            <a:pPr indent="0" lvl="0" marL="0" rtl="0" algn="l">
              <a:lnSpc>
                <a:spcPct val="115000"/>
              </a:lnSpc>
              <a:spcBef>
                <a:spcPts val="1200"/>
              </a:spcBef>
              <a:spcAft>
                <a:spcPts val="0"/>
              </a:spcAft>
              <a:buSzPts val="1400"/>
              <a:buNone/>
            </a:pPr>
            <a:r>
              <a:t/>
            </a:r>
            <a:endParaRPr b="1"/>
          </a:p>
          <a:p>
            <a:pPr indent="0" lvl="0" marL="0" rtl="0" algn="l">
              <a:lnSpc>
                <a:spcPct val="115000"/>
              </a:lnSpc>
              <a:spcBef>
                <a:spcPts val="1200"/>
              </a:spcBef>
              <a:spcAft>
                <a:spcPts val="1200"/>
              </a:spcAft>
              <a:buSzPts val="1400"/>
              <a:buNone/>
            </a:pPr>
            <a:r>
              <a:rPr b="1" lang="es"/>
              <a:t>Animate a hacer carrera en Codo</a:t>
            </a:r>
            <a:endParaRPr b="1"/>
          </a:p>
        </p:txBody>
      </p:sp>
      <p:pic>
        <p:nvPicPr>
          <p:cNvPr id="183" name="Google Shape;183;p7"/>
          <p:cNvPicPr preferRelativeResize="0"/>
          <p:nvPr/>
        </p:nvPicPr>
        <p:blipFill rotWithShape="1">
          <a:blip r:embed="rId3">
            <a:alphaModFix/>
          </a:blip>
          <a:srcRect b="0" l="0" r="0" t="0"/>
          <a:stretch/>
        </p:blipFill>
        <p:spPr>
          <a:xfrm>
            <a:off x="5130200" y="959525"/>
            <a:ext cx="3224425" cy="32244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7" name="Shape 187"/>
        <p:cNvGrpSpPr/>
        <p:nvPr/>
      </p:nvGrpSpPr>
      <p:grpSpPr>
        <a:xfrm>
          <a:off x="0" y="0"/>
          <a:ext cx="0" cy="0"/>
          <a:chOff x="0" y="0"/>
          <a:chExt cx="0" cy="0"/>
        </a:xfrm>
      </p:grpSpPr>
      <p:sp>
        <p:nvSpPr>
          <p:cNvPr id="188" name="Google Shape;188;p8"/>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Oferta cursos avanzados de Codo a Codo</a:t>
            </a:r>
            <a:endParaRPr/>
          </a:p>
        </p:txBody>
      </p:sp>
      <p:sp>
        <p:nvSpPr>
          <p:cNvPr id="189" name="Google Shape;189;p8"/>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fontScale="55000"/>
          </a:bodyPr>
          <a:lstStyle/>
          <a:p>
            <a:pPr indent="-291465" lvl="0" marL="457200" rtl="0" algn="l">
              <a:lnSpc>
                <a:spcPct val="115000"/>
              </a:lnSpc>
              <a:spcBef>
                <a:spcPts val="0"/>
              </a:spcBef>
              <a:spcAft>
                <a:spcPts val="0"/>
              </a:spcAft>
              <a:buSzPct val="100000"/>
              <a:buChar char="●"/>
            </a:pPr>
            <a:r>
              <a:rPr b="1" lang="es"/>
              <a:t>Spring: </a:t>
            </a:r>
            <a:r>
              <a:rPr lang="es"/>
              <a:t>Ideal para aprender a crear aplicaciones con uno de los frameworks más utilizados de la industria, Spring, acompañado de sus distintas tecnologías que lo complementan (Hibernate, JPA, etc.) para formarte como desarrollador Java back-end.</a:t>
            </a:r>
            <a:endParaRPr/>
          </a:p>
          <a:p>
            <a:pPr indent="-291465" lvl="0" marL="457200" rtl="0" algn="l">
              <a:lnSpc>
                <a:spcPct val="115000"/>
              </a:lnSpc>
              <a:spcBef>
                <a:spcPts val="0"/>
              </a:spcBef>
              <a:spcAft>
                <a:spcPts val="0"/>
              </a:spcAft>
              <a:buSzPct val="100000"/>
              <a:buChar char="●"/>
            </a:pPr>
            <a:r>
              <a:rPr b="1" lang="es"/>
              <a:t>Django:</a:t>
            </a:r>
            <a:r>
              <a:rPr lang="es"/>
              <a:t> Ideal para quienes poseen conocimientos de programación Full Stack con Python, y quieran profundizar sus conocimientos en el desarrollo integral de un sitio. Profundizarás conocimientos en el diseño de un sistema Orientado a Objetos y trabajarás con Django, el Web Framework más potente y popular de Python. Al finalizar el curso habrás desarrollado el back-end y el front-end para un sitio web completo y escalable que se conectará a una base de datos PostgreSQL, tendrá su propio sitio de administración y cumplirá con los aspectos básicos de seguridad.</a:t>
            </a:r>
            <a:endParaRPr/>
          </a:p>
          <a:p>
            <a:pPr indent="-291465" lvl="0" marL="457200" rtl="0" algn="l">
              <a:lnSpc>
                <a:spcPct val="115000"/>
              </a:lnSpc>
              <a:spcBef>
                <a:spcPts val="0"/>
              </a:spcBef>
              <a:spcAft>
                <a:spcPts val="0"/>
              </a:spcAft>
              <a:buSzPct val="100000"/>
              <a:buChar char="●"/>
            </a:pPr>
            <a:r>
              <a:rPr b="1" lang="es"/>
              <a:t>React:</a:t>
            </a:r>
            <a:r>
              <a:rPr lang="es"/>
              <a:t> Ideal para quienes quieren profundizar en el desarrollo front-end, trabajarás con la librería más popular de JavaScript para crear aplicaciones web interactivas, aprenderás a trabajar con componentes, propiedades, estado y efectos. Crearás tu primer proyecto web conectándote con Firebase.</a:t>
            </a:r>
            <a:endParaRPr/>
          </a:p>
          <a:p>
            <a:pPr indent="-291465" lvl="0" marL="457200" rtl="0" algn="l">
              <a:lnSpc>
                <a:spcPct val="115000"/>
              </a:lnSpc>
              <a:spcBef>
                <a:spcPts val="0"/>
              </a:spcBef>
              <a:spcAft>
                <a:spcPts val="0"/>
              </a:spcAft>
              <a:buSzPct val="100000"/>
              <a:buChar char="●"/>
            </a:pPr>
            <a:r>
              <a:rPr b="1" lang="es"/>
              <a:t>Unity:</a:t>
            </a:r>
            <a:r>
              <a:rPr lang="es"/>
              <a:t> Ideal para quienes deseen desarrollar videojuegos 2D y 3D para PC, web, smartphones, tablets y mucho más. Unity es uno de los motores gráficos más utilizados para el desarrollo de videojuegos por su interfaz intuitiva, funcionalidad, velocidad y gratuidad. Su entorno y sus múltiples herramientas integradas permiten desarrollar juegos completos y publicarlos en casi todas las plataformas existentes. Este curso abarca tanto el uso de las tecnologías elementales de Unity, como la programación con las mismas, en el lenguaje C#, incluyendo conexión a bases de datos SQLite. La cursada no solo se enfocará en desarrollar proyectos optimizados y con alto rendimiento, si no que también se hará hincapié en conceptos de narrativa y aspectos ludo narrativos.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9"/>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Más información</a:t>
            </a:r>
            <a:endParaRPr/>
          </a:p>
        </p:txBody>
      </p:sp>
      <p:sp>
        <p:nvSpPr>
          <p:cNvPr id="195" name="Google Shape;195;p9"/>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b="1" lang="es"/>
              <a:t>Sitio oficial:</a:t>
            </a:r>
            <a:r>
              <a:rPr lang="es"/>
              <a:t> </a:t>
            </a:r>
            <a:r>
              <a:rPr lang="es" u="sng">
                <a:solidFill>
                  <a:schemeClr val="hlink"/>
                </a:solidFill>
                <a:hlinkClick r:id="rId3"/>
              </a:rPr>
              <a:t>https://agenciadeaprendizaje.bue.edu.ar/codo-a-codo/</a:t>
            </a:r>
            <a:r>
              <a:rPr lang="es"/>
              <a:t>  </a:t>
            </a:r>
            <a:endParaRPr/>
          </a:p>
          <a:p>
            <a:pPr indent="-342900" lvl="0" marL="457200" rtl="0" algn="l">
              <a:lnSpc>
                <a:spcPct val="115000"/>
              </a:lnSpc>
              <a:spcBef>
                <a:spcPts val="0"/>
              </a:spcBef>
              <a:spcAft>
                <a:spcPts val="0"/>
              </a:spcAft>
              <a:buSzPts val="1800"/>
              <a:buChar char="●"/>
            </a:pPr>
            <a:r>
              <a:rPr b="1" lang="es"/>
              <a:t>Preguntas frecuentes:</a:t>
            </a:r>
            <a:r>
              <a:rPr lang="es"/>
              <a:t> </a:t>
            </a:r>
            <a:r>
              <a:rPr lang="es" sz="1550" u="sng">
                <a:solidFill>
                  <a:schemeClr val="hlink"/>
                </a:solidFill>
                <a:hlinkClick r:id="rId4"/>
              </a:rPr>
              <a:t>https://www.buenosaires.gob.ar/educacion/codoacodo/preguntas-frecuentes</a:t>
            </a:r>
            <a:r>
              <a:rPr lang="es" sz="1550"/>
              <a:t> </a:t>
            </a:r>
            <a:endParaRPr sz="1550"/>
          </a:p>
          <a:p>
            <a:pPr indent="-327025" lvl="0" marL="457200" rtl="0" algn="l">
              <a:lnSpc>
                <a:spcPct val="115000"/>
              </a:lnSpc>
              <a:spcBef>
                <a:spcPts val="0"/>
              </a:spcBef>
              <a:spcAft>
                <a:spcPts val="0"/>
              </a:spcAft>
              <a:buSzPts val="1550"/>
              <a:buChar char="●"/>
            </a:pPr>
            <a:r>
              <a:rPr b="1" lang="es" sz="1550"/>
              <a:t>Guía del estudiante</a:t>
            </a:r>
            <a:r>
              <a:rPr lang="es" sz="1550"/>
              <a:t> enviada por tu Tutor/a.</a:t>
            </a:r>
            <a:endParaRPr sz="1550"/>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0"/>
          <p:cNvSpPr txBox="1"/>
          <p:nvPr>
            <p:ph type="title"/>
          </p:nvPr>
        </p:nvSpPr>
        <p:spPr>
          <a:xfrm>
            <a:off x="311700" y="5974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Requisitos y Modalidad</a:t>
            </a:r>
            <a:endParaRPr/>
          </a:p>
        </p:txBody>
      </p:sp>
      <p:sp>
        <p:nvSpPr>
          <p:cNvPr id="201" name="Google Shape;201;p1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b="1" lang="es"/>
              <a:t>Requisitos</a:t>
            </a:r>
            <a:endParaRPr b="1"/>
          </a:p>
          <a:p>
            <a:pPr indent="-317500" lvl="0" marL="457200" rtl="0" algn="l">
              <a:lnSpc>
                <a:spcPct val="115000"/>
              </a:lnSpc>
              <a:spcBef>
                <a:spcPts val="1200"/>
              </a:spcBef>
              <a:spcAft>
                <a:spcPts val="0"/>
              </a:spcAft>
              <a:buSzPts val="1400"/>
              <a:buChar char="●"/>
            </a:pPr>
            <a:r>
              <a:rPr lang="es"/>
              <a:t>Nivel inicial en programación</a:t>
            </a:r>
            <a:endParaRPr/>
          </a:p>
          <a:p>
            <a:pPr indent="-317500" lvl="0" marL="457200" rtl="0" algn="l">
              <a:lnSpc>
                <a:spcPct val="115000"/>
              </a:lnSpc>
              <a:spcBef>
                <a:spcPts val="0"/>
              </a:spcBef>
              <a:spcAft>
                <a:spcPts val="0"/>
              </a:spcAft>
              <a:buSzPts val="1400"/>
              <a:buChar char="●"/>
            </a:pPr>
            <a:r>
              <a:rPr lang="es"/>
              <a:t>Nivel básico de inglés</a:t>
            </a:r>
            <a:endParaRPr/>
          </a:p>
          <a:p>
            <a:pPr indent="-317500" lvl="0" marL="457200" rtl="0" algn="l">
              <a:lnSpc>
                <a:spcPct val="115000"/>
              </a:lnSpc>
              <a:spcBef>
                <a:spcPts val="0"/>
              </a:spcBef>
              <a:spcAft>
                <a:spcPts val="0"/>
              </a:spcAft>
              <a:buSzPts val="1400"/>
              <a:buChar char="●"/>
            </a:pPr>
            <a:r>
              <a:rPr lang="es"/>
              <a:t>Mayor de 18 años</a:t>
            </a:r>
            <a:endParaRPr/>
          </a:p>
          <a:p>
            <a:pPr indent="-317500" lvl="0" marL="457200" rtl="0" algn="l">
              <a:lnSpc>
                <a:spcPct val="115000"/>
              </a:lnSpc>
              <a:spcBef>
                <a:spcPts val="0"/>
              </a:spcBef>
              <a:spcAft>
                <a:spcPts val="0"/>
              </a:spcAft>
              <a:buSzPts val="1400"/>
              <a:buChar char="●"/>
            </a:pPr>
            <a:r>
              <a:rPr lang="es"/>
              <a:t>Título secundario</a:t>
            </a:r>
            <a:endParaRPr/>
          </a:p>
        </p:txBody>
      </p:sp>
      <p:sp>
        <p:nvSpPr>
          <p:cNvPr id="202" name="Google Shape;202;p1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Clr>
                <a:schemeClr val="dk1"/>
              </a:buClr>
              <a:buSzPct val="78571"/>
              <a:buFont typeface="Arial"/>
              <a:buNone/>
            </a:pPr>
            <a:r>
              <a:rPr b="1" lang="es"/>
              <a:t>Modalidad Virtual</a:t>
            </a:r>
            <a:endParaRPr b="1"/>
          </a:p>
          <a:p>
            <a:pPr indent="0" lvl="0" marL="0" rtl="0" algn="l">
              <a:lnSpc>
                <a:spcPct val="115000"/>
              </a:lnSpc>
              <a:spcBef>
                <a:spcPts val="1200"/>
              </a:spcBef>
              <a:spcAft>
                <a:spcPts val="0"/>
              </a:spcAft>
              <a:buClr>
                <a:schemeClr val="dk1"/>
              </a:buClr>
              <a:buSzPct val="78571"/>
              <a:buFont typeface="Arial"/>
              <a:buNone/>
            </a:pPr>
            <a:r>
              <a:rPr lang="es"/>
              <a:t>Se dictarán 2 clases por semana con un/a docente en línea de una duración de 90 minutos cada una.</a:t>
            </a:r>
            <a:endParaRPr/>
          </a:p>
          <a:p>
            <a:pPr indent="0" lvl="0" marL="0" rtl="0" algn="l">
              <a:lnSpc>
                <a:spcPct val="115000"/>
              </a:lnSpc>
              <a:spcBef>
                <a:spcPts val="1200"/>
              </a:spcBef>
              <a:spcAft>
                <a:spcPts val="0"/>
              </a:spcAft>
              <a:buClr>
                <a:schemeClr val="dk1"/>
              </a:buClr>
              <a:buSzPct val="78571"/>
              <a:buFont typeface="Arial"/>
              <a:buNone/>
            </a:pPr>
            <a:r>
              <a:rPr lang="es"/>
              <a:t>Las ejercitaciones, actividades y/o consultas se desarrollarán dentro de la plataforma donde encontrarás todo lo necesario para tu formación: foros, material teórico y acompañamiento docente y pedagógico.</a:t>
            </a:r>
            <a:endParaRPr/>
          </a:p>
          <a:p>
            <a:pPr indent="0" lvl="0" marL="0" rtl="0" algn="l">
              <a:lnSpc>
                <a:spcPct val="115000"/>
              </a:lnSpc>
              <a:spcBef>
                <a:spcPts val="1200"/>
              </a:spcBef>
              <a:spcAft>
                <a:spcPts val="0"/>
              </a:spcAft>
              <a:buClr>
                <a:schemeClr val="dk1"/>
              </a:buClr>
              <a:buSzPct val="78571"/>
              <a:buFont typeface="Arial"/>
              <a:buNone/>
            </a:pPr>
            <a:r>
              <a:t/>
            </a:r>
            <a:endParaRPr/>
          </a:p>
          <a:p>
            <a:pPr indent="0" lvl="0" marL="0" rtl="0" algn="l">
              <a:lnSpc>
                <a:spcPct val="115000"/>
              </a:lnSpc>
              <a:spcBef>
                <a:spcPts val="1200"/>
              </a:spcBef>
              <a:spcAft>
                <a:spcPts val="0"/>
              </a:spcAft>
              <a:buClr>
                <a:schemeClr val="dk1"/>
              </a:buClr>
              <a:buSzPct val="78571"/>
              <a:buFont typeface="Arial"/>
              <a:buNone/>
            </a:pPr>
            <a:r>
              <a:t/>
            </a:r>
            <a:endParaRPr/>
          </a:p>
          <a:p>
            <a:pPr indent="0" lvl="0" marL="0" rtl="0" algn="l">
              <a:lnSpc>
                <a:spcPct val="115000"/>
              </a:lnSpc>
              <a:spcBef>
                <a:spcPts val="1200"/>
              </a:spcBef>
              <a:spcAft>
                <a:spcPts val="1200"/>
              </a:spcAft>
              <a:buSzPct val="108108"/>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6" name="Shape 206"/>
        <p:cNvGrpSpPr/>
        <p:nvPr/>
      </p:nvGrpSpPr>
      <p:grpSpPr>
        <a:xfrm>
          <a:off x="0" y="0"/>
          <a:ext cx="0" cy="0"/>
          <a:chOff x="0" y="0"/>
          <a:chExt cx="0" cy="0"/>
        </a:xfrm>
      </p:grpSpPr>
      <p:sp>
        <p:nvSpPr>
          <p:cNvPr id="207" name="Google Shape;207;p11"/>
          <p:cNvSpPr txBox="1"/>
          <p:nvPr>
            <p:ph type="title"/>
          </p:nvPr>
        </p:nvSpPr>
        <p:spPr>
          <a:xfrm>
            <a:off x="311700" y="5974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Tu Docente</a:t>
            </a:r>
            <a:endParaRPr/>
          </a:p>
        </p:txBody>
      </p:sp>
      <p:sp>
        <p:nvSpPr>
          <p:cNvPr id="208" name="Google Shape;208;p11"/>
          <p:cNvSpPr txBox="1"/>
          <p:nvPr/>
        </p:nvSpPr>
        <p:spPr>
          <a:xfrm>
            <a:off x="311700" y="1152475"/>
            <a:ext cx="44652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s">
                <a:solidFill>
                  <a:srgbClr val="000000"/>
                </a:solidFill>
                <a:latin typeface="Montserrat"/>
                <a:ea typeface="Montserrat"/>
                <a:cs typeface="Montserrat"/>
                <a:sym typeface="Montserrat"/>
              </a:rPr>
              <a:t>Ing. Germán Edgardo Settino </a:t>
            </a:r>
            <a:endParaRPr b="1">
              <a:solidFill>
                <a:srgbClr val="000000"/>
              </a:solidFill>
              <a:latin typeface="Montserrat"/>
              <a:ea typeface="Montserrat"/>
              <a:cs typeface="Montserrat"/>
              <a:sym typeface="Montserrat"/>
            </a:endParaRPr>
          </a:p>
          <a:p>
            <a:pPr indent="-317500" lvl="0" marL="457200" rtl="0" algn="l">
              <a:lnSpc>
                <a:spcPct val="115000"/>
              </a:lnSpc>
              <a:spcBef>
                <a:spcPts val="1200"/>
              </a:spcBef>
              <a:spcAft>
                <a:spcPts val="0"/>
              </a:spcAft>
              <a:buClr>
                <a:srgbClr val="595959"/>
              </a:buClr>
              <a:buSzPts val="1400"/>
              <a:buFont typeface="Montserrat"/>
              <a:buChar char="●"/>
            </a:pPr>
            <a:r>
              <a:rPr lang="es">
                <a:solidFill>
                  <a:srgbClr val="595959"/>
                </a:solidFill>
                <a:latin typeface="Montserrat"/>
                <a:ea typeface="Montserrat"/>
                <a:cs typeface="Montserrat"/>
                <a:sym typeface="Montserrat"/>
              </a:rPr>
              <a:t>Mail de contacto: </a:t>
            </a:r>
            <a:r>
              <a:rPr b="1" lang="es">
                <a:solidFill>
                  <a:srgbClr val="000000"/>
                </a:solidFill>
                <a:latin typeface="Montserrat"/>
                <a:ea typeface="Montserrat"/>
                <a:cs typeface="Montserrat"/>
                <a:sym typeface="Montserrat"/>
              </a:rPr>
              <a:t>german.settino@bue.edu.ar</a:t>
            </a:r>
            <a:endParaRPr b="1">
              <a:solidFill>
                <a:srgbClr val="000000"/>
              </a:solidFill>
              <a:latin typeface="Montserrat"/>
              <a:ea typeface="Montserrat"/>
              <a:cs typeface="Montserrat"/>
              <a:sym typeface="Montserrat"/>
            </a:endParaRPr>
          </a:p>
          <a:p>
            <a:pPr indent="0" lvl="0" marL="0" rtl="0" algn="l">
              <a:lnSpc>
                <a:spcPct val="115000"/>
              </a:lnSpc>
              <a:spcBef>
                <a:spcPts val="1200"/>
              </a:spcBef>
              <a:spcAft>
                <a:spcPts val="0"/>
              </a:spcAft>
              <a:buNone/>
            </a:pPr>
            <a:r>
              <a:t/>
            </a:r>
            <a:endParaRPr>
              <a:solidFill>
                <a:srgbClr val="595959"/>
              </a:solidFill>
              <a:latin typeface="Montserrat"/>
              <a:ea typeface="Montserrat"/>
              <a:cs typeface="Montserrat"/>
              <a:sym typeface="Montserrat"/>
            </a:endParaRPr>
          </a:p>
          <a:p>
            <a:pPr indent="-317500" lvl="0" marL="457200" rtl="0" algn="l">
              <a:lnSpc>
                <a:spcPct val="115000"/>
              </a:lnSpc>
              <a:spcBef>
                <a:spcPts val="1200"/>
              </a:spcBef>
              <a:spcAft>
                <a:spcPts val="0"/>
              </a:spcAft>
              <a:buClr>
                <a:srgbClr val="595959"/>
              </a:buClr>
              <a:buSzPts val="1400"/>
              <a:buFont typeface="Montserrat"/>
              <a:buChar char="●"/>
            </a:pPr>
            <a:r>
              <a:rPr lang="es">
                <a:solidFill>
                  <a:srgbClr val="595959"/>
                </a:solidFill>
                <a:latin typeface="Montserrat"/>
                <a:ea typeface="Montserrat"/>
                <a:cs typeface="Montserrat"/>
                <a:sym typeface="Montserrat"/>
              </a:rPr>
              <a:t>Perfil profesional:</a:t>
            </a:r>
            <a:endParaRPr>
              <a:solidFill>
                <a:srgbClr val="595959"/>
              </a:solidFill>
              <a:latin typeface="Montserrat"/>
              <a:ea typeface="Montserrat"/>
              <a:cs typeface="Montserrat"/>
              <a:sym typeface="Montserrat"/>
            </a:endParaRPr>
          </a:p>
          <a:p>
            <a:pPr indent="-301625" lvl="1" marL="914400" rtl="0" algn="l">
              <a:lnSpc>
                <a:spcPct val="115000"/>
              </a:lnSpc>
              <a:spcBef>
                <a:spcPts val="0"/>
              </a:spcBef>
              <a:spcAft>
                <a:spcPts val="0"/>
              </a:spcAft>
              <a:buClr>
                <a:srgbClr val="FF0000"/>
              </a:buClr>
              <a:buSzPts val="1150"/>
              <a:buFont typeface="Montserrat"/>
              <a:buChar char="○"/>
            </a:pPr>
            <a:r>
              <a:rPr b="1" lang="es" sz="1150" u="sng">
                <a:solidFill>
                  <a:srgbClr val="0097A7"/>
                </a:solidFill>
                <a:latin typeface="Montserrat"/>
                <a:ea typeface="Montserrat"/>
                <a:cs typeface="Montserrat"/>
                <a:sym typeface="Montserrat"/>
                <a:hlinkClick r:id="rId3">
                  <a:extLst>
                    <a:ext uri="{A12FA001-AC4F-418D-AE19-62706E023703}">
                      <ahyp:hlinkClr val="tx"/>
                    </a:ext>
                  </a:extLst>
                </a:hlinkClick>
              </a:rPr>
              <a:t>https://www.linkedin.com/in/gsettino/</a:t>
            </a:r>
            <a:endParaRPr b="1" sz="1150">
              <a:solidFill>
                <a:srgbClr val="FF0000"/>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2"/>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Nuestro Compromiso</a:t>
            </a:r>
            <a:endParaRPr/>
          </a:p>
        </p:txBody>
      </p:sp>
      <p:sp>
        <p:nvSpPr>
          <p:cNvPr id="214" name="Google Shape;214;p12"/>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SzPts val="1400"/>
              <a:buChar char="●"/>
            </a:pPr>
            <a:r>
              <a:rPr lang="es" sz="1400"/>
              <a:t>Brindar una oferta académica amplia, actualizada y de calidad.</a:t>
            </a:r>
            <a:endParaRPr b="1"/>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id="219" name="Google Shape;219;p13"/>
          <p:cNvPicPr preferRelativeResize="0"/>
          <p:nvPr/>
        </p:nvPicPr>
        <p:blipFill rotWithShape="1">
          <a:blip r:embed="rId3">
            <a:alphaModFix/>
          </a:blip>
          <a:srcRect b="0" l="0" r="0" t="0"/>
          <a:stretch/>
        </p:blipFill>
        <p:spPr>
          <a:xfrm>
            <a:off x="0" y="0"/>
            <a:ext cx="9144010" cy="5143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4"/>
          <p:cNvSpPr txBox="1"/>
          <p:nvPr>
            <p:ph type="title"/>
          </p:nvPr>
        </p:nvSpPr>
        <p:spPr>
          <a:xfrm>
            <a:off x="490250" y="450150"/>
            <a:ext cx="8061000" cy="37629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4000"/>
              <a:buNone/>
            </a:pPr>
            <a:r>
              <a:rPr lang="es"/>
              <a:t>Más de 3.500 estudiantes de Full Stack Python en Codo a Codo en Marzo de 2023.</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5"/>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Tu Compromiso</a:t>
            </a:r>
            <a:endParaRPr/>
          </a:p>
        </p:txBody>
      </p:sp>
      <p:sp>
        <p:nvSpPr>
          <p:cNvPr id="230" name="Google Shape;230;p15"/>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fontScale="92500" lnSpcReduction="10000"/>
          </a:bodyPr>
          <a:lstStyle/>
          <a:p>
            <a:pPr indent="-334327" lvl="0" marL="457200" rtl="0" algn="l">
              <a:lnSpc>
                <a:spcPct val="115000"/>
              </a:lnSpc>
              <a:spcBef>
                <a:spcPts val="0"/>
              </a:spcBef>
              <a:spcAft>
                <a:spcPts val="0"/>
              </a:spcAft>
              <a:buSzPct val="100000"/>
              <a:buChar char="●"/>
            </a:pPr>
            <a:r>
              <a:rPr lang="es"/>
              <a:t>Valorar la vacante</a:t>
            </a:r>
            <a:endParaRPr/>
          </a:p>
          <a:p>
            <a:pPr indent="-334327" lvl="0" marL="457200" rtl="0" algn="l">
              <a:lnSpc>
                <a:spcPct val="115000"/>
              </a:lnSpc>
              <a:spcBef>
                <a:spcPts val="0"/>
              </a:spcBef>
              <a:spcAft>
                <a:spcPts val="0"/>
              </a:spcAft>
              <a:buSzPct val="100000"/>
              <a:buChar char="●"/>
            </a:pPr>
            <a:r>
              <a:rPr lang="es"/>
              <a:t>Contenidos de calidad</a:t>
            </a:r>
            <a:endParaRPr/>
          </a:p>
          <a:p>
            <a:pPr indent="-334327" lvl="0" marL="457200" rtl="0" algn="l">
              <a:lnSpc>
                <a:spcPct val="115000"/>
              </a:lnSpc>
              <a:spcBef>
                <a:spcPts val="0"/>
              </a:spcBef>
              <a:spcAft>
                <a:spcPts val="0"/>
              </a:spcAft>
              <a:buSzPct val="100000"/>
              <a:buChar char="●"/>
            </a:pPr>
            <a:r>
              <a:rPr lang="es"/>
              <a:t>Gratuidad del curso: un curso equivalente de </a:t>
            </a:r>
            <a:r>
              <a:rPr b="1" lang="es">
                <a:solidFill>
                  <a:srgbClr val="7685E6"/>
                </a:solidFill>
              </a:rPr>
              <a:t>Programación Full Stack </a:t>
            </a:r>
            <a:r>
              <a:rPr lang="es"/>
              <a:t>está costando actualmente </a:t>
            </a:r>
            <a:r>
              <a:rPr b="1" lang="es">
                <a:solidFill>
                  <a:srgbClr val="7685E6"/>
                </a:solidFill>
              </a:rPr>
              <a:t>$500.000</a:t>
            </a:r>
            <a:r>
              <a:rPr lang="es"/>
              <a:t> (valores aproximados a marzo de 2023).</a:t>
            </a:r>
            <a:endParaRPr/>
          </a:p>
          <a:p>
            <a:pPr indent="-334327" lvl="0" marL="457200" rtl="0" algn="l">
              <a:lnSpc>
                <a:spcPct val="115000"/>
              </a:lnSpc>
              <a:spcBef>
                <a:spcPts val="0"/>
              </a:spcBef>
              <a:spcAft>
                <a:spcPts val="0"/>
              </a:spcAft>
              <a:buSzPct val="100000"/>
              <a:buChar char="●"/>
            </a:pPr>
            <a:r>
              <a:rPr lang="es"/>
              <a:t>Valoren el lugar que están ocupando. Hay mucha gente que quiere participar y quedó fuera (más de 110 mil inscriptos en 2022). Si no van a poder cursar avisen lo antes posible para darle posibilidad a otros. </a:t>
            </a:r>
            <a:endParaRPr/>
          </a:p>
          <a:p>
            <a:pPr indent="-310832" lvl="1" marL="914400" rtl="0" algn="l">
              <a:lnSpc>
                <a:spcPct val="115000"/>
              </a:lnSpc>
              <a:spcBef>
                <a:spcPts val="0"/>
              </a:spcBef>
              <a:spcAft>
                <a:spcPts val="0"/>
              </a:spcAft>
              <a:buSzPct val="100000"/>
              <a:buChar char="○"/>
            </a:pPr>
            <a:r>
              <a:rPr lang="es"/>
              <a:t>Si les surgen imponderables y se les complica cursar, también comuníquenlo para ayudarlos a buscar una solución.</a:t>
            </a:r>
            <a:endParaRPr/>
          </a:p>
          <a:p>
            <a:pPr indent="0" lvl="0" marL="0" rtl="0" algn="l">
              <a:lnSpc>
                <a:spcPct val="115000"/>
              </a:lnSpc>
              <a:spcBef>
                <a:spcPts val="1200"/>
              </a:spcBef>
              <a:spcAft>
                <a:spcPts val="1200"/>
              </a:spcAft>
              <a:buSzPct val="108108"/>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6"/>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Temario del curso</a:t>
            </a:r>
            <a:endParaRPr/>
          </a:p>
        </p:txBody>
      </p:sp>
      <p:sp>
        <p:nvSpPr>
          <p:cNvPr id="236" name="Google Shape;236;p16"/>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fontScale="77500" lnSpcReduction="20000"/>
          </a:bodyPr>
          <a:lstStyle/>
          <a:p>
            <a:pPr indent="-317182" lvl="0" marL="457200" rtl="0" algn="l">
              <a:lnSpc>
                <a:spcPct val="115000"/>
              </a:lnSpc>
              <a:spcBef>
                <a:spcPts val="0"/>
              </a:spcBef>
              <a:spcAft>
                <a:spcPts val="0"/>
              </a:spcAft>
              <a:buSzPct val="100000"/>
              <a:buChar char="●"/>
            </a:pPr>
            <a:r>
              <a:rPr b="1" lang="es"/>
              <a:t>Front-End (Desarrollo Web)</a:t>
            </a:r>
            <a:endParaRPr b="1"/>
          </a:p>
          <a:p>
            <a:pPr indent="-297497" lvl="1" marL="914400" rtl="0" algn="l">
              <a:lnSpc>
                <a:spcPct val="115000"/>
              </a:lnSpc>
              <a:spcBef>
                <a:spcPts val="0"/>
              </a:spcBef>
              <a:spcAft>
                <a:spcPts val="0"/>
              </a:spcAft>
              <a:buSzPct val="100000"/>
              <a:buChar char="○"/>
            </a:pPr>
            <a:r>
              <a:rPr lang="es"/>
              <a:t>HTML</a:t>
            </a:r>
            <a:endParaRPr/>
          </a:p>
          <a:p>
            <a:pPr indent="-297497" lvl="1" marL="914400" rtl="0" algn="l">
              <a:lnSpc>
                <a:spcPct val="115000"/>
              </a:lnSpc>
              <a:spcBef>
                <a:spcPts val="0"/>
              </a:spcBef>
              <a:spcAft>
                <a:spcPts val="0"/>
              </a:spcAft>
              <a:buSzPct val="100000"/>
              <a:buChar char="○"/>
            </a:pPr>
            <a:r>
              <a:rPr lang="es"/>
              <a:t>CSS</a:t>
            </a:r>
            <a:endParaRPr/>
          </a:p>
          <a:p>
            <a:pPr indent="-297497" lvl="1" marL="914400" rtl="0" algn="l">
              <a:lnSpc>
                <a:spcPct val="115000"/>
              </a:lnSpc>
              <a:spcBef>
                <a:spcPts val="0"/>
              </a:spcBef>
              <a:spcAft>
                <a:spcPts val="0"/>
              </a:spcAft>
              <a:buSzPct val="100000"/>
              <a:buChar char="○"/>
            </a:pPr>
            <a:r>
              <a:rPr lang="es"/>
              <a:t>GIT</a:t>
            </a:r>
            <a:endParaRPr/>
          </a:p>
          <a:p>
            <a:pPr indent="-297497" lvl="1" marL="914400" rtl="0" algn="l">
              <a:lnSpc>
                <a:spcPct val="115000"/>
              </a:lnSpc>
              <a:spcBef>
                <a:spcPts val="0"/>
              </a:spcBef>
              <a:spcAft>
                <a:spcPts val="0"/>
              </a:spcAft>
              <a:buSzPct val="100000"/>
              <a:buChar char="○"/>
            </a:pPr>
            <a:r>
              <a:rPr lang="es"/>
              <a:t>Diseño</a:t>
            </a:r>
            <a:endParaRPr/>
          </a:p>
          <a:p>
            <a:pPr indent="-297497" lvl="1" marL="914400" rtl="0" algn="l">
              <a:lnSpc>
                <a:spcPct val="115000"/>
              </a:lnSpc>
              <a:spcBef>
                <a:spcPts val="0"/>
              </a:spcBef>
              <a:spcAft>
                <a:spcPts val="0"/>
              </a:spcAft>
              <a:buSzPct val="100000"/>
              <a:buChar char="○"/>
            </a:pPr>
            <a:r>
              <a:rPr lang="es"/>
              <a:t>Bootstrap</a:t>
            </a:r>
            <a:endParaRPr/>
          </a:p>
          <a:p>
            <a:pPr indent="-297497" lvl="1" marL="914400" rtl="0" algn="l">
              <a:lnSpc>
                <a:spcPct val="115000"/>
              </a:lnSpc>
              <a:spcBef>
                <a:spcPts val="0"/>
              </a:spcBef>
              <a:spcAft>
                <a:spcPts val="0"/>
              </a:spcAft>
              <a:buSzPct val="100000"/>
              <a:buChar char="○"/>
            </a:pPr>
            <a:r>
              <a:rPr lang="es"/>
              <a:t>JavaScript</a:t>
            </a:r>
            <a:endParaRPr/>
          </a:p>
          <a:p>
            <a:pPr indent="-297497" lvl="1" marL="914400" rtl="0" algn="l">
              <a:lnSpc>
                <a:spcPct val="115000"/>
              </a:lnSpc>
              <a:spcBef>
                <a:spcPts val="0"/>
              </a:spcBef>
              <a:spcAft>
                <a:spcPts val="0"/>
              </a:spcAft>
              <a:buSzPct val="100000"/>
              <a:buChar char="○"/>
            </a:pPr>
            <a:r>
              <a:rPr lang="es"/>
              <a:t>Vue</a:t>
            </a:r>
            <a:endParaRPr/>
          </a:p>
          <a:p>
            <a:pPr indent="-297497" lvl="1" marL="914400" rtl="0" algn="l">
              <a:lnSpc>
                <a:spcPct val="115000"/>
              </a:lnSpc>
              <a:spcBef>
                <a:spcPts val="0"/>
              </a:spcBef>
              <a:spcAft>
                <a:spcPts val="0"/>
              </a:spcAft>
              <a:buSzPct val="100000"/>
              <a:buChar char="○"/>
            </a:pPr>
            <a:r>
              <a:rPr lang="es"/>
              <a:t>Arquitectura Front</a:t>
            </a:r>
            <a:endParaRPr/>
          </a:p>
          <a:p>
            <a:pPr indent="-317182" lvl="0" marL="457200" rtl="0" algn="l">
              <a:lnSpc>
                <a:spcPct val="115000"/>
              </a:lnSpc>
              <a:spcBef>
                <a:spcPts val="0"/>
              </a:spcBef>
              <a:spcAft>
                <a:spcPts val="0"/>
              </a:spcAft>
              <a:buSzPct val="100000"/>
              <a:buChar char="●"/>
            </a:pPr>
            <a:r>
              <a:rPr b="1" lang="es"/>
              <a:t>Back-End (Base de datos y Programación)</a:t>
            </a:r>
            <a:endParaRPr b="1"/>
          </a:p>
          <a:p>
            <a:pPr indent="-297497" lvl="1" marL="914400" rtl="0" algn="l">
              <a:lnSpc>
                <a:spcPct val="115000"/>
              </a:lnSpc>
              <a:spcBef>
                <a:spcPts val="0"/>
              </a:spcBef>
              <a:spcAft>
                <a:spcPts val="0"/>
              </a:spcAft>
              <a:buSzPct val="100000"/>
              <a:buChar char="○"/>
            </a:pPr>
            <a:r>
              <a:rPr lang="es"/>
              <a:t>SQL</a:t>
            </a:r>
            <a:endParaRPr/>
          </a:p>
          <a:p>
            <a:pPr indent="-297497" lvl="1" marL="914400" rtl="0" algn="l">
              <a:lnSpc>
                <a:spcPct val="115000"/>
              </a:lnSpc>
              <a:spcBef>
                <a:spcPts val="0"/>
              </a:spcBef>
              <a:spcAft>
                <a:spcPts val="0"/>
              </a:spcAft>
              <a:buSzPct val="100000"/>
              <a:buChar char="○"/>
            </a:pPr>
            <a:r>
              <a:rPr lang="es"/>
              <a:t>Scrum</a:t>
            </a:r>
            <a:endParaRPr/>
          </a:p>
          <a:p>
            <a:pPr indent="-297497" lvl="1" marL="914400" rtl="0" algn="l">
              <a:lnSpc>
                <a:spcPct val="115000"/>
              </a:lnSpc>
              <a:spcBef>
                <a:spcPts val="0"/>
              </a:spcBef>
              <a:spcAft>
                <a:spcPts val="0"/>
              </a:spcAft>
              <a:buSzPct val="100000"/>
              <a:buChar char="○"/>
            </a:pPr>
            <a:r>
              <a:rPr lang="es"/>
              <a:t>Python</a:t>
            </a:r>
            <a:endParaRPr/>
          </a:p>
          <a:p>
            <a:pPr indent="-297497" lvl="1" marL="914400" rtl="0" algn="l">
              <a:lnSpc>
                <a:spcPct val="115000"/>
              </a:lnSpc>
              <a:spcBef>
                <a:spcPts val="0"/>
              </a:spcBef>
              <a:spcAft>
                <a:spcPts val="0"/>
              </a:spcAft>
              <a:buSzPct val="100000"/>
              <a:buChar char="○"/>
            </a:pPr>
            <a:r>
              <a:rPr lang="es"/>
              <a:t>POO</a:t>
            </a:r>
            <a:endParaRPr/>
          </a:p>
          <a:p>
            <a:pPr indent="-297497" lvl="1" marL="914400" rtl="0" algn="l">
              <a:lnSpc>
                <a:spcPct val="115000"/>
              </a:lnSpc>
              <a:spcBef>
                <a:spcPts val="0"/>
              </a:spcBef>
              <a:spcAft>
                <a:spcPts val="0"/>
              </a:spcAft>
              <a:buSzPct val="100000"/>
              <a:buChar char="○"/>
            </a:pPr>
            <a:r>
              <a:rPr lang="es"/>
              <a:t>Flask</a:t>
            </a:r>
            <a:endParaRPr/>
          </a:p>
          <a:p>
            <a:pPr indent="-297497" lvl="1" marL="914400" rtl="0" algn="l">
              <a:lnSpc>
                <a:spcPct val="115000"/>
              </a:lnSpc>
              <a:spcBef>
                <a:spcPts val="0"/>
              </a:spcBef>
              <a:spcAft>
                <a:spcPts val="0"/>
              </a:spcAft>
              <a:buSzPct val="100000"/>
              <a:buChar char="○"/>
            </a:pPr>
            <a:r>
              <a:rPr lang="es"/>
              <a:t>Django</a:t>
            </a:r>
            <a:endParaRPr/>
          </a:p>
          <a:p>
            <a:pPr indent="-297497" lvl="1" marL="914400" rtl="0" algn="l">
              <a:lnSpc>
                <a:spcPct val="115000"/>
              </a:lnSpc>
              <a:spcBef>
                <a:spcPts val="0"/>
              </a:spcBef>
              <a:spcAft>
                <a:spcPts val="0"/>
              </a:spcAft>
              <a:buSzPct val="100000"/>
              <a:buChar char="○"/>
            </a:pPr>
            <a:r>
              <a:rPr lang="es"/>
              <a:t>Empleabilidad</a:t>
            </a:r>
            <a:endParaRPr/>
          </a:p>
          <a:p>
            <a:pPr indent="-297497" lvl="1" marL="914400" rtl="0" algn="l">
              <a:lnSpc>
                <a:spcPct val="115000"/>
              </a:lnSpc>
              <a:spcBef>
                <a:spcPts val="0"/>
              </a:spcBef>
              <a:spcAft>
                <a:spcPts val="0"/>
              </a:spcAft>
              <a:buSzPct val="100000"/>
              <a:buChar char="○"/>
            </a:pPr>
            <a:r>
              <a:rPr lang="es"/>
              <a:t>Arquitectura Back</a:t>
            </a:r>
            <a:endParaRPr/>
          </a:p>
        </p:txBody>
      </p:sp>
      <p:pic>
        <p:nvPicPr>
          <p:cNvPr id="237" name="Google Shape;237;p16">
            <a:hlinkClick r:id="rId3"/>
          </p:cNvPr>
          <p:cNvPicPr preferRelativeResize="0"/>
          <p:nvPr/>
        </p:nvPicPr>
        <p:blipFill rotWithShape="1">
          <a:blip r:embed="rId4">
            <a:alphaModFix/>
          </a:blip>
          <a:srcRect b="0" l="0" r="0" t="0"/>
          <a:stretch/>
        </p:blipFill>
        <p:spPr>
          <a:xfrm>
            <a:off x="7932450" y="958250"/>
            <a:ext cx="906750" cy="6800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7"/>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Diploma</a:t>
            </a:r>
            <a:endParaRPr/>
          </a:p>
        </p:txBody>
      </p:sp>
      <p:sp>
        <p:nvSpPr>
          <p:cNvPr id="243" name="Google Shape;243;p17"/>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t>Se otorga una constancia de participación en el programa.</a:t>
            </a:r>
            <a:endParaRPr/>
          </a:p>
          <a:p>
            <a:pPr indent="0" lvl="0" marL="0" rtl="0" algn="l">
              <a:lnSpc>
                <a:spcPct val="115000"/>
              </a:lnSpc>
              <a:spcBef>
                <a:spcPts val="1200"/>
              </a:spcBef>
              <a:spcAft>
                <a:spcPts val="0"/>
              </a:spcAft>
              <a:buSzPts val="1800"/>
              <a:buNone/>
            </a:pPr>
            <a:r>
              <a:rPr b="1" lang="es"/>
              <a:t>Requisitos para obtener el diploma:</a:t>
            </a:r>
            <a:endParaRPr b="1"/>
          </a:p>
          <a:p>
            <a:pPr indent="-342900" lvl="0" marL="457200" rtl="0" algn="l">
              <a:lnSpc>
                <a:spcPct val="115000"/>
              </a:lnSpc>
              <a:spcBef>
                <a:spcPts val="1200"/>
              </a:spcBef>
              <a:spcAft>
                <a:spcPts val="0"/>
              </a:spcAft>
              <a:buSzPts val="1800"/>
              <a:buChar char="●"/>
            </a:pPr>
            <a:r>
              <a:rPr lang="es"/>
              <a:t>Asistir al </a:t>
            </a:r>
            <a:r>
              <a:rPr b="1" lang="es"/>
              <a:t>65%</a:t>
            </a:r>
            <a:r>
              <a:rPr lang="es"/>
              <a:t> de las clases en vivo (sincrónicas)</a:t>
            </a:r>
            <a:endParaRPr/>
          </a:p>
          <a:p>
            <a:pPr indent="-342900" lvl="0" marL="457200" rtl="0" algn="l">
              <a:lnSpc>
                <a:spcPct val="115000"/>
              </a:lnSpc>
              <a:spcBef>
                <a:spcPts val="0"/>
              </a:spcBef>
              <a:spcAft>
                <a:spcPts val="0"/>
              </a:spcAft>
              <a:buSzPts val="1800"/>
              <a:buChar char="●"/>
            </a:pPr>
            <a:r>
              <a:rPr lang="es"/>
              <a:t>Acceder semanalmente al Aula Virtual</a:t>
            </a:r>
            <a:endParaRPr/>
          </a:p>
          <a:p>
            <a:pPr indent="-342900" lvl="0" marL="457200" rtl="0" algn="l">
              <a:lnSpc>
                <a:spcPct val="115000"/>
              </a:lnSpc>
              <a:spcBef>
                <a:spcPts val="0"/>
              </a:spcBef>
              <a:spcAft>
                <a:spcPts val="0"/>
              </a:spcAft>
              <a:buSzPts val="1800"/>
              <a:buChar char="●"/>
            </a:pPr>
            <a:r>
              <a:rPr lang="es"/>
              <a:t>Realizar los ejercicios obligatorios semanales</a:t>
            </a:r>
            <a:endParaRPr/>
          </a:p>
          <a:p>
            <a:pPr indent="-342900" lvl="0" marL="457200" rtl="0" algn="l">
              <a:lnSpc>
                <a:spcPct val="115000"/>
              </a:lnSpc>
              <a:spcBef>
                <a:spcPts val="0"/>
              </a:spcBef>
              <a:spcAft>
                <a:spcPts val="0"/>
              </a:spcAft>
              <a:buSzPts val="1800"/>
              <a:buChar char="●"/>
            </a:pPr>
            <a:r>
              <a:rPr lang="es"/>
              <a:t>Aprobar el Proyecto Final Obligatorio</a:t>
            </a:r>
            <a:endParaRPr/>
          </a:p>
          <a:p>
            <a:pPr indent="-342900" lvl="0" marL="457200" rtl="0" algn="l">
              <a:lnSpc>
                <a:spcPct val="115000"/>
              </a:lnSpc>
              <a:spcBef>
                <a:spcPts val="0"/>
              </a:spcBef>
              <a:spcAft>
                <a:spcPts val="0"/>
              </a:spcAft>
              <a:buSzPts val="1800"/>
              <a:buChar char="●"/>
            </a:pPr>
            <a:r>
              <a:rPr lang="es"/>
              <a:t>Aprobar el EFI (Examen Final Integrador)</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8"/>
          <p:cNvSpPr txBox="1"/>
          <p:nvPr>
            <p:ph type="title"/>
          </p:nvPr>
        </p:nvSpPr>
        <p:spPr>
          <a:xfrm>
            <a:off x="311700" y="5974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Portfolio de Egresados</a:t>
            </a:r>
            <a:endParaRPr/>
          </a:p>
        </p:txBody>
      </p:sp>
      <p:sp>
        <p:nvSpPr>
          <p:cNvPr id="249" name="Google Shape;249;p1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400"/>
              <a:buNone/>
            </a:pPr>
            <a:r>
              <a:rPr lang="es" sz="1400"/>
              <a:t>Los invitamos a conocer algunos de los proyectos que han realizado nuestros/as egresados/as poniendo en práctica lo aprendido durante el curso.</a:t>
            </a:r>
            <a:endParaRPr sz="1400"/>
          </a:p>
          <a:p>
            <a:pPr indent="0" lvl="0" marL="0" rtl="0" algn="l">
              <a:lnSpc>
                <a:spcPct val="115000"/>
              </a:lnSpc>
              <a:spcBef>
                <a:spcPts val="1200"/>
              </a:spcBef>
              <a:spcAft>
                <a:spcPts val="1200"/>
              </a:spcAft>
              <a:buSzPts val="1400"/>
              <a:buNone/>
            </a:pPr>
            <a:r>
              <a:rPr b="1" lang="es" sz="1400"/>
              <a:t>Galería de proyectos de egresados/as del Programa Codo a Codo: </a:t>
            </a:r>
            <a:r>
              <a:rPr lang="es" sz="1400" u="sng">
                <a:solidFill>
                  <a:schemeClr val="hlink"/>
                </a:solidFill>
                <a:hlinkClick r:id="rId3"/>
              </a:rPr>
              <a:t>https://agenciadeaprendizaje.bue.edu.ar/portfolio-egresados-codo-a-codo</a:t>
            </a:r>
            <a:r>
              <a:rPr lang="es"/>
              <a:t> </a:t>
            </a:r>
            <a:endParaRPr sz="1400"/>
          </a:p>
        </p:txBody>
      </p:sp>
      <p:grpSp>
        <p:nvGrpSpPr>
          <p:cNvPr id="250" name="Google Shape;250;p18"/>
          <p:cNvGrpSpPr/>
          <p:nvPr/>
        </p:nvGrpSpPr>
        <p:grpSpPr>
          <a:xfrm>
            <a:off x="4611866" y="1170123"/>
            <a:ext cx="4220429" cy="2521605"/>
            <a:chOff x="3538825" y="357800"/>
            <a:chExt cx="5357914" cy="3201225"/>
          </a:xfrm>
        </p:grpSpPr>
        <p:pic>
          <p:nvPicPr>
            <p:cNvPr id="251" name="Google Shape;251;p18"/>
            <p:cNvPicPr preferRelativeResize="0"/>
            <p:nvPr/>
          </p:nvPicPr>
          <p:blipFill rotWithShape="1">
            <a:blip r:embed="rId4">
              <a:alphaModFix/>
            </a:blip>
            <a:srcRect b="0" l="0" r="0" t="0"/>
            <a:stretch/>
          </p:blipFill>
          <p:spPr>
            <a:xfrm>
              <a:off x="3538825" y="357800"/>
              <a:ext cx="2652075" cy="1502850"/>
            </a:xfrm>
            <a:prstGeom prst="rect">
              <a:avLst/>
            </a:prstGeom>
            <a:noFill/>
            <a:ln>
              <a:noFill/>
            </a:ln>
          </p:spPr>
        </p:pic>
        <p:pic>
          <p:nvPicPr>
            <p:cNvPr id="252" name="Google Shape;252;p18"/>
            <p:cNvPicPr preferRelativeResize="0"/>
            <p:nvPr/>
          </p:nvPicPr>
          <p:blipFill rotWithShape="1">
            <a:blip r:embed="rId5">
              <a:alphaModFix/>
            </a:blip>
            <a:srcRect b="0" l="0" r="0" t="0"/>
            <a:stretch/>
          </p:blipFill>
          <p:spPr>
            <a:xfrm>
              <a:off x="6244650" y="357800"/>
              <a:ext cx="2652089" cy="1502850"/>
            </a:xfrm>
            <a:prstGeom prst="rect">
              <a:avLst/>
            </a:prstGeom>
            <a:noFill/>
            <a:ln>
              <a:noFill/>
            </a:ln>
          </p:spPr>
        </p:pic>
        <p:pic>
          <p:nvPicPr>
            <p:cNvPr id="253" name="Google Shape;253;p18"/>
            <p:cNvPicPr preferRelativeResize="0"/>
            <p:nvPr/>
          </p:nvPicPr>
          <p:blipFill rotWithShape="1">
            <a:blip r:embed="rId6">
              <a:alphaModFix/>
            </a:blip>
            <a:srcRect b="0" l="0" r="0" t="0"/>
            <a:stretch/>
          </p:blipFill>
          <p:spPr>
            <a:xfrm>
              <a:off x="3538825" y="2056175"/>
              <a:ext cx="2652089" cy="1502850"/>
            </a:xfrm>
            <a:prstGeom prst="rect">
              <a:avLst/>
            </a:prstGeom>
            <a:noFill/>
            <a:ln>
              <a:noFill/>
            </a:ln>
          </p:spPr>
        </p:pic>
        <p:pic>
          <p:nvPicPr>
            <p:cNvPr id="254" name="Google Shape;254;p18"/>
            <p:cNvPicPr preferRelativeResize="0"/>
            <p:nvPr/>
          </p:nvPicPr>
          <p:blipFill rotWithShape="1">
            <a:blip r:embed="rId7">
              <a:alphaModFix/>
            </a:blip>
            <a:srcRect b="0" l="0" r="0" t="0"/>
            <a:stretch/>
          </p:blipFill>
          <p:spPr>
            <a:xfrm>
              <a:off x="6246550" y="2056175"/>
              <a:ext cx="2648300" cy="1500703"/>
            </a:xfrm>
            <a:prstGeom prst="rect">
              <a:avLst/>
            </a:prstGeom>
            <a:noFill/>
            <a:ln>
              <a:noFill/>
            </a:ln>
          </p:spPr>
        </p:pic>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9"/>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Formulario de Presentismo</a:t>
            </a:r>
            <a:endParaRPr/>
          </a:p>
        </p:txBody>
      </p:sp>
      <p:sp>
        <p:nvSpPr>
          <p:cNvPr id="260" name="Google Shape;260;p19"/>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Clr>
                <a:schemeClr val="dk1"/>
              </a:buClr>
              <a:buSzPts val="1100"/>
              <a:buFont typeface="Arial"/>
              <a:buNone/>
            </a:pPr>
            <a:r>
              <a:rPr b="1" lang="es"/>
              <a:t>Link</a:t>
            </a:r>
            <a:r>
              <a:rPr lang="es"/>
              <a:t>: le pasaremos un formulario que será exclusivo de su comisión.</a:t>
            </a:r>
            <a:endParaRPr/>
          </a:p>
          <a:p>
            <a:pPr indent="-342900" lvl="0" marL="457200" rtl="0" algn="l">
              <a:lnSpc>
                <a:spcPct val="115000"/>
              </a:lnSpc>
              <a:spcBef>
                <a:spcPts val="1200"/>
              </a:spcBef>
              <a:spcAft>
                <a:spcPts val="0"/>
              </a:spcAft>
              <a:buSzPts val="1800"/>
              <a:buChar char="●"/>
            </a:pPr>
            <a:r>
              <a:rPr lang="es"/>
              <a:t>El link es el mismo para todas las clases.</a:t>
            </a:r>
            <a:endParaRPr/>
          </a:p>
          <a:p>
            <a:pPr indent="0" lvl="0" marL="0" rtl="0" algn="l">
              <a:lnSpc>
                <a:spcPct val="115000"/>
              </a:lnSpc>
              <a:spcBef>
                <a:spcPts val="1200"/>
              </a:spcBef>
              <a:spcAft>
                <a:spcPts val="0"/>
              </a:spcAft>
              <a:buClr>
                <a:schemeClr val="dk1"/>
              </a:buClr>
              <a:buSzPts val="1100"/>
              <a:buFont typeface="Arial"/>
              <a:buNone/>
            </a:pPr>
            <a:r>
              <a:rPr lang="es"/>
              <a:t>La asistencia a las clases en vivo es </a:t>
            </a:r>
            <a:r>
              <a:rPr b="1" lang="es"/>
              <a:t>obligatoria</a:t>
            </a:r>
            <a:r>
              <a:rPr lang="es"/>
              <a:t>.</a:t>
            </a:r>
            <a:endParaRPr/>
          </a:p>
          <a:p>
            <a:pPr indent="0" lvl="0" marL="0" rtl="0" algn="l">
              <a:lnSpc>
                <a:spcPct val="115000"/>
              </a:lnSpc>
              <a:spcBef>
                <a:spcPts val="1200"/>
              </a:spcBef>
              <a:spcAft>
                <a:spcPts val="0"/>
              </a:spcAft>
              <a:buSzPts val="1800"/>
              <a:buNone/>
            </a:pPr>
            <a:r>
              <a:rPr lang="es"/>
              <a:t>La asistencia deberá ser de un 65%. </a:t>
            </a:r>
            <a:endParaRPr/>
          </a:p>
          <a:p>
            <a:pPr indent="-342900" lvl="0" marL="457200" rtl="0" algn="l">
              <a:lnSpc>
                <a:spcPct val="115000"/>
              </a:lnSpc>
              <a:spcBef>
                <a:spcPts val="1200"/>
              </a:spcBef>
              <a:spcAft>
                <a:spcPts val="0"/>
              </a:spcAft>
              <a:buSzPts val="1800"/>
              <a:buChar char="●"/>
            </a:pPr>
            <a:r>
              <a:rPr lang="es"/>
              <a:t>No deben olvidarse de dar el presente </a:t>
            </a:r>
            <a:r>
              <a:rPr b="1" lang="es"/>
              <a:t>durante clase en el momento que el docente lo indique</a:t>
            </a:r>
            <a:r>
              <a:rPr lang="es"/>
              <a:t>. La carga del presente se realiza de forma automática y no podremos corregirlo.</a:t>
            </a:r>
            <a:endParaRPr/>
          </a:p>
          <a:p>
            <a:pPr indent="0" lvl="0" marL="0" rtl="0" algn="l">
              <a:lnSpc>
                <a:spcPct val="115000"/>
              </a:lnSpc>
              <a:spcBef>
                <a:spcPts val="1200"/>
              </a:spcBef>
              <a:spcAft>
                <a:spcPts val="1200"/>
              </a:spcAft>
              <a:buSzPts val="1800"/>
              <a:buNone/>
            </a:pPr>
            <a:r>
              <a:rPr lang="es"/>
              <a:t>Si tienen 6 inasistencias consecutivas, se les dará de baja del curso automáticamente.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0"/>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¿Cuánto cobra un programador en Argentina?</a:t>
            </a:r>
            <a:endParaRPr/>
          </a:p>
        </p:txBody>
      </p:sp>
      <p:sp>
        <p:nvSpPr>
          <p:cNvPr id="266" name="Google Shape;266;p20"/>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rPr lang="es"/>
              <a:t>Los salarios de la industria del software subieron 85% en 2021. </a:t>
            </a:r>
            <a:endParaRPr/>
          </a:p>
          <a:p>
            <a:pPr indent="0" lvl="0" marL="0" rtl="0" algn="l">
              <a:lnSpc>
                <a:spcPct val="115000"/>
              </a:lnSpc>
              <a:spcBef>
                <a:spcPts val="1200"/>
              </a:spcBef>
              <a:spcAft>
                <a:spcPts val="0"/>
              </a:spcAft>
              <a:buSzPts val="1800"/>
              <a:buNone/>
            </a:pPr>
            <a:r>
              <a:rPr lang="es"/>
              <a:t>De esta forma, el incremento en los salarios se ubicó el año pasado 34,1 puntos por encima del Índice de Precios al Consumidor (IPC), que fue de 50,9%.</a:t>
            </a:r>
            <a:endParaRPr/>
          </a:p>
          <a:p>
            <a:pPr indent="0" lvl="0" marL="0" rtl="0" algn="l">
              <a:lnSpc>
                <a:spcPct val="115000"/>
              </a:lnSpc>
              <a:spcBef>
                <a:spcPts val="1200"/>
              </a:spcBef>
              <a:spcAft>
                <a:spcPts val="1200"/>
              </a:spcAft>
              <a:buSzPts val="1800"/>
              <a:buNone/>
            </a:pPr>
            <a:r>
              <a:rPr lang="es"/>
              <a:t>De acuerdo al trabajo del Observatorio Permanente de la Industria del Software y Servicios Informáticos (Opssi) del Cessi, los salarios de las empresas de Software ocupan la 8º posición entre 86 ramas de actividad y los asalariados del sector están, en promedio, entre el 4% y el 5% de quienes más ganan entre todos los asalariados de la actividad privada.</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1"/>
          <p:cNvSpPr txBox="1"/>
          <p:nvPr>
            <p:ph type="title"/>
          </p:nvPr>
        </p:nvSpPr>
        <p:spPr>
          <a:xfrm>
            <a:off x="311700" y="-12175"/>
            <a:ext cx="77490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Proyección salario promedio: Ene 2021 a Jul 2022</a:t>
            </a:r>
            <a:endParaRPr/>
          </a:p>
        </p:txBody>
      </p:sp>
      <p:pic>
        <p:nvPicPr>
          <p:cNvPr id="272" name="Google Shape;272;p21"/>
          <p:cNvPicPr preferRelativeResize="0"/>
          <p:nvPr/>
        </p:nvPicPr>
        <p:blipFill rotWithShape="1">
          <a:blip r:embed="rId3">
            <a:alphaModFix/>
          </a:blip>
          <a:srcRect b="0" l="0" r="0" t="0"/>
          <a:stretch/>
        </p:blipFill>
        <p:spPr>
          <a:xfrm>
            <a:off x="1903825" y="560525"/>
            <a:ext cx="5336358" cy="42781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2"/>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¿Cuánto cobra un programador en Argentina?</a:t>
            </a:r>
            <a:endParaRPr/>
          </a:p>
        </p:txBody>
      </p:sp>
      <p:sp>
        <p:nvSpPr>
          <p:cNvPr id="278" name="Google Shape;278;p22"/>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t>[...] la </a:t>
            </a:r>
            <a:r>
              <a:rPr b="1" lang="es"/>
              <a:t>mediana salarial </a:t>
            </a:r>
            <a:r>
              <a:rPr lang="es"/>
              <a:t>de los trabajadores de la industria del Software alcanzada en </a:t>
            </a:r>
            <a:r>
              <a:rPr b="1" lang="es"/>
              <a:t>enero </a:t>
            </a:r>
            <a:r>
              <a:rPr lang="es"/>
              <a:t>de este año (</a:t>
            </a:r>
            <a:r>
              <a:rPr b="1" lang="es"/>
              <a:t>$210.600</a:t>
            </a:r>
            <a:r>
              <a:rPr lang="es"/>
              <a:t>), casi triplicó los $78.600 de la Canasta Básica Familiar de ese mes medida por el Indec.</a:t>
            </a:r>
            <a:endParaRPr/>
          </a:p>
          <a:p>
            <a:pPr indent="0" lvl="0" marL="0" rtl="0" algn="l">
              <a:lnSpc>
                <a:spcPct val="115000"/>
              </a:lnSpc>
              <a:spcBef>
                <a:spcPts val="1200"/>
              </a:spcBef>
              <a:spcAft>
                <a:spcPts val="1200"/>
              </a:spcAft>
              <a:buSzPts val="1800"/>
              <a:buNone/>
            </a:pPr>
            <a:r>
              <a:rPr lang="es"/>
              <a:t>En ese sentido, la Cessi proyectó que para </a:t>
            </a:r>
            <a:r>
              <a:rPr b="1" lang="es"/>
              <a:t>julio</a:t>
            </a:r>
            <a:r>
              <a:rPr lang="es"/>
              <a:t> de este año (de 2022) la media será de </a:t>
            </a:r>
            <a:r>
              <a:rPr b="1" lang="es"/>
              <a:t>$275.000</a:t>
            </a:r>
            <a:r>
              <a:rPr lang="es"/>
              <a: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3"/>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Empleo IT: las 10 carreras con salida laboral de 2021</a:t>
            </a:r>
            <a:endParaRPr/>
          </a:p>
        </p:txBody>
      </p:sp>
      <p:sp>
        <p:nvSpPr>
          <p:cNvPr id="284" name="Google Shape;284;p23"/>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Data Science y Business Intelligence</a:t>
            </a:r>
            <a:endParaRPr/>
          </a:p>
          <a:p>
            <a:pPr indent="-342900" lvl="0" marL="457200" rtl="0" algn="l">
              <a:lnSpc>
                <a:spcPct val="115000"/>
              </a:lnSpc>
              <a:spcBef>
                <a:spcPts val="0"/>
              </a:spcBef>
              <a:spcAft>
                <a:spcPts val="0"/>
              </a:spcAft>
              <a:buSzPts val="1800"/>
              <a:buChar char="●"/>
            </a:pPr>
            <a:r>
              <a:rPr lang="es"/>
              <a:t>Especialista en Marketing Digital</a:t>
            </a:r>
            <a:endParaRPr/>
          </a:p>
          <a:p>
            <a:pPr indent="-342900" lvl="0" marL="457200" rtl="0" algn="l">
              <a:lnSpc>
                <a:spcPct val="115000"/>
              </a:lnSpc>
              <a:spcBef>
                <a:spcPts val="0"/>
              </a:spcBef>
              <a:spcAft>
                <a:spcPts val="0"/>
              </a:spcAft>
              <a:buSzPts val="1800"/>
              <a:buChar char="●"/>
            </a:pPr>
            <a:r>
              <a:rPr lang="es"/>
              <a:t>Diseñador Web y Mobile</a:t>
            </a:r>
            <a:endParaRPr/>
          </a:p>
          <a:p>
            <a:pPr indent="-342900" lvl="0" marL="457200" rtl="0" algn="l">
              <a:lnSpc>
                <a:spcPct val="115000"/>
              </a:lnSpc>
              <a:spcBef>
                <a:spcPts val="0"/>
              </a:spcBef>
              <a:spcAft>
                <a:spcPts val="0"/>
              </a:spcAft>
              <a:buClr>
                <a:srgbClr val="414141"/>
              </a:buClr>
              <a:buSzPts val="1800"/>
              <a:buChar char="●"/>
            </a:pPr>
            <a:r>
              <a:rPr lang="es">
                <a:solidFill>
                  <a:srgbClr val="414141"/>
                </a:solidFill>
              </a:rPr>
              <a:t>Diseñador UX/UI</a:t>
            </a:r>
            <a:endParaRPr>
              <a:solidFill>
                <a:srgbClr val="414141"/>
              </a:solidFill>
            </a:endParaRPr>
          </a:p>
          <a:p>
            <a:pPr indent="-342900" lvl="0" marL="457200" rtl="0" algn="l">
              <a:lnSpc>
                <a:spcPct val="115000"/>
              </a:lnSpc>
              <a:spcBef>
                <a:spcPts val="0"/>
              </a:spcBef>
              <a:spcAft>
                <a:spcPts val="0"/>
              </a:spcAft>
              <a:buClr>
                <a:srgbClr val="7685E6"/>
              </a:buClr>
              <a:buSzPts val="1800"/>
              <a:buChar char="●"/>
            </a:pPr>
            <a:r>
              <a:rPr b="1" lang="es">
                <a:solidFill>
                  <a:srgbClr val="7685E6"/>
                </a:solidFill>
              </a:rPr>
              <a:t>Desarrollador Full Stack</a:t>
            </a:r>
            <a:endParaRPr b="1">
              <a:solidFill>
                <a:srgbClr val="7685E6"/>
              </a:solidFill>
            </a:endParaRPr>
          </a:p>
          <a:p>
            <a:pPr indent="-342900" lvl="0" marL="457200" rtl="0" algn="l">
              <a:lnSpc>
                <a:spcPct val="115000"/>
              </a:lnSpc>
              <a:spcBef>
                <a:spcPts val="0"/>
              </a:spcBef>
              <a:spcAft>
                <a:spcPts val="0"/>
              </a:spcAft>
              <a:buSzPts val="1800"/>
              <a:buChar char="●"/>
            </a:pPr>
            <a:r>
              <a:rPr lang="es"/>
              <a:t>Especialista en Redes</a:t>
            </a:r>
            <a:endParaRPr/>
          </a:p>
          <a:p>
            <a:pPr indent="-342900" lvl="0" marL="457200" rtl="0" algn="l">
              <a:lnSpc>
                <a:spcPct val="115000"/>
              </a:lnSpc>
              <a:spcBef>
                <a:spcPts val="0"/>
              </a:spcBef>
              <a:spcAft>
                <a:spcPts val="0"/>
              </a:spcAft>
              <a:buSzPts val="1800"/>
              <a:buChar char="●"/>
            </a:pPr>
            <a:r>
              <a:rPr lang="es"/>
              <a:t>Experto en Seguridad de la Información</a:t>
            </a:r>
            <a:endParaRPr/>
          </a:p>
          <a:p>
            <a:pPr indent="-342900" lvl="0" marL="457200" rtl="0" algn="l">
              <a:lnSpc>
                <a:spcPct val="115000"/>
              </a:lnSpc>
              <a:spcBef>
                <a:spcPts val="0"/>
              </a:spcBef>
              <a:spcAft>
                <a:spcPts val="0"/>
              </a:spcAft>
              <a:buSzPts val="1800"/>
              <a:buChar char="●"/>
            </a:pPr>
            <a:r>
              <a:rPr lang="es"/>
              <a:t>Responsable de Infraestructura</a:t>
            </a:r>
            <a:endParaRPr/>
          </a:p>
          <a:p>
            <a:pPr indent="-342900" lvl="0" marL="457200" rtl="0" algn="l">
              <a:lnSpc>
                <a:spcPct val="115000"/>
              </a:lnSpc>
              <a:spcBef>
                <a:spcPts val="0"/>
              </a:spcBef>
              <a:spcAft>
                <a:spcPts val="0"/>
              </a:spcAft>
              <a:buSzPts val="1800"/>
              <a:buChar char="●"/>
            </a:pPr>
            <a:r>
              <a:rPr lang="es"/>
              <a:t>Analista de Soporte</a:t>
            </a:r>
            <a:endParaRPr/>
          </a:p>
          <a:p>
            <a:pPr indent="-342900" lvl="0" marL="457200" rtl="0" algn="l">
              <a:lnSpc>
                <a:spcPct val="115000"/>
              </a:lnSpc>
              <a:spcBef>
                <a:spcPts val="0"/>
              </a:spcBef>
              <a:spcAft>
                <a:spcPts val="0"/>
              </a:spcAft>
              <a:buSzPts val="1800"/>
              <a:buChar char="●"/>
            </a:pPr>
            <a:r>
              <a:rPr lang="es"/>
              <a:t>Especialista en eCommerce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4"/>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Empleo IT:</a:t>
            </a:r>
            <a:endParaRPr/>
          </a:p>
        </p:txBody>
      </p:sp>
      <p:sp>
        <p:nvSpPr>
          <p:cNvPr id="290" name="Google Shape;290;p24"/>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0"/>
              </a:spcBef>
              <a:spcAft>
                <a:spcPts val="0"/>
              </a:spcAft>
              <a:buClr>
                <a:schemeClr val="dk1"/>
              </a:buClr>
              <a:buSzPct val="61110"/>
              <a:buFont typeface="Arial"/>
              <a:buNone/>
            </a:pPr>
            <a:r>
              <a:rPr lang="es">
                <a:solidFill>
                  <a:srgbClr val="737373"/>
                </a:solidFill>
              </a:rPr>
              <a:t>Opciones cortas de carreras con salida laboral</a:t>
            </a:r>
            <a:endParaRPr>
              <a:solidFill>
                <a:srgbClr val="737373"/>
              </a:solidFill>
            </a:endParaRPr>
          </a:p>
          <a:p>
            <a:pPr indent="-334327" lvl="0" marL="457200" rtl="0" algn="l">
              <a:lnSpc>
                <a:spcPct val="115000"/>
              </a:lnSpc>
              <a:spcBef>
                <a:spcPts val="1200"/>
              </a:spcBef>
              <a:spcAft>
                <a:spcPts val="0"/>
              </a:spcAft>
              <a:buClr>
                <a:srgbClr val="737373"/>
              </a:buClr>
              <a:buSzPct val="100000"/>
              <a:buChar char="●"/>
            </a:pPr>
            <a:r>
              <a:rPr lang="es">
                <a:solidFill>
                  <a:srgbClr val="737373"/>
                </a:solidFill>
              </a:rPr>
              <a:t>“Las carreras cortas permiten una breve especialización en un campo profesional que, aunque más reducido de lo que brindan las carreras tradicionales, ofrece una rápida salida laboral dentro del área elegida.”</a:t>
            </a:r>
            <a:endParaRPr>
              <a:solidFill>
                <a:srgbClr val="737373"/>
              </a:solidFill>
            </a:endParaRPr>
          </a:p>
          <a:p>
            <a:pPr indent="0" lvl="0" marL="0" rtl="0" algn="l">
              <a:lnSpc>
                <a:spcPct val="115000"/>
              </a:lnSpc>
              <a:spcBef>
                <a:spcPts val="1200"/>
              </a:spcBef>
              <a:spcAft>
                <a:spcPts val="0"/>
              </a:spcAft>
              <a:buClr>
                <a:schemeClr val="dk1"/>
              </a:buClr>
              <a:buSzPct val="61110"/>
              <a:buFont typeface="Arial"/>
              <a:buNone/>
            </a:pPr>
            <a:r>
              <a:rPr lang="es">
                <a:solidFill>
                  <a:srgbClr val="737373"/>
                </a:solidFill>
              </a:rPr>
              <a:t>Estudiar carreras con salida laboral</a:t>
            </a:r>
            <a:endParaRPr>
              <a:solidFill>
                <a:srgbClr val="737373"/>
              </a:solidFill>
            </a:endParaRPr>
          </a:p>
          <a:p>
            <a:pPr indent="-334327" lvl="0" marL="457200" rtl="0" algn="l">
              <a:lnSpc>
                <a:spcPct val="115000"/>
              </a:lnSpc>
              <a:spcBef>
                <a:spcPts val="1200"/>
              </a:spcBef>
              <a:spcAft>
                <a:spcPts val="0"/>
              </a:spcAft>
              <a:buClr>
                <a:srgbClr val="737373"/>
              </a:buClr>
              <a:buSzPct val="100000"/>
              <a:buChar char="●"/>
            </a:pPr>
            <a:r>
              <a:rPr lang="es">
                <a:solidFill>
                  <a:srgbClr val="737373"/>
                </a:solidFill>
              </a:rPr>
              <a:t>“Según datos de la Cámara de la Industria Argentina del Software (CESSI), todos los años quedan cerca de 5.000 puestos de trabajo en tecnología sin ocupar en el país por falta de perfiles calificados. Es necesario incrementar la cantidad de alumnos en carreras con salida laboral de manera de contar con los talentos necesarios para el futuro.”</a:t>
            </a:r>
            <a:endParaRPr>
              <a:solidFill>
                <a:srgbClr val="737373"/>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4" name="Shape 294"/>
        <p:cNvGrpSpPr/>
        <p:nvPr/>
      </p:nvGrpSpPr>
      <p:grpSpPr>
        <a:xfrm>
          <a:off x="0" y="0"/>
          <a:ext cx="0" cy="0"/>
          <a:chOff x="0" y="0"/>
          <a:chExt cx="0" cy="0"/>
        </a:xfrm>
      </p:grpSpPr>
      <p:sp>
        <p:nvSpPr>
          <p:cNvPr id="295" name="Google Shape;295;p25"/>
          <p:cNvSpPr txBox="1"/>
          <p:nvPr>
            <p:ph type="title"/>
          </p:nvPr>
        </p:nvSpPr>
        <p:spPr>
          <a:xfrm>
            <a:off x="311700" y="5974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Datos importantes</a:t>
            </a:r>
            <a:endParaRPr/>
          </a:p>
        </p:txBody>
      </p:sp>
      <p:sp>
        <p:nvSpPr>
          <p:cNvPr id="296" name="Google Shape;296;p2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400"/>
              <a:buNone/>
            </a:pPr>
            <a:r>
              <a:rPr lang="es"/>
              <a:t>Nro. de comisión: </a:t>
            </a:r>
            <a:r>
              <a:rPr b="1" lang="es">
                <a:solidFill>
                  <a:srgbClr val="FF0000"/>
                </a:solidFill>
              </a:rPr>
              <a:t>23039</a:t>
            </a:r>
            <a:endParaRPr b="1">
              <a:solidFill>
                <a:srgbClr val="FF0000"/>
              </a:solidFill>
            </a:endParaRPr>
          </a:p>
          <a:p>
            <a:pPr indent="0" lvl="0" marL="0" rtl="0" algn="l">
              <a:lnSpc>
                <a:spcPct val="115000"/>
              </a:lnSpc>
              <a:spcBef>
                <a:spcPts val="1200"/>
              </a:spcBef>
              <a:spcAft>
                <a:spcPts val="0"/>
              </a:spcAft>
              <a:buSzPts val="1400"/>
              <a:buNone/>
            </a:pPr>
            <a:r>
              <a:rPr lang="es"/>
              <a:t>Días y horarios de la cursada on-line: </a:t>
            </a:r>
            <a:endParaRPr/>
          </a:p>
          <a:p>
            <a:pPr indent="0" lvl="0" marL="0" rtl="0" algn="l">
              <a:lnSpc>
                <a:spcPct val="115000"/>
              </a:lnSpc>
              <a:spcBef>
                <a:spcPts val="1200"/>
              </a:spcBef>
              <a:spcAft>
                <a:spcPts val="0"/>
              </a:spcAft>
              <a:buClr>
                <a:schemeClr val="dk1"/>
              </a:buClr>
              <a:buSzPts val="1100"/>
              <a:buFont typeface="Arial"/>
              <a:buNone/>
            </a:pPr>
            <a:r>
              <a:rPr b="1" lang="es">
                <a:solidFill>
                  <a:srgbClr val="FF0000"/>
                </a:solidFill>
              </a:rPr>
              <a:t>Lunes y Miercoles 19 a 20.30 horas</a:t>
            </a:r>
            <a:endParaRPr b="1">
              <a:solidFill>
                <a:srgbClr val="FF0000"/>
              </a:solidFill>
            </a:endParaRPr>
          </a:p>
          <a:p>
            <a:pPr indent="0" lvl="0" marL="0" rtl="0" algn="l">
              <a:lnSpc>
                <a:spcPct val="115000"/>
              </a:lnSpc>
              <a:spcBef>
                <a:spcPts val="1200"/>
              </a:spcBef>
              <a:spcAft>
                <a:spcPts val="0"/>
              </a:spcAft>
              <a:buSzPts val="1400"/>
              <a:buNone/>
            </a:pPr>
            <a:r>
              <a:rPr lang="es"/>
              <a:t>Modalidad: </a:t>
            </a:r>
            <a:r>
              <a:rPr b="1" lang="es"/>
              <a:t>Virtual</a:t>
            </a:r>
            <a:endParaRPr b="1"/>
          </a:p>
          <a:p>
            <a:pPr indent="0" lvl="0" marL="0" rtl="0" algn="l">
              <a:lnSpc>
                <a:spcPct val="115000"/>
              </a:lnSpc>
              <a:spcBef>
                <a:spcPts val="1200"/>
              </a:spcBef>
              <a:spcAft>
                <a:spcPts val="0"/>
              </a:spcAft>
              <a:buSzPts val="1400"/>
              <a:buNone/>
            </a:pPr>
            <a:r>
              <a:rPr lang="es"/>
              <a:t>Docente: Ing. Settino German Edgardo</a:t>
            </a:r>
            <a:endParaRPr b="1">
              <a:solidFill>
                <a:srgbClr val="FF0000"/>
              </a:solidFill>
            </a:endParaRPr>
          </a:p>
          <a:p>
            <a:pPr indent="0" lvl="0" marL="0" rtl="0" algn="l">
              <a:lnSpc>
                <a:spcPct val="115000"/>
              </a:lnSpc>
              <a:spcBef>
                <a:spcPts val="1200"/>
              </a:spcBef>
              <a:spcAft>
                <a:spcPts val="0"/>
              </a:spcAft>
              <a:buSzPts val="1400"/>
              <a:buNone/>
            </a:pPr>
            <a:r>
              <a:t/>
            </a:r>
            <a:endParaRPr b="1"/>
          </a:p>
          <a:p>
            <a:pPr indent="0" lvl="0" marL="0" rtl="0" algn="l">
              <a:lnSpc>
                <a:spcPct val="115000"/>
              </a:lnSpc>
              <a:spcBef>
                <a:spcPts val="1200"/>
              </a:spcBef>
              <a:spcAft>
                <a:spcPts val="0"/>
              </a:spcAft>
              <a:buSzPts val="1400"/>
              <a:buNone/>
            </a:pPr>
            <a:r>
              <a:t/>
            </a:r>
            <a:endParaRPr/>
          </a:p>
          <a:p>
            <a:pPr indent="0" lvl="0" marL="0" rtl="0" algn="l">
              <a:lnSpc>
                <a:spcPct val="115000"/>
              </a:lnSpc>
              <a:spcBef>
                <a:spcPts val="1200"/>
              </a:spcBef>
              <a:spcAft>
                <a:spcPts val="0"/>
              </a:spcAft>
              <a:buSzPts val="1400"/>
              <a:buNone/>
            </a:pPr>
            <a:r>
              <a:rPr lang="es"/>
              <a:t>Coordinador pedagógico del curso:</a:t>
            </a:r>
            <a:endParaRPr b="1"/>
          </a:p>
          <a:p>
            <a:pPr indent="0" lvl="0" marL="0" rtl="0" algn="l">
              <a:lnSpc>
                <a:spcPct val="115000"/>
              </a:lnSpc>
              <a:spcBef>
                <a:spcPts val="1200"/>
              </a:spcBef>
              <a:spcAft>
                <a:spcPts val="1200"/>
              </a:spcAft>
              <a:buSzPts val="1400"/>
              <a:buNone/>
            </a:pPr>
            <a:r>
              <a:rPr b="1" lang="es"/>
              <a:t>Lic. Ramiro Escalante Leiva</a:t>
            </a:r>
            <a:endParaRPr b="1"/>
          </a:p>
        </p:txBody>
      </p:sp>
      <p:sp>
        <p:nvSpPr>
          <p:cNvPr id="297" name="Google Shape;297;p2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400"/>
              <a:buNone/>
            </a:pPr>
            <a:r>
              <a:rPr lang="es"/>
              <a:t>Tutor/a: Juan Pablo</a:t>
            </a:r>
            <a:endParaRPr b="1">
              <a:solidFill>
                <a:srgbClr val="FF0000"/>
              </a:solidFill>
            </a:endParaRPr>
          </a:p>
          <a:p>
            <a:pPr indent="0" lvl="0" marL="0" rtl="0" algn="l">
              <a:lnSpc>
                <a:spcPct val="115000"/>
              </a:lnSpc>
              <a:spcBef>
                <a:spcPts val="0"/>
              </a:spcBef>
              <a:spcAft>
                <a:spcPts val="0"/>
              </a:spcAft>
              <a:buSzPts val="1400"/>
              <a:buNone/>
            </a:pPr>
            <a:r>
              <a:t/>
            </a:r>
            <a:endParaRPr b="1">
              <a:solidFill>
                <a:srgbClr val="FF0000"/>
              </a:solidFill>
            </a:endParaRPr>
          </a:p>
          <a:p>
            <a:pPr indent="0" lvl="0" marL="0" rtl="0" algn="l">
              <a:lnSpc>
                <a:spcPct val="115000"/>
              </a:lnSpc>
              <a:spcBef>
                <a:spcPts val="0"/>
              </a:spcBef>
              <a:spcAft>
                <a:spcPts val="0"/>
              </a:spcAft>
              <a:buSzPts val="1400"/>
              <a:buNone/>
            </a:pPr>
            <a:r>
              <a:rPr lang="es"/>
              <a:t>Función del Tutor/a: cambios de comisión, pedidos de baja, problemas de la plataforma, dudas y consultas administrativas.</a:t>
            </a:r>
            <a:endParaRPr/>
          </a:p>
          <a:p>
            <a:pPr indent="0" lvl="0" marL="0" rtl="0" algn="l">
              <a:lnSpc>
                <a:spcPct val="115000"/>
              </a:lnSpc>
              <a:spcBef>
                <a:spcPts val="1200"/>
              </a:spcBef>
              <a:spcAft>
                <a:spcPts val="0"/>
              </a:spcAft>
              <a:buSzPts val="1400"/>
              <a:buNone/>
            </a:pPr>
            <a:r>
              <a:rPr lang="es"/>
              <a:t>Canal de consultas: </a:t>
            </a:r>
            <a:r>
              <a:rPr lang="es" u="sng">
                <a:solidFill>
                  <a:schemeClr val="hlink"/>
                </a:solidFill>
                <a:hlinkClick r:id="rId3"/>
              </a:rPr>
              <a:t>https://jprigotti.github.io/CaC_2023_Tutor/</a:t>
            </a:r>
            <a:endParaRPr b="1">
              <a:solidFill>
                <a:srgbClr val="FF0000"/>
              </a:solidFill>
            </a:endParaRPr>
          </a:p>
          <a:p>
            <a:pPr indent="0" lvl="0" marL="0" rtl="0" algn="l">
              <a:lnSpc>
                <a:spcPct val="115000"/>
              </a:lnSpc>
              <a:spcBef>
                <a:spcPts val="1200"/>
              </a:spcBef>
              <a:spcAft>
                <a:spcPts val="0"/>
              </a:spcAft>
              <a:buSzPts val="1400"/>
              <a:buNone/>
            </a:pPr>
            <a:r>
              <a:rPr lang="es"/>
              <a:t>(Si tienen inconvenientes para cursar en el horario que les asignaron lo deberán comunicar a su Tutor/a, ya que no es posible hacer el curso si no pueden asistir a las clases virtuales sincrónicas).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26"/>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Aula Virtual</a:t>
            </a:r>
            <a:endParaRPr/>
          </a:p>
        </p:txBody>
      </p:sp>
      <p:sp>
        <p:nvSpPr>
          <p:cNvPr id="303" name="Google Shape;303;p26"/>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15000"/>
              </a:lnSpc>
              <a:spcBef>
                <a:spcPts val="0"/>
              </a:spcBef>
              <a:spcAft>
                <a:spcPts val="0"/>
              </a:spcAft>
              <a:buSzPct val="142857"/>
              <a:buNone/>
            </a:pPr>
            <a:r>
              <a:rPr lang="es"/>
              <a:t>Los estudiantes tendrán a su disposición el contenido teórico del curso en el aula. De presentar problemas, deberán informar a la brevedad a fin de solucionar el inconveniente lo antes posible. </a:t>
            </a:r>
            <a:endParaRPr/>
          </a:p>
          <a:p>
            <a:pPr indent="0" lvl="0" marL="0" rtl="0" algn="l">
              <a:lnSpc>
                <a:spcPct val="115000"/>
              </a:lnSpc>
              <a:spcBef>
                <a:spcPts val="1200"/>
              </a:spcBef>
              <a:spcAft>
                <a:spcPts val="0"/>
              </a:spcAft>
              <a:buSzPct val="142857"/>
              <a:buNone/>
            </a:pPr>
            <a:r>
              <a:rPr b="1" lang="es"/>
              <a:t>Su uso es obligatorio. Se les dará el alta dentro de la próxima semana.</a:t>
            </a:r>
            <a:endParaRPr b="1"/>
          </a:p>
          <a:p>
            <a:pPr indent="-308610" lvl="0" marL="457200" rtl="0" algn="l">
              <a:lnSpc>
                <a:spcPct val="115000"/>
              </a:lnSpc>
              <a:spcBef>
                <a:spcPts val="1200"/>
              </a:spcBef>
              <a:spcAft>
                <a:spcPts val="0"/>
              </a:spcAft>
              <a:buSzPct val="100000"/>
              <a:buChar char="●"/>
            </a:pPr>
            <a:r>
              <a:rPr lang="es"/>
              <a:t>Enlace: </a:t>
            </a:r>
            <a:r>
              <a:rPr lang="es" u="sng">
                <a:solidFill>
                  <a:schemeClr val="hlink"/>
                </a:solidFill>
                <a:hlinkClick r:id="rId3"/>
              </a:rPr>
              <a:t>https://aulasvirtuales.bue.edu.ar/</a:t>
            </a:r>
            <a:r>
              <a:rPr lang="es"/>
              <a:t> </a:t>
            </a:r>
            <a:endParaRPr/>
          </a:p>
          <a:p>
            <a:pPr indent="0" lvl="0" marL="0" rtl="0" algn="l">
              <a:lnSpc>
                <a:spcPct val="115000"/>
              </a:lnSpc>
              <a:spcBef>
                <a:spcPts val="1200"/>
              </a:spcBef>
              <a:spcAft>
                <a:spcPts val="0"/>
              </a:spcAft>
              <a:buSzPct val="142857"/>
              <a:buNone/>
            </a:pPr>
            <a:r>
              <a:rPr lang="es"/>
              <a:t>En ella podrán encontrar:</a:t>
            </a:r>
            <a:endParaRPr/>
          </a:p>
          <a:p>
            <a:pPr indent="-308610" lvl="0" marL="457200" rtl="0" algn="l">
              <a:lnSpc>
                <a:spcPct val="115000"/>
              </a:lnSpc>
              <a:spcBef>
                <a:spcPts val="1200"/>
              </a:spcBef>
              <a:spcAft>
                <a:spcPts val="0"/>
              </a:spcAft>
              <a:buSzPct val="100000"/>
              <a:buChar char="●"/>
            </a:pPr>
            <a:r>
              <a:rPr lang="es"/>
              <a:t>Material teórico y Actividades prácticas</a:t>
            </a:r>
            <a:endParaRPr/>
          </a:p>
          <a:p>
            <a:pPr indent="-308610" lvl="0" marL="457200" rtl="0" algn="l">
              <a:lnSpc>
                <a:spcPct val="115000"/>
              </a:lnSpc>
              <a:spcBef>
                <a:spcPts val="0"/>
              </a:spcBef>
              <a:spcAft>
                <a:spcPts val="0"/>
              </a:spcAft>
              <a:buSzPct val="100000"/>
              <a:buChar char="●"/>
            </a:pPr>
            <a:r>
              <a:rPr lang="es"/>
              <a:t>Ejercicios obligatorios de autocorrección (con fecha de vencimiento cada 2 semanas)</a:t>
            </a:r>
            <a:endParaRPr/>
          </a:p>
          <a:p>
            <a:pPr indent="0" lvl="0" marL="0" rtl="0" algn="l">
              <a:lnSpc>
                <a:spcPct val="115000"/>
              </a:lnSpc>
              <a:spcBef>
                <a:spcPts val="1200"/>
              </a:spcBef>
              <a:spcAft>
                <a:spcPts val="0"/>
              </a:spcAft>
              <a:buClr>
                <a:schemeClr val="dk1"/>
              </a:buClr>
              <a:buSzPct val="61110"/>
              <a:buFont typeface="Arial"/>
              <a:buNone/>
            </a:pPr>
            <a:r>
              <a:rPr lang="es"/>
              <a:t>Se accede con los siguientes datos:</a:t>
            </a:r>
            <a:endParaRPr/>
          </a:p>
          <a:p>
            <a:pPr indent="-308610" lvl="0" marL="457200" rtl="0" algn="l">
              <a:lnSpc>
                <a:spcPct val="115000"/>
              </a:lnSpc>
              <a:spcBef>
                <a:spcPts val="1200"/>
              </a:spcBef>
              <a:spcAft>
                <a:spcPts val="0"/>
              </a:spcAft>
              <a:buSzPct val="100000"/>
              <a:buChar char="●"/>
            </a:pPr>
            <a:r>
              <a:rPr lang="es"/>
              <a:t>Usuario: DNI del estudiante</a:t>
            </a:r>
            <a:endParaRPr/>
          </a:p>
          <a:p>
            <a:pPr indent="-308610" lvl="0" marL="457200" rtl="0" algn="l">
              <a:lnSpc>
                <a:spcPct val="115000"/>
              </a:lnSpc>
              <a:spcBef>
                <a:spcPts val="0"/>
              </a:spcBef>
              <a:spcAft>
                <a:spcPts val="0"/>
              </a:spcAft>
              <a:buSzPct val="100000"/>
              <a:buChar char="●"/>
            </a:pPr>
            <a:r>
              <a:rPr lang="es"/>
              <a:t>Contraseña: Prueba!123</a:t>
            </a:r>
            <a:endParaRPr/>
          </a:p>
          <a:p>
            <a:pPr indent="0" lvl="0" marL="0" rtl="0" algn="l">
              <a:lnSpc>
                <a:spcPct val="115000"/>
              </a:lnSpc>
              <a:spcBef>
                <a:spcPts val="1200"/>
              </a:spcBef>
              <a:spcAft>
                <a:spcPts val="1200"/>
              </a:spcAft>
              <a:buSzPct val="142857"/>
              <a:buNone/>
            </a:pPr>
            <a:r>
              <a:rPr b="1" lang="es"/>
              <a:t>Nota</a:t>
            </a:r>
            <a:r>
              <a:rPr lang="es"/>
              <a:t>: la contraseña la deben cambiar al ingresar por primera vez y completar su foto de perfil.</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7"/>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Comunicación</a:t>
            </a:r>
            <a:endParaRPr/>
          </a:p>
        </p:txBody>
      </p:sp>
      <p:sp>
        <p:nvSpPr>
          <p:cNvPr id="309" name="Google Shape;309;p27"/>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0"/>
              </a:spcBef>
              <a:spcAft>
                <a:spcPts val="0"/>
              </a:spcAft>
              <a:buClr>
                <a:schemeClr val="dk1"/>
              </a:buClr>
              <a:buSzPct val="61110"/>
              <a:buFont typeface="Arial"/>
              <a:buNone/>
            </a:pPr>
            <a:r>
              <a:rPr lang="es"/>
              <a:t>Como se mencionó antes, el </a:t>
            </a:r>
            <a:r>
              <a:rPr b="1" lang="es"/>
              <a:t>Aula Virtual </a:t>
            </a:r>
            <a:r>
              <a:rPr lang="es"/>
              <a:t>es de uso obligatorio por lo que será nuestro principal medio de contacto. La información importante siempre irá por ahí, deberán revisar diariamente la </a:t>
            </a:r>
            <a:r>
              <a:rPr b="1" lang="es"/>
              <a:t>Cartelera de Novedades.</a:t>
            </a:r>
            <a:endParaRPr b="1"/>
          </a:p>
          <a:p>
            <a:pPr indent="0" lvl="0" marL="0" rtl="0" algn="l">
              <a:lnSpc>
                <a:spcPct val="115000"/>
              </a:lnSpc>
              <a:spcBef>
                <a:spcPts val="1200"/>
              </a:spcBef>
              <a:spcAft>
                <a:spcPts val="0"/>
              </a:spcAft>
              <a:buClr>
                <a:schemeClr val="dk1"/>
              </a:buClr>
              <a:buSzPct val="61110"/>
              <a:buFont typeface="Arial"/>
              <a:buNone/>
            </a:pPr>
            <a:r>
              <a:rPr b="1" lang="es"/>
              <a:t>Podés descargarte Moodle app para utilizar el Aula desde tu celular.</a:t>
            </a:r>
            <a:endParaRPr b="1"/>
          </a:p>
          <a:p>
            <a:pPr indent="0" lvl="0" marL="0" rtl="0" algn="l">
              <a:lnSpc>
                <a:spcPct val="115000"/>
              </a:lnSpc>
              <a:spcBef>
                <a:spcPts val="1200"/>
              </a:spcBef>
              <a:spcAft>
                <a:spcPts val="0"/>
              </a:spcAft>
              <a:buClr>
                <a:schemeClr val="dk1"/>
              </a:buClr>
              <a:buSzPct val="61110"/>
              <a:buFont typeface="Arial"/>
              <a:buNone/>
            </a:pPr>
            <a:r>
              <a:rPr lang="es"/>
              <a:t>Para crear comunidad entre los estudiantes utilizarán también </a:t>
            </a:r>
            <a:r>
              <a:rPr b="1" lang="es"/>
              <a:t>Discord</a:t>
            </a:r>
            <a:r>
              <a:rPr lang="es"/>
              <a:t>:</a:t>
            </a:r>
            <a:endParaRPr/>
          </a:p>
          <a:p>
            <a:pPr indent="0" lvl="0" marL="0" rtl="0" algn="l">
              <a:lnSpc>
                <a:spcPct val="115000"/>
              </a:lnSpc>
              <a:spcBef>
                <a:spcPts val="1200"/>
              </a:spcBef>
              <a:spcAft>
                <a:spcPts val="0"/>
              </a:spcAft>
              <a:buClr>
                <a:schemeClr val="dk1"/>
              </a:buClr>
              <a:buSzPct val="61110"/>
              <a:buFont typeface="Arial"/>
              <a:buNone/>
            </a:pPr>
            <a:r>
              <a:rPr lang="es"/>
              <a:t>Herramienta para intercambio de mensajes y materiales entre todos los integrantes del curso.</a:t>
            </a:r>
            <a:endParaRPr/>
          </a:p>
          <a:p>
            <a:pPr indent="0" lvl="0" marL="0" rtl="0" algn="l">
              <a:lnSpc>
                <a:spcPct val="115000"/>
              </a:lnSpc>
              <a:spcBef>
                <a:spcPts val="1200"/>
              </a:spcBef>
              <a:spcAft>
                <a:spcPts val="1200"/>
              </a:spcAft>
              <a:buClr>
                <a:schemeClr val="dk1"/>
              </a:buClr>
              <a:buSzPct val="61110"/>
              <a:buFont typeface="Arial"/>
              <a:buNone/>
            </a:pPr>
            <a:r>
              <a:rPr lang="es"/>
              <a:t>Recibirán más adelante los datos para sumarse. Se habilitará en las próximas semanas.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28"/>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Clases en vivo</a:t>
            </a:r>
            <a:endParaRPr/>
          </a:p>
        </p:txBody>
      </p:sp>
      <p:sp>
        <p:nvSpPr>
          <p:cNvPr id="315" name="Google Shape;315;p28"/>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Se realizarán dictados on-line en vivo </a:t>
            </a:r>
            <a:r>
              <a:rPr b="1" lang="es"/>
              <a:t>2 veces por semana.</a:t>
            </a:r>
            <a:endParaRPr b="1"/>
          </a:p>
          <a:p>
            <a:pPr indent="-342900" lvl="0" marL="457200" rtl="0" algn="l">
              <a:lnSpc>
                <a:spcPct val="115000"/>
              </a:lnSpc>
              <a:spcBef>
                <a:spcPts val="0"/>
              </a:spcBef>
              <a:spcAft>
                <a:spcPts val="0"/>
              </a:spcAft>
              <a:buSzPts val="1800"/>
              <a:buChar char="●"/>
            </a:pPr>
            <a:r>
              <a:rPr lang="es"/>
              <a:t>Las clases se realizarán por </a:t>
            </a:r>
            <a:r>
              <a:rPr b="1" lang="es"/>
              <a:t>Google Meet.</a:t>
            </a:r>
            <a:endParaRPr b="1"/>
          </a:p>
          <a:p>
            <a:pPr indent="-342900" lvl="0" marL="457200" rtl="0" algn="l">
              <a:lnSpc>
                <a:spcPct val="115000"/>
              </a:lnSpc>
              <a:spcBef>
                <a:spcPts val="0"/>
              </a:spcBef>
              <a:spcAft>
                <a:spcPts val="0"/>
              </a:spcAft>
              <a:buSzPts val="1800"/>
              <a:buChar char="●"/>
            </a:pPr>
            <a:r>
              <a:rPr b="1" lang="es"/>
              <a:t>La asistencia a las clases en vivo es obligatoria.</a:t>
            </a:r>
            <a:endParaRPr b="1"/>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9"/>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Validación de tu vacante</a:t>
            </a:r>
            <a:endParaRPr/>
          </a:p>
        </p:txBody>
      </p:sp>
      <p:sp>
        <p:nvSpPr>
          <p:cNvPr id="321" name="Google Shape;321;p29"/>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t>Enviar al formulario de validación enviado por tu Tutor/a:</a:t>
            </a:r>
            <a:endParaRPr/>
          </a:p>
          <a:p>
            <a:pPr indent="-342900" lvl="0" marL="457200" rtl="0" algn="l">
              <a:lnSpc>
                <a:spcPct val="115000"/>
              </a:lnSpc>
              <a:spcBef>
                <a:spcPts val="1200"/>
              </a:spcBef>
              <a:spcAft>
                <a:spcPts val="0"/>
              </a:spcAft>
              <a:buSzPts val="1800"/>
              <a:buChar char="●"/>
            </a:pPr>
            <a:r>
              <a:rPr lang="es"/>
              <a:t>Documento de identidad.</a:t>
            </a:r>
            <a:endParaRPr/>
          </a:p>
          <a:p>
            <a:pPr indent="-342900" lvl="0" marL="457200" rtl="0" algn="l">
              <a:lnSpc>
                <a:spcPct val="115000"/>
              </a:lnSpc>
              <a:spcBef>
                <a:spcPts val="0"/>
              </a:spcBef>
              <a:spcAft>
                <a:spcPts val="0"/>
              </a:spcAft>
              <a:buSzPts val="1800"/>
              <a:buChar char="●"/>
            </a:pPr>
            <a:r>
              <a:rPr lang="es"/>
              <a:t>Título secundario completo o superior. </a:t>
            </a:r>
            <a:endParaRPr/>
          </a:p>
          <a:p>
            <a:pPr indent="-317500" lvl="1" marL="914400" rtl="0" algn="l">
              <a:lnSpc>
                <a:spcPct val="115000"/>
              </a:lnSpc>
              <a:spcBef>
                <a:spcPts val="0"/>
              </a:spcBef>
              <a:spcAft>
                <a:spcPts val="0"/>
              </a:spcAft>
              <a:buSzPts val="1400"/>
              <a:buChar char="○"/>
            </a:pPr>
            <a:r>
              <a:rPr lang="es"/>
              <a:t>Los estudiantes provenientes del extranjero no tienen que legalizar el título.</a:t>
            </a:r>
            <a:endParaRPr/>
          </a:p>
          <a:p>
            <a:pPr indent="-317500" lvl="1" marL="914400" rtl="0" algn="l">
              <a:lnSpc>
                <a:spcPct val="115000"/>
              </a:lnSpc>
              <a:spcBef>
                <a:spcPts val="0"/>
              </a:spcBef>
              <a:spcAft>
                <a:spcPts val="0"/>
              </a:spcAft>
              <a:buSzPts val="1400"/>
              <a:buChar char="○"/>
            </a:pPr>
            <a:r>
              <a:rPr lang="es"/>
              <a:t>Si tienen materias previas, lamentablemente no podrán cursar.</a:t>
            </a:r>
            <a:endParaRPr/>
          </a:p>
          <a:p>
            <a:pPr indent="-342900" lvl="0" marL="457200" rtl="0" algn="l">
              <a:lnSpc>
                <a:spcPct val="115000"/>
              </a:lnSpc>
              <a:spcBef>
                <a:spcPts val="0"/>
              </a:spcBef>
              <a:spcAft>
                <a:spcPts val="0"/>
              </a:spcAft>
              <a:buSzPts val="1800"/>
              <a:buChar char="●"/>
            </a:pPr>
            <a:r>
              <a:rPr lang="es"/>
              <a:t>Deben ser mayores de 18 años.</a:t>
            </a:r>
            <a:endParaRPr/>
          </a:p>
          <a:p>
            <a:pPr indent="-342900" lvl="0" marL="457200" rtl="0" algn="l">
              <a:lnSpc>
                <a:spcPct val="115000"/>
              </a:lnSpc>
              <a:spcBef>
                <a:spcPts val="0"/>
              </a:spcBef>
              <a:spcAft>
                <a:spcPts val="0"/>
              </a:spcAft>
              <a:buSzPts val="1800"/>
              <a:buChar char="●"/>
            </a:pPr>
            <a:r>
              <a:rPr lang="es"/>
              <a:t>Plazo para validar la documentación: tienen 30 días para validar la documentación desde el comienzo de la cursada, de lo contrario se los dará de baja automáticamente.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30"/>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Encuesta diagnóstica Estudiantes</a:t>
            </a:r>
            <a:endParaRPr/>
          </a:p>
        </p:txBody>
      </p:sp>
      <p:sp>
        <p:nvSpPr>
          <p:cNvPr id="327" name="Google Shape;327;p30"/>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t>Es obligatorio para los estudiantes de este curso realizar la siguiente encuesta: </a:t>
            </a:r>
            <a:r>
              <a:rPr lang="es" u="sng">
                <a:solidFill>
                  <a:schemeClr val="hlink"/>
                </a:solidFill>
                <a:hlinkClick r:id="rId3"/>
              </a:rPr>
              <a:t>https://forms.gle/jvJFzgXN9eoxi9TC8</a:t>
            </a:r>
            <a:r>
              <a:rPr lang="es"/>
              <a:t>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1"/>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fontScale="90000"/>
          </a:bodyPr>
          <a:lstStyle/>
          <a:p>
            <a:pPr indent="-440055" lvl="0" marL="457200" rtl="0" algn="l">
              <a:lnSpc>
                <a:spcPct val="115000"/>
              </a:lnSpc>
              <a:spcBef>
                <a:spcPts val="0"/>
              </a:spcBef>
              <a:spcAft>
                <a:spcPts val="0"/>
              </a:spcAft>
              <a:buClr>
                <a:srgbClr val="333333"/>
              </a:buClr>
              <a:buSzPct val="100000"/>
              <a:buChar char="●"/>
            </a:pPr>
            <a:r>
              <a:rPr lang="es">
                <a:solidFill>
                  <a:srgbClr val="333333"/>
                </a:solidFill>
              </a:rPr>
              <a:t>Proyecto:</a:t>
            </a:r>
            <a:r>
              <a:rPr b="0" lang="es">
                <a:solidFill>
                  <a:srgbClr val="333333"/>
                </a:solidFill>
              </a:rPr>
              <a:t> Desarrollo Web</a:t>
            </a:r>
            <a:endParaRPr b="0">
              <a:solidFill>
                <a:srgbClr val="333333"/>
              </a:solidFill>
            </a:endParaRPr>
          </a:p>
          <a:p>
            <a:pPr indent="-440055" lvl="0" marL="457200" rtl="0" algn="l">
              <a:lnSpc>
                <a:spcPct val="115000"/>
              </a:lnSpc>
              <a:spcBef>
                <a:spcPts val="0"/>
              </a:spcBef>
              <a:spcAft>
                <a:spcPts val="0"/>
              </a:spcAft>
              <a:buSzPct val="100000"/>
              <a:buChar char="●"/>
            </a:pPr>
            <a:r>
              <a:rPr lang="es">
                <a:solidFill>
                  <a:srgbClr val="333333"/>
                </a:solidFill>
              </a:rPr>
              <a:t>Fecha de entrega: </a:t>
            </a:r>
            <a:r>
              <a:rPr b="0" lang="es">
                <a:solidFill>
                  <a:srgbClr val="333333"/>
                </a:solidFill>
              </a:rPr>
              <a:t>Clase 22</a:t>
            </a:r>
            <a:r>
              <a:rPr b="0" lang="es"/>
              <a:t>. </a:t>
            </a:r>
            <a:endParaRPr b="0">
              <a:solidFill>
                <a:srgbClr val="333333"/>
              </a:solidFill>
            </a:endParaRPr>
          </a:p>
          <a:p>
            <a:pPr indent="-440055" lvl="0" marL="457200" rtl="0" algn="l">
              <a:lnSpc>
                <a:spcPct val="115000"/>
              </a:lnSpc>
              <a:spcBef>
                <a:spcPts val="0"/>
              </a:spcBef>
              <a:spcAft>
                <a:spcPts val="0"/>
              </a:spcAft>
              <a:buSzPct val="100000"/>
              <a:buChar char="●"/>
            </a:pPr>
            <a:r>
              <a:rPr lang="es">
                <a:solidFill>
                  <a:srgbClr val="333333"/>
                </a:solidFill>
              </a:rPr>
              <a:t>Temas:</a:t>
            </a:r>
            <a:r>
              <a:rPr b="0" lang="es">
                <a:solidFill>
                  <a:srgbClr val="333333"/>
                </a:solidFill>
              </a:rPr>
              <a:t> HTML CSS Java</a:t>
            </a:r>
            <a:r>
              <a:rPr b="0" lang="es"/>
              <a:t>script GIT</a:t>
            </a:r>
            <a:endParaRPr b="0"/>
          </a:p>
          <a:p>
            <a:pPr indent="-440055" lvl="0" marL="457200" rtl="0" algn="l">
              <a:lnSpc>
                <a:spcPct val="115000"/>
              </a:lnSpc>
              <a:spcBef>
                <a:spcPts val="0"/>
              </a:spcBef>
              <a:spcAft>
                <a:spcPts val="0"/>
              </a:spcAft>
              <a:buSzPct val="100000"/>
              <a:buChar char="●"/>
            </a:pPr>
            <a:r>
              <a:rPr lang="es"/>
              <a:t>Grupo:</a:t>
            </a:r>
            <a:r>
              <a:rPr b="0" lang="es"/>
              <a:t> de 4 personas (obligatorio)</a:t>
            </a:r>
            <a:endParaRPr b="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2"/>
          <p:cNvSpPr txBox="1"/>
          <p:nvPr>
            <p:ph type="title"/>
          </p:nvPr>
        </p:nvSpPr>
        <p:spPr>
          <a:xfrm>
            <a:off x="265500" y="775975"/>
            <a:ext cx="4045200" cy="14823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3800"/>
              <a:buNone/>
            </a:pPr>
            <a:r>
              <a:rPr lang="es"/>
              <a:t>Ejercicio </a:t>
            </a:r>
            <a:endParaRPr/>
          </a:p>
          <a:p>
            <a:pPr indent="0" lvl="0" marL="0" rtl="0" algn="ctr">
              <a:lnSpc>
                <a:spcPct val="100000"/>
              </a:lnSpc>
              <a:spcBef>
                <a:spcPts val="0"/>
              </a:spcBef>
              <a:spcAft>
                <a:spcPts val="0"/>
              </a:spcAft>
              <a:buSzPts val="3800"/>
              <a:buNone/>
            </a:pPr>
            <a:r>
              <a:rPr lang="es"/>
              <a:t>Clase 0</a:t>
            </a:r>
            <a:endParaRPr/>
          </a:p>
        </p:txBody>
      </p:sp>
      <p:sp>
        <p:nvSpPr>
          <p:cNvPr id="338" name="Google Shape;338;p32"/>
          <p:cNvSpPr txBox="1"/>
          <p:nvPr>
            <p:ph idx="1" type="subTitle"/>
          </p:nvPr>
        </p:nvSpPr>
        <p:spPr>
          <a:xfrm>
            <a:off x="265500" y="2498275"/>
            <a:ext cx="4045200" cy="12351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100"/>
              <a:buNone/>
            </a:pPr>
            <a:r>
              <a:rPr lang="es"/>
              <a:t>¿Qué crees que es Full Stack?</a:t>
            </a:r>
            <a:endParaRPr/>
          </a:p>
          <a:p>
            <a:pPr indent="0" lvl="0" marL="0" rtl="0" algn="ctr">
              <a:lnSpc>
                <a:spcPct val="100000"/>
              </a:lnSpc>
              <a:spcBef>
                <a:spcPts val="0"/>
              </a:spcBef>
              <a:spcAft>
                <a:spcPts val="0"/>
              </a:spcAft>
              <a:buSzPts val="2100"/>
              <a:buNone/>
            </a:pPr>
            <a:r>
              <a:rPr lang="es"/>
              <a:t>(nube de tags)</a:t>
            </a:r>
            <a:endParaRPr/>
          </a:p>
        </p:txBody>
      </p:sp>
      <p:pic>
        <p:nvPicPr>
          <p:cNvPr id="339" name="Google Shape;339;p32"/>
          <p:cNvPicPr preferRelativeResize="0"/>
          <p:nvPr/>
        </p:nvPicPr>
        <p:blipFill rotWithShape="1">
          <a:blip r:embed="rId3">
            <a:alphaModFix/>
          </a:blip>
          <a:srcRect b="0" l="0" r="0" t="0"/>
          <a:stretch/>
        </p:blipFill>
        <p:spPr>
          <a:xfrm>
            <a:off x="4572000" y="1140700"/>
            <a:ext cx="4572001" cy="2862101"/>
          </a:xfrm>
          <a:prstGeom prst="rect">
            <a:avLst/>
          </a:prstGeom>
          <a:noFill/>
          <a:ln>
            <a:noFill/>
          </a:ln>
          <a:effectLst>
            <a:outerShdw blurRad="57150" rotWithShape="0" algn="bl" dir="5400000" dist="19050">
              <a:srgbClr val="000000">
                <a:alpha val="49803"/>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1000"/>
                                        <p:tgtEl>
                                          <p:spTgt spid="3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33"/>
          <p:cNvSpPr txBox="1"/>
          <p:nvPr>
            <p:ph idx="1" type="body"/>
          </p:nvPr>
        </p:nvSpPr>
        <p:spPr>
          <a:xfrm>
            <a:off x="433800" y="1715975"/>
            <a:ext cx="8203800" cy="14820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2000"/>
              <a:buNone/>
            </a:pPr>
            <a:r>
              <a:rPr lang="es"/>
              <a:t>Aprender a programar es aprender a pensar.</a:t>
            </a:r>
            <a:endParaRPr/>
          </a:p>
        </p:txBody>
      </p:sp>
      <p:sp>
        <p:nvSpPr>
          <p:cNvPr id="345" name="Google Shape;345;p33"/>
          <p:cNvSpPr txBox="1"/>
          <p:nvPr>
            <p:ph type="title"/>
          </p:nvPr>
        </p:nvSpPr>
        <p:spPr>
          <a:xfrm>
            <a:off x="1766475" y="3773600"/>
            <a:ext cx="7145100" cy="3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s" sz="1750"/>
              <a:t>Steve Jobs</a:t>
            </a:r>
            <a:endParaRPr sz="175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4"/>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3700"/>
              <a:buNone/>
            </a:pPr>
            <a:r>
              <a:rPr lang="es"/>
              <a:t>No te olvides de dar el presente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5"/>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3700"/>
              <a:buNone/>
            </a:pPr>
            <a:r>
              <a:rPr lang="es"/>
              <a:t>Recordá: </a:t>
            </a:r>
            <a:endParaRPr/>
          </a:p>
          <a:p>
            <a:pPr indent="-431800" lvl="0" marL="457200" rtl="0" algn="l">
              <a:lnSpc>
                <a:spcPct val="100000"/>
              </a:lnSpc>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Revisar la Cartelera de Novedades.</a:t>
            </a:r>
            <a:endParaRPr b="0" sz="3200">
              <a:latin typeface="Montserrat SemiBold"/>
              <a:ea typeface="Montserrat SemiBold"/>
              <a:cs typeface="Montserrat SemiBold"/>
              <a:sym typeface="Montserrat SemiBold"/>
            </a:endParaRPr>
          </a:p>
          <a:p>
            <a:pPr indent="-431800" lvl="0" marL="457200" rtl="0" algn="l">
              <a:lnSpc>
                <a:spcPct val="100000"/>
              </a:lnSpc>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Hacer tus consultas en el Foro.</a:t>
            </a:r>
            <a:endParaRPr b="0" sz="3200">
              <a:latin typeface="Montserrat SemiBold"/>
              <a:ea typeface="Montserrat SemiBold"/>
              <a:cs typeface="Montserrat SemiBold"/>
              <a:sym typeface="Montserrat SemiBold"/>
            </a:endParaRPr>
          </a:p>
          <a:p>
            <a:pPr indent="0" lvl="0" marL="0" rtl="0" algn="l">
              <a:lnSpc>
                <a:spcPct val="100000"/>
              </a:lnSpc>
              <a:spcBef>
                <a:spcPts val="0"/>
              </a:spcBef>
              <a:spcAft>
                <a:spcPts val="0"/>
              </a:spcAft>
              <a:buSzPts val="3700"/>
              <a:buNone/>
            </a:pPr>
            <a:r>
              <a:t/>
            </a:r>
            <a:endParaRPr sz="3200"/>
          </a:p>
          <a:p>
            <a:pPr indent="0" lvl="0" marL="0" rtl="0" algn="l">
              <a:lnSpc>
                <a:spcPct val="100000"/>
              </a:lnSpc>
              <a:spcBef>
                <a:spcPts val="0"/>
              </a:spcBef>
              <a:spcAft>
                <a:spcPts val="0"/>
              </a:spcAft>
              <a:buSzPts val="3700"/>
              <a:buNone/>
            </a:pPr>
            <a:r>
              <a:rPr lang="es" sz="3200"/>
              <a:t>Todo en el Aula Virtual.</a:t>
            </a:r>
            <a:endParaRPr sz="32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36"/>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1200"/>
              </a:spcBef>
              <a:spcAft>
                <a:spcPts val="0"/>
              </a:spcAft>
              <a:buClr>
                <a:schemeClr val="dk1"/>
              </a:buClr>
              <a:buSzPts val="1100"/>
              <a:buFont typeface="Arial"/>
              <a:buNone/>
            </a:pPr>
            <a:r>
              <a:rPr lang="es"/>
              <a:t>Muchas gracias por tu atención.</a:t>
            </a:r>
            <a:endParaRPr/>
          </a:p>
          <a:p>
            <a:pPr indent="0" lvl="0" marL="0" rtl="0" algn="l">
              <a:lnSpc>
                <a:spcPct val="115000"/>
              </a:lnSpc>
              <a:spcBef>
                <a:spcPts val="1200"/>
              </a:spcBef>
              <a:spcAft>
                <a:spcPts val="1200"/>
              </a:spcAft>
              <a:buSzPts val="3700"/>
              <a:buNone/>
            </a:pPr>
            <a:r>
              <a:rPr lang="es"/>
              <a:t>Nos vemos pronto</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