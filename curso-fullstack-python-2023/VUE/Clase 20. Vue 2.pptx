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Montserrat SemiBold"/>
      <p:regular r:id="rId46"/>
      <p:bold r:id="rId47"/>
      <p:italic r:id="rId48"/>
      <p:boldItalic r:id="rId49"/>
    </p:embeddedFont>
    <p:embeddedFont>
      <p:font typeface="Montserrat"/>
      <p:regular r:id="rId50"/>
      <p:bold r:id="rId51"/>
      <p:italic r:id="rId52"/>
      <p:boldItalic r:id="rId53"/>
    </p:embeddedFont>
    <p:embeddedFont>
      <p:font typeface="Montserrat Medium"/>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MontserratSemiBold-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SemiBold-italic.fntdata"/><Relationship Id="rId47" Type="http://schemas.openxmlformats.org/officeDocument/2006/relationships/font" Target="fonts/MontserratSemiBold-bold.fntdata"/><Relationship Id="rId49" Type="http://schemas.openxmlformats.org/officeDocument/2006/relationships/font" Target="fonts/Montserrat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bold.fntdata"/><Relationship Id="rId50" Type="http://schemas.openxmlformats.org/officeDocument/2006/relationships/font" Target="fonts/Montserrat-regular.fntdata"/><Relationship Id="rId53" Type="http://schemas.openxmlformats.org/officeDocument/2006/relationships/font" Target="fonts/Montserrat-boldItalic.fntdata"/><Relationship Id="rId52" Type="http://schemas.openxmlformats.org/officeDocument/2006/relationships/font" Target="fonts/Montserrat-italic.fntdata"/><Relationship Id="rId11" Type="http://schemas.openxmlformats.org/officeDocument/2006/relationships/slide" Target="slides/slide6.xml"/><Relationship Id="rId55" Type="http://schemas.openxmlformats.org/officeDocument/2006/relationships/font" Target="fonts/MontserratMedium-bold.fntdata"/><Relationship Id="rId10" Type="http://schemas.openxmlformats.org/officeDocument/2006/relationships/slide" Target="slides/slide5.xml"/><Relationship Id="rId54" Type="http://schemas.openxmlformats.org/officeDocument/2006/relationships/font" Target="fonts/MontserratMedium-regular.fntdata"/><Relationship Id="rId13" Type="http://schemas.openxmlformats.org/officeDocument/2006/relationships/slide" Target="slides/slide8.xml"/><Relationship Id="rId57" Type="http://schemas.openxmlformats.org/officeDocument/2006/relationships/font" Target="fonts/MontserratMedium-boldItalic.fntdata"/><Relationship Id="rId12" Type="http://schemas.openxmlformats.org/officeDocument/2006/relationships/slide" Target="slides/slide7.xml"/><Relationship Id="rId56" Type="http://schemas.openxmlformats.org/officeDocument/2006/relationships/font" Target="fonts/MontserratMedium-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uejs.org/guide/extras/reactivity-in-depth.html#reactivity-in-depth"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ncora.com/es/blog/qu%C3%A9-es-vue.js-y-c%C3%B3mo-lo-usamo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rogrammerclick.com/article/1609209398/" TargetMode="External"/><Relationship Id="rId3" Type="http://schemas.openxmlformats.org/officeDocument/2006/relationships/hyperlink" Target="https://programmerclick.com/article/27941011159/" TargetMode="External"/><Relationship Id="rId4" Type="http://schemas.openxmlformats.org/officeDocument/2006/relationships/hyperlink" Target="https://programmerclick.com/article/37033003989/"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nohkachi/my-vue-on-mvvm-c3ffb4f0678f"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592eaf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592eaf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9592ea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9592ea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49592eaf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49592eaf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9592eaf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9592eaf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a95c866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a95c866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Fuente: </a:t>
            </a:r>
            <a:r>
              <a:rPr lang="es" u="sng">
                <a:solidFill>
                  <a:schemeClr val="hlink"/>
                </a:solidFill>
                <a:hlinkClick r:id="rId2"/>
              </a:rPr>
              <a:t>https://vuejs.org/guide/extras/reactivity-in-depth.html#reactivity-in-depth</a:t>
            </a:r>
            <a:r>
              <a:rPr lang="es"/>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9592eaf8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49592eaf8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4151234ea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4151234ea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5c3d4daf6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5c3d4daf6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4a95c866f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4a95c866f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4151234eac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4151234eac_1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41cc44290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41cc44290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591a6fa58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591a6fa58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4151234eac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4151234eac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4151234eac_1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4151234eac_1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4a95c866f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4a95c866f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Fuente: </a:t>
            </a:r>
            <a:r>
              <a:rPr lang="es" u="sng">
                <a:solidFill>
                  <a:schemeClr val="hlink"/>
                </a:solidFill>
                <a:hlinkClick r:id="rId2"/>
              </a:rPr>
              <a:t>https://www.encora.com/es/blog/qu%C3%A9-es-vue.js-y-c%C3%B3mo-lo-usamos</a:t>
            </a:r>
            <a:r>
              <a:rPr lang="es"/>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4a95c866f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4a95c866f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4151234eac_1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4151234eac_1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4151234eac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4151234eac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41cc44290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41cc44290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41cc44290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41cc44290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41cc44290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41cc44290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41cc44290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41cc44290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41e19a418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41e19a418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41e19a418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41e19a418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41e19a418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41e19a418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41e19a418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41e19a418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66b97f0ee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66b97f0ee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66b97f0ee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66b97f0ee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4a95c866f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4a95c866f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4a95c866f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4a95c866f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41e19a418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41e19a418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41e19a418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41e19a418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41e19a418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41e19a418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mayor diferencia entre mvvm y mvc: </a:t>
            </a:r>
            <a:r>
              <a:rPr lang="es" u="sng">
                <a:solidFill>
                  <a:schemeClr val="hlink"/>
                </a:solidFill>
                <a:hlinkClick r:id="rId2"/>
              </a:rPr>
              <a:t>https://programmerclick.com/article/1609209398/</a:t>
            </a:r>
            <a:endParaRPr/>
          </a:p>
          <a:p>
            <a:pPr indent="0" lvl="0" marL="0" rtl="0" algn="l">
              <a:spcBef>
                <a:spcPts val="0"/>
              </a:spcBef>
              <a:spcAft>
                <a:spcPts val="0"/>
              </a:spcAft>
              <a:buNone/>
            </a:pPr>
            <a:r>
              <a:rPr lang="es"/>
              <a:t>Puntos clave del modo MVVM: </a:t>
            </a:r>
            <a:r>
              <a:rPr lang="es" u="sng">
                <a:solidFill>
                  <a:schemeClr val="hlink"/>
                </a:solidFill>
                <a:hlinkClick r:id="rId3"/>
              </a:rPr>
              <a:t>https://programmerclick.com/article/27941011159/</a:t>
            </a:r>
            <a:endParaRPr/>
          </a:p>
          <a:p>
            <a:pPr indent="0" lvl="0" marL="0" rtl="0" algn="l">
              <a:spcBef>
                <a:spcPts val="0"/>
              </a:spcBef>
              <a:spcAft>
                <a:spcPts val="0"/>
              </a:spcAft>
              <a:buNone/>
            </a:pPr>
            <a:r>
              <a:rPr lang="es"/>
              <a:t>Patrón de diseño VUE y MVVM: </a:t>
            </a:r>
            <a:r>
              <a:rPr lang="es" u="sng">
                <a:solidFill>
                  <a:schemeClr val="hlink"/>
                </a:solidFill>
                <a:hlinkClick r:id="rId4"/>
              </a:rPr>
              <a:t>https://programmerclick.com/article/37033003989/</a:t>
            </a:r>
            <a:r>
              <a:rPr lang="es"/>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4a95c866f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4a95c866f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4a95c866f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4a95c866f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VUE y MVVM: </a:t>
            </a:r>
            <a:r>
              <a:rPr lang="es" u="sng">
                <a:solidFill>
                  <a:schemeClr val="hlink"/>
                </a:solidFill>
                <a:hlinkClick r:id="rId2"/>
              </a:rPr>
              <a:t>https://medium.com/@nohkachi/my-vue-on-mvvm-c3ffb4f0678f</a:t>
            </a:r>
            <a:r>
              <a:rPr lang="es"/>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49592eaf8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49592eaf8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fea8c8a2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fea8c8a2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49592eaf8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49592eaf8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49592eaf8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49592eaf8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49592eaf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49592eaf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8.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vuejs.org/guide/essentials/event-handling.html" TargetMode="Externa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www.youtube.com/watch?v=PL-aTHv2L3E" TargetMode="External"/><Relationship Id="rId4" Type="http://schemas.openxmlformats.org/officeDocument/2006/relationships/hyperlink" Target="https://escuelavue.es/cursos/curso-vue-3-desde-cero/" TargetMode="External"/><Relationship Id="rId5" Type="http://schemas.openxmlformats.org/officeDocument/2006/relationships/hyperlink" Target="https://escuelavue.es/cursos/curso-vue-3-desde-cero/reactividad-vue-3/"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20</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Vue 2</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es"/>
              <a:t>DOM y eventos</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157663" y="2868475"/>
            <a:ext cx="828675"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20</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19</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21</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Introducción a Vue</a:t>
            </a:r>
            <a:endParaRPr b="1"/>
          </a:p>
          <a:p>
            <a:pPr indent="0" lvl="0" marL="0" rtl="0" algn="l">
              <a:spcBef>
                <a:spcPts val="0"/>
              </a:spcBef>
              <a:spcAft>
                <a:spcPts val="0"/>
              </a:spcAft>
              <a:buNone/>
            </a:pPr>
            <a:r>
              <a:t/>
            </a:r>
            <a:endParaRPr b="1"/>
          </a:p>
          <a:p>
            <a:pPr indent="-292100" lvl="0" marL="457200" rtl="0" algn="l">
              <a:lnSpc>
                <a:spcPct val="115000"/>
              </a:lnSpc>
              <a:spcBef>
                <a:spcPts val="0"/>
              </a:spcBef>
              <a:spcAft>
                <a:spcPts val="0"/>
              </a:spcAft>
              <a:buSzPts val="1000"/>
              <a:buChar char="●"/>
            </a:pPr>
            <a:r>
              <a:rPr lang="es"/>
              <a:t>Introducción a Vue.js. ¿Qué</a:t>
            </a:r>
            <a:endParaRPr/>
          </a:p>
          <a:p>
            <a:pPr indent="0" lvl="0" marL="457200" rtl="0" algn="l">
              <a:lnSpc>
                <a:spcPct val="115000"/>
              </a:lnSpc>
              <a:spcBef>
                <a:spcPts val="0"/>
              </a:spcBef>
              <a:spcAft>
                <a:spcPts val="0"/>
              </a:spcAft>
              <a:buNone/>
            </a:pPr>
            <a:r>
              <a:rPr lang="es"/>
              <a:t>es?</a:t>
            </a:r>
            <a:endParaRPr/>
          </a:p>
          <a:p>
            <a:pPr indent="-292100" lvl="0" marL="457200" rtl="0" algn="l">
              <a:lnSpc>
                <a:spcPct val="115000"/>
              </a:lnSpc>
              <a:spcBef>
                <a:spcPts val="0"/>
              </a:spcBef>
              <a:spcAft>
                <a:spcPts val="0"/>
              </a:spcAft>
              <a:buSzPts val="1000"/>
              <a:buChar char="●"/>
            </a:pPr>
            <a:r>
              <a:rPr lang="es"/>
              <a:t>Renderizado.</a:t>
            </a:r>
            <a:endParaRPr/>
          </a:p>
          <a:p>
            <a:pPr indent="-292100" lvl="0" marL="457200" rtl="0" algn="l">
              <a:lnSpc>
                <a:spcPct val="115000"/>
              </a:lnSpc>
              <a:spcBef>
                <a:spcPts val="0"/>
              </a:spcBef>
              <a:spcAft>
                <a:spcPts val="0"/>
              </a:spcAft>
              <a:buSzPts val="1000"/>
              <a:buChar char="●"/>
            </a:pPr>
            <a:r>
              <a:rPr lang="es"/>
              <a:t>Modificación del DOM.</a:t>
            </a:r>
            <a:endParaRPr/>
          </a:p>
          <a:p>
            <a:pPr indent="-292100" lvl="0" marL="457200" rtl="0" algn="l">
              <a:lnSpc>
                <a:spcPct val="115000"/>
              </a:lnSpc>
              <a:spcBef>
                <a:spcPts val="0"/>
              </a:spcBef>
              <a:spcAft>
                <a:spcPts val="0"/>
              </a:spcAft>
              <a:buSzPts val="1000"/>
              <a:buChar char="●"/>
            </a:pPr>
            <a:r>
              <a:rPr lang="es"/>
              <a:t>Instalación. CDN.</a:t>
            </a:r>
            <a:endParaRPr/>
          </a:p>
          <a:p>
            <a:pPr indent="-292100" lvl="0" marL="457200" rtl="0" algn="l">
              <a:lnSpc>
                <a:spcPct val="115000"/>
              </a:lnSpc>
              <a:spcBef>
                <a:spcPts val="0"/>
              </a:spcBef>
              <a:spcAft>
                <a:spcPts val="0"/>
              </a:spcAft>
              <a:buSzPts val="1000"/>
              <a:buChar char="●"/>
            </a:pPr>
            <a:r>
              <a:rPr lang="es"/>
              <a:t>Directivas condicionales,</a:t>
            </a:r>
            <a:endParaRPr/>
          </a:p>
          <a:p>
            <a:pPr indent="-292100" lvl="0" marL="457200" rtl="0" algn="l">
              <a:lnSpc>
                <a:spcPct val="115000"/>
              </a:lnSpc>
              <a:spcBef>
                <a:spcPts val="0"/>
              </a:spcBef>
              <a:spcAft>
                <a:spcPts val="0"/>
              </a:spcAft>
              <a:buSzPts val="1000"/>
              <a:buChar char="●"/>
            </a:pPr>
            <a:r>
              <a:rPr lang="es"/>
              <a:t>estructurales y de atributo.</a:t>
            </a:r>
            <a:endParaRPr/>
          </a:p>
          <a:p>
            <a:pPr indent="-292100" lvl="0" marL="457200" rtl="0" algn="l">
              <a:lnSpc>
                <a:spcPct val="115000"/>
              </a:lnSpc>
              <a:spcBef>
                <a:spcPts val="0"/>
              </a:spcBef>
              <a:spcAft>
                <a:spcPts val="0"/>
              </a:spcAft>
              <a:buSzPts val="1000"/>
              <a:buChar char="●"/>
            </a:pPr>
            <a:r>
              <a:rPr lang="es"/>
              <a:t>Métodos y eventos.</a:t>
            </a:r>
            <a:endParaRPr/>
          </a:p>
          <a:p>
            <a:pPr indent="-292100" lvl="0" marL="457200" rtl="0" algn="l">
              <a:lnSpc>
                <a:spcPct val="115000"/>
              </a:lnSpc>
              <a:spcBef>
                <a:spcPts val="0"/>
              </a:spcBef>
              <a:spcAft>
                <a:spcPts val="0"/>
              </a:spcAft>
              <a:buSzPts val="1000"/>
              <a:buChar char="●"/>
            </a:pPr>
            <a:r>
              <a:rPr lang="es"/>
              <a:t>Conceptos claves.</a:t>
            </a:r>
            <a:endParaRPr b="1"/>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t>SPA y Asincronía</a:t>
            </a:r>
            <a:endParaRPr b="1"/>
          </a:p>
          <a:p>
            <a:pPr indent="0" lvl="0" marL="0" rtl="0" algn="l">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Introducción a SPA.</a:t>
            </a:r>
            <a:endParaRPr sz="900"/>
          </a:p>
          <a:p>
            <a:pPr indent="-285750" lvl="0" marL="457200" rtl="0" algn="l">
              <a:lnSpc>
                <a:spcPct val="115000"/>
              </a:lnSpc>
              <a:spcBef>
                <a:spcPts val="0"/>
              </a:spcBef>
              <a:spcAft>
                <a:spcPts val="0"/>
              </a:spcAft>
              <a:buSzPts val="900"/>
              <a:buChar char="●"/>
            </a:pPr>
            <a:r>
              <a:rPr lang="es" sz="900"/>
              <a:t>SPA. ¿Qué es y qué beneficios tiene?</a:t>
            </a:r>
            <a:endParaRPr sz="900"/>
          </a:p>
          <a:p>
            <a:pPr indent="-285750" lvl="0" marL="457200" rtl="0" algn="l">
              <a:lnSpc>
                <a:spcPct val="115000"/>
              </a:lnSpc>
              <a:spcBef>
                <a:spcPts val="0"/>
              </a:spcBef>
              <a:spcAft>
                <a:spcPts val="0"/>
              </a:spcAft>
              <a:buSzPts val="900"/>
              <a:buChar char="●"/>
            </a:pPr>
            <a:r>
              <a:rPr lang="es" sz="900"/>
              <a:t>Ejemplo práctico de un SPA en Vue.</a:t>
            </a:r>
            <a:endParaRPr sz="900"/>
          </a:p>
          <a:p>
            <a:pPr indent="-285750" lvl="0" marL="457200" rtl="0" algn="l">
              <a:lnSpc>
                <a:spcPct val="115000"/>
              </a:lnSpc>
              <a:spcBef>
                <a:spcPts val="0"/>
              </a:spcBef>
              <a:spcAft>
                <a:spcPts val="0"/>
              </a:spcAft>
              <a:buSzPts val="900"/>
              <a:buChar char="●"/>
            </a:pPr>
            <a:r>
              <a:rPr lang="es" sz="900"/>
              <a:t>Enviar y pedir datos a un servidor</a:t>
            </a:r>
            <a:endParaRPr sz="900"/>
          </a:p>
          <a:p>
            <a:pPr indent="-285750" lvl="0" marL="457200" rtl="0" algn="l">
              <a:lnSpc>
                <a:spcPct val="115000"/>
              </a:lnSpc>
              <a:spcBef>
                <a:spcPts val="0"/>
              </a:spcBef>
              <a:spcAft>
                <a:spcPts val="0"/>
              </a:spcAft>
              <a:buSzPts val="900"/>
              <a:buChar char="●"/>
            </a:pPr>
            <a:r>
              <a:rPr lang="es" sz="900"/>
              <a:t>Asincronía.</a:t>
            </a:r>
            <a:endParaRPr sz="900"/>
          </a:p>
          <a:p>
            <a:pPr indent="-285750" lvl="0" marL="457200" rtl="0" algn="l">
              <a:lnSpc>
                <a:spcPct val="115000"/>
              </a:lnSpc>
              <a:spcBef>
                <a:spcPts val="0"/>
              </a:spcBef>
              <a:spcAft>
                <a:spcPts val="0"/>
              </a:spcAft>
              <a:buSzPts val="900"/>
              <a:buChar char="●"/>
            </a:pPr>
            <a:r>
              <a:rPr lang="es" sz="900"/>
              <a:t>Consumo de API REST a través de fetch y Axios.</a:t>
            </a:r>
            <a:endParaRPr sz="900"/>
          </a:p>
        </p:txBody>
      </p:sp>
      <p:sp>
        <p:nvSpPr>
          <p:cNvPr id="167" name="Google Shape;167;p19"/>
          <p:cNvSpPr txBox="1"/>
          <p:nvPr>
            <p:ph idx="6" type="title"/>
          </p:nvPr>
        </p:nvSpPr>
        <p:spPr>
          <a:xfrm>
            <a:off x="3331525" y="2155125"/>
            <a:ext cx="2397900" cy="212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DOM y Eventos</a:t>
            </a:r>
            <a:endParaRPr b="1"/>
          </a:p>
          <a:p>
            <a:pPr indent="0" lvl="0" marL="0" rtl="0" algn="l">
              <a:spcBef>
                <a:spcPts val="0"/>
              </a:spcBef>
              <a:spcAft>
                <a:spcPts val="0"/>
              </a:spcAft>
              <a:buNone/>
            </a:pPr>
            <a:r>
              <a:t/>
            </a:r>
            <a:endParaRPr b="1"/>
          </a:p>
          <a:p>
            <a:pPr indent="-292100" lvl="0" marL="457200" rtl="0" algn="l">
              <a:lnSpc>
                <a:spcPct val="115000"/>
              </a:lnSpc>
              <a:spcBef>
                <a:spcPts val="0"/>
              </a:spcBef>
              <a:spcAft>
                <a:spcPts val="0"/>
              </a:spcAft>
              <a:buSzPts val="1000"/>
              <a:buChar char="●"/>
            </a:pPr>
            <a:r>
              <a:rPr lang="es"/>
              <a:t>Aplicaciones Reactivas. Reactividad en 2 sentidos.</a:t>
            </a:r>
            <a:endParaRPr/>
          </a:p>
          <a:p>
            <a:pPr indent="-292100" lvl="0" marL="457200" rtl="0" algn="l">
              <a:lnSpc>
                <a:spcPct val="115000"/>
              </a:lnSpc>
              <a:spcBef>
                <a:spcPts val="0"/>
              </a:spcBef>
              <a:spcAft>
                <a:spcPts val="0"/>
              </a:spcAft>
              <a:buSzPts val="1000"/>
              <a:buChar char="●"/>
            </a:pPr>
            <a:r>
              <a:rPr lang="es"/>
              <a:t>Propiedades computadas.</a:t>
            </a:r>
            <a:endParaRPr/>
          </a:p>
          <a:p>
            <a:pPr indent="-292100" lvl="0" marL="457200" rtl="0" algn="l">
              <a:lnSpc>
                <a:spcPct val="115000"/>
              </a:lnSpc>
              <a:spcBef>
                <a:spcPts val="0"/>
              </a:spcBef>
              <a:spcAft>
                <a:spcPts val="0"/>
              </a:spcAft>
              <a:buSzPts val="1000"/>
              <a:buChar char="●"/>
            </a:pPr>
            <a:r>
              <a:rPr lang="es"/>
              <a:t>Componentes.</a:t>
            </a:r>
            <a:endParaRPr/>
          </a:p>
          <a:p>
            <a:pPr indent="-292100" lvl="0" marL="457200" rtl="0" algn="l">
              <a:lnSpc>
                <a:spcPct val="115000"/>
              </a:lnSpc>
              <a:spcBef>
                <a:spcPts val="0"/>
              </a:spcBef>
              <a:spcAft>
                <a:spcPts val="0"/>
              </a:spcAft>
              <a:buSzPts val="1000"/>
              <a:buChar char="●"/>
            </a:pPr>
            <a:r>
              <a:rPr lang="es"/>
              <a:t>Watchers.</a:t>
            </a:r>
            <a:endParaRPr/>
          </a:p>
          <a:p>
            <a:pPr indent="-292100" lvl="0" marL="457200" rtl="0" algn="l">
              <a:lnSpc>
                <a:spcPct val="115000"/>
              </a:lnSpc>
              <a:spcBef>
                <a:spcPts val="0"/>
              </a:spcBef>
              <a:spcAft>
                <a:spcPts val="0"/>
              </a:spcAft>
              <a:buSzPts val="1000"/>
              <a:buChar char="●"/>
            </a:pPr>
            <a:r>
              <a:rPr lang="es"/>
              <a:t>Acceder a los elementos</a:t>
            </a:r>
            <a:endParaRPr/>
          </a:p>
          <a:p>
            <a:pPr indent="0" lvl="0" marL="457200" rtl="0" algn="l">
              <a:lnSpc>
                <a:spcPct val="115000"/>
              </a:lnSpc>
              <a:spcBef>
                <a:spcPts val="0"/>
              </a:spcBef>
              <a:spcAft>
                <a:spcPts val="0"/>
              </a:spcAft>
              <a:buNone/>
            </a:pPr>
            <a:r>
              <a:rPr lang="es"/>
              <a:t>del DOM utilizando $refs</a:t>
            </a:r>
            <a:endParaRPr/>
          </a:p>
          <a:p>
            <a:pPr indent="-292100" lvl="0" marL="457200" rtl="0" algn="l">
              <a:lnSpc>
                <a:spcPct val="115000"/>
              </a:lnSpc>
              <a:spcBef>
                <a:spcPts val="0"/>
              </a:spcBef>
              <a:spcAft>
                <a:spcPts val="0"/>
              </a:spcAft>
              <a:buSzPts val="1000"/>
              <a:buChar char="●"/>
            </a:pPr>
            <a:r>
              <a:rPr lang="es"/>
              <a:t>Concepto MVC y MVVM.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Aplicaciones reactivas</a:t>
            </a:r>
            <a:endParaRPr/>
          </a:p>
        </p:txBody>
      </p:sp>
      <p:sp>
        <p:nvSpPr>
          <p:cNvPr id="173" name="Google Shape;173;p2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Una de las características que diferencian a Vue es su sistema de reactividad. Los modelos simplemente son objetos de JavaScript. Cuando se modifican, se actualiza la vista. Esto hace que el gestor de estados sea simple e intuitivo.</a:t>
            </a:r>
            <a:endParaRPr/>
          </a:p>
          <a:p>
            <a:pPr indent="0" lvl="0" marL="0" rtl="0" algn="l">
              <a:spcBef>
                <a:spcPts val="1200"/>
              </a:spcBef>
              <a:spcAft>
                <a:spcPts val="1200"/>
              </a:spcAft>
              <a:buNone/>
            </a:pPr>
            <a:r>
              <a:rPr lang="es"/>
              <a:t>Vue.js proporciona opciones para agregar reactividad a las propiedades, que se agregan dinámicamente, mediante el uso de </a:t>
            </a:r>
            <a:r>
              <a:rPr i="1" lang="es"/>
              <a:t>observadores</a:t>
            </a:r>
            <a:r>
              <a:rPr lang="es"/>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Reactividad en 2 sentidos</a:t>
            </a:r>
            <a:endParaRPr/>
          </a:p>
        </p:txBody>
      </p:sp>
      <p:sp>
        <p:nvSpPr>
          <p:cNvPr id="179" name="Google Shape;179;p21"/>
          <p:cNvSpPr txBox="1"/>
          <p:nvPr>
            <p:ph idx="1" type="body"/>
          </p:nvPr>
        </p:nvSpPr>
        <p:spPr>
          <a:xfrm>
            <a:off x="432025" y="1304875"/>
            <a:ext cx="8280000" cy="33021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s" sz="1526"/>
              <a:t>Partiremos del ejemplo del array de frutas, donde </a:t>
            </a:r>
            <a:r>
              <a:rPr lang="es" sz="1526"/>
              <a:t>agregamos</a:t>
            </a:r>
            <a:r>
              <a:rPr lang="es" sz="1526"/>
              <a:t> con la directiva </a:t>
            </a:r>
            <a:r>
              <a:rPr b="1" lang="es" sz="1526"/>
              <a:t>v-for</a:t>
            </a:r>
            <a:r>
              <a:rPr lang="es" sz="1526"/>
              <a:t> las frutas del array de objetos y le </a:t>
            </a:r>
            <a:r>
              <a:rPr lang="es" sz="1526"/>
              <a:t>agregamos un input y un botón para agregar la fruta que deseamos al array de objetos</a:t>
            </a:r>
            <a:r>
              <a:rPr lang="es" sz="1526"/>
              <a:t>:</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1200"/>
              </a:spcAft>
              <a:buSzPts val="1018"/>
              <a:buNone/>
            </a:pPr>
            <a:r>
              <a:t/>
            </a:r>
            <a:endParaRPr sz="1526"/>
          </a:p>
        </p:txBody>
      </p:sp>
      <p:sp>
        <p:nvSpPr>
          <p:cNvPr id="180" name="Google Shape;180;p21"/>
          <p:cNvSpPr/>
          <p:nvPr/>
        </p:nvSpPr>
        <p:spPr>
          <a:xfrm>
            <a:off x="1817250" y="2307275"/>
            <a:ext cx="5492100" cy="17076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id</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type</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"text"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v-model</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"nuevaFruta"</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v-on:click</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agregarFruta()</a:t>
            </a:r>
            <a:r>
              <a:rPr lang="es" sz="1050">
                <a:solidFill>
                  <a:srgbClr val="D5CED9"/>
                </a:solidFill>
                <a:highlight>
                  <a:srgbClr val="23262E"/>
                </a:highlight>
                <a:latin typeface="Consolas"/>
                <a:ea typeface="Consolas"/>
                <a:cs typeface="Consolas"/>
                <a:sym typeface="Consolas"/>
              </a:rPr>
              <a:t>&gt;Clic para agregar fruta&lt;/</a:t>
            </a:r>
            <a:r>
              <a:rPr lang="es" sz="1050">
                <a:solidFill>
                  <a:srgbClr val="F926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ul</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li</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v-for</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"fruta in frutas"</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 fruta.nombre }} - {{ fruta.cantidad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li</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ul</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050">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Reactividad en 2 sentidos</a:t>
            </a:r>
            <a:endParaRPr/>
          </a:p>
        </p:txBody>
      </p:sp>
      <p:sp>
        <p:nvSpPr>
          <p:cNvPr id="186" name="Google Shape;186;p22"/>
          <p:cNvSpPr txBox="1"/>
          <p:nvPr>
            <p:ph idx="1" type="body"/>
          </p:nvPr>
        </p:nvSpPr>
        <p:spPr>
          <a:xfrm>
            <a:off x="432025" y="1304875"/>
            <a:ext cx="4224900" cy="33021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s" sz="1526"/>
              <a:t>Agregamos </a:t>
            </a:r>
            <a:r>
              <a:rPr lang="es" sz="1526"/>
              <a:t>la propiedad </a:t>
            </a:r>
            <a:r>
              <a:rPr lang="es" sz="1526">
                <a:latin typeface="Consolas"/>
                <a:ea typeface="Consolas"/>
                <a:cs typeface="Consolas"/>
                <a:sym typeface="Consolas"/>
              </a:rPr>
              <a:t>nuevaFruta: ‘’</a:t>
            </a:r>
            <a:r>
              <a:rPr lang="es" sz="1526"/>
              <a:t> dentro de </a:t>
            </a:r>
            <a:r>
              <a:rPr b="1" lang="es" sz="1526"/>
              <a:t>data</a:t>
            </a:r>
            <a:r>
              <a:rPr lang="es" sz="1526"/>
              <a:t> y también agregaremos el método </a:t>
            </a:r>
            <a:r>
              <a:rPr lang="es" sz="1526">
                <a:latin typeface="Consolas"/>
                <a:ea typeface="Consolas"/>
                <a:cs typeface="Consolas"/>
                <a:sym typeface="Consolas"/>
              </a:rPr>
              <a:t>agregarFruta()</a:t>
            </a:r>
            <a:r>
              <a:rPr lang="es" sz="1526"/>
              <a:t>.</a:t>
            </a:r>
            <a:endParaRPr sz="1526"/>
          </a:p>
          <a:p>
            <a:pPr indent="0" lvl="0" marL="0" rtl="0" algn="l">
              <a:lnSpc>
                <a:spcPct val="105000"/>
              </a:lnSpc>
              <a:spcBef>
                <a:spcPts val="1200"/>
              </a:spcBef>
              <a:spcAft>
                <a:spcPts val="0"/>
              </a:spcAft>
              <a:buClr>
                <a:schemeClr val="dk1"/>
              </a:buClr>
              <a:buSzPts val="1100"/>
              <a:buFont typeface="Arial"/>
              <a:buNone/>
            </a:pPr>
            <a:r>
              <a:rPr lang="es" sz="1526"/>
              <a:t>Con el método </a:t>
            </a:r>
            <a:r>
              <a:rPr b="1" lang="es" sz="1526"/>
              <a:t>push </a:t>
            </a:r>
            <a:r>
              <a:rPr lang="es" sz="1526"/>
              <a:t>agregaremos un nuevo elemento al array de objetos (frutas), con los pares clave: valor.. El nombre de la fruta es el de </a:t>
            </a:r>
            <a:r>
              <a:rPr b="1" lang="es" sz="1526"/>
              <a:t>nuevaFruta </a:t>
            </a:r>
            <a:r>
              <a:rPr lang="es" sz="1526"/>
              <a:t>y utilizamos el this para hacer referencia a esa instancia. Además sumamos que la nuevaFruta inicie con cantidad 0.</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1200"/>
              </a:spcAft>
              <a:buSzPts val="1018"/>
              <a:buNone/>
            </a:pPr>
            <a:r>
              <a:t/>
            </a:r>
            <a:endParaRPr sz="1526"/>
          </a:p>
        </p:txBody>
      </p:sp>
      <p:sp>
        <p:nvSpPr>
          <p:cNvPr id="187" name="Google Shape;187;p22"/>
          <p:cNvSpPr/>
          <p:nvPr/>
        </p:nvSpPr>
        <p:spPr>
          <a:xfrm>
            <a:off x="4572000" y="1354375"/>
            <a:ext cx="4150200" cy="32031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 </a:t>
            </a:r>
            <a:r>
              <a:rPr lang="es" sz="1050">
                <a:solidFill>
                  <a:srgbClr val="00E8C6"/>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 }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Vue</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FFE66D"/>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data</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return</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frutas: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 nombre: </a:t>
            </a:r>
            <a:r>
              <a:rPr lang="es" sz="1050">
                <a:solidFill>
                  <a:srgbClr val="96E072"/>
                </a:solidFill>
                <a:highlight>
                  <a:srgbClr val="23262E"/>
                </a:highlight>
                <a:latin typeface="Consolas"/>
                <a:ea typeface="Consolas"/>
                <a:cs typeface="Consolas"/>
                <a:sym typeface="Consolas"/>
              </a:rPr>
              <a:t>"naranja"</a:t>
            </a:r>
            <a:r>
              <a:rPr lang="es" sz="1050">
                <a:solidFill>
                  <a:srgbClr val="D5CED9"/>
                </a:solidFill>
                <a:highlight>
                  <a:srgbClr val="23262E"/>
                </a:highlight>
                <a:latin typeface="Consolas"/>
                <a:ea typeface="Consolas"/>
                <a:cs typeface="Consolas"/>
                <a:sym typeface="Consolas"/>
              </a:rPr>
              <a:t>, cantidad: </a:t>
            </a:r>
            <a:r>
              <a:rPr lang="es" sz="1050">
                <a:solidFill>
                  <a:srgbClr val="F39C12"/>
                </a:solidFill>
                <a:highlight>
                  <a:srgbClr val="23262E"/>
                </a:highlight>
                <a:latin typeface="Consolas"/>
                <a:ea typeface="Consolas"/>
                <a:cs typeface="Consolas"/>
                <a:sym typeface="Consolas"/>
              </a:rPr>
              <a:t>10</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 nombre: </a:t>
            </a:r>
            <a:r>
              <a:rPr lang="es" sz="1050">
                <a:solidFill>
                  <a:srgbClr val="96E072"/>
                </a:solidFill>
                <a:highlight>
                  <a:srgbClr val="23262E"/>
                </a:highlight>
                <a:latin typeface="Consolas"/>
                <a:ea typeface="Consolas"/>
                <a:cs typeface="Consolas"/>
                <a:sym typeface="Consolas"/>
              </a:rPr>
              <a:t>"banana"</a:t>
            </a:r>
            <a:r>
              <a:rPr lang="es" sz="1050">
                <a:solidFill>
                  <a:srgbClr val="D5CED9"/>
                </a:solidFill>
                <a:highlight>
                  <a:srgbClr val="23262E"/>
                </a:highlight>
                <a:latin typeface="Consolas"/>
                <a:ea typeface="Consolas"/>
                <a:cs typeface="Consolas"/>
                <a:sym typeface="Consolas"/>
              </a:rPr>
              <a:t>, cantidad: </a:t>
            </a:r>
            <a:r>
              <a:rPr lang="es" sz="1050">
                <a:solidFill>
                  <a:srgbClr val="F39C12"/>
                </a:solidFill>
                <a:highlight>
                  <a:srgbClr val="23262E"/>
                </a:highlight>
                <a:latin typeface="Consolas"/>
                <a:ea typeface="Consolas"/>
                <a:cs typeface="Consolas"/>
                <a:sym typeface="Consolas"/>
              </a:rPr>
              <a:t>0</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 nombre: </a:t>
            </a:r>
            <a:r>
              <a:rPr lang="es" sz="1050">
                <a:solidFill>
                  <a:srgbClr val="96E072"/>
                </a:solidFill>
                <a:highlight>
                  <a:srgbClr val="23262E"/>
                </a:highlight>
                <a:latin typeface="Consolas"/>
                <a:ea typeface="Consolas"/>
                <a:cs typeface="Consolas"/>
                <a:sym typeface="Consolas"/>
              </a:rPr>
              <a:t>"durazno"</a:t>
            </a:r>
            <a:r>
              <a:rPr lang="es" sz="1050">
                <a:solidFill>
                  <a:srgbClr val="D5CED9"/>
                </a:solidFill>
                <a:highlight>
                  <a:srgbClr val="23262E"/>
                </a:highlight>
                <a:latin typeface="Consolas"/>
                <a:ea typeface="Consolas"/>
                <a:cs typeface="Consolas"/>
                <a:sym typeface="Consolas"/>
              </a:rPr>
              <a:t>, cantidad: </a:t>
            </a:r>
            <a:r>
              <a:rPr lang="es" sz="1050">
                <a:solidFill>
                  <a:srgbClr val="F39C12"/>
                </a:solidFill>
                <a:highlight>
                  <a:srgbClr val="23262E"/>
                </a:highlight>
                <a:latin typeface="Consolas"/>
                <a:ea typeface="Consolas"/>
                <a:cs typeface="Consolas"/>
                <a:sym typeface="Consolas"/>
              </a:rPr>
              <a:t>3</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nuevaFruta: </a:t>
            </a:r>
            <a:r>
              <a:rPr lang="es" sz="1050">
                <a:solidFill>
                  <a:srgbClr val="96E072"/>
                </a:solidFill>
                <a:highlight>
                  <a:srgbClr val="23262E"/>
                </a:highlight>
                <a:latin typeface="Consolas"/>
                <a:ea typeface="Consolas"/>
                <a:cs typeface="Consolas"/>
                <a:sym typeface="Consolas"/>
              </a:rPr>
              <a:t>''</a:t>
            </a:r>
            <a:endParaRPr sz="1050">
              <a:solidFill>
                <a:srgbClr val="96E0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methods: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agregarFruta</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frutas</a:t>
            </a: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push</a:t>
            </a:r>
            <a:r>
              <a:rPr lang="es" sz="1050">
                <a:solidFill>
                  <a:srgbClr val="D5CED9"/>
                </a:solidFill>
                <a:highlight>
                  <a:srgbClr val="23262E"/>
                </a:highlight>
                <a:latin typeface="Consolas"/>
                <a:ea typeface="Consolas"/>
                <a:cs typeface="Consolas"/>
                <a:sym typeface="Consolas"/>
              </a:rPr>
              <a:t>({ nombre: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nuevaFruta</a:t>
            </a:r>
            <a:r>
              <a:rPr lang="es" sz="1050">
                <a:solidFill>
                  <a:srgbClr val="D5CED9"/>
                </a:solidFill>
                <a:highlight>
                  <a:srgbClr val="23262E"/>
                </a:highlight>
                <a:latin typeface="Consolas"/>
                <a:ea typeface="Consolas"/>
                <a:cs typeface="Consolas"/>
                <a:sym typeface="Consolas"/>
              </a:rPr>
              <a:t>, cantidad: </a:t>
            </a:r>
            <a:r>
              <a:rPr lang="es" sz="1050">
                <a:solidFill>
                  <a:srgbClr val="F39C12"/>
                </a:solidFill>
                <a:highlight>
                  <a:srgbClr val="23262E"/>
                </a:highlight>
                <a:latin typeface="Consolas"/>
                <a:ea typeface="Consolas"/>
                <a:cs typeface="Consolas"/>
                <a:sym typeface="Consolas"/>
              </a:rPr>
              <a:t>0</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mount</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050">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Reactividad en 2 sentidos</a:t>
            </a:r>
            <a:endParaRPr/>
          </a:p>
        </p:txBody>
      </p:sp>
      <p:sp>
        <p:nvSpPr>
          <p:cNvPr id="193" name="Google Shape;193;p2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Una mejora que se puede hacer es que se limpie la caja de texto cuando agregamos un elemento. Esto se logra agregando en el método </a:t>
            </a:r>
            <a:r>
              <a:rPr b="1" lang="es" sz="1650"/>
              <a:t>agregarFruta() </a:t>
            </a:r>
            <a:r>
              <a:rPr lang="es" sz="1650"/>
              <a:t>esta instrucción:</a:t>
            </a:r>
            <a:endParaRPr sz="1650"/>
          </a:p>
          <a:p>
            <a:pPr indent="0" lvl="0" marL="0" rtl="0" algn="l">
              <a:spcBef>
                <a:spcPts val="1200"/>
              </a:spcBef>
              <a:spcAft>
                <a:spcPts val="1200"/>
              </a:spcAft>
              <a:buNone/>
            </a:pPr>
            <a:r>
              <a:t/>
            </a:r>
            <a:endParaRPr sz="1650"/>
          </a:p>
        </p:txBody>
      </p:sp>
      <p:sp>
        <p:nvSpPr>
          <p:cNvPr id="194" name="Google Shape;194;p23"/>
          <p:cNvSpPr txBox="1"/>
          <p:nvPr/>
        </p:nvSpPr>
        <p:spPr>
          <a:xfrm>
            <a:off x="482950" y="2621700"/>
            <a:ext cx="7979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Podemos hacer una mejora para que no nos </a:t>
            </a:r>
            <a:r>
              <a:rPr lang="es" sz="1650">
                <a:solidFill>
                  <a:schemeClr val="dk2"/>
                </a:solidFill>
                <a:latin typeface="Montserrat"/>
                <a:ea typeface="Montserrat"/>
                <a:cs typeface="Montserrat"/>
                <a:sym typeface="Montserrat"/>
              </a:rPr>
              <a:t>permite</a:t>
            </a:r>
            <a:r>
              <a:rPr lang="es" sz="1650">
                <a:solidFill>
                  <a:schemeClr val="dk2"/>
                </a:solidFill>
                <a:latin typeface="Montserrat"/>
                <a:ea typeface="Montserrat"/>
                <a:cs typeface="Montserrat"/>
                <a:sym typeface="Montserrat"/>
              </a:rPr>
              <a:t> agregar una fruta hasta que no se haya completado la caja de texto:</a:t>
            </a:r>
            <a:endParaRPr sz="1650">
              <a:solidFill>
                <a:schemeClr val="dk2"/>
              </a:solidFill>
              <a:latin typeface="Montserrat"/>
              <a:ea typeface="Montserrat"/>
              <a:cs typeface="Montserrat"/>
              <a:sym typeface="Montserrat"/>
            </a:endParaRPr>
          </a:p>
        </p:txBody>
      </p:sp>
      <p:sp>
        <p:nvSpPr>
          <p:cNvPr id="195" name="Google Shape;195;p23"/>
          <p:cNvSpPr/>
          <p:nvPr/>
        </p:nvSpPr>
        <p:spPr>
          <a:xfrm>
            <a:off x="3564400" y="2285400"/>
            <a:ext cx="1816800" cy="2979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s" sz="1150">
                <a:solidFill>
                  <a:srgbClr val="FF00AA"/>
                </a:solidFill>
                <a:latin typeface="Consolas"/>
                <a:ea typeface="Consolas"/>
                <a:cs typeface="Consolas"/>
                <a:sym typeface="Consolas"/>
              </a:rPr>
              <a:t>this</a:t>
            </a:r>
            <a:r>
              <a:rPr lang="es" sz="1150">
                <a:solidFill>
                  <a:srgbClr val="D5CED9"/>
                </a:solidFill>
                <a:latin typeface="Consolas"/>
                <a:ea typeface="Consolas"/>
                <a:cs typeface="Consolas"/>
                <a:sym typeface="Consolas"/>
              </a:rPr>
              <a:t>.</a:t>
            </a:r>
            <a:r>
              <a:rPr lang="es" sz="1150">
                <a:solidFill>
                  <a:srgbClr val="00E8C6"/>
                </a:solidFill>
                <a:latin typeface="Consolas"/>
                <a:ea typeface="Consolas"/>
                <a:cs typeface="Consolas"/>
                <a:sym typeface="Consolas"/>
              </a:rPr>
              <a:t>nuevaFruta</a:t>
            </a:r>
            <a:r>
              <a:rPr lang="es" sz="1150">
                <a:solidFill>
                  <a:srgbClr val="EE5D43"/>
                </a:solidFill>
                <a:latin typeface="Consolas"/>
                <a:ea typeface="Consolas"/>
                <a:cs typeface="Consolas"/>
                <a:sym typeface="Consolas"/>
              </a:rPr>
              <a:t>=</a:t>
            </a:r>
            <a:r>
              <a:rPr lang="es" sz="1150">
                <a:solidFill>
                  <a:srgbClr val="D5CED9"/>
                </a:solidFill>
                <a:latin typeface="Consolas"/>
                <a:ea typeface="Consolas"/>
                <a:cs typeface="Consolas"/>
                <a:sym typeface="Consolas"/>
              </a:rPr>
              <a:t> </a:t>
            </a:r>
            <a:r>
              <a:rPr lang="es" sz="1150">
                <a:solidFill>
                  <a:srgbClr val="96E072"/>
                </a:solidFill>
                <a:latin typeface="Consolas"/>
                <a:ea typeface="Consolas"/>
                <a:cs typeface="Consolas"/>
                <a:sym typeface="Consolas"/>
              </a:rPr>
              <a:t>''</a:t>
            </a:r>
            <a:endParaRPr sz="1150">
              <a:solidFill>
                <a:schemeClr val="dk1"/>
              </a:solidFill>
            </a:endParaRPr>
          </a:p>
        </p:txBody>
      </p:sp>
      <p:sp>
        <p:nvSpPr>
          <p:cNvPr id="196" name="Google Shape;196;p23"/>
          <p:cNvSpPr/>
          <p:nvPr/>
        </p:nvSpPr>
        <p:spPr>
          <a:xfrm>
            <a:off x="1679250" y="3352800"/>
            <a:ext cx="5768100" cy="11193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s" sz="1150">
                <a:solidFill>
                  <a:srgbClr val="FFE66D"/>
                </a:solidFill>
                <a:latin typeface="Consolas"/>
                <a:ea typeface="Consolas"/>
                <a:cs typeface="Consolas"/>
                <a:sym typeface="Consolas"/>
              </a:rPr>
              <a:t>agregarFrutaConIf</a:t>
            </a:r>
            <a:r>
              <a:rPr lang="es" sz="1150">
                <a:solidFill>
                  <a:srgbClr val="D5CED9"/>
                </a:solidFill>
                <a:latin typeface="Consolas"/>
                <a:ea typeface="Consolas"/>
                <a:cs typeface="Consolas"/>
                <a:sym typeface="Consolas"/>
              </a:rPr>
              <a:t>(){</a:t>
            </a:r>
            <a:endParaRPr sz="1150">
              <a:solidFill>
                <a:schemeClr val="dk1"/>
              </a:solidFill>
            </a:endParaRPr>
          </a:p>
          <a:p>
            <a:pPr indent="0" lvl="0" marL="0" rtl="0" algn="l">
              <a:spcBef>
                <a:spcPts val="0"/>
              </a:spcBef>
              <a:spcAft>
                <a:spcPts val="0"/>
              </a:spcAft>
              <a:buClr>
                <a:schemeClr val="dk1"/>
              </a:buClr>
              <a:buFont typeface="Arial"/>
              <a:buNone/>
            </a:pPr>
            <a:r>
              <a:rPr lang="es" sz="1150">
                <a:solidFill>
                  <a:srgbClr val="C74DED"/>
                </a:solidFill>
                <a:latin typeface="Consolas"/>
                <a:ea typeface="Consolas"/>
                <a:cs typeface="Consolas"/>
                <a:sym typeface="Consolas"/>
              </a:rPr>
              <a:t>if</a:t>
            </a:r>
            <a:r>
              <a:rPr lang="es" sz="1150">
                <a:solidFill>
                  <a:srgbClr val="D5CED9"/>
                </a:solidFill>
                <a:latin typeface="Consolas"/>
                <a:ea typeface="Consolas"/>
                <a:cs typeface="Consolas"/>
                <a:sym typeface="Consolas"/>
              </a:rPr>
              <a:t> (</a:t>
            </a:r>
            <a:r>
              <a:rPr lang="es" sz="1150">
                <a:solidFill>
                  <a:srgbClr val="FF00AA"/>
                </a:solidFill>
                <a:latin typeface="Consolas"/>
                <a:ea typeface="Consolas"/>
                <a:cs typeface="Consolas"/>
                <a:sym typeface="Consolas"/>
              </a:rPr>
              <a:t>this</a:t>
            </a:r>
            <a:r>
              <a:rPr lang="es" sz="1150">
                <a:solidFill>
                  <a:srgbClr val="D5CED9"/>
                </a:solidFill>
                <a:latin typeface="Consolas"/>
                <a:ea typeface="Consolas"/>
                <a:cs typeface="Consolas"/>
                <a:sym typeface="Consolas"/>
              </a:rPr>
              <a:t>.</a:t>
            </a:r>
            <a:r>
              <a:rPr lang="es" sz="1150">
                <a:solidFill>
                  <a:srgbClr val="00E8C6"/>
                </a:solidFill>
                <a:latin typeface="Consolas"/>
                <a:ea typeface="Consolas"/>
                <a:cs typeface="Consolas"/>
                <a:sym typeface="Consolas"/>
              </a:rPr>
              <a:t>nuevaFruta</a:t>
            </a:r>
            <a:r>
              <a:rPr lang="es" sz="1150">
                <a:solidFill>
                  <a:srgbClr val="D5CED9"/>
                </a:solidFill>
                <a:latin typeface="Consolas"/>
                <a:ea typeface="Consolas"/>
                <a:cs typeface="Consolas"/>
                <a:sym typeface="Consolas"/>
              </a:rPr>
              <a:t> </a:t>
            </a:r>
            <a:r>
              <a:rPr lang="es" sz="1150">
                <a:solidFill>
                  <a:srgbClr val="EE5D43"/>
                </a:solidFill>
                <a:latin typeface="Consolas"/>
                <a:ea typeface="Consolas"/>
                <a:cs typeface="Consolas"/>
                <a:sym typeface="Consolas"/>
              </a:rPr>
              <a:t>!=</a:t>
            </a:r>
            <a:r>
              <a:rPr lang="es" sz="1150">
                <a:solidFill>
                  <a:srgbClr val="D5CED9"/>
                </a:solidFill>
                <a:latin typeface="Consolas"/>
                <a:ea typeface="Consolas"/>
                <a:cs typeface="Consolas"/>
                <a:sym typeface="Consolas"/>
              </a:rPr>
              <a:t> </a:t>
            </a:r>
            <a:r>
              <a:rPr lang="es" sz="1150">
                <a:solidFill>
                  <a:srgbClr val="96E072"/>
                </a:solidFill>
                <a:latin typeface="Consolas"/>
                <a:ea typeface="Consolas"/>
                <a:cs typeface="Consolas"/>
                <a:sym typeface="Consolas"/>
              </a:rPr>
              <a:t>""</a:t>
            </a:r>
            <a:r>
              <a:rPr lang="es" sz="1150">
                <a:solidFill>
                  <a:srgbClr val="D5CED9"/>
                </a:solidFill>
                <a:latin typeface="Consolas"/>
                <a:ea typeface="Consolas"/>
                <a:cs typeface="Consolas"/>
                <a:sym typeface="Consolas"/>
              </a:rPr>
              <a:t>) {</a:t>
            </a:r>
            <a:endParaRPr sz="1150">
              <a:solidFill>
                <a:schemeClr val="dk1"/>
              </a:solidFill>
            </a:endParaRPr>
          </a:p>
          <a:p>
            <a:pPr indent="0" lvl="0" marL="0" rtl="0" algn="l">
              <a:spcBef>
                <a:spcPts val="0"/>
              </a:spcBef>
              <a:spcAft>
                <a:spcPts val="0"/>
              </a:spcAft>
              <a:buClr>
                <a:schemeClr val="dk1"/>
              </a:buClr>
              <a:buFont typeface="Arial"/>
              <a:buNone/>
            </a:pPr>
            <a:r>
              <a:rPr lang="es" sz="1150">
                <a:solidFill>
                  <a:srgbClr val="D5CED9"/>
                </a:solidFill>
                <a:latin typeface="Consolas"/>
                <a:ea typeface="Consolas"/>
                <a:cs typeface="Consolas"/>
                <a:sym typeface="Consolas"/>
              </a:rPr>
              <a:t>    </a:t>
            </a:r>
            <a:r>
              <a:rPr lang="es" sz="1150">
                <a:solidFill>
                  <a:srgbClr val="FF00AA"/>
                </a:solidFill>
                <a:latin typeface="Consolas"/>
                <a:ea typeface="Consolas"/>
                <a:cs typeface="Consolas"/>
                <a:sym typeface="Consolas"/>
              </a:rPr>
              <a:t>this</a:t>
            </a:r>
            <a:r>
              <a:rPr lang="es" sz="1150">
                <a:solidFill>
                  <a:srgbClr val="D5CED9"/>
                </a:solidFill>
                <a:latin typeface="Consolas"/>
                <a:ea typeface="Consolas"/>
                <a:cs typeface="Consolas"/>
                <a:sym typeface="Consolas"/>
              </a:rPr>
              <a:t>.</a:t>
            </a:r>
            <a:r>
              <a:rPr lang="es" sz="1150">
                <a:solidFill>
                  <a:srgbClr val="00E8C6"/>
                </a:solidFill>
                <a:latin typeface="Consolas"/>
                <a:ea typeface="Consolas"/>
                <a:cs typeface="Consolas"/>
                <a:sym typeface="Consolas"/>
              </a:rPr>
              <a:t>frutas</a:t>
            </a:r>
            <a:r>
              <a:rPr lang="es" sz="1150">
                <a:solidFill>
                  <a:srgbClr val="D5CED9"/>
                </a:solidFill>
                <a:latin typeface="Consolas"/>
                <a:ea typeface="Consolas"/>
                <a:cs typeface="Consolas"/>
                <a:sym typeface="Consolas"/>
              </a:rPr>
              <a:t>.</a:t>
            </a:r>
            <a:r>
              <a:rPr lang="es" sz="1150">
                <a:solidFill>
                  <a:srgbClr val="FFE66D"/>
                </a:solidFill>
                <a:latin typeface="Consolas"/>
                <a:ea typeface="Consolas"/>
                <a:cs typeface="Consolas"/>
                <a:sym typeface="Consolas"/>
              </a:rPr>
              <a:t>push</a:t>
            </a:r>
            <a:r>
              <a:rPr lang="es" sz="1150">
                <a:solidFill>
                  <a:srgbClr val="D5CED9"/>
                </a:solidFill>
                <a:latin typeface="Consolas"/>
                <a:ea typeface="Consolas"/>
                <a:cs typeface="Consolas"/>
                <a:sym typeface="Consolas"/>
              </a:rPr>
              <a:t>({ nombre: </a:t>
            </a:r>
            <a:r>
              <a:rPr lang="es" sz="1150">
                <a:solidFill>
                  <a:srgbClr val="FF00AA"/>
                </a:solidFill>
                <a:latin typeface="Consolas"/>
                <a:ea typeface="Consolas"/>
                <a:cs typeface="Consolas"/>
                <a:sym typeface="Consolas"/>
              </a:rPr>
              <a:t>this</a:t>
            </a:r>
            <a:r>
              <a:rPr lang="es" sz="1150">
                <a:solidFill>
                  <a:srgbClr val="D5CED9"/>
                </a:solidFill>
                <a:latin typeface="Consolas"/>
                <a:ea typeface="Consolas"/>
                <a:cs typeface="Consolas"/>
                <a:sym typeface="Consolas"/>
              </a:rPr>
              <a:t>.</a:t>
            </a:r>
            <a:r>
              <a:rPr lang="es" sz="1150">
                <a:solidFill>
                  <a:srgbClr val="00E8C6"/>
                </a:solidFill>
                <a:latin typeface="Consolas"/>
                <a:ea typeface="Consolas"/>
                <a:cs typeface="Consolas"/>
                <a:sym typeface="Consolas"/>
              </a:rPr>
              <a:t>nuevaFruta</a:t>
            </a:r>
            <a:r>
              <a:rPr lang="es" sz="1150">
                <a:solidFill>
                  <a:srgbClr val="D5CED9"/>
                </a:solidFill>
                <a:latin typeface="Consolas"/>
                <a:ea typeface="Consolas"/>
                <a:cs typeface="Consolas"/>
                <a:sym typeface="Consolas"/>
              </a:rPr>
              <a:t>, cantidad: </a:t>
            </a:r>
            <a:r>
              <a:rPr lang="es" sz="1150">
                <a:solidFill>
                  <a:srgbClr val="F39C12"/>
                </a:solidFill>
                <a:latin typeface="Consolas"/>
                <a:ea typeface="Consolas"/>
                <a:cs typeface="Consolas"/>
                <a:sym typeface="Consolas"/>
              </a:rPr>
              <a:t>0</a:t>
            </a:r>
            <a:r>
              <a:rPr lang="es" sz="1150">
                <a:solidFill>
                  <a:srgbClr val="D5CED9"/>
                </a:solidFill>
                <a:latin typeface="Consolas"/>
                <a:ea typeface="Consolas"/>
                <a:cs typeface="Consolas"/>
                <a:sym typeface="Consolas"/>
              </a:rPr>
              <a:t> })</a:t>
            </a:r>
            <a:endParaRPr sz="1150">
              <a:solidFill>
                <a:schemeClr val="dk1"/>
              </a:solidFill>
            </a:endParaRPr>
          </a:p>
          <a:p>
            <a:pPr indent="0" lvl="0" marL="0" rtl="0" algn="l">
              <a:spcBef>
                <a:spcPts val="0"/>
              </a:spcBef>
              <a:spcAft>
                <a:spcPts val="0"/>
              </a:spcAft>
              <a:buClr>
                <a:schemeClr val="dk1"/>
              </a:buClr>
              <a:buFont typeface="Arial"/>
              <a:buNone/>
            </a:pPr>
            <a:r>
              <a:rPr lang="es" sz="1150">
                <a:solidFill>
                  <a:srgbClr val="D5CED9"/>
                </a:solidFill>
                <a:latin typeface="Consolas"/>
                <a:ea typeface="Consolas"/>
                <a:cs typeface="Consolas"/>
                <a:sym typeface="Consolas"/>
              </a:rPr>
              <a:t>    </a:t>
            </a:r>
            <a:r>
              <a:rPr lang="es" sz="1150">
                <a:solidFill>
                  <a:srgbClr val="FF00AA"/>
                </a:solidFill>
                <a:latin typeface="Consolas"/>
                <a:ea typeface="Consolas"/>
                <a:cs typeface="Consolas"/>
                <a:sym typeface="Consolas"/>
              </a:rPr>
              <a:t>this</a:t>
            </a:r>
            <a:r>
              <a:rPr lang="es" sz="1150">
                <a:solidFill>
                  <a:srgbClr val="D5CED9"/>
                </a:solidFill>
                <a:latin typeface="Consolas"/>
                <a:ea typeface="Consolas"/>
                <a:cs typeface="Consolas"/>
                <a:sym typeface="Consolas"/>
              </a:rPr>
              <a:t>.</a:t>
            </a:r>
            <a:r>
              <a:rPr lang="es" sz="1150">
                <a:solidFill>
                  <a:srgbClr val="00E8C6"/>
                </a:solidFill>
                <a:latin typeface="Consolas"/>
                <a:ea typeface="Consolas"/>
                <a:cs typeface="Consolas"/>
                <a:sym typeface="Consolas"/>
              </a:rPr>
              <a:t>nuevaFruta</a:t>
            </a:r>
            <a:r>
              <a:rPr lang="es" sz="1150">
                <a:solidFill>
                  <a:srgbClr val="EE5D43"/>
                </a:solidFill>
                <a:latin typeface="Consolas"/>
                <a:ea typeface="Consolas"/>
                <a:cs typeface="Consolas"/>
                <a:sym typeface="Consolas"/>
              </a:rPr>
              <a:t>=</a:t>
            </a:r>
            <a:r>
              <a:rPr lang="es" sz="1150">
                <a:solidFill>
                  <a:srgbClr val="D5CED9"/>
                </a:solidFill>
                <a:latin typeface="Consolas"/>
                <a:ea typeface="Consolas"/>
                <a:cs typeface="Consolas"/>
                <a:sym typeface="Consolas"/>
              </a:rPr>
              <a:t> </a:t>
            </a:r>
            <a:r>
              <a:rPr lang="es" sz="1150">
                <a:solidFill>
                  <a:srgbClr val="96E072"/>
                </a:solidFill>
                <a:latin typeface="Consolas"/>
                <a:ea typeface="Consolas"/>
                <a:cs typeface="Consolas"/>
                <a:sym typeface="Consolas"/>
              </a:rPr>
              <a:t>''</a:t>
            </a:r>
            <a:endParaRPr sz="1150">
              <a:solidFill>
                <a:schemeClr val="dk1"/>
              </a:solidFill>
            </a:endParaRPr>
          </a:p>
          <a:p>
            <a:pPr indent="0" lvl="0" marL="0" rtl="0" algn="l">
              <a:spcBef>
                <a:spcPts val="0"/>
              </a:spcBef>
              <a:spcAft>
                <a:spcPts val="0"/>
              </a:spcAft>
              <a:buClr>
                <a:schemeClr val="dk1"/>
              </a:buClr>
              <a:buFont typeface="Arial"/>
              <a:buNone/>
            </a:pPr>
            <a:r>
              <a:rPr lang="es" sz="1150">
                <a:solidFill>
                  <a:srgbClr val="D5CED9"/>
                </a:solidFill>
                <a:latin typeface="Consolas"/>
                <a:ea typeface="Consolas"/>
                <a:cs typeface="Consolas"/>
                <a:sym typeface="Consolas"/>
              </a:rPr>
              <a:t>}</a:t>
            </a:r>
            <a:endParaRPr sz="11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Manejo de eventos</a:t>
            </a:r>
            <a:endParaRPr/>
          </a:p>
        </p:txBody>
      </p:sp>
      <p:sp>
        <p:nvSpPr>
          <p:cNvPr id="202" name="Google Shape;202;p2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Como vimos anteriormente, p</a:t>
            </a:r>
            <a:r>
              <a:rPr lang="es"/>
              <a:t>ara interactuar con los usuarios, podemos usar la directiva </a:t>
            </a:r>
            <a:r>
              <a:rPr b="1" lang="es">
                <a:solidFill>
                  <a:schemeClr val="accent4"/>
                </a:solidFill>
              </a:rPr>
              <a:t>v-on</a:t>
            </a:r>
            <a:r>
              <a:rPr lang="es"/>
              <a:t> para adjuntar detectores de eventos que invocan métodos en nuestras instancias de Vue.</a:t>
            </a:r>
            <a:endParaRPr/>
          </a:p>
          <a:p>
            <a:pPr indent="0" lvl="0" marL="0" rtl="0" algn="l">
              <a:spcBef>
                <a:spcPts val="1200"/>
              </a:spcBef>
              <a:spcAft>
                <a:spcPts val="1200"/>
              </a:spcAft>
              <a:buNone/>
            </a:pPr>
            <a:r>
              <a:rPr lang="es"/>
              <a:t>En definitiva, u</a:t>
            </a:r>
            <a:r>
              <a:rPr lang="es"/>
              <a:t>samos la directiva </a:t>
            </a:r>
            <a:r>
              <a:rPr b="1" lang="es">
                <a:solidFill>
                  <a:schemeClr val="accent4"/>
                </a:solidFill>
              </a:rPr>
              <a:t>v-on</a:t>
            </a:r>
            <a:r>
              <a:rPr lang="es"/>
              <a:t> para escuchar eventos DOM y ejecutar código cuando se activan.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Eventos | Modificadores de teclas</a:t>
            </a:r>
            <a:endParaRPr/>
          </a:p>
        </p:txBody>
      </p:sp>
      <p:sp>
        <p:nvSpPr>
          <p:cNvPr id="208" name="Google Shape;208;p2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Vue es capaz de interceptar y atender eventos disparados al presionar determinadas teclas. Se pueden usar los eventos </a:t>
            </a:r>
            <a:r>
              <a:rPr b="1" lang="es" sz="1650"/>
              <a:t>keyup </a:t>
            </a:r>
            <a:r>
              <a:rPr lang="es" sz="1650"/>
              <a:t>y </a:t>
            </a:r>
            <a:r>
              <a:rPr b="1" lang="es" sz="1650"/>
              <a:t>keydown</a:t>
            </a:r>
            <a:r>
              <a:rPr lang="es" sz="1650"/>
              <a:t>, con el código de la tecla esperada:</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
        <p:nvSpPr>
          <p:cNvPr id="209" name="Google Shape;209;p25"/>
          <p:cNvSpPr txBox="1"/>
          <p:nvPr/>
        </p:nvSpPr>
        <p:spPr>
          <a:xfrm>
            <a:off x="528950" y="3130700"/>
            <a:ext cx="7979700" cy="131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b="1" lang="es" sz="1650">
                <a:solidFill>
                  <a:schemeClr val="dk2"/>
                </a:solidFill>
                <a:latin typeface="Montserrat"/>
                <a:ea typeface="Montserrat"/>
                <a:cs typeface="Montserrat"/>
                <a:sym typeface="Montserrat"/>
              </a:rPr>
              <a:t>keyup </a:t>
            </a:r>
            <a:r>
              <a:rPr lang="es" sz="1650">
                <a:solidFill>
                  <a:schemeClr val="dk2"/>
                </a:solidFill>
                <a:latin typeface="Montserrat"/>
                <a:ea typeface="Montserrat"/>
                <a:cs typeface="Montserrat"/>
                <a:sym typeface="Montserrat"/>
              </a:rPr>
              <a:t>se dispara al soltar una tecla, y </a:t>
            </a:r>
            <a:r>
              <a:rPr b="1" lang="es" sz="1650">
                <a:solidFill>
                  <a:schemeClr val="dk2"/>
                </a:solidFill>
                <a:latin typeface="Montserrat"/>
                <a:ea typeface="Montserrat"/>
                <a:cs typeface="Montserrat"/>
                <a:sym typeface="Montserrat"/>
              </a:rPr>
              <a:t>keydown</a:t>
            </a:r>
            <a:r>
              <a:rPr lang="es" sz="1650">
                <a:solidFill>
                  <a:schemeClr val="dk2"/>
                </a:solidFill>
                <a:latin typeface="Montserrat"/>
                <a:ea typeface="Montserrat"/>
                <a:cs typeface="Montserrat"/>
                <a:sym typeface="Montserrat"/>
              </a:rPr>
              <a:t> al presionarla. Las teclas más comunes poseen una descripción propia, para evitar la necesidad de recordar su keyCode:  </a:t>
            </a:r>
            <a:r>
              <a:rPr b="1" lang="es" sz="1650">
                <a:solidFill>
                  <a:schemeClr val="accent4"/>
                </a:solidFill>
                <a:latin typeface="Montserrat"/>
                <a:ea typeface="Montserrat"/>
                <a:cs typeface="Montserrat"/>
                <a:sym typeface="Montserrat"/>
              </a:rPr>
              <a:t>.enter</a:t>
            </a:r>
            <a:r>
              <a:rPr lang="es" sz="1650">
                <a:solidFill>
                  <a:schemeClr val="dk2"/>
                </a:solidFill>
                <a:latin typeface="Montserrat"/>
                <a:ea typeface="Montserrat"/>
                <a:cs typeface="Montserrat"/>
                <a:sym typeface="Montserrat"/>
              </a:rPr>
              <a:t>, </a:t>
            </a:r>
            <a:r>
              <a:rPr b="1" lang="es" sz="1650">
                <a:solidFill>
                  <a:schemeClr val="accent4"/>
                </a:solidFill>
                <a:latin typeface="Montserrat"/>
                <a:ea typeface="Montserrat"/>
                <a:cs typeface="Montserrat"/>
                <a:sym typeface="Montserrat"/>
              </a:rPr>
              <a:t>.tab</a:t>
            </a:r>
            <a:r>
              <a:rPr lang="es" sz="1650">
                <a:solidFill>
                  <a:schemeClr val="dk2"/>
                </a:solidFill>
                <a:latin typeface="Montserrat"/>
                <a:ea typeface="Montserrat"/>
                <a:cs typeface="Montserrat"/>
                <a:sym typeface="Montserrat"/>
              </a:rPr>
              <a:t>,</a:t>
            </a:r>
            <a:r>
              <a:rPr b="1" lang="es" sz="1650">
                <a:solidFill>
                  <a:schemeClr val="accent4"/>
                </a:solidFill>
                <a:latin typeface="Montserrat"/>
                <a:ea typeface="Montserrat"/>
                <a:cs typeface="Montserrat"/>
                <a:sym typeface="Montserrat"/>
              </a:rPr>
              <a:t> .delete</a:t>
            </a:r>
            <a:r>
              <a:rPr lang="es" sz="1650">
                <a:solidFill>
                  <a:schemeClr val="dk2"/>
                </a:solidFill>
                <a:latin typeface="Montserrat"/>
                <a:ea typeface="Montserrat"/>
                <a:cs typeface="Montserrat"/>
                <a:sym typeface="Montserrat"/>
              </a:rPr>
              <a:t> (captura ambas teclas “Delete” y “Backspace”), </a:t>
            </a:r>
            <a:r>
              <a:rPr b="1" lang="es" sz="1650">
                <a:solidFill>
                  <a:schemeClr val="accent4"/>
                </a:solidFill>
                <a:latin typeface="Montserrat"/>
                <a:ea typeface="Montserrat"/>
                <a:cs typeface="Montserrat"/>
                <a:sym typeface="Montserrat"/>
              </a:rPr>
              <a:t>.esc</a:t>
            </a:r>
            <a:r>
              <a:rPr lang="es" sz="1650">
                <a:solidFill>
                  <a:schemeClr val="dk2"/>
                </a:solidFill>
                <a:latin typeface="Montserrat"/>
                <a:ea typeface="Montserrat"/>
                <a:cs typeface="Montserrat"/>
                <a:sym typeface="Montserrat"/>
              </a:rPr>
              <a:t>,</a:t>
            </a:r>
            <a:r>
              <a:rPr b="1" lang="es" sz="1650">
                <a:solidFill>
                  <a:schemeClr val="accent4"/>
                </a:solidFill>
                <a:latin typeface="Montserrat"/>
                <a:ea typeface="Montserrat"/>
                <a:cs typeface="Montserrat"/>
                <a:sym typeface="Montserrat"/>
              </a:rPr>
              <a:t> .space</a:t>
            </a:r>
            <a:r>
              <a:rPr lang="es" sz="1650">
                <a:solidFill>
                  <a:schemeClr val="dk2"/>
                </a:solidFill>
                <a:latin typeface="Montserrat"/>
                <a:ea typeface="Montserrat"/>
                <a:cs typeface="Montserrat"/>
                <a:sym typeface="Montserrat"/>
              </a:rPr>
              <a:t>, </a:t>
            </a:r>
            <a:r>
              <a:rPr b="1" lang="es" sz="1650">
                <a:solidFill>
                  <a:schemeClr val="accent4"/>
                </a:solidFill>
                <a:latin typeface="Montserrat"/>
                <a:ea typeface="Montserrat"/>
                <a:cs typeface="Montserrat"/>
                <a:sym typeface="Montserrat"/>
              </a:rPr>
              <a:t>.up</a:t>
            </a:r>
            <a:r>
              <a:rPr lang="es" sz="1650">
                <a:solidFill>
                  <a:schemeClr val="dk2"/>
                </a:solidFill>
                <a:latin typeface="Montserrat"/>
                <a:ea typeface="Montserrat"/>
                <a:cs typeface="Montserrat"/>
                <a:sym typeface="Montserrat"/>
              </a:rPr>
              <a:t>,</a:t>
            </a:r>
            <a:r>
              <a:rPr b="1" lang="es" sz="1650">
                <a:solidFill>
                  <a:schemeClr val="accent4"/>
                </a:solidFill>
                <a:latin typeface="Montserrat"/>
                <a:ea typeface="Montserrat"/>
                <a:cs typeface="Montserrat"/>
                <a:sym typeface="Montserrat"/>
              </a:rPr>
              <a:t> .down</a:t>
            </a:r>
            <a:r>
              <a:rPr lang="es" sz="1650">
                <a:solidFill>
                  <a:schemeClr val="dk2"/>
                </a:solidFill>
                <a:latin typeface="Montserrat"/>
                <a:ea typeface="Montserrat"/>
                <a:cs typeface="Montserrat"/>
                <a:sym typeface="Montserrat"/>
              </a:rPr>
              <a:t>,</a:t>
            </a:r>
            <a:r>
              <a:rPr b="1" lang="es" sz="1650">
                <a:solidFill>
                  <a:schemeClr val="accent4"/>
                </a:solidFill>
                <a:latin typeface="Montserrat"/>
                <a:ea typeface="Montserrat"/>
                <a:cs typeface="Montserrat"/>
                <a:sym typeface="Montserrat"/>
              </a:rPr>
              <a:t> .left</a:t>
            </a:r>
            <a:r>
              <a:rPr lang="es" sz="1650">
                <a:solidFill>
                  <a:schemeClr val="dk2"/>
                </a:solidFill>
                <a:latin typeface="Montserrat"/>
                <a:ea typeface="Montserrat"/>
                <a:cs typeface="Montserrat"/>
                <a:sym typeface="Montserrat"/>
              </a:rPr>
              <a:t> y</a:t>
            </a:r>
            <a:r>
              <a:rPr b="1" lang="es" sz="1650">
                <a:solidFill>
                  <a:schemeClr val="accent4"/>
                </a:solidFill>
                <a:latin typeface="Montserrat"/>
                <a:ea typeface="Montserrat"/>
                <a:cs typeface="Montserrat"/>
                <a:sym typeface="Montserrat"/>
              </a:rPr>
              <a:t> .right</a:t>
            </a:r>
            <a:r>
              <a:rPr lang="es" sz="1650">
                <a:solidFill>
                  <a:schemeClr val="dk2"/>
                </a:solidFill>
                <a:latin typeface="Montserrat"/>
                <a:ea typeface="Montserrat"/>
                <a:cs typeface="Montserrat"/>
                <a:sym typeface="Montserrat"/>
              </a:rPr>
              <a:t>.</a:t>
            </a:r>
            <a:endParaRPr sz="1650">
              <a:solidFill>
                <a:schemeClr val="dk2"/>
              </a:solidFill>
              <a:latin typeface="Montserrat"/>
              <a:ea typeface="Montserrat"/>
              <a:cs typeface="Montserrat"/>
              <a:sym typeface="Montserrat"/>
            </a:endParaRPr>
          </a:p>
        </p:txBody>
      </p:sp>
      <p:sp>
        <p:nvSpPr>
          <p:cNvPr id="210" name="Google Shape;210;p25"/>
          <p:cNvSpPr/>
          <p:nvPr/>
        </p:nvSpPr>
        <p:spPr>
          <a:xfrm>
            <a:off x="1715275" y="2438500"/>
            <a:ext cx="5313900" cy="4752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5F6167"/>
                </a:solidFill>
                <a:highlight>
                  <a:srgbClr val="23262E"/>
                </a:highlight>
                <a:latin typeface="Consolas"/>
                <a:ea typeface="Consolas"/>
                <a:cs typeface="Consolas"/>
                <a:sym typeface="Consolas"/>
              </a:rPr>
              <a:t>&lt;!-- solo llame a `vm.submit ()` cuando el `keyCode` es 13 --&gt;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v-on:keyup.13</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"submit"</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35714"/>
              </a:lnSpc>
              <a:spcBef>
                <a:spcPts val="0"/>
              </a:spcBef>
              <a:spcAft>
                <a:spcPts val="0"/>
              </a:spcAft>
              <a:buSzPts val="1100"/>
              <a:buNone/>
            </a:pPr>
            <a:r>
              <a:t/>
            </a:r>
            <a:endParaRPr sz="1050">
              <a:solidFill>
                <a:srgbClr val="5F6167"/>
              </a:solidFill>
              <a:highlight>
                <a:srgbClr val="23262E"/>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Eventos | Modificadores de teclas</a:t>
            </a:r>
            <a:endParaRPr/>
          </a:p>
        </p:txBody>
      </p:sp>
      <p:sp>
        <p:nvSpPr>
          <p:cNvPr id="216" name="Google Shape;216;p2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El siguiente ejemplo muestra </a:t>
            </a:r>
            <a:r>
              <a:rPr lang="es" sz="1650"/>
              <a:t>cómo</a:t>
            </a:r>
            <a:r>
              <a:rPr lang="es" sz="1650"/>
              <a:t> invocar un método cada vez que se levanta una tecla. Concretamente, al </a:t>
            </a:r>
            <a:r>
              <a:rPr lang="es" sz="1650"/>
              <a:t>soltar</a:t>
            </a:r>
            <a:r>
              <a:rPr lang="es" sz="1650"/>
              <a:t> Enter:</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
        <p:nvSpPr>
          <p:cNvPr id="217" name="Google Shape;217;p26"/>
          <p:cNvSpPr txBox="1"/>
          <p:nvPr/>
        </p:nvSpPr>
        <p:spPr>
          <a:xfrm>
            <a:off x="521275" y="3023400"/>
            <a:ext cx="79797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Y en la instancia Vue tenemos, por supuesto, declarada la propiedad </a:t>
            </a:r>
            <a:r>
              <a:rPr b="1" lang="es" sz="1650">
                <a:solidFill>
                  <a:schemeClr val="dk2"/>
                </a:solidFill>
                <a:latin typeface="Montserrat"/>
                <a:ea typeface="Montserrat"/>
                <a:cs typeface="Montserrat"/>
                <a:sym typeface="Montserrat"/>
              </a:rPr>
              <a:t>data1</a:t>
            </a:r>
            <a:r>
              <a:rPr lang="es" sz="1650">
                <a:solidFill>
                  <a:schemeClr val="dk2"/>
                </a:solidFill>
                <a:latin typeface="Montserrat"/>
                <a:ea typeface="Montserrat"/>
                <a:cs typeface="Montserrat"/>
                <a:sym typeface="Montserrat"/>
              </a:rPr>
              <a:t>:</a:t>
            </a:r>
            <a:endParaRPr sz="1650">
              <a:solidFill>
                <a:schemeClr val="dk2"/>
              </a:solidFill>
              <a:latin typeface="Montserrat"/>
              <a:ea typeface="Montserrat"/>
              <a:cs typeface="Montserrat"/>
              <a:sym typeface="Montserrat"/>
            </a:endParaRPr>
          </a:p>
        </p:txBody>
      </p:sp>
      <p:sp>
        <p:nvSpPr>
          <p:cNvPr id="218" name="Google Shape;218;p26"/>
          <p:cNvSpPr/>
          <p:nvPr/>
        </p:nvSpPr>
        <p:spPr>
          <a:xfrm>
            <a:off x="521275" y="2020500"/>
            <a:ext cx="5108100" cy="10029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id</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class</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"container"</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&gt;Escribe algo y presiona Enter&lt;/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5F6167"/>
                </a:solidFill>
                <a:highlight>
                  <a:srgbClr val="23262E"/>
                </a:highlight>
                <a:latin typeface="Consolas"/>
                <a:ea typeface="Consolas"/>
                <a:cs typeface="Consolas"/>
                <a:sym typeface="Consolas"/>
              </a:rPr>
              <a:t>&lt;!-- En keyup.enter invertimos el valor lógico de "data"--&gt;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v-on:keyup.enter</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"data1 = !data1"</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br</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br</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span</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v-if</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"data1"</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class</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"tituloTabla"</a:t>
            </a:r>
            <a:r>
              <a:rPr lang="es" sz="1050">
                <a:solidFill>
                  <a:srgbClr val="D5CED9"/>
                </a:solidFill>
                <a:highlight>
                  <a:srgbClr val="23262E"/>
                </a:highlight>
                <a:latin typeface="Consolas"/>
                <a:ea typeface="Consolas"/>
                <a:cs typeface="Consolas"/>
                <a:sym typeface="Consolas"/>
              </a:rPr>
              <a:t>&gt;Soltaste Enter&lt;/</a:t>
            </a:r>
            <a:r>
              <a:rPr lang="es" sz="1050">
                <a:solidFill>
                  <a:srgbClr val="F92672"/>
                </a:solidFill>
                <a:highlight>
                  <a:srgbClr val="23262E"/>
                </a:highlight>
                <a:latin typeface="Consolas"/>
                <a:ea typeface="Consolas"/>
                <a:cs typeface="Consolas"/>
                <a:sym typeface="Consolas"/>
              </a:rPr>
              <a:t>span</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a:p>
        </p:txBody>
      </p:sp>
      <p:sp>
        <p:nvSpPr>
          <p:cNvPr id="219" name="Google Shape;219;p26"/>
          <p:cNvSpPr txBox="1"/>
          <p:nvPr/>
        </p:nvSpPr>
        <p:spPr>
          <a:xfrm>
            <a:off x="5594700" y="2020500"/>
            <a:ext cx="3051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50">
                <a:solidFill>
                  <a:schemeClr val="dk2"/>
                </a:solidFill>
                <a:latin typeface="Montserrat"/>
                <a:ea typeface="Montserrat"/>
                <a:cs typeface="Montserrat"/>
                <a:sym typeface="Montserrat"/>
              </a:rPr>
              <a:t>Al presionar Enter se ejecuta el código que invierte el estado lógico de data1. Y el &lt;span&gt; que está debajo muestra o no el texto correspondiente.</a:t>
            </a:r>
            <a:r>
              <a:rPr lang="es" sz="1150" u="sng">
                <a:solidFill>
                  <a:schemeClr val="hlink"/>
                </a:solidFill>
                <a:latin typeface="Montserrat"/>
                <a:ea typeface="Montserrat"/>
                <a:cs typeface="Montserrat"/>
                <a:sym typeface="Montserrat"/>
                <a:hlinkClick r:id="rId3"/>
              </a:rPr>
              <a:t>+info</a:t>
            </a:r>
            <a:endParaRPr sz="1150">
              <a:solidFill>
                <a:schemeClr val="dk2"/>
              </a:solidFill>
              <a:latin typeface="Montserrat"/>
              <a:ea typeface="Montserrat"/>
              <a:cs typeface="Montserrat"/>
              <a:sym typeface="Montserrat"/>
            </a:endParaRPr>
          </a:p>
        </p:txBody>
      </p:sp>
      <p:sp>
        <p:nvSpPr>
          <p:cNvPr id="220" name="Google Shape;220;p26"/>
          <p:cNvSpPr/>
          <p:nvPr/>
        </p:nvSpPr>
        <p:spPr>
          <a:xfrm>
            <a:off x="1502400" y="3462000"/>
            <a:ext cx="3255000" cy="10029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miAplicacion</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Vue</a:t>
            </a: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data</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return</a:t>
            </a:r>
            <a:r>
              <a:rPr lang="es" sz="1050">
                <a:solidFill>
                  <a:srgbClr val="D5CED9"/>
                </a:solidFill>
                <a:highlight>
                  <a:srgbClr val="23262E"/>
                </a:highlight>
                <a:latin typeface="Consolas"/>
                <a:ea typeface="Consolas"/>
                <a:cs typeface="Consolas"/>
                <a:sym typeface="Consolas"/>
              </a:rPr>
              <a:t> {data1: </a:t>
            </a:r>
            <a:r>
              <a:rPr lang="es" sz="1050">
                <a:solidFill>
                  <a:srgbClr val="EE5D43"/>
                </a:solidFill>
                <a:highlight>
                  <a:srgbClr val="23262E"/>
                </a:highlight>
                <a:latin typeface="Consolas"/>
                <a:ea typeface="Consolas"/>
                <a:cs typeface="Consolas"/>
                <a:sym typeface="Consolas"/>
              </a:rPr>
              <a:t>false</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mount</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a:p>
        </p:txBody>
      </p:sp>
      <p:pic>
        <p:nvPicPr>
          <p:cNvPr id="221" name="Google Shape;221;p26"/>
          <p:cNvPicPr preferRelativeResize="0"/>
          <p:nvPr/>
        </p:nvPicPr>
        <p:blipFill>
          <a:blip r:embed="rId4">
            <a:alphaModFix/>
          </a:blip>
          <a:stretch>
            <a:fillRect/>
          </a:stretch>
        </p:blipFill>
        <p:spPr>
          <a:xfrm>
            <a:off x="5074176" y="3462000"/>
            <a:ext cx="2567424" cy="100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Propiedades computadas</a:t>
            </a:r>
            <a:endParaRPr/>
          </a:p>
        </p:txBody>
      </p:sp>
      <p:sp>
        <p:nvSpPr>
          <p:cNvPr id="227" name="Google Shape;227;p2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650"/>
              <a:t>Permiten que VUE agregue una función que realice alguna operación sobre sus propiedades, que se actualizan cuando </a:t>
            </a:r>
            <a:r>
              <a:rPr lang="es" sz="1650"/>
              <a:t>hay</a:t>
            </a:r>
            <a:r>
              <a:rPr lang="es" sz="1650"/>
              <a:t> </a:t>
            </a:r>
            <a:r>
              <a:rPr lang="es" sz="1650"/>
              <a:t>algún</a:t>
            </a:r>
            <a:r>
              <a:rPr lang="es" sz="1650"/>
              <a:t> cambio en el documento HTML. Por ejemplo, podemos sumar la cantidad de frutas:</a:t>
            </a:r>
            <a:endParaRPr sz="1650"/>
          </a:p>
        </p:txBody>
      </p:sp>
      <p:sp>
        <p:nvSpPr>
          <p:cNvPr id="228" name="Google Shape;228;p27"/>
          <p:cNvSpPr/>
          <p:nvPr/>
        </p:nvSpPr>
        <p:spPr>
          <a:xfrm>
            <a:off x="749425" y="2408625"/>
            <a:ext cx="3567900" cy="15216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computed: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sumarFrutas</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totalFrutas</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0</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for</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fruta</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of</a:t>
            </a: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frutas</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totalFrutas</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fruta</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cantidad</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return</a:t>
            </a: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totalFrutas</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sz="1050">
              <a:latin typeface="Consolas"/>
              <a:ea typeface="Consolas"/>
              <a:cs typeface="Consolas"/>
              <a:sym typeface="Consolas"/>
            </a:endParaRPr>
          </a:p>
        </p:txBody>
      </p:sp>
      <p:sp>
        <p:nvSpPr>
          <p:cNvPr id="229" name="Google Shape;229;p27"/>
          <p:cNvSpPr txBox="1"/>
          <p:nvPr/>
        </p:nvSpPr>
        <p:spPr>
          <a:xfrm>
            <a:off x="482950" y="3930175"/>
            <a:ext cx="7979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En el HTML tenemos </a:t>
            </a:r>
            <a:r>
              <a:rPr b="1" lang="es" sz="1650">
                <a:solidFill>
                  <a:schemeClr val="dk2"/>
                </a:solidFill>
                <a:latin typeface="Montserrat"/>
                <a:ea typeface="Montserrat"/>
                <a:cs typeface="Montserrat"/>
                <a:sym typeface="Montserrat"/>
              </a:rPr>
              <a:t>{{sumarFrutas}}</a:t>
            </a:r>
            <a:r>
              <a:rPr lang="es" sz="1650">
                <a:solidFill>
                  <a:schemeClr val="dk2"/>
                </a:solidFill>
                <a:latin typeface="Montserrat"/>
                <a:ea typeface="Montserrat"/>
                <a:cs typeface="Montserrat"/>
                <a:sym typeface="Montserrat"/>
              </a:rPr>
              <a:t> . Cada vez que va a ser renderizado, se ejecuta el código de </a:t>
            </a:r>
            <a:r>
              <a:rPr b="1" lang="es" sz="1650">
                <a:solidFill>
                  <a:schemeClr val="dk2"/>
                </a:solidFill>
                <a:latin typeface="Montserrat"/>
                <a:ea typeface="Montserrat"/>
                <a:cs typeface="Montserrat"/>
                <a:sym typeface="Montserrat"/>
              </a:rPr>
              <a:t>sumarFrutas() </a:t>
            </a:r>
            <a:r>
              <a:rPr lang="es" sz="1650">
                <a:solidFill>
                  <a:schemeClr val="dk2"/>
                </a:solidFill>
                <a:latin typeface="Montserrat"/>
                <a:ea typeface="Montserrat"/>
                <a:cs typeface="Montserrat"/>
                <a:sym typeface="Montserrat"/>
              </a:rPr>
              <a:t>dentro del bloque </a:t>
            </a:r>
            <a:r>
              <a:rPr b="1" lang="es" sz="1650">
                <a:solidFill>
                  <a:schemeClr val="dk2"/>
                </a:solidFill>
                <a:latin typeface="Montserrat"/>
                <a:ea typeface="Montserrat"/>
                <a:cs typeface="Montserrat"/>
                <a:sym typeface="Montserrat"/>
              </a:rPr>
              <a:t>computed: {}</a:t>
            </a:r>
            <a:endParaRPr b="1" sz="1650">
              <a:solidFill>
                <a:schemeClr val="dk2"/>
              </a:solidFill>
              <a:latin typeface="Montserrat"/>
              <a:ea typeface="Montserrat"/>
              <a:cs typeface="Montserrat"/>
              <a:sym typeface="Montserrat"/>
            </a:endParaRPr>
          </a:p>
        </p:txBody>
      </p:sp>
      <p:sp>
        <p:nvSpPr>
          <p:cNvPr id="230" name="Google Shape;230;p27"/>
          <p:cNvSpPr txBox="1"/>
          <p:nvPr/>
        </p:nvSpPr>
        <p:spPr>
          <a:xfrm>
            <a:off x="4435500" y="2408625"/>
            <a:ext cx="4179600" cy="14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50">
                <a:solidFill>
                  <a:schemeClr val="dk2"/>
                </a:solidFill>
                <a:latin typeface="Montserrat"/>
                <a:ea typeface="Montserrat"/>
                <a:cs typeface="Montserrat"/>
                <a:sym typeface="Montserrat"/>
              </a:rPr>
              <a:t>Así</a:t>
            </a:r>
            <a:r>
              <a:rPr lang="es" sz="1150">
                <a:solidFill>
                  <a:schemeClr val="dk2"/>
                </a:solidFill>
                <a:latin typeface="Montserrat"/>
                <a:ea typeface="Montserrat"/>
                <a:cs typeface="Montserrat"/>
                <a:sym typeface="Montserrat"/>
              </a:rPr>
              <a:t> se agregan los campos computados a Vue. Puede haber varios, y se separan unos de otros usando comas.</a:t>
            </a:r>
            <a:endParaRPr sz="1150">
              <a:solidFill>
                <a:schemeClr val="dk2"/>
              </a:solidFill>
              <a:latin typeface="Montserrat"/>
              <a:ea typeface="Montserrat"/>
              <a:cs typeface="Montserrat"/>
              <a:sym typeface="Montserrat"/>
            </a:endParaRPr>
          </a:p>
          <a:p>
            <a:pPr indent="0" lvl="0" marL="0" rtl="0" algn="l">
              <a:spcBef>
                <a:spcPts val="0"/>
              </a:spcBef>
              <a:spcAft>
                <a:spcPts val="0"/>
              </a:spcAft>
              <a:buNone/>
            </a:pPr>
            <a:r>
              <a:rPr lang="es" sz="1150">
                <a:solidFill>
                  <a:schemeClr val="dk2"/>
                </a:solidFill>
                <a:latin typeface="Montserrat"/>
                <a:ea typeface="Montserrat"/>
                <a:cs typeface="Montserrat"/>
                <a:sym typeface="Montserrat"/>
              </a:rPr>
              <a:t>En este ejemplo, la propiedad “</a:t>
            </a:r>
            <a:r>
              <a:rPr b="1" lang="es" sz="1150">
                <a:solidFill>
                  <a:schemeClr val="dk2"/>
                </a:solidFill>
                <a:latin typeface="Montserrat"/>
                <a:ea typeface="Montserrat"/>
                <a:cs typeface="Montserrat"/>
                <a:sym typeface="Montserrat"/>
              </a:rPr>
              <a:t>totalFrutas</a:t>
            </a:r>
            <a:r>
              <a:rPr lang="es" sz="1150">
                <a:solidFill>
                  <a:schemeClr val="dk2"/>
                </a:solidFill>
                <a:latin typeface="Montserrat"/>
                <a:ea typeface="Montserrat"/>
                <a:cs typeface="Montserrat"/>
                <a:sym typeface="Montserrat"/>
              </a:rPr>
              <a:t>” se computa cada vez que se invoca el método </a:t>
            </a:r>
            <a:r>
              <a:rPr b="1" lang="es" sz="1150">
                <a:solidFill>
                  <a:schemeClr val="dk2"/>
                </a:solidFill>
                <a:latin typeface="Montserrat"/>
                <a:ea typeface="Montserrat"/>
                <a:cs typeface="Montserrat"/>
                <a:sym typeface="Montserrat"/>
              </a:rPr>
              <a:t>sumarFrutas</a:t>
            </a:r>
            <a:r>
              <a:rPr lang="es" sz="1150">
                <a:solidFill>
                  <a:schemeClr val="dk2"/>
                </a:solidFill>
                <a:latin typeface="Montserrat"/>
                <a:ea typeface="Montserrat"/>
                <a:cs typeface="Montserrat"/>
                <a:sym typeface="Montserrat"/>
              </a:rPr>
              <a:t>. Recorre todo el arreglo “</a:t>
            </a:r>
            <a:r>
              <a:rPr b="1" lang="es" sz="1150">
                <a:solidFill>
                  <a:schemeClr val="dk2"/>
                </a:solidFill>
                <a:latin typeface="Montserrat"/>
                <a:ea typeface="Montserrat"/>
                <a:cs typeface="Montserrat"/>
                <a:sym typeface="Montserrat"/>
              </a:rPr>
              <a:t>frutas</a:t>
            </a:r>
            <a:r>
              <a:rPr lang="es" sz="1150">
                <a:solidFill>
                  <a:schemeClr val="dk2"/>
                </a:solidFill>
                <a:latin typeface="Montserrat"/>
                <a:ea typeface="Montserrat"/>
                <a:cs typeface="Montserrat"/>
                <a:sym typeface="Montserrat"/>
              </a:rPr>
              <a:t>” sumando la cantidad que hay de cada una.</a:t>
            </a:r>
            <a:endParaRPr sz="1150">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Propiedades computadas</a:t>
            </a:r>
            <a:endParaRPr/>
          </a:p>
        </p:txBody>
      </p:sp>
      <p:sp>
        <p:nvSpPr>
          <p:cNvPr id="236" name="Google Shape;236;p2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650"/>
              <a:t>En el código HTML se realiza el renderizado que muestra el total computado:</a:t>
            </a:r>
            <a:endParaRPr sz="1650"/>
          </a:p>
        </p:txBody>
      </p:sp>
      <p:sp>
        <p:nvSpPr>
          <p:cNvPr id="237" name="Google Shape;237;p28"/>
          <p:cNvSpPr/>
          <p:nvPr/>
        </p:nvSpPr>
        <p:spPr>
          <a:xfrm>
            <a:off x="2136875" y="1732375"/>
            <a:ext cx="4455300" cy="572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 sz="1050">
                <a:solidFill>
                  <a:srgbClr val="5F6167"/>
                </a:solidFill>
                <a:highlight>
                  <a:srgbClr val="23262E"/>
                </a:highlight>
                <a:latin typeface="Courier New"/>
                <a:ea typeface="Courier New"/>
                <a:cs typeface="Courier New"/>
                <a:sym typeface="Courier New"/>
              </a:rPr>
              <a:t>&lt;!-- total frutas --&gt;</a:t>
            </a:r>
            <a:endParaRPr sz="1050">
              <a:solidFill>
                <a:srgbClr val="5F6167"/>
              </a:solidFill>
              <a:highlight>
                <a:srgbClr val="23262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050">
                <a:solidFill>
                  <a:srgbClr val="D5CED9"/>
                </a:solidFill>
                <a:highlight>
                  <a:srgbClr val="23262E"/>
                </a:highlight>
                <a:latin typeface="Courier New"/>
                <a:ea typeface="Courier New"/>
                <a:cs typeface="Courier New"/>
                <a:sym typeface="Courier New"/>
              </a:rPr>
              <a:t>&lt;</a:t>
            </a:r>
            <a:r>
              <a:rPr lang="es" sz="1050">
                <a:solidFill>
                  <a:srgbClr val="F92672"/>
                </a:solidFill>
                <a:highlight>
                  <a:srgbClr val="23262E"/>
                </a:highlight>
                <a:latin typeface="Courier New"/>
                <a:ea typeface="Courier New"/>
                <a:cs typeface="Courier New"/>
                <a:sym typeface="Courier New"/>
              </a:rPr>
              <a:t>p</a:t>
            </a:r>
            <a:r>
              <a:rPr lang="es" sz="1050">
                <a:solidFill>
                  <a:srgbClr val="D5CED9"/>
                </a:solidFill>
                <a:highlight>
                  <a:srgbClr val="23262E"/>
                </a:highlight>
                <a:latin typeface="Courier New"/>
                <a:ea typeface="Courier New"/>
                <a:cs typeface="Courier New"/>
                <a:sym typeface="Courier New"/>
              </a:rPr>
              <a:t>&gt;Total de frutas : &lt;</a:t>
            </a:r>
            <a:r>
              <a:rPr lang="es" sz="1050">
                <a:solidFill>
                  <a:srgbClr val="F92672"/>
                </a:solidFill>
                <a:highlight>
                  <a:srgbClr val="23262E"/>
                </a:highlight>
                <a:latin typeface="Courier New"/>
                <a:ea typeface="Courier New"/>
                <a:cs typeface="Courier New"/>
                <a:sym typeface="Courier New"/>
              </a:rPr>
              <a:t>b</a:t>
            </a:r>
            <a:r>
              <a:rPr lang="es" sz="1050">
                <a:solidFill>
                  <a:srgbClr val="D5CED9"/>
                </a:solidFill>
                <a:highlight>
                  <a:srgbClr val="23262E"/>
                </a:highlight>
                <a:latin typeface="Courier New"/>
                <a:ea typeface="Courier New"/>
                <a:cs typeface="Courier New"/>
                <a:sym typeface="Courier New"/>
              </a:rPr>
              <a:t>&gt;{{</a:t>
            </a:r>
            <a:r>
              <a:rPr lang="es" sz="1050">
                <a:solidFill>
                  <a:srgbClr val="00E8C6"/>
                </a:solidFill>
                <a:highlight>
                  <a:srgbClr val="23262E"/>
                </a:highlight>
                <a:latin typeface="Courier New"/>
                <a:ea typeface="Courier New"/>
                <a:cs typeface="Courier New"/>
                <a:sym typeface="Courier New"/>
              </a:rPr>
              <a:t>sumarFrutas</a:t>
            </a:r>
            <a:r>
              <a:rPr lang="es" sz="1050">
                <a:solidFill>
                  <a:srgbClr val="D5CED9"/>
                </a:solidFill>
                <a:highlight>
                  <a:srgbClr val="23262E"/>
                </a:highlight>
                <a:latin typeface="Courier New"/>
                <a:ea typeface="Courier New"/>
                <a:cs typeface="Courier New"/>
                <a:sym typeface="Courier New"/>
              </a:rPr>
              <a:t>}}&lt;/</a:t>
            </a:r>
            <a:r>
              <a:rPr lang="es" sz="1050">
                <a:solidFill>
                  <a:srgbClr val="F92672"/>
                </a:solidFill>
                <a:highlight>
                  <a:srgbClr val="23262E"/>
                </a:highlight>
                <a:latin typeface="Courier New"/>
                <a:ea typeface="Courier New"/>
                <a:cs typeface="Courier New"/>
                <a:sym typeface="Courier New"/>
              </a:rPr>
              <a:t>b</a:t>
            </a:r>
            <a:r>
              <a:rPr lang="es" sz="1050">
                <a:solidFill>
                  <a:srgbClr val="D5CED9"/>
                </a:solidFill>
                <a:highlight>
                  <a:srgbClr val="23262E"/>
                </a:highlight>
                <a:latin typeface="Courier New"/>
                <a:ea typeface="Courier New"/>
                <a:cs typeface="Courier New"/>
                <a:sym typeface="Courier New"/>
              </a:rPr>
              <a:t>&gt;&lt;/</a:t>
            </a:r>
            <a:r>
              <a:rPr lang="es" sz="1050">
                <a:solidFill>
                  <a:srgbClr val="F92672"/>
                </a:solidFill>
                <a:highlight>
                  <a:srgbClr val="23262E"/>
                </a:highlight>
                <a:latin typeface="Courier New"/>
                <a:ea typeface="Courier New"/>
                <a:cs typeface="Courier New"/>
                <a:sym typeface="Courier New"/>
              </a:rPr>
              <a:t>p</a:t>
            </a:r>
            <a:r>
              <a:rPr lang="es" sz="1050">
                <a:solidFill>
                  <a:srgbClr val="D5CED9"/>
                </a:solidFill>
                <a:highlight>
                  <a:srgbClr val="23262E"/>
                </a:highlight>
                <a:latin typeface="Courier New"/>
                <a:ea typeface="Courier New"/>
                <a:cs typeface="Courier New"/>
                <a:sym typeface="Courier New"/>
              </a:rPr>
              <a:t>&gt;</a:t>
            </a:r>
            <a:endParaRPr/>
          </a:p>
        </p:txBody>
      </p:sp>
      <p:sp>
        <p:nvSpPr>
          <p:cNvPr id="238" name="Google Shape;238;p28"/>
          <p:cNvSpPr txBox="1"/>
          <p:nvPr/>
        </p:nvSpPr>
        <p:spPr>
          <a:xfrm>
            <a:off x="4072100" y="3362000"/>
            <a:ext cx="44553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Este valor es el computado por Vue, a partir de los valores que posee el arreglo que contiene los nombres y cantidades de cada fruta.</a:t>
            </a:r>
            <a:endParaRPr sz="1650">
              <a:solidFill>
                <a:schemeClr val="dk2"/>
              </a:solidFill>
              <a:latin typeface="Montserrat"/>
              <a:ea typeface="Montserrat"/>
              <a:cs typeface="Montserrat"/>
              <a:sym typeface="Montserrat"/>
            </a:endParaRPr>
          </a:p>
        </p:txBody>
      </p:sp>
      <p:pic>
        <p:nvPicPr>
          <p:cNvPr id="239" name="Google Shape;239;p28"/>
          <p:cNvPicPr preferRelativeResize="0"/>
          <p:nvPr/>
        </p:nvPicPr>
        <p:blipFill>
          <a:blip r:embed="rId3">
            <a:alphaModFix/>
          </a:blip>
          <a:stretch>
            <a:fillRect/>
          </a:stretch>
        </p:blipFill>
        <p:spPr>
          <a:xfrm>
            <a:off x="481748" y="2335700"/>
            <a:ext cx="3633900" cy="2287175"/>
          </a:xfrm>
          <a:prstGeom prst="rect">
            <a:avLst/>
          </a:prstGeom>
          <a:noFill/>
          <a:ln>
            <a:noFill/>
          </a:ln>
        </p:spPr>
      </p:pic>
      <p:cxnSp>
        <p:nvCxnSpPr>
          <p:cNvPr id="240" name="Google Shape;240;p28"/>
          <p:cNvCxnSpPr/>
          <p:nvPr/>
        </p:nvCxnSpPr>
        <p:spPr>
          <a:xfrm flipH="1">
            <a:off x="2249125" y="4206425"/>
            <a:ext cx="728700" cy="2361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Propiedades computadas</a:t>
            </a:r>
            <a:endParaRPr/>
          </a:p>
        </p:txBody>
      </p:sp>
      <p:sp>
        <p:nvSpPr>
          <p:cNvPr id="246" name="Google Shape;246;p2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lang="es" sz="1650"/>
              <a:t>Como en los métodos, dentro de </a:t>
            </a:r>
            <a:r>
              <a:rPr b="1" lang="es" sz="1650"/>
              <a:t>computed</a:t>
            </a:r>
            <a:r>
              <a:rPr lang="es" sz="1650"/>
              <a:t> se definen todos los campos computados separados por comas. Y dentro de cada una se emplea </a:t>
            </a:r>
            <a:r>
              <a:rPr b="1" lang="es" sz="1650"/>
              <a:t>this</a:t>
            </a:r>
            <a:r>
              <a:rPr lang="es" sz="1650"/>
              <a:t> para acceder a los valores de las propiedades que se han declarado en </a:t>
            </a:r>
            <a:r>
              <a:rPr b="1" lang="es" sz="1650"/>
              <a:t>data() </a:t>
            </a:r>
            <a:r>
              <a:rPr lang="es" sz="1650"/>
              <a:t>o en los métodos de la instancia Vue.</a:t>
            </a:r>
            <a:endParaRPr sz="1650"/>
          </a:p>
          <a:p>
            <a:pPr indent="0" lvl="0" marL="0" rtl="0" algn="l">
              <a:lnSpc>
                <a:spcPct val="115000"/>
              </a:lnSpc>
              <a:spcBef>
                <a:spcPts val="1200"/>
              </a:spcBef>
              <a:spcAft>
                <a:spcPts val="0"/>
              </a:spcAft>
              <a:buClr>
                <a:schemeClr val="dk1"/>
              </a:buClr>
              <a:buSzPts val="1100"/>
              <a:buFont typeface="Arial"/>
              <a:buNone/>
            </a:pPr>
            <a:r>
              <a:rPr lang="es" sz="1650"/>
              <a:t>Es importante saber que los campos computados</a:t>
            </a:r>
            <a:r>
              <a:rPr b="1" lang="es" sz="1650"/>
              <a:t> no pueden recibir valores</a:t>
            </a:r>
            <a:r>
              <a:rPr lang="es" sz="1650"/>
              <a:t> mediante parámetros desde fuera de la función. Si es necesario pasar un valor, en lugar de un campo computado se debe crear un </a:t>
            </a:r>
            <a:r>
              <a:rPr b="1" lang="es" sz="1650"/>
              <a:t>método</a:t>
            </a:r>
            <a:r>
              <a:rPr lang="es" sz="1650"/>
              <a:t>.</a:t>
            </a:r>
            <a:endParaRPr sz="1650"/>
          </a:p>
          <a:p>
            <a:pPr indent="0" lvl="0" marL="0" rtl="0" algn="l">
              <a:lnSpc>
                <a:spcPct val="115000"/>
              </a:lnSpc>
              <a:spcBef>
                <a:spcPts val="1200"/>
              </a:spcBef>
              <a:spcAft>
                <a:spcPts val="1200"/>
              </a:spcAft>
              <a:buClr>
                <a:schemeClr val="dk1"/>
              </a:buClr>
              <a:buSzPts val="1100"/>
              <a:buFont typeface="Arial"/>
              <a:buNone/>
            </a:pPr>
            <a:r>
              <a:rPr lang="es" sz="1650"/>
              <a:t>Otra característica importante de </a:t>
            </a:r>
            <a:r>
              <a:rPr lang="es" sz="1650"/>
              <a:t>los campos computados</a:t>
            </a:r>
            <a:r>
              <a:rPr lang="es" sz="1650"/>
              <a:t> es que siempre tienen que devolver un valor. No puede existir </a:t>
            </a:r>
            <a:r>
              <a:rPr lang="es" sz="1650"/>
              <a:t>un campo computado</a:t>
            </a:r>
            <a:r>
              <a:rPr lang="es" sz="1650"/>
              <a:t> sin su correspondiente </a:t>
            </a:r>
            <a:r>
              <a:rPr b="1" lang="es" sz="1650"/>
              <a:t>return</a:t>
            </a:r>
            <a:r>
              <a:rPr lang="es" sz="1650"/>
              <a:t>.</a:t>
            </a:r>
            <a:endParaRPr sz="16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Componentes</a:t>
            </a:r>
            <a:endParaRPr/>
          </a:p>
        </p:txBody>
      </p:sp>
      <p:sp>
        <p:nvSpPr>
          <p:cNvPr id="252" name="Google Shape;252;p3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sistema de componentes de Vue.js nos permite crear aplicaciones a gran escala compuestas por componentes pequeños, autónomos y reutilizables. Dado que los componentes son instancias de Vue reutilizables, aceptan las mismas opciones que cualquier instancia Vue, como datos, propiedades computadas, métodos, etc. La siguiente figura muestra cómo una interfaz de aplicación típica se abstrae en tres componentes: encabezado, barra lateral y cuerpo.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Sistema de componentes</a:t>
            </a:r>
            <a:endParaRPr/>
          </a:p>
        </p:txBody>
      </p:sp>
      <p:pic>
        <p:nvPicPr>
          <p:cNvPr id="258" name="Google Shape;258;p31"/>
          <p:cNvPicPr preferRelativeResize="0"/>
          <p:nvPr/>
        </p:nvPicPr>
        <p:blipFill>
          <a:blip r:embed="rId3">
            <a:alphaModFix/>
          </a:blip>
          <a:stretch>
            <a:fillRect/>
          </a:stretch>
        </p:blipFill>
        <p:spPr>
          <a:xfrm>
            <a:off x="278776" y="727125"/>
            <a:ext cx="8586448" cy="37177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Creación de componentes</a:t>
            </a:r>
            <a:endParaRPr/>
          </a:p>
        </p:txBody>
      </p:sp>
      <p:sp>
        <p:nvSpPr>
          <p:cNvPr id="264" name="Google Shape;264;p3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Los </a:t>
            </a:r>
            <a:r>
              <a:rPr b="1" lang="es" sz="1650"/>
              <a:t>componentes</a:t>
            </a:r>
            <a:r>
              <a:rPr lang="es" sz="1650"/>
              <a:t> son una de las características importantes de Vue.JS que ayudan a crear elementos personalizados, que se pueden reutilizar en HTML.</a:t>
            </a:r>
            <a:endParaRPr sz="1650"/>
          </a:p>
          <a:p>
            <a:pPr indent="0" lvl="0" marL="0" rtl="0" algn="l">
              <a:lnSpc>
                <a:spcPct val="115000"/>
              </a:lnSpc>
              <a:spcBef>
                <a:spcPts val="1200"/>
              </a:spcBef>
              <a:spcAft>
                <a:spcPts val="1200"/>
              </a:spcAft>
              <a:buNone/>
            </a:pPr>
            <a:r>
              <a:rPr lang="es" sz="1650"/>
              <a:t>Dentro del componente se agrega un template el cual tiene asignado código HTML. Esta es la manera de registrar globalmente un componente en Vue.JS, que puede ser reutilizado en cualquier instancia Vue. El nombre asignado a las etiquetas será reemplazado por el código del </a:t>
            </a:r>
            <a:r>
              <a:rPr b="1" lang="es" sz="1650"/>
              <a:t>template</a:t>
            </a:r>
            <a:r>
              <a:rPr lang="es" sz="1650"/>
              <a:t> escrito en la creación del componente. </a:t>
            </a:r>
            <a:endParaRPr sz="165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Creación de componentes</a:t>
            </a:r>
            <a:endParaRPr/>
          </a:p>
        </p:txBody>
      </p:sp>
      <p:sp>
        <p:nvSpPr>
          <p:cNvPr id="270" name="Google Shape;270;p3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650"/>
              <a:t>En el HTML no existe la etiqueta &lt;saludo&gt;. Pero podemos crearla utilizando componentes Vue:</a:t>
            </a:r>
            <a:endParaRPr sz="1650"/>
          </a:p>
          <a:p>
            <a:pPr indent="0" lvl="0" marL="0" rtl="0" algn="l">
              <a:lnSpc>
                <a:spcPct val="115000"/>
              </a:lnSpc>
              <a:spcBef>
                <a:spcPts val="1200"/>
              </a:spcBef>
              <a:spcAft>
                <a:spcPts val="1200"/>
              </a:spcAft>
              <a:buNone/>
            </a:pPr>
            <a:r>
              <a:t/>
            </a:r>
            <a:endParaRPr sz="1650"/>
          </a:p>
        </p:txBody>
      </p:sp>
      <p:sp>
        <p:nvSpPr>
          <p:cNvPr id="271" name="Google Shape;271;p33"/>
          <p:cNvSpPr/>
          <p:nvPr/>
        </p:nvSpPr>
        <p:spPr>
          <a:xfrm>
            <a:off x="508650" y="2058875"/>
            <a:ext cx="3776400" cy="12525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5F6167"/>
                </a:solidFill>
                <a:highlight>
                  <a:srgbClr val="23262E"/>
                </a:highlight>
                <a:latin typeface="Consolas"/>
                <a:ea typeface="Consolas"/>
                <a:cs typeface="Consolas"/>
                <a:sym typeface="Consolas"/>
              </a:rPr>
              <a:t>// Creamos un componente:</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componente1</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template: </a:t>
            </a:r>
            <a:r>
              <a:rPr lang="es" sz="1050">
                <a:solidFill>
                  <a:srgbClr val="96E072"/>
                </a:solidFill>
                <a:highlight>
                  <a:srgbClr val="23262E"/>
                </a:highlight>
                <a:latin typeface="Consolas"/>
                <a:ea typeface="Consolas"/>
                <a:cs typeface="Consolas"/>
                <a:sym typeface="Consolas"/>
              </a:rPr>
              <a:t>`&lt;h4&gt;Hola {{usuario}}&lt;/h4&gt;`</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data</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return</a:t>
            </a:r>
            <a:r>
              <a:rPr lang="es" sz="1050">
                <a:solidFill>
                  <a:srgbClr val="D5CED9"/>
                </a:solidFill>
                <a:highlight>
                  <a:srgbClr val="23262E"/>
                </a:highlight>
                <a:latin typeface="Consolas"/>
                <a:ea typeface="Consolas"/>
                <a:cs typeface="Consolas"/>
                <a:sym typeface="Consolas"/>
              </a:rPr>
              <a:t> { usuario: </a:t>
            </a:r>
            <a:r>
              <a:rPr lang="es" sz="1050">
                <a:solidFill>
                  <a:srgbClr val="96E072"/>
                </a:solidFill>
                <a:highlight>
                  <a:srgbClr val="23262E"/>
                </a:highlight>
                <a:latin typeface="Consolas"/>
                <a:ea typeface="Consolas"/>
                <a:cs typeface="Consolas"/>
                <a:sym typeface="Consolas"/>
              </a:rPr>
              <a:t>"Codo a Codo"</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p:txBody>
      </p:sp>
      <p:sp>
        <p:nvSpPr>
          <p:cNvPr id="272" name="Google Shape;272;p33"/>
          <p:cNvSpPr/>
          <p:nvPr/>
        </p:nvSpPr>
        <p:spPr>
          <a:xfrm>
            <a:off x="4935625" y="2058875"/>
            <a:ext cx="3776400" cy="12525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5F6167"/>
                </a:solidFill>
                <a:highlight>
                  <a:srgbClr val="23262E"/>
                </a:highlight>
                <a:latin typeface="Consolas"/>
                <a:ea typeface="Consolas"/>
                <a:cs typeface="Consolas"/>
                <a:sym typeface="Consolas"/>
              </a:rPr>
              <a:t>// Creamos nuestra </a:t>
            </a:r>
            <a:r>
              <a:rPr lang="es" sz="1050">
                <a:solidFill>
                  <a:srgbClr val="5F6167"/>
                </a:solidFill>
                <a:highlight>
                  <a:srgbClr val="23262E"/>
                </a:highlight>
                <a:latin typeface="Consolas"/>
                <a:ea typeface="Consolas"/>
                <a:cs typeface="Consolas"/>
                <a:sym typeface="Consolas"/>
              </a:rPr>
              <a:t>aplicación</a:t>
            </a:r>
            <a:r>
              <a:rPr lang="es" sz="1050">
                <a:solidFill>
                  <a:srgbClr val="5F6167"/>
                </a:solidFill>
                <a:highlight>
                  <a:srgbClr val="23262E"/>
                </a:highlight>
                <a:latin typeface="Consolas"/>
                <a:ea typeface="Consolas"/>
                <a:cs typeface="Consolas"/>
                <a:sym typeface="Consolas"/>
              </a:rPr>
              <a: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miAplicacion</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Vue</a:t>
            </a: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components: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r>
              <a:rPr lang="es" sz="1050">
                <a:solidFill>
                  <a:srgbClr val="96E072"/>
                </a:solidFill>
                <a:highlight>
                  <a:srgbClr val="23262E"/>
                </a:highlight>
                <a:latin typeface="Consolas"/>
                <a:ea typeface="Consolas"/>
                <a:cs typeface="Consolas"/>
                <a:sym typeface="Consolas"/>
              </a:rPr>
              <a:t>'saludo'</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componente1</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mount</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p:txBody>
      </p:sp>
      <p:sp>
        <p:nvSpPr>
          <p:cNvPr id="273" name="Google Shape;273;p33"/>
          <p:cNvSpPr txBox="1"/>
          <p:nvPr/>
        </p:nvSpPr>
        <p:spPr>
          <a:xfrm>
            <a:off x="508650" y="3380575"/>
            <a:ext cx="7979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El componente </a:t>
            </a:r>
            <a:r>
              <a:rPr lang="es" sz="1650">
                <a:solidFill>
                  <a:schemeClr val="dk2"/>
                </a:solidFill>
                <a:latin typeface="Montserrat"/>
                <a:ea typeface="Montserrat"/>
                <a:cs typeface="Montserrat"/>
                <a:sym typeface="Montserrat"/>
              </a:rPr>
              <a:t>c</a:t>
            </a:r>
            <a:r>
              <a:rPr b="1" lang="es" sz="1650">
                <a:solidFill>
                  <a:schemeClr val="dk2"/>
                </a:solidFill>
                <a:latin typeface="Montserrat"/>
                <a:ea typeface="Montserrat"/>
                <a:cs typeface="Montserrat"/>
                <a:sym typeface="Montserrat"/>
              </a:rPr>
              <a:t>omponente1</a:t>
            </a:r>
            <a:r>
              <a:rPr lang="es" sz="1650">
                <a:solidFill>
                  <a:schemeClr val="dk2"/>
                </a:solidFill>
                <a:latin typeface="Montserrat"/>
                <a:ea typeface="Montserrat"/>
                <a:cs typeface="Montserrat"/>
                <a:sym typeface="Montserrat"/>
              </a:rPr>
              <a:t> creado se agrega a la instancia Vue mediante la palabra clave </a:t>
            </a:r>
            <a:r>
              <a:rPr b="1" lang="es" sz="1650">
                <a:solidFill>
                  <a:schemeClr val="dk2"/>
                </a:solidFill>
                <a:latin typeface="Montserrat"/>
                <a:ea typeface="Montserrat"/>
                <a:cs typeface="Montserrat"/>
                <a:sym typeface="Montserrat"/>
              </a:rPr>
              <a:t>components:</a:t>
            </a:r>
            <a:r>
              <a:rPr lang="es" sz="1650">
                <a:solidFill>
                  <a:schemeClr val="dk2"/>
                </a:solidFill>
                <a:latin typeface="Montserrat"/>
                <a:ea typeface="Montserrat"/>
                <a:cs typeface="Montserrat"/>
                <a:sym typeface="Montserrat"/>
              </a:rPr>
              <a:t> . Se pueden crear y agregar todos los componentes que sean necesarios, cada uno con su </a:t>
            </a:r>
            <a:r>
              <a:rPr b="1" lang="es" sz="1650">
                <a:solidFill>
                  <a:schemeClr val="dk2"/>
                </a:solidFill>
                <a:latin typeface="Montserrat"/>
                <a:ea typeface="Montserrat"/>
                <a:cs typeface="Montserrat"/>
                <a:sym typeface="Montserrat"/>
              </a:rPr>
              <a:t>template</a:t>
            </a:r>
            <a:r>
              <a:rPr lang="es" sz="1650">
                <a:solidFill>
                  <a:schemeClr val="dk2"/>
                </a:solidFill>
                <a:latin typeface="Montserrat"/>
                <a:ea typeface="Montserrat"/>
                <a:cs typeface="Montserrat"/>
                <a:sym typeface="Montserrat"/>
              </a:rPr>
              <a:t> y, dentro de la instancia de Vue, su propio nombre.</a:t>
            </a:r>
            <a:endParaRPr sz="1650">
              <a:solidFill>
                <a:schemeClr val="dk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Creación de componentes</a:t>
            </a:r>
            <a:endParaRPr/>
          </a:p>
        </p:txBody>
      </p:sp>
      <p:sp>
        <p:nvSpPr>
          <p:cNvPr id="279" name="Google Shape;279;p3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Una vez creado el o los componentes, los utilizamos en nuestro código HTML como si fuese una etiqueta más</a:t>
            </a:r>
            <a:r>
              <a:rPr lang="es" sz="1650"/>
              <a:t>:</a:t>
            </a:r>
            <a:endParaRPr sz="1650"/>
          </a:p>
          <a:p>
            <a:pPr indent="0" lvl="0" marL="0" rtl="0" algn="l">
              <a:lnSpc>
                <a:spcPct val="115000"/>
              </a:lnSpc>
              <a:spcBef>
                <a:spcPts val="1200"/>
              </a:spcBef>
              <a:spcAft>
                <a:spcPts val="1200"/>
              </a:spcAft>
              <a:buNone/>
            </a:pPr>
            <a:r>
              <a:t/>
            </a:r>
            <a:endParaRPr sz="1650"/>
          </a:p>
        </p:txBody>
      </p:sp>
      <p:sp>
        <p:nvSpPr>
          <p:cNvPr id="280" name="Google Shape;280;p34"/>
          <p:cNvSpPr/>
          <p:nvPr/>
        </p:nvSpPr>
        <p:spPr>
          <a:xfrm>
            <a:off x="2281225" y="2066550"/>
            <a:ext cx="4581600" cy="9306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5F6167"/>
                </a:solidFill>
                <a:highlight>
                  <a:srgbClr val="23262E"/>
                </a:highlight>
                <a:latin typeface="Consolas"/>
                <a:ea typeface="Consolas"/>
                <a:cs typeface="Consolas"/>
                <a:sym typeface="Consolas"/>
              </a:rPr>
              <a:t>&lt;!--Este es el contenedor donde funciona Vue.js --&gt;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id</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5F6167"/>
                </a:solidFill>
                <a:highlight>
                  <a:srgbClr val="23262E"/>
                </a:highlight>
                <a:latin typeface="Consolas"/>
                <a:ea typeface="Consolas"/>
                <a:cs typeface="Consolas"/>
                <a:sym typeface="Consolas"/>
              </a:rPr>
              <a:t>&lt;!--&lt;saludo&gt; es un componente que hemos creado.--&gt;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saludo</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saludo</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
        <p:nvSpPr>
          <p:cNvPr id="281" name="Google Shape;281;p34"/>
          <p:cNvSpPr txBox="1"/>
          <p:nvPr/>
        </p:nvSpPr>
        <p:spPr>
          <a:xfrm>
            <a:off x="508650" y="3096950"/>
            <a:ext cx="7979700" cy="9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Al renderizar la página, Vue reemplaza este par de etiquetas por el contenido que surja de la ejecución del código del componente asociado. En nuestro caso, veremos el siguiente texto:</a:t>
            </a:r>
            <a:endParaRPr sz="1650">
              <a:solidFill>
                <a:schemeClr val="dk2"/>
              </a:solidFill>
              <a:latin typeface="Montserrat"/>
              <a:ea typeface="Montserrat"/>
              <a:cs typeface="Montserrat"/>
              <a:sym typeface="Montserrat"/>
            </a:endParaRPr>
          </a:p>
        </p:txBody>
      </p:sp>
      <p:pic>
        <p:nvPicPr>
          <p:cNvPr id="282" name="Google Shape;282;p34"/>
          <p:cNvPicPr preferRelativeResize="0"/>
          <p:nvPr/>
        </p:nvPicPr>
        <p:blipFill>
          <a:blip r:embed="rId3">
            <a:alphaModFix/>
          </a:blip>
          <a:stretch>
            <a:fillRect/>
          </a:stretch>
        </p:blipFill>
        <p:spPr>
          <a:xfrm>
            <a:off x="3585163" y="4043450"/>
            <a:ext cx="1826675" cy="387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Creación de componentes</a:t>
            </a:r>
            <a:endParaRPr/>
          </a:p>
        </p:txBody>
      </p:sp>
      <p:sp>
        <p:nvSpPr>
          <p:cNvPr id="288" name="Google Shape;288;p3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Los componentes pueden tener métodos. Agreguemos un componente más al ejemplo anterior:</a:t>
            </a:r>
            <a:endParaRPr sz="1650"/>
          </a:p>
          <a:p>
            <a:pPr indent="0" lvl="0" marL="0" rtl="0" algn="l">
              <a:lnSpc>
                <a:spcPct val="115000"/>
              </a:lnSpc>
              <a:spcBef>
                <a:spcPts val="1200"/>
              </a:spcBef>
              <a:spcAft>
                <a:spcPts val="1200"/>
              </a:spcAft>
              <a:buNone/>
            </a:pPr>
            <a:r>
              <a:t/>
            </a:r>
            <a:endParaRPr sz="1650"/>
          </a:p>
        </p:txBody>
      </p:sp>
      <p:sp>
        <p:nvSpPr>
          <p:cNvPr id="289" name="Google Shape;289;p35"/>
          <p:cNvSpPr/>
          <p:nvPr/>
        </p:nvSpPr>
        <p:spPr>
          <a:xfrm>
            <a:off x="535500" y="2025075"/>
            <a:ext cx="6585600" cy="25665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5F6167"/>
                </a:solidFill>
                <a:highlight>
                  <a:srgbClr val="23262E"/>
                </a:highlight>
                <a:latin typeface="Consolas"/>
                <a:ea typeface="Consolas"/>
                <a:cs typeface="Consolas"/>
                <a:sym typeface="Consolas"/>
              </a:rPr>
              <a:t>// Creamos otro componente:</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componente2</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template: </a:t>
            </a:r>
            <a:r>
              <a:rPr lang="es" sz="1050">
                <a:solidFill>
                  <a:srgbClr val="96E072"/>
                </a:solidFill>
                <a:highlight>
                  <a:srgbClr val="23262E"/>
                </a:highlight>
                <a:latin typeface="Consolas"/>
                <a:ea typeface="Consolas"/>
                <a:cs typeface="Consolas"/>
                <a:sym typeface="Consolas"/>
              </a:rPr>
              <a:t>`&lt;div</a:t>
            </a:r>
            <a:endParaRPr sz="1050">
              <a:solidFill>
                <a:srgbClr val="96E0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96E072"/>
                </a:solidFill>
                <a:highlight>
                  <a:srgbClr val="23262E"/>
                </a:highlight>
                <a:latin typeface="Consolas"/>
                <a:ea typeface="Consolas"/>
                <a:cs typeface="Consolas"/>
                <a:sym typeface="Consolas"/>
              </a:rPr>
              <a:t>       v-on:mouseover = "cambiarNombre()"</a:t>
            </a:r>
            <a:endParaRPr sz="1050">
              <a:solidFill>
                <a:srgbClr val="96E0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96E072"/>
                </a:solidFill>
                <a:highlight>
                  <a:srgbClr val="23262E"/>
                </a:highlight>
                <a:latin typeface="Consolas"/>
                <a:ea typeface="Consolas"/>
                <a:cs typeface="Consolas"/>
                <a:sym typeface="Consolas"/>
              </a:rPr>
              <a:t>       v-on:mouseout = "reestablecerNombre()"&gt;</a:t>
            </a:r>
            <a:endParaRPr sz="1050">
              <a:solidFill>
                <a:srgbClr val="96E0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96E072"/>
                </a:solidFill>
                <a:highlight>
                  <a:srgbClr val="23262E"/>
                </a:highlight>
                <a:latin typeface="Consolas"/>
                <a:ea typeface="Consolas"/>
                <a:cs typeface="Consolas"/>
                <a:sym typeface="Consolas"/>
              </a:rPr>
              <a:t>       &lt;h4&gt;&lt;span id="nombre"&gt;{{titulo}}&lt;/span&gt;&lt;/h4&gt;</a:t>
            </a:r>
            <a:endParaRPr sz="1050">
              <a:solidFill>
                <a:srgbClr val="96E0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96E072"/>
                </a:solidFill>
                <a:highlight>
                  <a:srgbClr val="23262E"/>
                </a:highlight>
                <a:latin typeface="Consolas"/>
                <a:ea typeface="Consolas"/>
                <a:cs typeface="Consolas"/>
                <a:sym typeface="Consolas"/>
              </a:rPr>
              <a:t>   &lt;/div&gt;`</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data</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return</a:t>
            </a:r>
            <a:r>
              <a:rPr lang="es" sz="1050">
                <a:solidFill>
                  <a:srgbClr val="D5CED9"/>
                </a:solidFill>
                <a:highlight>
                  <a:srgbClr val="23262E"/>
                </a:highlight>
                <a:latin typeface="Consolas"/>
                <a:ea typeface="Consolas"/>
                <a:cs typeface="Consolas"/>
                <a:sym typeface="Consolas"/>
              </a:rPr>
              <a:t> { titulo: </a:t>
            </a:r>
            <a:r>
              <a:rPr lang="es" sz="1050">
                <a:solidFill>
                  <a:srgbClr val="96E072"/>
                </a:solidFill>
                <a:highlight>
                  <a:srgbClr val="23262E"/>
                </a:highlight>
                <a:latin typeface="Consolas"/>
                <a:ea typeface="Consolas"/>
                <a:cs typeface="Consolas"/>
                <a:sym typeface="Consolas"/>
              </a:rPr>
              <a:t>"Componentes en Vue.js"</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methods: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cambiarNombre</a:t>
            </a:r>
            <a:r>
              <a:rPr lang="es" sz="1050">
                <a:solidFill>
                  <a:srgbClr val="D5CED9"/>
                </a:solidFill>
                <a:highlight>
                  <a:srgbClr val="23262E"/>
                </a:highlight>
                <a:latin typeface="Consolas"/>
                <a:ea typeface="Consolas"/>
                <a:cs typeface="Consolas"/>
                <a:sym typeface="Consolas"/>
              </a:rPr>
              <a:t>() {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titulo</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96E072"/>
                </a:solidFill>
                <a:highlight>
                  <a:srgbClr val="23262E"/>
                </a:highlight>
                <a:latin typeface="Consolas"/>
                <a:ea typeface="Consolas"/>
                <a:cs typeface="Consolas"/>
                <a:sym typeface="Consolas"/>
              </a:rPr>
              <a:t>"¡El mouse está sobre el contenido del DIV!"</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reestablecerNombre</a:t>
            </a:r>
            <a:r>
              <a:rPr lang="es" sz="1050">
                <a:solidFill>
                  <a:srgbClr val="D5CED9"/>
                </a:solidFill>
                <a:highlight>
                  <a:srgbClr val="23262E"/>
                </a:highlight>
                <a:latin typeface="Consolas"/>
                <a:ea typeface="Consolas"/>
                <a:cs typeface="Consolas"/>
                <a:sym typeface="Consolas"/>
              </a:rPr>
              <a:t>() {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titulo</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96E072"/>
                </a:solidFill>
                <a:highlight>
                  <a:srgbClr val="23262E"/>
                </a:highlight>
                <a:latin typeface="Consolas"/>
                <a:ea typeface="Consolas"/>
                <a:cs typeface="Consolas"/>
                <a:sym typeface="Consolas"/>
              </a:rPr>
              <a:t>"Componentes en Vue.js"</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
        <p:nvSpPr>
          <p:cNvPr id="290" name="Google Shape;290;p35"/>
          <p:cNvSpPr txBox="1"/>
          <p:nvPr/>
        </p:nvSpPr>
        <p:spPr>
          <a:xfrm>
            <a:off x="7197825" y="2025075"/>
            <a:ext cx="1417200" cy="24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50">
                <a:solidFill>
                  <a:schemeClr val="dk2"/>
                </a:solidFill>
                <a:latin typeface="Montserrat"/>
                <a:ea typeface="Montserrat"/>
                <a:cs typeface="Montserrat"/>
                <a:sym typeface="Montserrat"/>
              </a:rPr>
              <a:t>componente2</a:t>
            </a:r>
            <a:r>
              <a:rPr lang="es" sz="1150">
                <a:solidFill>
                  <a:schemeClr val="dk2"/>
                </a:solidFill>
                <a:latin typeface="Montserrat"/>
                <a:ea typeface="Montserrat"/>
                <a:cs typeface="Montserrat"/>
                <a:sym typeface="Montserrat"/>
              </a:rPr>
              <a:t> será otro componente de nuestro proyecto.</a:t>
            </a:r>
            <a:endParaRPr sz="115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150">
              <a:solidFill>
                <a:schemeClr val="dk2"/>
              </a:solidFill>
              <a:latin typeface="Montserrat"/>
              <a:ea typeface="Montserrat"/>
              <a:cs typeface="Montserrat"/>
              <a:sym typeface="Montserrat"/>
            </a:endParaRPr>
          </a:p>
          <a:p>
            <a:pPr indent="0" lvl="0" marL="0" rtl="0" algn="l">
              <a:spcBef>
                <a:spcPts val="0"/>
              </a:spcBef>
              <a:spcAft>
                <a:spcPts val="0"/>
              </a:spcAft>
              <a:buNone/>
            </a:pPr>
            <a:r>
              <a:rPr lang="es" sz="1150">
                <a:solidFill>
                  <a:schemeClr val="dk2"/>
                </a:solidFill>
                <a:latin typeface="Montserrat"/>
                <a:ea typeface="Montserrat"/>
                <a:cs typeface="Montserrat"/>
                <a:sym typeface="Montserrat"/>
              </a:rPr>
              <a:t>Lo definimos de manera similar a </a:t>
            </a:r>
            <a:r>
              <a:rPr b="1" lang="es" sz="1150">
                <a:solidFill>
                  <a:schemeClr val="dk2"/>
                </a:solidFill>
                <a:latin typeface="Montserrat"/>
                <a:ea typeface="Montserrat"/>
                <a:cs typeface="Montserrat"/>
                <a:sym typeface="Montserrat"/>
              </a:rPr>
              <a:t>comonente1</a:t>
            </a:r>
            <a:r>
              <a:rPr lang="es" sz="1150">
                <a:solidFill>
                  <a:schemeClr val="dk2"/>
                </a:solidFill>
                <a:latin typeface="Montserrat"/>
                <a:ea typeface="Montserrat"/>
                <a:cs typeface="Montserrat"/>
                <a:sym typeface="Montserrat"/>
              </a:rPr>
              <a:t>, pero en este caso agregamos </a:t>
            </a:r>
            <a:r>
              <a:rPr b="1" lang="es" sz="1150">
                <a:solidFill>
                  <a:schemeClr val="dk2"/>
                </a:solidFill>
                <a:latin typeface="Montserrat"/>
                <a:ea typeface="Montserrat"/>
                <a:cs typeface="Montserrat"/>
                <a:sym typeface="Montserrat"/>
              </a:rPr>
              <a:t>data()</a:t>
            </a:r>
            <a:r>
              <a:rPr lang="es" sz="1150">
                <a:solidFill>
                  <a:schemeClr val="dk2"/>
                </a:solidFill>
                <a:latin typeface="Montserrat"/>
                <a:ea typeface="Montserrat"/>
                <a:cs typeface="Montserrat"/>
                <a:sym typeface="Montserrat"/>
              </a:rPr>
              <a:t> y </a:t>
            </a:r>
            <a:r>
              <a:rPr b="1" lang="es" sz="1150">
                <a:solidFill>
                  <a:schemeClr val="dk2"/>
                </a:solidFill>
                <a:latin typeface="Montserrat"/>
                <a:ea typeface="Montserrat"/>
                <a:cs typeface="Montserrat"/>
                <a:sym typeface="Montserrat"/>
              </a:rPr>
              <a:t>métodos</a:t>
            </a:r>
            <a:r>
              <a:rPr lang="es" sz="1150">
                <a:solidFill>
                  <a:schemeClr val="dk2"/>
                </a:solidFill>
                <a:latin typeface="Montserrat"/>
                <a:ea typeface="Montserrat"/>
                <a:cs typeface="Montserrat"/>
                <a:sym typeface="Montserrat"/>
              </a:rPr>
              <a:t>.</a:t>
            </a:r>
            <a:endParaRPr sz="1150">
              <a:solidFill>
                <a:schemeClr val="dk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Creación de componentes</a:t>
            </a:r>
            <a:endParaRPr/>
          </a:p>
        </p:txBody>
      </p:sp>
      <p:sp>
        <p:nvSpPr>
          <p:cNvPr id="296" name="Google Shape;296;p3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Debemos declarar el nuevo componente en la </a:t>
            </a:r>
            <a:r>
              <a:rPr lang="es" sz="1650"/>
              <a:t>instancia</a:t>
            </a:r>
            <a:r>
              <a:rPr lang="es" sz="1650"/>
              <a:t> Vue, y luego podemos disponer del componente en el cuerpo del HTML:</a:t>
            </a:r>
            <a:r>
              <a:rPr lang="es" sz="1650"/>
              <a:t>:</a:t>
            </a:r>
            <a:endParaRPr sz="1650"/>
          </a:p>
          <a:p>
            <a:pPr indent="0" lvl="0" marL="0" rtl="0" algn="l">
              <a:lnSpc>
                <a:spcPct val="115000"/>
              </a:lnSpc>
              <a:spcBef>
                <a:spcPts val="1200"/>
              </a:spcBef>
              <a:spcAft>
                <a:spcPts val="1200"/>
              </a:spcAft>
              <a:buNone/>
            </a:pPr>
            <a:r>
              <a:t/>
            </a:r>
            <a:endParaRPr sz="1650"/>
          </a:p>
        </p:txBody>
      </p:sp>
      <p:sp>
        <p:nvSpPr>
          <p:cNvPr id="297" name="Google Shape;297;p36"/>
          <p:cNvSpPr/>
          <p:nvPr/>
        </p:nvSpPr>
        <p:spPr>
          <a:xfrm>
            <a:off x="528000" y="2094050"/>
            <a:ext cx="3013500" cy="13248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5F6167"/>
                </a:solidFill>
                <a:highlight>
                  <a:srgbClr val="23262E"/>
                </a:highlight>
                <a:latin typeface="Consolas"/>
                <a:ea typeface="Consolas"/>
                <a:cs typeface="Consolas"/>
                <a:sym typeface="Consolas"/>
              </a:rPr>
              <a:t>// Creamos nuestra </a:t>
            </a:r>
            <a:r>
              <a:rPr lang="es" sz="1050">
                <a:solidFill>
                  <a:srgbClr val="5F6167"/>
                </a:solidFill>
                <a:highlight>
                  <a:srgbClr val="23262E"/>
                </a:highlight>
                <a:latin typeface="Consolas"/>
                <a:ea typeface="Consolas"/>
                <a:cs typeface="Consolas"/>
                <a:sym typeface="Consolas"/>
              </a:rPr>
              <a:t>aplicación</a:t>
            </a:r>
            <a:r>
              <a:rPr lang="es" sz="1050">
                <a:solidFill>
                  <a:srgbClr val="5F6167"/>
                </a:solidFill>
                <a:highlight>
                  <a:srgbClr val="23262E"/>
                </a:highlight>
                <a:latin typeface="Consolas"/>
                <a:ea typeface="Consolas"/>
                <a:cs typeface="Consolas"/>
                <a:sym typeface="Consolas"/>
              </a:rPr>
              <a: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miAplicacion</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Vue</a:t>
            </a: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components: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96E072"/>
                </a:solidFill>
                <a:highlight>
                  <a:srgbClr val="23262E"/>
                </a:highlight>
                <a:latin typeface="Consolas"/>
                <a:ea typeface="Consolas"/>
                <a:cs typeface="Consolas"/>
                <a:sym typeface="Consolas"/>
              </a:rPr>
              <a:t>'saludo'</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componente1</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96E072"/>
                </a:solidFill>
                <a:highlight>
                  <a:srgbClr val="23262E"/>
                </a:highlight>
                <a:latin typeface="Consolas"/>
                <a:ea typeface="Consolas"/>
                <a:cs typeface="Consolas"/>
                <a:sym typeface="Consolas"/>
              </a:rPr>
              <a:t>'mouse'</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componente2</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mount</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
        <p:nvSpPr>
          <p:cNvPr id="298" name="Google Shape;298;p36"/>
          <p:cNvSpPr txBox="1"/>
          <p:nvPr/>
        </p:nvSpPr>
        <p:spPr>
          <a:xfrm>
            <a:off x="370675" y="3530225"/>
            <a:ext cx="7979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Al renderizar la página, vemos como el segundo componente renderiza diferente contenido dependiendo de la posición del mouse:</a:t>
            </a:r>
            <a:endParaRPr sz="1650">
              <a:solidFill>
                <a:schemeClr val="dk2"/>
              </a:solidFill>
              <a:latin typeface="Montserrat"/>
              <a:ea typeface="Montserrat"/>
              <a:cs typeface="Montserrat"/>
              <a:sym typeface="Montserrat"/>
            </a:endParaRPr>
          </a:p>
        </p:txBody>
      </p:sp>
      <p:sp>
        <p:nvSpPr>
          <p:cNvPr id="299" name="Google Shape;299;p36"/>
          <p:cNvSpPr/>
          <p:nvPr/>
        </p:nvSpPr>
        <p:spPr>
          <a:xfrm>
            <a:off x="3692925" y="2094050"/>
            <a:ext cx="4922100" cy="13248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5F6167"/>
                </a:solidFill>
                <a:highlight>
                  <a:srgbClr val="23262E"/>
                </a:highlight>
                <a:latin typeface="Consolas"/>
                <a:ea typeface="Consolas"/>
                <a:cs typeface="Consolas"/>
                <a:sym typeface="Consolas"/>
              </a:rPr>
              <a:t>&lt;!--Este es el contenedor donde funciona Vue.js --&gt;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id</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5F6167"/>
                </a:solidFill>
                <a:highlight>
                  <a:srgbClr val="23262E"/>
                </a:highlight>
                <a:latin typeface="Consolas"/>
                <a:ea typeface="Consolas"/>
                <a:cs typeface="Consolas"/>
                <a:sym typeface="Consolas"/>
              </a:rPr>
              <a:t>&lt;!--&lt;saludo&gt; y &lt;mouse&gt; son componentes que hemos creado.--&gt;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saludo</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saludo</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mouse</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mouse</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pic>
        <p:nvPicPr>
          <p:cNvPr id="300" name="Google Shape;300;p36"/>
          <p:cNvPicPr preferRelativeResize="0"/>
          <p:nvPr/>
        </p:nvPicPr>
        <p:blipFill rotWithShape="1">
          <a:blip r:embed="rId3">
            <a:alphaModFix/>
          </a:blip>
          <a:srcRect b="15211" l="0" r="20521" t="0"/>
          <a:stretch/>
        </p:blipFill>
        <p:spPr>
          <a:xfrm>
            <a:off x="3069132" y="4146700"/>
            <a:ext cx="2710619" cy="476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W</a:t>
            </a:r>
            <a:r>
              <a:rPr lang="es"/>
              <a:t>atchers</a:t>
            </a:r>
            <a:endParaRPr/>
          </a:p>
        </p:txBody>
      </p:sp>
      <p:sp>
        <p:nvSpPr>
          <p:cNvPr id="306" name="Google Shape;306;p37"/>
          <p:cNvSpPr txBox="1"/>
          <p:nvPr>
            <p:ph idx="1" type="body"/>
          </p:nvPr>
        </p:nvSpPr>
        <p:spPr>
          <a:xfrm>
            <a:off x="432025" y="1304875"/>
            <a:ext cx="8382900" cy="331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sz="1632"/>
              <a:t>Un </a:t>
            </a:r>
            <a:r>
              <a:rPr b="1" lang="es" sz="1632"/>
              <a:t>watcher</a:t>
            </a:r>
            <a:r>
              <a:rPr lang="es" sz="1632"/>
              <a:t> (observador) en Vue es una característica especial que nos permite observar algunos datos y realizar acciones específicas </a:t>
            </a:r>
            <a:r>
              <a:rPr b="1" lang="es" sz="1632"/>
              <a:t>cuando cambian</a:t>
            </a:r>
            <a:r>
              <a:rPr lang="es" sz="1632"/>
              <a:t>. Es una forma más genérica de observar y reaccionar a los cambios de datos en la instancia de Vue.</a:t>
            </a:r>
            <a:endParaRPr sz="1632"/>
          </a:p>
          <a:p>
            <a:pPr indent="0" lvl="0" marL="0" rtl="0" algn="l">
              <a:spcBef>
                <a:spcPts val="1200"/>
              </a:spcBef>
              <a:spcAft>
                <a:spcPts val="0"/>
              </a:spcAft>
              <a:buNone/>
            </a:pPr>
            <a:r>
              <a:rPr lang="es" sz="1632"/>
              <a:t>Con los observadores, no solo podemos observar una propiedad y realizar acciones personalizadas; también podemos acceder al valor antiguo desde el que está cambiando esta propiedad en particular, así como al nuevo valor al que ha cambiado.</a:t>
            </a:r>
            <a:endParaRPr sz="1632"/>
          </a:p>
          <a:p>
            <a:pPr indent="0" lvl="0" marL="0" rtl="0" algn="l">
              <a:spcBef>
                <a:spcPts val="1200"/>
              </a:spcBef>
              <a:spcAft>
                <a:spcPts val="1200"/>
              </a:spcAft>
              <a:buNone/>
            </a:pPr>
            <a:r>
              <a:rPr lang="es" sz="1632"/>
              <a:t>Los Watchers se aplican a los datos que cambian. Por ejemplo, elementos input en formularios. Los Watchers se encargan de manejar cualquier cambio de datos haciendo que el código sea simple y rápido.</a:t>
            </a:r>
            <a:endParaRPr sz="1632"/>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Watchers</a:t>
            </a:r>
            <a:endParaRPr/>
          </a:p>
        </p:txBody>
      </p:sp>
      <p:sp>
        <p:nvSpPr>
          <p:cNvPr id="312" name="Google Shape;312;p38"/>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632"/>
              <a:t>Veamos </a:t>
            </a:r>
            <a:r>
              <a:rPr lang="es" sz="1632"/>
              <a:t>cómo</a:t>
            </a:r>
            <a:r>
              <a:rPr lang="es" sz="1632"/>
              <a:t> implementarlos. En el ejemplo, se crean dos </a:t>
            </a:r>
            <a:r>
              <a:rPr b="1" lang="es" sz="1632"/>
              <a:t>textboxes</a:t>
            </a:r>
            <a:r>
              <a:rPr lang="es" sz="1632"/>
              <a:t>, uno con kilómetros y otro con metros:</a:t>
            </a:r>
            <a:endParaRPr sz="1632"/>
          </a:p>
        </p:txBody>
      </p:sp>
      <p:sp>
        <p:nvSpPr>
          <p:cNvPr id="313" name="Google Shape;313;p38"/>
          <p:cNvSpPr/>
          <p:nvPr/>
        </p:nvSpPr>
        <p:spPr>
          <a:xfrm>
            <a:off x="2170200" y="2124700"/>
            <a:ext cx="4803600" cy="9567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5F6167"/>
                </a:solidFill>
                <a:highlight>
                  <a:srgbClr val="23262E"/>
                </a:highlight>
                <a:latin typeface="Consolas"/>
                <a:ea typeface="Consolas"/>
                <a:cs typeface="Consolas"/>
                <a:sym typeface="Consolas"/>
              </a:rPr>
              <a:t>&lt;!-- Este es el contenedor donde funciona Vue.js --&gt;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id</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&gt;Kilometros:&lt;/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type</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"text"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v-model</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"kilometros"</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&gt;Metros:&lt;/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type</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"text"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v-model</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"metros"</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
        <p:nvSpPr>
          <p:cNvPr id="314" name="Google Shape;314;p38"/>
          <p:cNvSpPr txBox="1"/>
          <p:nvPr/>
        </p:nvSpPr>
        <p:spPr>
          <a:xfrm>
            <a:off x="528950" y="3130700"/>
            <a:ext cx="7979700" cy="160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650">
                <a:solidFill>
                  <a:schemeClr val="dk2"/>
                </a:solidFill>
                <a:latin typeface="Montserrat"/>
                <a:ea typeface="Montserrat"/>
                <a:cs typeface="Montserrat"/>
                <a:sym typeface="Montserrat"/>
              </a:rPr>
              <a:t>En </a:t>
            </a:r>
            <a:r>
              <a:rPr b="1" lang="es" sz="1650">
                <a:solidFill>
                  <a:schemeClr val="dk2"/>
                </a:solidFill>
                <a:latin typeface="Montserrat"/>
                <a:ea typeface="Montserrat"/>
                <a:cs typeface="Montserrat"/>
                <a:sym typeface="Montserrat"/>
              </a:rPr>
              <a:t>data()</a:t>
            </a:r>
            <a:r>
              <a:rPr lang="es" sz="1650">
                <a:solidFill>
                  <a:schemeClr val="dk2"/>
                </a:solidFill>
                <a:latin typeface="Montserrat"/>
                <a:ea typeface="Montserrat"/>
                <a:cs typeface="Montserrat"/>
                <a:sym typeface="Montserrat"/>
              </a:rPr>
              <a:t> ambas propiedades son inicializadas en cero. Existe dentro de la instancia Vue un objeto </a:t>
            </a:r>
            <a:r>
              <a:rPr b="1" lang="es" sz="1650">
                <a:solidFill>
                  <a:schemeClr val="dk2"/>
                </a:solidFill>
                <a:latin typeface="Montserrat"/>
                <a:ea typeface="Montserrat"/>
                <a:cs typeface="Montserrat"/>
                <a:sym typeface="Montserrat"/>
              </a:rPr>
              <a:t>watch</a:t>
            </a:r>
            <a:r>
              <a:rPr lang="es" sz="1650">
                <a:solidFill>
                  <a:schemeClr val="dk2"/>
                </a:solidFill>
                <a:latin typeface="Montserrat"/>
                <a:ea typeface="Montserrat"/>
                <a:cs typeface="Montserrat"/>
                <a:sym typeface="Montserrat"/>
              </a:rPr>
              <a:t> que se crea con dos funciones, cuyo objetivo es convertir de kilómetros a metros y viceversa. Cada vez que se ingrese algún valor en los </a:t>
            </a:r>
            <a:r>
              <a:rPr b="1" lang="es" sz="1650">
                <a:solidFill>
                  <a:schemeClr val="dk2"/>
                </a:solidFill>
                <a:latin typeface="Montserrat"/>
                <a:ea typeface="Montserrat"/>
                <a:cs typeface="Montserrat"/>
                <a:sym typeface="Montserrat"/>
              </a:rPr>
              <a:t>inputs</a:t>
            </a:r>
            <a:r>
              <a:rPr lang="es" sz="1650">
                <a:solidFill>
                  <a:schemeClr val="dk2"/>
                </a:solidFill>
                <a:latin typeface="Montserrat"/>
                <a:ea typeface="Montserrat"/>
                <a:cs typeface="Montserrat"/>
                <a:sym typeface="Montserrat"/>
              </a:rPr>
              <a:t>, watch se encarga de  actualizarlos, calculando lo que está declarado en las funciones.</a:t>
            </a:r>
            <a:endParaRPr b="1" sz="1650">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Watchers</a:t>
            </a:r>
            <a:endParaRPr/>
          </a:p>
        </p:txBody>
      </p:sp>
      <p:sp>
        <p:nvSpPr>
          <p:cNvPr id="320" name="Google Shape;320;p39"/>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32"/>
          </a:p>
        </p:txBody>
      </p:sp>
      <p:sp>
        <p:nvSpPr>
          <p:cNvPr id="321" name="Google Shape;321;p39"/>
          <p:cNvSpPr/>
          <p:nvPr/>
        </p:nvSpPr>
        <p:spPr>
          <a:xfrm>
            <a:off x="432025" y="1304875"/>
            <a:ext cx="3990900" cy="32868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miAplicacion</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Vue</a:t>
            </a: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5F6167"/>
                </a:solidFill>
                <a:highlight>
                  <a:srgbClr val="23262E"/>
                </a:highlight>
                <a:latin typeface="Consolas"/>
                <a:ea typeface="Consolas"/>
                <a:cs typeface="Consolas"/>
                <a:sym typeface="Consolas"/>
              </a:rPr>
              <a:t>//DATOS de la </a:t>
            </a:r>
            <a:r>
              <a:rPr lang="es" sz="1050">
                <a:solidFill>
                  <a:srgbClr val="5F6167"/>
                </a:solidFill>
                <a:highlight>
                  <a:srgbClr val="23262E"/>
                </a:highlight>
                <a:latin typeface="Consolas"/>
                <a:ea typeface="Consolas"/>
                <a:cs typeface="Consolas"/>
                <a:sym typeface="Consolas"/>
              </a:rPr>
              <a:t>aplicación</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data</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5F6167"/>
                </a:solidFill>
                <a:highlight>
                  <a:srgbClr val="23262E"/>
                </a:highlight>
                <a:latin typeface="Consolas"/>
                <a:ea typeface="Consolas"/>
                <a:cs typeface="Consolas"/>
                <a:sym typeface="Consolas"/>
              </a:rPr>
              <a:t>// Definimos que devuelve nuestra aplicación</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return</a:t>
            </a:r>
            <a:r>
              <a:rPr lang="es" sz="1050">
                <a:solidFill>
                  <a:srgbClr val="D5CED9"/>
                </a:solidFill>
                <a:highlight>
                  <a:srgbClr val="23262E"/>
                </a:highlight>
                <a:latin typeface="Consolas"/>
                <a:ea typeface="Consolas"/>
                <a:cs typeface="Consolas"/>
                <a:sym typeface="Consolas"/>
              </a:rPr>
              <a:t> { kilometros: </a:t>
            </a:r>
            <a:r>
              <a:rPr lang="es" sz="1050">
                <a:solidFill>
                  <a:srgbClr val="F39C12"/>
                </a:solidFill>
                <a:highlight>
                  <a:srgbClr val="23262E"/>
                </a:highlight>
                <a:latin typeface="Consolas"/>
                <a:ea typeface="Consolas"/>
                <a:cs typeface="Consolas"/>
                <a:sym typeface="Consolas"/>
              </a:rPr>
              <a:t>0</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metros: </a:t>
            </a:r>
            <a:r>
              <a:rPr lang="es" sz="1050">
                <a:solidFill>
                  <a:srgbClr val="F39C12"/>
                </a:solidFill>
                <a:highlight>
                  <a:srgbClr val="23262E"/>
                </a:highlight>
                <a:latin typeface="Consolas"/>
                <a:ea typeface="Consolas"/>
                <a:cs typeface="Consolas"/>
                <a:sym typeface="Consolas"/>
              </a:rPr>
              <a:t>0</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5F6167"/>
                </a:solidFill>
                <a:highlight>
                  <a:srgbClr val="23262E"/>
                </a:highlight>
                <a:latin typeface="Consolas"/>
                <a:ea typeface="Consolas"/>
                <a:cs typeface="Consolas"/>
                <a:sym typeface="Consolas"/>
              </a:rPr>
              <a:t>// Defino watch:</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watch: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kilometros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valor</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kilometros</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valor</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metros</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valor</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1000</a:t>
            </a:r>
            <a:endParaRPr sz="1050">
              <a:solidFill>
                <a:srgbClr val="F39C1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metros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valor</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kilometros</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valor</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1000</a:t>
            </a:r>
            <a:endParaRPr sz="1050">
              <a:solidFill>
                <a:srgbClr val="F39C1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metros</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valor</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mount</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
        <p:nvSpPr>
          <p:cNvPr id="322" name="Google Shape;322;p39"/>
          <p:cNvSpPr txBox="1"/>
          <p:nvPr/>
        </p:nvSpPr>
        <p:spPr>
          <a:xfrm>
            <a:off x="4572000" y="1304875"/>
            <a:ext cx="4242900" cy="126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250">
                <a:solidFill>
                  <a:schemeClr val="dk2"/>
                </a:solidFill>
                <a:latin typeface="Montserrat"/>
                <a:ea typeface="Montserrat"/>
                <a:cs typeface="Montserrat"/>
                <a:sym typeface="Montserrat"/>
              </a:rPr>
              <a:t>Estos </a:t>
            </a:r>
            <a:r>
              <a:rPr b="1" i="1" lang="es" sz="1250">
                <a:solidFill>
                  <a:schemeClr val="dk2"/>
                </a:solidFill>
                <a:latin typeface="Montserrat"/>
                <a:ea typeface="Montserrat"/>
                <a:cs typeface="Montserrat"/>
                <a:sym typeface="Montserrat"/>
              </a:rPr>
              <a:t>watchers</a:t>
            </a:r>
            <a:r>
              <a:rPr lang="es" sz="1250">
                <a:solidFill>
                  <a:schemeClr val="dk2"/>
                </a:solidFill>
                <a:latin typeface="Montserrat"/>
                <a:ea typeface="Montserrat"/>
                <a:cs typeface="Montserrat"/>
                <a:sym typeface="Montserrat"/>
              </a:rPr>
              <a:t> sólo deben usarse cuando las propiedades calculadas resultan insuficientes,  situaciones en las que necesitamos asincronía o se trata de operaciones muy costosas para cambiar el valor de los datos.</a:t>
            </a:r>
            <a:endParaRPr sz="1250">
              <a:solidFill>
                <a:schemeClr val="dk2"/>
              </a:solidFill>
              <a:latin typeface="Montserrat"/>
              <a:ea typeface="Montserrat"/>
              <a:cs typeface="Montserrat"/>
              <a:sym typeface="Montserrat"/>
            </a:endParaRPr>
          </a:p>
        </p:txBody>
      </p:sp>
      <p:pic>
        <p:nvPicPr>
          <p:cNvPr id="323" name="Google Shape;323;p39"/>
          <p:cNvPicPr preferRelativeResize="0"/>
          <p:nvPr/>
        </p:nvPicPr>
        <p:blipFill>
          <a:blip r:embed="rId3">
            <a:alphaModFix/>
          </a:blip>
          <a:stretch>
            <a:fillRect/>
          </a:stretch>
        </p:blipFill>
        <p:spPr>
          <a:xfrm>
            <a:off x="5283525" y="2621575"/>
            <a:ext cx="2819850" cy="1801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Acceder a los elementos del DOM utilizando $refs</a:t>
            </a:r>
            <a:endParaRPr/>
          </a:p>
        </p:txBody>
      </p:sp>
      <p:sp>
        <p:nvSpPr>
          <p:cNvPr id="329" name="Google Shape;329;p40"/>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32"/>
              <a:t>Si necesitamos acceder a elementos del DOM, las instancias de Vue.JS cuentan con diversos mecanismos, uno de ellas es </a:t>
            </a:r>
            <a:r>
              <a:rPr b="1" lang="es" sz="1632"/>
              <a:t>$refs</a:t>
            </a:r>
            <a:r>
              <a:rPr lang="es" sz="1632"/>
              <a:t>. Visto en código sería algo como:</a:t>
            </a:r>
            <a:endParaRPr sz="1632"/>
          </a:p>
          <a:p>
            <a:pPr indent="0" lvl="0" marL="0" rtl="0" algn="l">
              <a:lnSpc>
                <a:spcPct val="115000"/>
              </a:lnSpc>
              <a:spcBef>
                <a:spcPts val="1200"/>
              </a:spcBef>
              <a:spcAft>
                <a:spcPts val="0"/>
              </a:spcAft>
              <a:buNone/>
            </a:pPr>
            <a:r>
              <a:t/>
            </a:r>
            <a:endParaRPr sz="1632"/>
          </a:p>
          <a:p>
            <a:pPr indent="0" lvl="0" marL="0" rtl="0" algn="l">
              <a:lnSpc>
                <a:spcPct val="115000"/>
              </a:lnSpc>
              <a:spcBef>
                <a:spcPts val="1200"/>
              </a:spcBef>
              <a:spcAft>
                <a:spcPts val="1200"/>
              </a:spcAft>
              <a:buNone/>
            </a:pPr>
            <a:r>
              <a:t/>
            </a:r>
            <a:endParaRPr sz="1632"/>
          </a:p>
        </p:txBody>
      </p:sp>
      <p:sp>
        <p:nvSpPr>
          <p:cNvPr id="330" name="Google Shape;330;p40"/>
          <p:cNvSpPr/>
          <p:nvPr/>
        </p:nvSpPr>
        <p:spPr>
          <a:xfrm>
            <a:off x="3909925" y="2205675"/>
            <a:ext cx="1427100" cy="5199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350">
                <a:solidFill>
                  <a:srgbClr val="D5CED9"/>
                </a:solidFill>
                <a:highlight>
                  <a:srgbClr val="23262E"/>
                </a:highlight>
                <a:latin typeface="Consolas"/>
                <a:ea typeface="Consolas"/>
                <a:cs typeface="Consolas"/>
                <a:sym typeface="Consolas"/>
              </a:rPr>
              <a:t>app.$refs</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350">
                <a:solidFill>
                  <a:srgbClr val="D5CED9"/>
                </a:solidFill>
                <a:highlight>
                  <a:srgbClr val="23262E"/>
                </a:highlight>
                <a:latin typeface="Consolas"/>
                <a:ea typeface="Consolas"/>
                <a:cs typeface="Consolas"/>
                <a:sym typeface="Consolas"/>
              </a:rPr>
              <a:t>vm.$refs</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
        <p:nvSpPr>
          <p:cNvPr id="331" name="Google Shape;331;p40"/>
          <p:cNvSpPr txBox="1"/>
          <p:nvPr/>
        </p:nvSpPr>
        <p:spPr>
          <a:xfrm>
            <a:off x="528950" y="2825775"/>
            <a:ext cx="7979700" cy="191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650">
                <a:solidFill>
                  <a:schemeClr val="dk2"/>
                </a:solidFill>
                <a:latin typeface="Montserrat"/>
                <a:ea typeface="Montserrat"/>
                <a:cs typeface="Montserrat"/>
                <a:sym typeface="Montserrat"/>
              </a:rPr>
              <a:t>$refs</a:t>
            </a:r>
            <a:r>
              <a:rPr lang="es" sz="1650">
                <a:solidFill>
                  <a:schemeClr val="dk2"/>
                </a:solidFill>
                <a:latin typeface="Montserrat"/>
                <a:ea typeface="Montserrat"/>
                <a:cs typeface="Montserrat"/>
                <a:sym typeface="Montserrat"/>
              </a:rPr>
              <a:t> es un objeto</a:t>
            </a:r>
            <a:r>
              <a:rPr lang="es" sz="1650">
                <a:solidFill>
                  <a:schemeClr val="dk2"/>
                </a:solidFill>
                <a:latin typeface="Montserrat"/>
                <a:ea typeface="Montserrat"/>
                <a:cs typeface="Montserrat"/>
                <a:sym typeface="Montserrat"/>
              </a:rPr>
              <a:t>, dentro de él se van a almacenar todos los elementos del DOM que cuenten con el atributo “</a:t>
            </a:r>
            <a:r>
              <a:rPr b="1" lang="es" sz="1650">
                <a:solidFill>
                  <a:schemeClr val="dk2"/>
                </a:solidFill>
                <a:latin typeface="Montserrat"/>
                <a:ea typeface="Montserrat"/>
                <a:cs typeface="Montserrat"/>
                <a:sym typeface="Montserrat"/>
              </a:rPr>
              <a:t>ref</a:t>
            </a:r>
            <a:r>
              <a:rPr lang="es" sz="1650">
                <a:solidFill>
                  <a:schemeClr val="dk2"/>
                </a:solidFill>
                <a:latin typeface="Montserrat"/>
                <a:ea typeface="Montserrat"/>
                <a:cs typeface="Montserrat"/>
                <a:sym typeface="Montserrat"/>
              </a:rPr>
              <a:t>”. El atributo “</a:t>
            </a:r>
            <a:r>
              <a:rPr b="1" lang="es" sz="1650">
                <a:solidFill>
                  <a:schemeClr val="dk2"/>
                </a:solidFill>
                <a:latin typeface="Montserrat"/>
                <a:ea typeface="Montserrat"/>
                <a:cs typeface="Montserrat"/>
                <a:sym typeface="Montserrat"/>
              </a:rPr>
              <a:t>ref</a:t>
            </a:r>
            <a:r>
              <a:rPr lang="es" sz="1650">
                <a:solidFill>
                  <a:schemeClr val="dk2"/>
                </a:solidFill>
                <a:latin typeface="Montserrat"/>
                <a:ea typeface="Montserrat"/>
                <a:cs typeface="Montserrat"/>
                <a:sym typeface="Montserrat"/>
              </a:rPr>
              <a:t>” vendría a ser algo así cómo proporcionarle un ID al elemento.</a:t>
            </a:r>
            <a:endParaRPr sz="1650">
              <a:solidFill>
                <a:schemeClr val="dk2"/>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t/>
            </a:r>
            <a:endParaRPr sz="1650">
              <a:solidFill>
                <a:schemeClr val="dk2"/>
              </a:solidFill>
              <a:latin typeface="Montserrat"/>
              <a:ea typeface="Montserrat"/>
              <a:cs typeface="Montserrat"/>
              <a:sym typeface="Montserrat"/>
            </a:endParaRPr>
          </a:p>
          <a:p>
            <a:pPr indent="0" lvl="0" marL="0" rtl="0" algn="l">
              <a:lnSpc>
                <a:spcPct val="115000"/>
              </a:lnSpc>
              <a:spcBef>
                <a:spcPts val="1200"/>
              </a:spcBef>
              <a:spcAft>
                <a:spcPts val="1200"/>
              </a:spcAft>
              <a:buClr>
                <a:schemeClr val="dk1"/>
              </a:buClr>
              <a:buSzPts val="1100"/>
              <a:buFont typeface="Arial"/>
              <a:buNone/>
            </a:pPr>
            <a:r>
              <a:t/>
            </a:r>
            <a:endParaRPr sz="1650">
              <a:solidFill>
                <a:schemeClr val="dk2"/>
              </a:solidFill>
              <a:latin typeface="Montserrat"/>
              <a:ea typeface="Montserrat"/>
              <a:cs typeface="Montserrat"/>
              <a:sym typeface="Montserrat"/>
            </a:endParaRPr>
          </a:p>
        </p:txBody>
      </p:sp>
      <p:sp>
        <p:nvSpPr>
          <p:cNvPr id="332" name="Google Shape;332;p40"/>
          <p:cNvSpPr/>
          <p:nvPr/>
        </p:nvSpPr>
        <p:spPr>
          <a:xfrm>
            <a:off x="3050900" y="3960150"/>
            <a:ext cx="2935800" cy="3555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250">
                <a:solidFill>
                  <a:srgbClr val="D5CED9"/>
                </a:solidFill>
                <a:highlight>
                  <a:srgbClr val="23262E"/>
                </a:highlight>
                <a:latin typeface="Consolas"/>
                <a:ea typeface="Consolas"/>
                <a:cs typeface="Consolas"/>
                <a:sym typeface="Consolas"/>
              </a:rPr>
              <a:t>&lt;</a:t>
            </a:r>
            <a:r>
              <a:rPr lang="es" sz="1250">
                <a:solidFill>
                  <a:srgbClr val="F92672"/>
                </a:solidFill>
                <a:highlight>
                  <a:srgbClr val="23262E"/>
                </a:highlight>
                <a:latin typeface="Consolas"/>
                <a:ea typeface="Consolas"/>
                <a:cs typeface="Consolas"/>
                <a:sym typeface="Consolas"/>
              </a:rPr>
              <a:t>input</a:t>
            </a:r>
            <a:r>
              <a:rPr lang="es" sz="1250">
                <a:solidFill>
                  <a:srgbClr val="D5CED9"/>
                </a:solidFill>
                <a:highlight>
                  <a:srgbClr val="23262E"/>
                </a:highlight>
                <a:latin typeface="Consolas"/>
                <a:ea typeface="Consolas"/>
                <a:cs typeface="Consolas"/>
                <a:sym typeface="Consolas"/>
              </a:rPr>
              <a:t> </a:t>
            </a:r>
            <a:r>
              <a:rPr lang="es" sz="1250">
                <a:solidFill>
                  <a:srgbClr val="FFE66D"/>
                </a:solidFill>
                <a:highlight>
                  <a:srgbClr val="23262E"/>
                </a:highlight>
                <a:latin typeface="Consolas"/>
                <a:ea typeface="Consolas"/>
                <a:cs typeface="Consolas"/>
                <a:sym typeface="Consolas"/>
              </a:rPr>
              <a:t>ref</a:t>
            </a:r>
            <a:r>
              <a:rPr lang="es" sz="1250">
                <a:solidFill>
                  <a:srgbClr val="D5CED9"/>
                </a:solidFill>
                <a:highlight>
                  <a:srgbClr val="23262E"/>
                </a:highlight>
                <a:latin typeface="Consolas"/>
                <a:ea typeface="Consolas"/>
                <a:cs typeface="Consolas"/>
                <a:sym typeface="Consolas"/>
              </a:rPr>
              <a:t>=</a:t>
            </a:r>
            <a:r>
              <a:rPr lang="es" sz="1250">
                <a:solidFill>
                  <a:srgbClr val="96E072"/>
                </a:solidFill>
                <a:highlight>
                  <a:srgbClr val="23262E"/>
                </a:highlight>
                <a:latin typeface="Consolas"/>
                <a:ea typeface="Consolas"/>
                <a:cs typeface="Consolas"/>
                <a:sym typeface="Consolas"/>
              </a:rPr>
              <a:t>"entrada"</a:t>
            </a:r>
            <a:r>
              <a:rPr lang="es" sz="1250">
                <a:solidFill>
                  <a:srgbClr val="D5CED9"/>
                </a:solidFill>
                <a:highlight>
                  <a:srgbClr val="23262E"/>
                </a:highlight>
                <a:latin typeface="Consolas"/>
                <a:ea typeface="Consolas"/>
                <a:cs typeface="Consolas"/>
                <a:sym typeface="Consolas"/>
              </a:rPr>
              <a:t>&gt;&lt;/</a:t>
            </a:r>
            <a:r>
              <a:rPr lang="es" sz="1250">
                <a:solidFill>
                  <a:srgbClr val="F92672"/>
                </a:solidFill>
                <a:highlight>
                  <a:srgbClr val="23262E"/>
                </a:highlight>
                <a:latin typeface="Consolas"/>
                <a:ea typeface="Consolas"/>
                <a:cs typeface="Consolas"/>
                <a:sym typeface="Consolas"/>
              </a:rPr>
              <a:t>input</a:t>
            </a:r>
            <a:r>
              <a:rPr lang="es" sz="1250">
                <a:solidFill>
                  <a:srgbClr val="D5CED9"/>
                </a:solidFill>
                <a:highlight>
                  <a:srgbClr val="23262E"/>
                </a:highlight>
                <a:latin typeface="Consolas"/>
                <a:ea typeface="Consolas"/>
                <a:cs typeface="Consolas"/>
                <a:sym typeface="Consolas"/>
              </a:rPr>
              <a:t>&gt;</a:t>
            </a:r>
            <a:endParaRPr sz="12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Acceder a los elementos del DOM utilizando $refs</a:t>
            </a:r>
            <a:endParaRPr/>
          </a:p>
        </p:txBody>
      </p:sp>
      <p:sp>
        <p:nvSpPr>
          <p:cNvPr id="338" name="Google Shape;338;p41"/>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a:t>
            </a:r>
            <a:r>
              <a:rPr b="1" lang="es" sz="1650"/>
              <a:t>app</a:t>
            </a:r>
            <a:r>
              <a:rPr lang="es" sz="1650"/>
              <a:t>” o “</a:t>
            </a:r>
            <a:r>
              <a:rPr b="1" lang="es" sz="1650"/>
              <a:t>vm</a:t>
            </a:r>
            <a:r>
              <a:rPr lang="es" sz="1650"/>
              <a:t>” representan la instancia misma de Vue. </a:t>
            </a:r>
            <a:r>
              <a:rPr lang="es" sz="1650"/>
              <a:t>También puedes utilizar la palabra reservada “</a:t>
            </a:r>
            <a:r>
              <a:rPr b="1" lang="es" sz="1650"/>
              <a:t>this</a:t>
            </a:r>
            <a:r>
              <a:rPr lang="es" sz="1650"/>
              <a:t>” para referirte a la instancia. </a:t>
            </a:r>
            <a:r>
              <a:rPr b="1" lang="es" sz="1650"/>
              <a:t>$refs</a:t>
            </a:r>
            <a:r>
              <a:rPr lang="es" sz="1650"/>
              <a:t> es una propiedad de la instancia. Se pueden tener varios elementos con el atributo “ref”, siempre y cuando el valor del atributo sea diferente para cada elemento:</a:t>
            </a:r>
            <a:endParaRPr sz="1650"/>
          </a:p>
          <a:p>
            <a:pPr indent="0" lvl="0" marL="0" rtl="0" algn="l">
              <a:lnSpc>
                <a:spcPct val="115000"/>
              </a:lnSpc>
              <a:spcBef>
                <a:spcPts val="1200"/>
              </a:spcBef>
              <a:spcAft>
                <a:spcPts val="1200"/>
              </a:spcAft>
              <a:buNone/>
            </a:pPr>
            <a:r>
              <a:t/>
            </a:r>
            <a:endParaRPr sz="1632"/>
          </a:p>
        </p:txBody>
      </p:sp>
      <p:sp>
        <p:nvSpPr>
          <p:cNvPr id="339" name="Google Shape;339;p41"/>
          <p:cNvSpPr txBox="1"/>
          <p:nvPr/>
        </p:nvSpPr>
        <p:spPr>
          <a:xfrm>
            <a:off x="528950" y="3426450"/>
            <a:ext cx="7979700" cy="10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650">
                <a:solidFill>
                  <a:schemeClr val="dk2"/>
                </a:solidFill>
                <a:latin typeface="Montserrat"/>
                <a:ea typeface="Montserrat"/>
                <a:cs typeface="Montserrat"/>
                <a:sym typeface="Montserrat"/>
              </a:rPr>
              <a:t>Para acceder al objeto que almacena estos elementos lo hacemos con </a:t>
            </a:r>
            <a:r>
              <a:rPr lang="es" sz="1650">
                <a:solidFill>
                  <a:schemeClr val="dk2"/>
                </a:solidFill>
                <a:latin typeface="Consolas"/>
                <a:ea typeface="Consolas"/>
                <a:cs typeface="Consolas"/>
                <a:sym typeface="Consolas"/>
              </a:rPr>
              <a:t>app.$refs</a:t>
            </a:r>
            <a:r>
              <a:rPr lang="es" sz="1650">
                <a:solidFill>
                  <a:schemeClr val="dk2"/>
                </a:solidFill>
                <a:latin typeface="Montserrat"/>
                <a:ea typeface="Montserrat"/>
                <a:cs typeface="Montserrat"/>
                <a:sym typeface="Montserrat"/>
              </a:rPr>
              <a:t>, y para acceder al elemento dentro del objeto usamos </a:t>
            </a:r>
            <a:r>
              <a:rPr lang="es" sz="1650">
                <a:solidFill>
                  <a:schemeClr val="dk2"/>
                </a:solidFill>
                <a:latin typeface="Consolas"/>
                <a:ea typeface="Consolas"/>
                <a:cs typeface="Consolas"/>
                <a:sym typeface="Consolas"/>
              </a:rPr>
              <a:t>app.$refs.entrada</a:t>
            </a:r>
            <a:endParaRPr sz="1650">
              <a:solidFill>
                <a:schemeClr val="dk2"/>
              </a:solidFill>
              <a:latin typeface="Montserrat"/>
              <a:ea typeface="Montserrat"/>
              <a:cs typeface="Montserrat"/>
              <a:sym typeface="Montserrat"/>
            </a:endParaRPr>
          </a:p>
        </p:txBody>
      </p:sp>
      <p:sp>
        <p:nvSpPr>
          <p:cNvPr id="340" name="Google Shape;340;p41"/>
          <p:cNvSpPr/>
          <p:nvPr/>
        </p:nvSpPr>
        <p:spPr>
          <a:xfrm>
            <a:off x="3155575" y="2626350"/>
            <a:ext cx="2935800" cy="5010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ref</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"entrada"</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ref</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"entrada2"</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2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Acceder a los elementos del DOM utilizando $refs</a:t>
            </a:r>
            <a:endParaRPr/>
          </a:p>
        </p:txBody>
      </p:sp>
      <p:sp>
        <p:nvSpPr>
          <p:cNvPr id="346" name="Google Shape;346;p42"/>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650"/>
              <a:t>Apliquemos lo anterior con una aplicación sencilla. Lo que hace la aplicación es añadir a un párrafo el texto que escribamos en una entrada:</a:t>
            </a:r>
            <a:endParaRPr sz="1650"/>
          </a:p>
          <a:p>
            <a:pPr indent="0" lvl="0" marL="0" rtl="0" algn="l">
              <a:lnSpc>
                <a:spcPct val="115000"/>
              </a:lnSpc>
              <a:spcBef>
                <a:spcPts val="1200"/>
              </a:spcBef>
              <a:spcAft>
                <a:spcPts val="0"/>
              </a:spcAft>
              <a:buNone/>
            </a:pPr>
            <a:r>
              <a:t/>
            </a:r>
            <a:endParaRPr sz="1650"/>
          </a:p>
          <a:p>
            <a:pPr indent="0" lvl="0" marL="0" rtl="0" algn="l">
              <a:lnSpc>
                <a:spcPct val="115000"/>
              </a:lnSpc>
              <a:spcBef>
                <a:spcPts val="1200"/>
              </a:spcBef>
              <a:spcAft>
                <a:spcPts val="1200"/>
              </a:spcAft>
              <a:buNone/>
            </a:pPr>
            <a:r>
              <a:t/>
            </a:r>
            <a:endParaRPr sz="1632"/>
          </a:p>
        </p:txBody>
      </p:sp>
      <p:sp>
        <p:nvSpPr>
          <p:cNvPr id="347" name="Google Shape;347;p42"/>
          <p:cNvSpPr txBox="1"/>
          <p:nvPr/>
        </p:nvSpPr>
        <p:spPr>
          <a:xfrm>
            <a:off x="528950" y="3426450"/>
            <a:ext cx="7979700" cy="131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650">
                <a:solidFill>
                  <a:schemeClr val="dk2"/>
                </a:solidFill>
                <a:latin typeface="Montserrat"/>
                <a:ea typeface="Montserrat"/>
                <a:cs typeface="Montserrat"/>
                <a:sym typeface="Montserrat"/>
              </a:rPr>
              <a:t>Colocamos los atributos “ref” a los elementos cuyas propiedades queremos acceder, que en este caso son el input y el párrafo. Y por último ponemos los botones a la escucha, para invocar los métodos correspondientes.</a:t>
            </a:r>
            <a:endParaRPr sz="1650">
              <a:solidFill>
                <a:schemeClr val="dk2"/>
              </a:solidFill>
              <a:latin typeface="Montserrat"/>
              <a:ea typeface="Montserrat"/>
              <a:cs typeface="Montserrat"/>
              <a:sym typeface="Montserrat"/>
            </a:endParaRPr>
          </a:p>
        </p:txBody>
      </p:sp>
      <p:sp>
        <p:nvSpPr>
          <p:cNvPr id="348" name="Google Shape;348;p42"/>
          <p:cNvSpPr/>
          <p:nvPr/>
        </p:nvSpPr>
        <p:spPr>
          <a:xfrm>
            <a:off x="2113075" y="2020775"/>
            <a:ext cx="5020800" cy="13368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5F6167"/>
                </a:solidFill>
                <a:highlight>
                  <a:srgbClr val="23262E"/>
                </a:highlight>
                <a:latin typeface="Consolas"/>
                <a:ea typeface="Consolas"/>
                <a:cs typeface="Consolas"/>
                <a:sym typeface="Consolas"/>
              </a:rPr>
              <a:t>&lt;!--Este es el contenedor donde funciona Vue.js --&gt;</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id</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input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type</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"text"</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ref</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"texto"</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br</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br</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type</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v-on:click</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"addText"</a:t>
            </a:r>
            <a:r>
              <a:rPr lang="es" sz="1050">
                <a:solidFill>
                  <a:srgbClr val="D5CED9"/>
                </a:solidFill>
                <a:highlight>
                  <a:srgbClr val="23262E"/>
                </a:highlight>
                <a:latin typeface="Consolas"/>
                <a:ea typeface="Consolas"/>
                <a:cs typeface="Consolas"/>
                <a:sym typeface="Consolas"/>
              </a:rPr>
              <a:t>&gt;Guardar&lt;/</a:t>
            </a:r>
            <a:r>
              <a:rPr lang="es" sz="1050">
                <a:solidFill>
                  <a:srgbClr val="F926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type</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v-on:click</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"delText"</a:t>
            </a:r>
            <a:r>
              <a:rPr lang="es" sz="1050">
                <a:solidFill>
                  <a:srgbClr val="D5CED9"/>
                </a:solidFill>
                <a:highlight>
                  <a:srgbClr val="23262E"/>
                </a:highlight>
                <a:latin typeface="Consolas"/>
                <a:ea typeface="Consolas"/>
                <a:cs typeface="Consolas"/>
                <a:sym typeface="Consolas"/>
              </a:rPr>
              <a:t>&gt;Borrar&lt;/</a:t>
            </a:r>
            <a:r>
              <a:rPr lang="es" sz="1050">
                <a:solidFill>
                  <a:srgbClr val="F92672"/>
                </a:solidFill>
                <a:highlight>
                  <a:srgbClr val="23262E"/>
                </a:highlight>
                <a:latin typeface="Consolas"/>
                <a:ea typeface="Consolas"/>
                <a:cs typeface="Consolas"/>
                <a:sym typeface="Consolas"/>
              </a:rPr>
              <a:t>button</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ref</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"textField"</a:t>
            </a:r>
            <a:r>
              <a:rPr lang="es" sz="1050">
                <a:solidFill>
                  <a:srgbClr val="D5CED9"/>
                </a:solidFill>
                <a:highlight>
                  <a:srgbClr val="23262E"/>
                </a:highlight>
                <a:latin typeface="Consolas"/>
                <a:ea typeface="Consolas"/>
                <a:cs typeface="Consolas"/>
                <a:sym typeface="Consolas"/>
              </a:rPr>
              <a:t>&gt;&lt;/</a:t>
            </a:r>
            <a:r>
              <a:rPr lang="es" sz="1050">
                <a:solidFill>
                  <a:srgbClr val="F92672"/>
                </a:solidFill>
                <a:highlight>
                  <a:srgbClr val="23262E"/>
                </a:highlight>
                <a:latin typeface="Consolas"/>
                <a:ea typeface="Consolas"/>
                <a:cs typeface="Consolas"/>
                <a:sym typeface="Consolas"/>
              </a:rPr>
              <a:t>p</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&lt;/</a:t>
            </a:r>
            <a:r>
              <a:rPr lang="es" sz="1050">
                <a:solidFill>
                  <a:srgbClr val="F92672"/>
                </a:solidFill>
                <a:highlight>
                  <a:srgbClr val="23262E"/>
                </a:highlight>
                <a:latin typeface="Consolas"/>
                <a:ea typeface="Consolas"/>
                <a:cs typeface="Consolas"/>
                <a:sym typeface="Consolas"/>
              </a:rPr>
              <a:t>div</a:t>
            </a:r>
            <a:r>
              <a:rPr lang="es" sz="1050">
                <a:solidFill>
                  <a:srgbClr val="D5CED9"/>
                </a:solidFill>
                <a:highlight>
                  <a:srgbClr val="23262E"/>
                </a:highlight>
                <a:latin typeface="Consolas"/>
                <a:ea typeface="Consolas"/>
                <a:cs typeface="Consolas"/>
                <a:sym typeface="Consolas"/>
              </a:rPr>
              <a:t>&gt;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2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t/>
            </a:r>
            <a:endParaRPr sz="1050">
              <a:solidFill>
                <a:srgbClr val="5F6167"/>
              </a:solidFill>
              <a:highlight>
                <a:srgbClr val="23262E"/>
              </a:highlight>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Acceder a los elementos del DOM utilizando $refs</a:t>
            </a:r>
            <a:endParaRPr/>
          </a:p>
        </p:txBody>
      </p:sp>
      <p:sp>
        <p:nvSpPr>
          <p:cNvPr id="354" name="Google Shape;354;p43"/>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sz="1650"/>
          </a:p>
          <a:p>
            <a:pPr indent="0" lvl="0" marL="0" rtl="0" algn="l">
              <a:lnSpc>
                <a:spcPct val="115000"/>
              </a:lnSpc>
              <a:spcBef>
                <a:spcPts val="1200"/>
              </a:spcBef>
              <a:spcAft>
                <a:spcPts val="1200"/>
              </a:spcAft>
              <a:buNone/>
            </a:pPr>
            <a:r>
              <a:t/>
            </a:r>
            <a:endParaRPr sz="1632"/>
          </a:p>
        </p:txBody>
      </p:sp>
      <p:sp>
        <p:nvSpPr>
          <p:cNvPr id="355" name="Google Shape;355;p43"/>
          <p:cNvSpPr txBox="1"/>
          <p:nvPr/>
        </p:nvSpPr>
        <p:spPr>
          <a:xfrm>
            <a:off x="528950" y="3634975"/>
            <a:ext cx="7979700" cy="10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650">
                <a:solidFill>
                  <a:schemeClr val="dk2"/>
                </a:solidFill>
                <a:latin typeface="Montserrat"/>
                <a:ea typeface="Montserrat"/>
                <a:cs typeface="Montserrat"/>
                <a:sym typeface="Montserrat"/>
              </a:rPr>
              <a:t>Los métodos </a:t>
            </a:r>
            <a:r>
              <a:rPr b="1" lang="es" sz="1650">
                <a:solidFill>
                  <a:schemeClr val="dk2"/>
                </a:solidFill>
                <a:latin typeface="Montserrat"/>
                <a:ea typeface="Montserrat"/>
                <a:cs typeface="Montserrat"/>
                <a:sym typeface="Montserrat"/>
              </a:rPr>
              <a:t>addText()</a:t>
            </a:r>
            <a:r>
              <a:rPr lang="es" sz="1650">
                <a:solidFill>
                  <a:schemeClr val="dk2"/>
                </a:solidFill>
                <a:latin typeface="Montserrat"/>
                <a:ea typeface="Montserrat"/>
                <a:cs typeface="Montserrat"/>
                <a:sym typeface="Montserrat"/>
              </a:rPr>
              <a:t> y </a:t>
            </a:r>
            <a:r>
              <a:rPr b="1" lang="es" sz="1650">
                <a:solidFill>
                  <a:schemeClr val="dk2"/>
                </a:solidFill>
                <a:latin typeface="Montserrat"/>
                <a:ea typeface="Montserrat"/>
                <a:cs typeface="Montserrat"/>
                <a:sym typeface="Montserrat"/>
              </a:rPr>
              <a:t>delText()</a:t>
            </a:r>
            <a:r>
              <a:rPr lang="es" sz="1650">
                <a:solidFill>
                  <a:schemeClr val="dk2"/>
                </a:solidFill>
                <a:latin typeface="Montserrat"/>
                <a:ea typeface="Montserrat"/>
                <a:cs typeface="Montserrat"/>
                <a:sym typeface="Montserrat"/>
              </a:rPr>
              <a:t> de la instancia de Vue se encargan de responder al click de los botones. Y con innerHTML cambiamos el contenido del párrafo.</a:t>
            </a:r>
            <a:endParaRPr sz="1650">
              <a:solidFill>
                <a:schemeClr val="dk2"/>
              </a:solidFill>
              <a:latin typeface="Montserrat"/>
              <a:ea typeface="Montserrat"/>
              <a:cs typeface="Montserrat"/>
              <a:sym typeface="Montserrat"/>
            </a:endParaRPr>
          </a:p>
        </p:txBody>
      </p:sp>
      <p:sp>
        <p:nvSpPr>
          <p:cNvPr id="356" name="Google Shape;356;p43"/>
          <p:cNvSpPr/>
          <p:nvPr/>
        </p:nvSpPr>
        <p:spPr>
          <a:xfrm>
            <a:off x="528950" y="1304875"/>
            <a:ext cx="5646900" cy="2330100"/>
          </a:xfrm>
          <a:prstGeom prst="rect">
            <a:avLst/>
          </a:prstGeom>
          <a:solidFill>
            <a:srgbClr val="23262E"/>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miAplicacion</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Vue</a:t>
            </a: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createApp</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methods: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addText</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texto</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$refs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texto</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value</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textField</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$refs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textField</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textField</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innerHTML</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textField</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innerHTML</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96E072"/>
                </a:solidFill>
                <a:highlight>
                  <a:srgbClr val="23262E"/>
                </a:highlight>
                <a:latin typeface="Consolas"/>
                <a:ea typeface="Consolas"/>
                <a:cs typeface="Consolas"/>
                <a:sym typeface="Consolas"/>
              </a:rPr>
              <a:t>"&lt;br&gt;"</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texto</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FE66D"/>
                </a:solidFill>
                <a:highlight>
                  <a:srgbClr val="23262E"/>
                </a:highlight>
                <a:latin typeface="Consolas"/>
                <a:ea typeface="Consolas"/>
                <a:cs typeface="Consolas"/>
                <a:sym typeface="Consolas"/>
              </a:rPr>
              <a:t>delText</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C74DED"/>
                </a:solidFill>
                <a:highlight>
                  <a:srgbClr val="23262E"/>
                </a:highlight>
                <a:latin typeface="Consolas"/>
                <a:ea typeface="Consolas"/>
                <a:cs typeface="Consolas"/>
                <a:sym typeface="Consolas"/>
              </a:rPr>
              <a:t>const</a:t>
            </a:r>
            <a:r>
              <a:rPr lang="es" sz="1050">
                <a:solidFill>
                  <a:srgbClr val="D5CED9"/>
                </a:solidFill>
                <a:highlight>
                  <a:srgbClr val="23262E"/>
                </a:highlight>
                <a:latin typeface="Consolas"/>
                <a:ea typeface="Consolas"/>
                <a:cs typeface="Consolas"/>
                <a:sym typeface="Consolas"/>
              </a:rPr>
              <a:t> </a:t>
            </a:r>
            <a:r>
              <a:rPr lang="es" sz="1050">
                <a:solidFill>
                  <a:srgbClr val="00E8C6"/>
                </a:solidFill>
                <a:highlight>
                  <a:srgbClr val="23262E"/>
                </a:highlight>
                <a:latin typeface="Consolas"/>
                <a:ea typeface="Consolas"/>
                <a:cs typeface="Consolas"/>
                <a:sym typeface="Consolas"/>
              </a:rPr>
              <a:t>textField</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D5CED9"/>
                </a:solidFill>
                <a:highlight>
                  <a:srgbClr val="23262E"/>
                </a:highlight>
                <a:latin typeface="Consolas"/>
                <a:ea typeface="Consolas"/>
                <a:cs typeface="Consolas"/>
                <a:sym typeface="Consolas"/>
              </a:rPr>
              <a:t> </a:t>
            </a:r>
            <a:r>
              <a:rPr lang="es" sz="1050">
                <a:solidFill>
                  <a:srgbClr val="FF00AA"/>
                </a:solidFill>
                <a:highlight>
                  <a:srgbClr val="23262E"/>
                </a:highlight>
                <a:latin typeface="Consolas"/>
                <a:ea typeface="Consolas"/>
                <a:cs typeface="Consolas"/>
                <a:sym typeface="Consolas"/>
              </a:rPr>
              <a:t>this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$refs</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textField</a:t>
            </a:r>
            <a:endParaRPr sz="1050">
              <a:solidFill>
                <a:srgbClr val="00E8C6"/>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r>
              <a:rPr lang="es" sz="1050">
                <a:solidFill>
                  <a:srgbClr val="F39C12"/>
                </a:solidFill>
                <a:highlight>
                  <a:srgbClr val="23262E"/>
                </a:highlight>
                <a:latin typeface="Consolas"/>
                <a:ea typeface="Consolas"/>
                <a:cs typeface="Consolas"/>
                <a:sym typeface="Consolas"/>
              </a:rPr>
              <a:t>textField</a:t>
            </a:r>
            <a:r>
              <a:rPr lang="es" sz="1050">
                <a:solidFill>
                  <a:srgbClr val="D5CED9"/>
                </a:solidFill>
                <a:highlight>
                  <a:srgbClr val="23262E"/>
                </a:highlight>
                <a:latin typeface="Consolas"/>
                <a:ea typeface="Consolas"/>
                <a:cs typeface="Consolas"/>
                <a:sym typeface="Consolas"/>
              </a:rPr>
              <a:t>.</a:t>
            </a:r>
            <a:r>
              <a:rPr lang="es" sz="1050">
                <a:solidFill>
                  <a:srgbClr val="00E8C6"/>
                </a:solidFill>
                <a:highlight>
                  <a:srgbClr val="23262E"/>
                </a:highlight>
                <a:latin typeface="Consolas"/>
                <a:ea typeface="Consolas"/>
                <a:cs typeface="Consolas"/>
                <a:sym typeface="Consolas"/>
              </a:rPr>
              <a:t>innerHTML</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t>
            </a:r>
            <a:endParaRPr sz="1050">
              <a:solidFill>
                <a:srgbClr val="96E0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SzPts val="1100"/>
              <a:buNone/>
            </a:pPr>
            <a:r>
              <a:rPr lang="es" sz="1050">
                <a:solidFill>
                  <a:srgbClr val="D5CED9"/>
                </a:solidFill>
                <a:highlight>
                  <a:srgbClr val="23262E"/>
                </a:highlight>
                <a:latin typeface="Consolas"/>
                <a:ea typeface="Consolas"/>
                <a:cs typeface="Consolas"/>
                <a:sym typeface="Consolas"/>
              </a:rPr>
              <a:t>}).</a:t>
            </a:r>
            <a:r>
              <a:rPr lang="es" sz="1050">
                <a:solidFill>
                  <a:srgbClr val="FFE66D"/>
                </a:solidFill>
                <a:highlight>
                  <a:srgbClr val="23262E"/>
                </a:highlight>
                <a:latin typeface="Consolas"/>
                <a:ea typeface="Consolas"/>
                <a:cs typeface="Consolas"/>
                <a:sym typeface="Consolas"/>
              </a:rPr>
              <a:t>mount</a:t>
            </a:r>
            <a:r>
              <a:rPr lang="es" sz="1050">
                <a:solidFill>
                  <a:srgbClr val="D5CED9"/>
                </a:solidFill>
                <a:highlight>
                  <a:srgbClr val="23262E"/>
                </a:highlight>
                <a:latin typeface="Consolas"/>
                <a:ea typeface="Consolas"/>
                <a:cs typeface="Consolas"/>
                <a:sym typeface="Consolas"/>
              </a:rPr>
              <a:t>(</a:t>
            </a:r>
            <a:r>
              <a:rPr lang="es" sz="1050">
                <a:solidFill>
                  <a:srgbClr val="96E072"/>
                </a:solidFill>
                <a:highlight>
                  <a:srgbClr val="23262E"/>
                </a:highlight>
                <a:latin typeface="Consolas"/>
                <a:ea typeface="Consolas"/>
                <a:cs typeface="Consolas"/>
                <a:sym typeface="Consolas"/>
              </a:rPr>
              <a:t>"#app"</a:t>
            </a:r>
            <a:r>
              <a:rPr lang="es" sz="1050">
                <a:solidFill>
                  <a:srgbClr val="D5CED9"/>
                </a:solidFill>
                <a:highlight>
                  <a:srgbClr val="23262E"/>
                </a:highlight>
                <a:latin typeface="Consolas"/>
                <a:ea typeface="Consolas"/>
                <a:cs typeface="Consolas"/>
                <a:sym typeface="Consolas"/>
              </a:rPr>
              <a:t>)</a:t>
            </a:r>
            <a:endParaRPr sz="1050">
              <a:solidFill>
                <a:srgbClr val="5F6167"/>
              </a:solidFill>
              <a:highlight>
                <a:srgbClr val="23262E"/>
              </a:highlight>
              <a:latin typeface="Consolas"/>
              <a:ea typeface="Consolas"/>
              <a:cs typeface="Consolas"/>
              <a:sym typeface="Consolas"/>
            </a:endParaRPr>
          </a:p>
        </p:txBody>
      </p:sp>
      <p:pic>
        <p:nvPicPr>
          <p:cNvPr id="357" name="Google Shape;357;p43"/>
          <p:cNvPicPr preferRelativeResize="0"/>
          <p:nvPr/>
        </p:nvPicPr>
        <p:blipFill>
          <a:blip r:embed="rId3">
            <a:alphaModFix/>
          </a:blip>
          <a:stretch>
            <a:fillRect/>
          </a:stretch>
        </p:blipFill>
        <p:spPr>
          <a:xfrm>
            <a:off x="6267572" y="1525875"/>
            <a:ext cx="2444400" cy="1952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Patrón MVC | Modelo-Vista-Controlador</a:t>
            </a:r>
            <a:endParaRPr/>
          </a:p>
        </p:txBody>
      </p:sp>
      <p:sp>
        <p:nvSpPr>
          <p:cNvPr id="363" name="Google Shape;363;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patrón </a:t>
            </a:r>
            <a:r>
              <a:rPr b="1" lang="es"/>
              <a:t>MVC </a:t>
            </a:r>
            <a:r>
              <a:rPr lang="es"/>
              <a:t>(Model-View-Controller) es un patrón de arquitectura de software. Busca desacoplar al máximo la interfaz de usuario de la lógica de la aplicación, separando los componentes de una aplicación en tres grupos (o capas) principales: el </a:t>
            </a:r>
            <a:r>
              <a:rPr b="1" lang="es"/>
              <a:t>modelo</a:t>
            </a:r>
            <a:r>
              <a:rPr lang="es"/>
              <a:t>, la </a:t>
            </a:r>
            <a:r>
              <a:rPr b="1" lang="es"/>
              <a:t>vista</a:t>
            </a:r>
            <a:r>
              <a:rPr lang="es"/>
              <a:t>, y el </a:t>
            </a:r>
            <a:r>
              <a:rPr b="1" lang="es"/>
              <a:t>controlador</a:t>
            </a:r>
            <a:r>
              <a:rPr lang="es"/>
              <a:t>, y describe cómo se relacionarán entre ellos para mantener una estructura organizada, limpia y con un acoplamiento mínimo entre las distintas capas.</a:t>
            </a:r>
            <a:endParaRPr/>
          </a:p>
        </p:txBody>
      </p:sp>
      <p:sp>
        <p:nvSpPr>
          <p:cNvPr id="364" name="Google Shape;364;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5" name="Google Shape;365;p44"/>
          <p:cNvPicPr preferRelativeResize="0"/>
          <p:nvPr/>
        </p:nvPicPr>
        <p:blipFill>
          <a:blip r:embed="rId3">
            <a:alphaModFix/>
          </a:blip>
          <a:stretch>
            <a:fillRect/>
          </a:stretch>
        </p:blipFill>
        <p:spPr>
          <a:xfrm>
            <a:off x="4832400" y="1152475"/>
            <a:ext cx="3999899" cy="311103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s" sz="2800"/>
              <a:t>Patrón MVC</a:t>
            </a:r>
            <a:endParaRPr/>
          </a:p>
        </p:txBody>
      </p:sp>
      <p:sp>
        <p:nvSpPr>
          <p:cNvPr id="371" name="Google Shape;371;p4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s"/>
              <a:t>Vista: </a:t>
            </a:r>
            <a:r>
              <a:rPr lang="es"/>
              <a:t>son los elementos visuales que contienen la información. Los componentes de la Vista son los responsables de generar la interfaz de nuestra aplicación. Es una representación del estado del Modelo en un momento concreto.</a:t>
            </a:r>
            <a:endParaRPr/>
          </a:p>
          <a:p>
            <a:pPr indent="0" lvl="0" marL="0" rtl="0" algn="l">
              <a:spcBef>
                <a:spcPts val="1200"/>
              </a:spcBef>
              <a:spcAft>
                <a:spcPts val="0"/>
              </a:spcAft>
              <a:buNone/>
            </a:pPr>
            <a:r>
              <a:rPr b="1" lang="es"/>
              <a:t>Controlador: </a:t>
            </a:r>
            <a:r>
              <a:rPr lang="es"/>
              <a:t>intermediario entre el modelo y la vista, entre el usuario y el sistema. Capturará las acciones del usuario sobre la Vista, las interpretará y actuará en consecuencia (por ejemplo, cambiando la vista</a:t>
            </a:r>
            <a:r>
              <a:rPr lang="es"/>
              <a:t> o invocando al Modelo para actualizar información</a:t>
            </a:r>
            <a:r>
              <a:rPr lang="es"/>
              <a:t>). Es como un coordinador general del sistema, que regula la navegación y el flujo de información con el usuario.</a:t>
            </a:r>
            <a:endParaRPr/>
          </a:p>
          <a:p>
            <a:pPr indent="0" lvl="0" marL="0" rtl="0" algn="l">
              <a:spcBef>
                <a:spcPts val="1200"/>
              </a:spcBef>
              <a:spcAft>
                <a:spcPts val="1200"/>
              </a:spcAft>
              <a:buNone/>
            </a:pPr>
            <a:r>
              <a:rPr b="1" lang="es"/>
              <a:t>Modelo: </a:t>
            </a:r>
            <a:r>
              <a:rPr lang="es"/>
              <a:t>aquí encontraremos la representación de los datos del dominio, es decir, aquellas entidades que nos servirán para almacenar información del sistema que estamos desarrollando. Por ejemplo, si estamos desarrollando una aplicación de facturación, en el modelo existirán las clases Factura, Cliente o Proveedor, entre otras. También encontraremos la lógica de negocio, es decir, la implementación de las reglas, acciones y restricciones que nos permiten gestionar las entidades del dominio, y los mecanismos de persistencia de nuestro sistema.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Patrón MVC | Modelo-Vista-</a:t>
            </a:r>
            <a:r>
              <a:rPr lang="es"/>
              <a:t>Controlador</a:t>
            </a:r>
            <a:endParaRPr/>
          </a:p>
        </p:txBody>
      </p:sp>
      <p:sp>
        <p:nvSpPr>
          <p:cNvPr id="377" name="Google Shape;377;p46"/>
          <p:cNvSpPr txBox="1"/>
          <p:nvPr>
            <p:ph idx="1" type="body"/>
          </p:nvPr>
        </p:nvSpPr>
        <p:spPr>
          <a:xfrm>
            <a:off x="432025" y="1322164"/>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650"/>
          </a:p>
        </p:txBody>
      </p:sp>
      <p:grpSp>
        <p:nvGrpSpPr>
          <p:cNvPr id="378" name="Google Shape;378;p46"/>
          <p:cNvGrpSpPr/>
          <p:nvPr/>
        </p:nvGrpSpPr>
        <p:grpSpPr>
          <a:xfrm>
            <a:off x="1273256" y="1304875"/>
            <a:ext cx="6597539" cy="3352578"/>
            <a:chOff x="781511" y="1304875"/>
            <a:chExt cx="6597539" cy="3352578"/>
          </a:xfrm>
        </p:grpSpPr>
        <p:pic>
          <p:nvPicPr>
            <p:cNvPr id="379" name="Google Shape;379;p46"/>
            <p:cNvPicPr preferRelativeResize="0"/>
            <p:nvPr/>
          </p:nvPicPr>
          <p:blipFill>
            <a:blip r:embed="rId3">
              <a:alphaModFix/>
            </a:blip>
            <a:stretch>
              <a:fillRect/>
            </a:stretch>
          </p:blipFill>
          <p:spPr>
            <a:xfrm>
              <a:off x="838298" y="1604899"/>
              <a:ext cx="795500" cy="795500"/>
            </a:xfrm>
            <a:prstGeom prst="rect">
              <a:avLst/>
            </a:prstGeom>
            <a:noFill/>
            <a:ln>
              <a:noFill/>
            </a:ln>
          </p:spPr>
        </p:pic>
        <p:sp>
          <p:nvSpPr>
            <p:cNvPr id="380" name="Google Shape;380;p46"/>
            <p:cNvSpPr/>
            <p:nvPr/>
          </p:nvSpPr>
          <p:spPr>
            <a:xfrm>
              <a:off x="3215775" y="1492649"/>
              <a:ext cx="1106100" cy="1020000"/>
            </a:xfrm>
            <a:prstGeom prst="roundRect">
              <a:avLst>
                <a:gd fmla="val 16667" name="adj"/>
              </a:avLst>
            </a:prstGeom>
            <a:solidFill>
              <a:srgbClr val="FFE66D"/>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2300">
                  <a:latin typeface="Montserrat"/>
                  <a:ea typeface="Montserrat"/>
                  <a:cs typeface="Montserrat"/>
                  <a:sym typeface="Montserrat"/>
                </a:rPr>
                <a:t>C</a:t>
              </a:r>
              <a:endParaRPr b="1" sz="2300">
                <a:latin typeface="Montserrat"/>
                <a:ea typeface="Montserrat"/>
                <a:cs typeface="Montserrat"/>
                <a:sym typeface="Montserrat"/>
              </a:endParaRPr>
            </a:p>
            <a:p>
              <a:pPr indent="0" lvl="0" marL="0" rtl="0" algn="ctr">
                <a:spcBef>
                  <a:spcPts val="0"/>
                </a:spcBef>
                <a:spcAft>
                  <a:spcPts val="0"/>
                </a:spcAft>
                <a:buNone/>
              </a:pPr>
              <a:r>
                <a:rPr lang="es" sz="1200">
                  <a:latin typeface="Montserrat"/>
                  <a:ea typeface="Montserrat"/>
                  <a:cs typeface="Montserrat"/>
                  <a:sym typeface="Montserrat"/>
                </a:rPr>
                <a:t>controlador</a:t>
              </a:r>
              <a:endParaRPr sz="1200">
                <a:latin typeface="Montserrat"/>
                <a:ea typeface="Montserrat"/>
                <a:cs typeface="Montserrat"/>
                <a:sym typeface="Montserrat"/>
              </a:endParaRPr>
            </a:p>
          </p:txBody>
        </p:sp>
        <p:grpSp>
          <p:nvGrpSpPr>
            <p:cNvPr id="381" name="Google Shape;381;p46"/>
            <p:cNvGrpSpPr/>
            <p:nvPr/>
          </p:nvGrpSpPr>
          <p:grpSpPr>
            <a:xfrm>
              <a:off x="4456546" y="1612325"/>
              <a:ext cx="1341359" cy="780625"/>
              <a:chOff x="4456388" y="1655375"/>
              <a:chExt cx="1774050" cy="780625"/>
            </a:xfrm>
          </p:grpSpPr>
          <p:sp>
            <p:nvSpPr>
              <p:cNvPr id="382" name="Google Shape;382;p46"/>
              <p:cNvSpPr/>
              <p:nvPr/>
            </p:nvSpPr>
            <p:spPr>
              <a:xfrm>
                <a:off x="4456538" y="1655375"/>
                <a:ext cx="1773900" cy="267900"/>
              </a:xfrm>
              <a:prstGeom prst="rightArrow">
                <a:avLst>
                  <a:gd fmla="val 50000" name="adj1"/>
                  <a:gd fmla="val 50000" name="adj2"/>
                </a:avLst>
              </a:prstGeom>
              <a:solidFill>
                <a:srgbClr val="99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6"/>
              <p:cNvSpPr/>
              <p:nvPr/>
            </p:nvSpPr>
            <p:spPr>
              <a:xfrm flipH="1">
                <a:off x="4456388" y="2168100"/>
                <a:ext cx="1773900" cy="267900"/>
              </a:xfrm>
              <a:prstGeom prst="rightArrow">
                <a:avLst>
                  <a:gd fmla="val 50000" name="adj1"/>
                  <a:gd fmla="val 50000" name="adj2"/>
                </a:avLst>
              </a:prstGeom>
              <a:solidFill>
                <a:srgbClr val="99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46"/>
            <p:cNvSpPr/>
            <p:nvPr/>
          </p:nvSpPr>
          <p:spPr>
            <a:xfrm>
              <a:off x="5932575" y="1492649"/>
              <a:ext cx="1106100" cy="1020000"/>
            </a:xfrm>
            <a:prstGeom prst="roundRect">
              <a:avLst>
                <a:gd fmla="val 16667" name="adj"/>
              </a:avLst>
            </a:prstGeom>
            <a:solidFill>
              <a:srgbClr val="FFE66D"/>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2300">
                  <a:latin typeface="Montserrat"/>
                  <a:ea typeface="Montserrat"/>
                  <a:cs typeface="Montserrat"/>
                  <a:sym typeface="Montserrat"/>
                </a:rPr>
                <a:t>M</a:t>
              </a:r>
              <a:endParaRPr b="1" sz="2300">
                <a:latin typeface="Montserrat"/>
                <a:ea typeface="Montserrat"/>
                <a:cs typeface="Montserrat"/>
                <a:sym typeface="Montserrat"/>
              </a:endParaRPr>
            </a:p>
            <a:p>
              <a:pPr indent="0" lvl="0" marL="0" rtl="0" algn="ctr">
                <a:spcBef>
                  <a:spcPts val="0"/>
                </a:spcBef>
                <a:spcAft>
                  <a:spcPts val="0"/>
                </a:spcAft>
                <a:buNone/>
              </a:pPr>
              <a:r>
                <a:rPr lang="es" sz="1200">
                  <a:latin typeface="Montserrat"/>
                  <a:ea typeface="Montserrat"/>
                  <a:cs typeface="Montserrat"/>
                  <a:sym typeface="Montserrat"/>
                </a:rPr>
                <a:t>modelo</a:t>
              </a:r>
              <a:endParaRPr sz="1200">
                <a:latin typeface="Montserrat"/>
                <a:ea typeface="Montserrat"/>
                <a:cs typeface="Montserrat"/>
                <a:sym typeface="Montserrat"/>
              </a:endParaRPr>
            </a:p>
          </p:txBody>
        </p:sp>
        <p:sp>
          <p:nvSpPr>
            <p:cNvPr id="385" name="Google Shape;385;p46"/>
            <p:cNvSpPr/>
            <p:nvPr/>
          </p:nvSpPr>
          <p:spPr>
            <a:xfrm>
              <a:off x="3215775" y="3349125"/>
              <a:ext cx="1106100" cy="1020000"/>
            </a:xfrm>
            <a:prstGeom prst="roundRect">
              <a:avLst>
                <a:gd fmla="val 16667" name="adj"/>
              </a:avLst>
            </a:prstGeom>
            <a:solidFill>
              <a:srgbClr val="FFE66D"/>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2300">
                  <a:latin typeface="Montserrat"/>
                  <a:ea typeface="Montserrat"/>
                  <a:cs typeface="Montserrat"/>
                  <a:sym typeface="Montserrat"/>
                </a:rPr>
                <a:t>V</a:t>
              </a:r>
              <a:endParaRPr b="1" sz="2300">
                <a:latin typeface="Montserrat"/>
                <a:ea typeface="Montserrat"/>
                <a:cs typeface="Montserrat"/>
                <a:sym typeface="Montserrat"/>
              </a:endParaRPr>
            </a:p>
            <a:p>
              <a:pPr indent="0" lvl="0" marL="0" rtl="0" algn="ctr">
                <a:spcBef>
                  <a:spcPts val="0"/>
                </a:spcBef>
                <a:spcAft>
                  <a:spcPts val="0"/>
                </a:spcAft>
                <a:buNone/>
              </a:pPr>
              <a:r>
                <a:rPr lang="es" sz="1200">
                  <a:latin typeface="Montserrat"/>
                  <a:ea typeface="Montserrat"/>
                  <a:cs typeface="Montserrat"/>
                  <a:sym typeface="Montserrat"/>
                </a:rPr>
                <a:t>vista</a:t>
              </a:r>
              <a:endParaRPr sz="1200">
                <a:latin typeface="Montserrat"/>
                <a:ea typeface="Montserrat"/>
                <a:cs typeface="Montserrat"/>
                <a:sym typeface="Montserrat"/>
              </a:endParaRPr>
            </a:p>
          </p:txBody>
        </p:sp>
        <p:sp>
          <p:nvSpPr>
            <p:cNvPr id="386" name="Google Shape;386;p46"/>
            <p:cNvSpPr/>
            <p:nvPr/>
          </p:nvSpPr>
          <p:spPr>
            <a:xfrm rot="5400000">
              <a:off x="3550275" y="2697328"/>
              <a:ext cx="437100" cy="267900"/>
            </a:xfrm>
            <a:prstGeom prst="rightArrow">
              <a:avLst>
                <a:gd fmla="val 50000" name="adj1"/>
                <a:gd fmla="val 50000" name="adj2"/>
              </a:avLst>
            </a:prstGeom>
            <a:solidFill>
              <a:srgbClr val="99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6"/>
            <p:cNvSpPr/>
            <p:nvPr/>
          </p:nvSpPr>
          <p:spPr>
            <a:xfrm flipH="1">
              <a:off x="881775" y="2612725"/>
              <a:ext cx="2264700" cy="1352100"/>
            </a:xfrm>
            <a:prstGeom prst="bentUpArrow">
              <a:avLst>
                <a:gd fmla="val 12564" name="adj1"/>
                <a:gd fmla="val 19623" name="adj2"/>
                <a:gd fmla="val 23937" name="adj3"/>
              </a:avLst>
            </a:prstGeom>
            <a:solidFill>
              <a:srgbClr val="99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6"/>
            <p:cNvSpPr/>
            <p:nvPr/>
          </p:nvSpPr>
          <p:spPr>
            <a:xfrm>
              <a:off x="1805172" y="1868700"/>
              <a:ext cx="1341300" cy="267900"/>
            </a:xfrm>
            <a:prstGeom prst="rightArrow">
              <a:avLst>
                <a:gd fmla="val 50000" name="adj1"/>
                <a:gd fmla="val 50000" name="adj2"/>
              </a:avLst>
            </a:prstGeom>
            <a:solidFill>
              <a:srgbClr val="99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9" name="Google Shape;389;p46"/>
            <p:cNvPicPr preferRelativeResize="0"/>
            <p:nvPr/>
          </p:nvPicPr>
          <p:blipFill>
            <a:blip r:embed="rId4">
              <a:alphaModFix/>
            </a:blip>
            <a:stretch>
              <a:fillRect/>
            </a:stretch>
          </p:blipFill>
          <p:spPr>
            <a:xfrm>
              <a:off x="4024675" y="4084753"/>
              <a:ext cx="572700" cy="572700"/>
            </a:xfrm>
            <a:prstGeom prst="rect">
              <a:avLst/>
            </a:prstGeom>
            <a:noFill/>
            <a:ln>
              <a:noFill/>
            </a:ln>
          </p:spPr>
        </p:pic>
        <p:pic>
          <p:nvPicPr>
            <p:cNvPr id="390" name="Google Shape;390;p46"/>
            <p:cNvPicPr preferRelativeResize="0"/>
            <p:nvPr/>
          </p:nvPicPr>
          <p:blipFill>
            <a:blip r:embed="rId5">
              <a:alphaModFix/>
            </a:blip>
            <a:stretch>
              <a:fillRect/>
            </a:stretch>
          </p:blipFill>
          <p:spPr>
            <a:xfrm>
              <a:off x="6742750" y="2341100"/>
              <a:ext cx="636300" cy="636300"/>
            </a:xfrm>
            <a:prstGeom prst="rect">
              <a:avLst/>
            </a:prstGeom>
            <a:noFill/>
            <a:ln>
              <a:noFill/>
            </a:ln>
          </p:spPr>
        </p:pic>
        <p:sp>
          <p:nvSpPr>
            <p:cNvPr id="391" name="Google Shape;391;p46"/>
            <p:cNvSpPr txBox="1"/>
            <p:nvPr/>
          </p:nvSpPr>
          <p:spPr>
            <a:xfrm>
              <a:off x="781511" y="2253759"/>
              <a:ext cx="874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00">
                  <a:latin typeface="Montserrat"/>
                  <a:ea typeface="Montserrat"/>
                  <a:cs typeface="Montserrat"/>
                  <a:sym typeface="Montserrat"/>
                </a:rPr>
                <a:t>Usuario</a:t>
              </a:r>
              <a:endParaRPr b="1" sz="1300">
                <a:latin typeface="Montserrat"/>
                <a:ea typeface="Montserrat"/>
                <a:cs typeface="Montserrat"/>
                <a:sym typeface="Montserrat"/>
              </a:endParaRPr>
            </a:p>
          </p:txBody>
        </p:sp>
        <p:sp>
          <p:nvSpPr>
            <p:cNvPr id="392" name="Google Shape;392;p46"/>
            <p:cNvSpPr txBox="1"/>
            <p:nvPr/>
          </p:nvSpPr>
          <p:spPr>
            <a:xfrm>
              <a:off x="1805175" y="1621100"/>
              <a:ext cx="134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Montserrat"/>
                  <a:ea typeface="Montserrat"/>
                  <a:cs typeface="Montserrat"/>
                  <a:sym typeface="Montserrat"/>
                </a:rPr>
                <a:t>1. Utiliza</a:t>
              </a:r>
              <a:endParaRPr b="1" sz="1300">
                <a:latin typeface="Montserrat"/>
                <a:ea typeface="Montserrat"/>
                <a:cs typeface="Montserrat"/>
                <a:sym typeface="Montserrat"/>
              </a:endParaRPr>
            </a:p>
          </p:txBody>
        </p:sp>
        <p:sp>
          <p:nvSpPr>
            <p:cNvPr id="393" name="Google Shape;393;p46"/>
            <p:cNvSpPr txBox="1"/>
            <p:nvPr/>
          </p:nvSpPr>
          <p:spPr>
            <a:xfrm>
              <a:off x="4471475" y="1304875"/>
              <a:ext cx="1326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Montserrat"/>
                  <a:ea typeface="Montserrat"/>
                  <a:cs typeface="Montserrat"/>
                  <a:sym typeface="Montserrat"/>
                </a:rPr>
                <a:t>2. Manipula</a:t>
              </a:r>
              <a:endParaRPr b="1" sz="1300">
                <a:latin typeface="Montserrat"/>
                <a:ea typeface="Montserrat"/>
                <a:cs typeface="Montserrat"/>
                <a:sym typeface="Montserrat"/>
              </a:endParaRPr>
            </a:p>
          </p:txBody>
        </p:sp>
        <p:sp>
          <p:nvSpPr>
            <p:cNvPr id="394" name="Google Shape;394;p46"/>
            <p:cNvSpPr txBox="1"/>
            <p:nvPr/>
          </p:nvSpPr>
          <p:spPr>
            <a:xfrm>
              <a:off x="4471475" y="2379300"/>
              <a:ext cx="1326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Montserrat"/>
                  <a:ea typeface="Montserrat"/>
                  <a:cs typeface="Montserrat"/>
                  <a:sym typeface="Montserrat"/>
                </a:rPr>
                <a:t>3. Modifica</a:t>
              </a:r>
              <a:endParaRPr b="1" sz="1300">
                <a:latin typeface="Montserrat"/>
                <a:ea typeface="Montserrat"/>
                <a:cs typeface="Montserrat"/>
                <a:sym typeface="Montserrat"/>
              </a:endParaRPr>
            </a:p>
          </p:txBody>
        </p:sp>
        <p:sp>
          <p:nvSpPr>
            <p:cNvPr id="395" name="Google Shape;395;p46"/>
            <p:cNvSpPr txBox="1"/>
            <p:nvPr/>
          </p:nvSpPr>
          <p:spPr>
            <a:xfrm>
              <a:off x="3105675" y="2977400"/>
              <a:ext cx="1326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Montserrat"/>
                  <a:ea typeface="Montserrat"/>
                  <a:cs typeface="Montserrat"/>
                  <a:sym typeface="Montserrat"/>
                </a:rPr>
                <a:t>4. Actualiza</a:t>
              </a:r>
              <a:endParaRPr b="1" sz="1300">
                <a:latin typeface="Montserrat"/>
                <a:ea typeface="Montserrat"/>
                <a:cs typeface="Montserrat"/>
                <a:sym typeface="Montserrat"/>
              </a:endParaRPr>
            </a:p>
          </p:txBody>
        </p:sp>
        <p:sp>
          <p:nvSpPr>
            <p:cNvPr id="396" name="Google Shape;396;p46"/>
            <p:cNvSpPr txBox="1"/>
            <p:nvPr/>
          </p:nvSpPr>
          <p:spPr>
            <a:xfrm>
              <a:off x="1078175" y="3421211"/>
              <a:ext cx="20274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Montserrat"/>
                  <a:ea typeface="Montserrat"/>
                  <a:cs typeface="Montserrat"/>
                  <a:sym typeface="Montserrat"/>
                </a:rPr>
                <a:t>5. Se muestra</a:t>
              </a:r>
              <a:endParaRPr b="1" sz="1300">
                <a:latin typeface="Montserrat"/>
                <a:ea typeface="Montserrat"/>
                <a:cs typeface="Montserrat"/>
                <a:sym typeface="Montserrat"/>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MVC y MVVM</a:t>
            </a:r>
            <a:endParaRPr/>
          </a:p>
        </p:txBody>
      </p:sp>
      <p:sp>
        <p:nvSpPr>
          <p:cNvPr id="402" name="Google Shape;402;p47"/>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650"/>
              <a:t>De manera similar al MVC, el </a:t>
            </a:r>
            <a:r>
              <a:rPr b="1" lang="es" sz="1650"/>
              <a:t>MVVM</a:t>
            </a:r>
            <a:r>
              <a:rPr lang="es" sz="1650"/>
              <a:t> o</a:t>
            </a:r>
            <a:r>
              <a:rPr b="1" lang="es" sz="1650"/>
              <a:t> modelo–vista–modelo de vista </a:t>
            </a:r>
            <a:r>
              <a:rPr lang="es" sz="1650"/>
              <a:t>(model – view – viewmodel)</a:t>
            </a:r>
            <a:r>
              <a:rPr b="1" lang="es" sz="1650"/>
              <a:t> </a:t>
            </a:r>
            <a:r>
              <a:rPr lang="es" sz="1650"/>
              <a:t>es un patrón de arquitectura de software que se caracteriza por desacoplar lo máximo posible la interfaz de usuario de la lógica de la aplicación. </a:t>
            </a:r>
            <a:endParaRPr sz="1432"/>
          </a:p>
        </p:txBody>
      </p:sp>
      <p:pic>
        <p:nvPicPr>
          <p:cNvPr id="403" name="Google Shape;403;p47"/>
          <p:cNvPicPr preferRelativeResize="0"/>
          <p:nvPr/>
        </p:nvPicPr>
        <p:blipFill>
          <a:blip r:embed="rId3">
            <a:alphaModFix/>
          </a:blip>
          <a:stretch>
            <a:fillRect/>
          </a:stretch>
        </p:blipFill>
        <p:spPr>
          <a:xfrm>
            <a:off x="1506739" y="2491400"/>
            <a:ext cx="6233475" cy="2131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MVC y MVVM</a:t>
            </a:r>
            <a:endParaRPr/>
          </a:p>
        </p:txBody>
      </p:sp>
      <p:sp>
        <p:nvSpPr>
          <p:cNvPr id="409" name="Google Shape;409;p48"/>
          <p:cNvSpPr txBox="1"/>
          <p:nvPr>
            <p:ph idx="1" type="body"/>
          </p:nvPr>
        </p:nvSpPr>
        <p:spPr>
          <a:xfrm>
            <a:off x="432025" y="1304875"/>
            <a:ext cx="83829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Cada capa tiene una función específica:</a:t>
            </a:r>
            <a:endParaRPr sz="1650"/>
          </a:p>
          <a:p>
            <a:pPr indent="-332254" lvl="0" marL="457200" rtl="0" algn="l">
              <a:lnSpc>
                <a:spcPct val="115000"/>
              </a:lnSpc>
              <a:spcBef>
                <a:spcPts val="1200"/>
              </a:spcBef>
              <a:spcAft>
                <a:spcPts val="0"/>
              </a:spcAft>
              <a:buSzPts val="1632"/>
              <a:buChar char="●"/>
            </a:pPr>
            <a:r>
              <a:rPr lang="es" sz="1632"/>
              <a:t>El </a:t>
            </a:r>
            <a:r>
              <a:rPr b="1" lang="es" sz="1632"/>
              <a:t>modelo</a:t>
            </a:r>
            <a:r>
              <a:rPr lang="es" sz="1632"/>
              <a:t> representa la capa de datos y/o la lógica de la aplicación. Contiene información, pero no interactúa con la vista.</a:t>
            </a:r>
            <a:endParaRPr sz="1632"/>
          </a:p>
          <a:p>
            <a:pPr indent="-332254" lvl="0" marL="457200" rtl="0" algn="l">
              <a:lnSpc>
                <a:spcPct val="115000"/>
              </a:lnSpc>
              <a:spcBef>
                <a:spcPts val="0"/>
              </a:spcBef>
              <a:spcAft>
                <a:spcPts val="0"/>
              </a:spcAft>
              <a:buSzPts val="1632"/>
              <a:buChar char="●"/>
            </a:pPr>
            <a:r>
              <a:rPr lang="es" sz="1632"/>
              <a:t>La </a:t>
            </a:r>
            <a:r>
              <a:rPr b="1" lang="es" sz="1632"/>
              <a:t>vista</a:t>
            </a:r>
            <a:r>
              <a:rPr lang="es" sz="1632"/>
              <a:t> representa la información a través de los elementos visuales que la componen. Las vistas en MVVM son activas, contienen comportamientos, eventos y enlaces a datos.</a:t>
            </a:r>
            <a:endParaRPr sz="1632"/>
          </a:p>
          <a:p>
            <a:pPr indent="-332254" lvl="0" marL="457200" rtl="0" algn="l">
              <a:lnSpc>
                <a:spcPct val="115000"/>
              </a:lnSpc>
              <a:spcBef>
                <a:spcPts val="0"/>
              </a:spcBef>
              <a:spcAft>
                <a:spcPts val="0"/>
              </a:spcAft>
              <a:buSzPts val="1632"/>
              <a:buChar char="●"/>
            </a:pPr>
            <a:r>
              <a:rPr lang="es" sz="1632"/>
              <a:t>El </a:t>
            </a:r>
            <a:r>
              <a:rPr b="1" lang="es" sz="1632"/>
              <a:t>modelo de vista</a:t>
            </a:r>
            <a:r>
              <a:rPr lang="es" sz="1632"/>
              <a:t> es un actor intermediario entre el modelo y la vista, contiene toda la lógica de presentación y se comporta como una abstracción de la interfaz. La comunicación entre la vista y el modelo de vista se realiza por medio de los enlaces de datos.</a:t>
            </a:r>
            <a:endParaRPr sz="1632"/>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Diferencia entre MVVM y MVC</a:t>
            </a:r>
            <a:endParaRPr/>
          </a:p>
        </p:txBody>
      </p:sp>
      <p:sp>
        <p:nvSpPr>
          <p:cNvPr id="415" name="Google Shape;415;p4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s"/>
              <a:t>MVVM realiza la sincronización automática de la vista y el modelo, es decir, cuando cambia el atributo del modelo, no necesitamos operar manualmente el elemento dom para cambiar la visualización de la vista, la capa de la vista cambiará automáticamente.</a:t>
            </a:r>
            <a:endParaRPr/>
          </a:p>
          <a:p>
            <a:pPr indent="0" lvl="0" marL="0" rtl="0" algn="l">
              <a:spcBef>
                <a:spcPts val="1200"/>
              </a:spcBef>
              <a:spcAft>
                <a:spcPts val="0"/>
              </a:spcAft>
              <a:buClr>
                <a:schemeClr val="dk1"/>
              </a:buClr>
              <a:buSzPct val="61111"/>
              <a:buFont typeface="Arial"/>
              <a:buNone/>
            </a:pPr>
            <a:r>
              <a:rPr b="1" lang="es"/>
              <a:t>Puntos clave del patrón MVVM:</a:t>
            </a:r>
            <a:endParaRPr b="1"/>
          </a:p>
          <a:p>
            <a:pPr indent="-325755" lvl="0" marL="457200" rtl="0" algn="l">
              <a:spcBef>
                <a:spcPts val="1200"/>
              </a:spcBef>
              <a:spcAft>
                <a:spcPts val="0"/>
              </a:spcAft>
              <a:buSzPct val="100000"/>
              <a:buAutoNum type="arabicParenR"/>
            </a:pPr>
            <a:r>
              <a:rPr lang="es"/>
              <a:t>El usuario interactúa con la Vista.</a:t>
            </a:r>
            <a:endParaRPr/>
          </a:p>
          <a:p>
            <a:pPr indent="-325755" lvl="0" marL="457200" rtl="0" algn="l">
              <a:spcBef>
                <a:spcPts val="0"/>
              </a:spcBef>
              <a:spcAft>
                <a:spcPts val="0"/>
              </a:spcAft>
              <a:buSzPct val="100000"/>
              <a:buAutoNum type="arabicParenR"/>
            </a:pPr>
            <a:r>
              <a:rPr lang="es"/>
              <a:t>View y ViewModel tienen una relación de uno a uno, lo que significa que una Vista solo se puede asignar a un ViewModel.</a:t>
            </a:r>
            <a:endParaRPr/>
          </a:p>
          <a:p>
            <a:pPr indent="-325755" lvl="0" marL="457200" rtl="0" algn="l">
              <a:spcBef>
                <a:spcPts val="0"/>
              </a:spcBef>
              <a:spcAft>
                <a:spcPts val="0"/>
              </a:spcAft>
              <a:buSzPct val="100000"/>
              <a:buAutoNum type="arabicParenR"/>
            </a:pPr>
            <a:r>
              <a:rPr lang="es"/>
              <a:t>View contiene una referencia a ViewModel, pero View no tiene información sobre el modelo.</a:t>
            </a:r>
            <a:endParaRPr/>
          </a:p>
          <a:p>
            <a:pPr indent="-325755" lvl="0" marL="457200" rtl="0" algn="l">
              <a:spcBef>
                <a:spcPts val="0"/>
              </a:spcBef>
              <a:spcAft>
                <a:spcPts val="0"/>
              </a:spcAft>
              <a:buSzPct val="100000"/>
              <a:buAutoNum type="arabicParenR"/>
            </a:pPr>
            <a:r>
              <a:rPr lang="es"/>
              <a:t>Existe una relación de enlace de datos bidireccional entre View y ViewModel.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Vue y MVVM</a:t>
            </a:r>
            <a:endParaRPr/>
          </a:p>
        </p:txBody>
      </p:sp>
      <p:sp>
        <p:nvSpPr>
          <p:cNvPr id="421" name="Google Shape;421;p5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Vue es un framework que usa la arquitectura MVVM. </a:t>
            </a:r>
            <a:endParaRPr/>
          </a:p>
        </p:txBody>
      </p:sp>
      <p:pic>
        <p:nvPicPr>
          <p:cNvPr id="422" name="Google Shape;422;p50"/>
          <p:cNvPicPr preferRelativeResize="0"/>
          <p:nvPr/>
        </p:nvPicPr>
        <p:blipFill>
          <a:blip r:embed="rId3">
            <a:alphaModFix/>
          </a:blip>
          <a:stretch>
            <a:fillRect/>
          </a:stretch>
        </p:blipFill>
        <p:spPr>
          <a:xfrm>
            <a:off x="1779600" y="1732150"/>
            <a:ext cx="5584852" cy="29669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1"/>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428" name="Google Shape;428;p5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2"/>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700">
                <a:solidFill>
                  <a:srgbClr val="000000"/>
                </a:solidFill>
                <a:latin typeface="Montserrat Medium"/>
                <a:ea typeface="Montserrat Medium"/>
                <a:cs typeface="Montserrat Medium"/>
                <a:sym typeface="Montserrat Medium"/>
              </a:rPr>
              <a:t>Artículos de interés</a:t>
            </a:r>
            <a:endParaRPr sz="2700">
              <a:solidFill>
                <a:srgbClr val="000000"/>
              </a:solidFill>
              <a:latin typeface="Montserrat Medium"/>
              <a:ea typeface="Montserrat Medium"/>
              <a:cs typeface="Montserrat Medium"/>
              <a:sym typeface="Montserrat Medium"/>
            </a:endParaRPr>
          </a:p>
        </p:txBody>
      </p:sp>
      <p:sp>
        <p:nvSpPr>
          <p:cNvPr id="434" name="Google Shape;434;p52"/>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solidFill>
                  <a:srgbClr val="595959"/>
                </a:solidFill>
                <a:latin typeface="Montserrat"/>
                <a:ea typeface="Montserrat"/>
                <a:cs typeface="Montserrat"/>
                <a:sym typeface="Montserrat"/>
              </a:rPr>
              <a:t>Videos:</a:t>
            </a:r>
            <a:endParaRPr sz="1650">
              <a:solidFill>
                <a:srgbClr val="595959"/>
              </a:solidFill>
              <a:latin typeface="Montserrat"/>
              <a:ea typeface="Montserrat"/>
              <a:cs typeface="Montserrat"/>
              <a:sym typeface="Montserrat"/>
            </a:endParaRPr>
          </a:p>
          <a:p>
            <a:pPr indent="-333375" lvl="0" marL="457200" rtl="0" algn="l">
              <a:lnSpc>
                <a:spcPct val="115000"/>
              </a:lnSpc>
              <a:spcBef>
                <a:spcPts val="1200"/>
              </a:spcBef>
              <a:spcAft>
                <a:spcPts val="0"/>
              </a:spcAft>
              <a:buClr>
                <a:srgbClr val="595959"/>
              </a:buClr>
              <a:buSzPts val="1650"/>
              <a:buFont typeface="Montserrat"/>
              <a:buChar char="●"/>
            </a:pPr>
            <a:r>
              <a:rPr lang="es" sz="1650" u="sng">
                <a:solidFill>
                  <a:schemeClr val="hlink"/>
                </a:solidFill>
                <a:latin typeface="Montserrat"/>
                <a:ea typeface="Montserrat"/>
                <a:cs typeface="Montserrat"/>
                <a:sym typeface="Montserrat"/>
                <a:hlinkClick r:id="rId3"/>
              </a:rPr>
              <a:t>Fundamentos de Vue.js 3</a:t>
            </a:r>
            <a:endParaRPr sz="1650">
              <a:solidFill>
                <a:srgbClr val="595959"/>
              </a:solidFill>
              <a:latin typeface="Montserrat"/>
              <a:ea typeface="Montserrat"/>
              <a:cs typeface="Montserrat"/>
              <a:sym typeface="Montserrat"/>
            </a:endParaRPr>
          </a:p>
          <a:p>
            <a:pPr indent="-333375" lvl="0" marL="457200" rtl="0" algn="l">
              <a:lnSpc>
                <a:spcPct val="115000"/>
              </a:lnSpc>
              <a:spcBef>
                <a:spcPts val="0"/>
              </a:spcBef>
              <a:spcAft>
                <a:spcPts val="0"/>
              </a:spcAft>
              <a:buClr>
                <a:srgbClr val="595959"/>
              </a:buClr>
              <a:buSzPts val="1650"/>
              <a:buFont typeface="Montserrat"/>
              <a:buChar char="●"/>
            </a:pPr>
            <a:r>
              <a:rPr lang="es" sz="1650" u="sng">
                <a:solidFill>
                  <a:schemeClr val="hlink"/>
                </a:solidFill>
                <a:latin typeface="Montserrat"/>
                <a:ea typeface="Montserrat"/>
                <a:cs typeface="Montserrat"/>
                <a:sym typeface="Montserrat"/>
                <a:hlinkClick r:id="rId4"/>
              </a:rPr>
              <a:t>Curso Vue.js 3 desde cero</a:t>
            </a:r>
            <a:endParaRPr sz="1650">
              <a:solidFill>
                <a:srgbClr val="595959"/>
              </a:solidFill>
              <a:latin typeface="Montserrat"/>
              <a:ea typeface="Montserrat"/>
              <a:cs typeface="Montserrat"/>
              <a:sym typeface="Montserrat"/>
            </a:endParaRPr>
          </a:p>
          <a:p>
            <a:pPr indent="-333375" lvl="0" marL="457200" rtl="0" algn="l">
              <a:lnSpc>
                <a:spcPct val="115000"/>
              </a:lnSpc>
              <a:spcBef>
                <a:spcPts val="0"/>
              </a:spcBef>
              <a:spcAft>
                <a:spcPts val="0"/>
              </a:spcAft>
              <a:buClr>
                <a:schemeClr val="dk2"/>
              </a:buClr>
              <a:buSzPts val="1650"/>
              <a:buFont typeface="Montserrat"/>
              <a:buChar char="●"/>
            </a:pPr>
            <a:r>
              <a:rPr lang="es" sz="1650" u="sng">
                <a:solidFill>
                  <a:schemeClr val="hlink"/>
                </a:solidFill>
                <a:latin typeface="Montserrat"/>
                <a:ea typeface="Montserrat"/>
                <a:cs typeface="Montserrat"/>
                <a:sym typeface="Montserrat"/>
                <a:hlinkClick r:id="rId5"/>
              </a:rPr>
              <a:t>Reactividad en 2 sentidos</a:t>
            </a:r>
            <a:endParaRPr sz="1650">
              <a:solidFill>
                <a:srgbClr val="595959"/>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3"/>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4"/>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5"/>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