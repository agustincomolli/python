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Montserrat SemiBold"/>
      <p:regular r:id="rId47"/>
      <p:bold r:id="rId48"/>
      <p:italic r:id="rId49"/>
      <p:boldItalic r:id="rId50"/>
    </p:embeddedFont>
    <p:embeddedFont>
      <p:font typeface="Montserrat"/>
      <p:regular r:id="rId51"/>
      <p:bold r:id="rId52"/>
      <p:italic r:id="rId53"/>
      <p:boldItalic r:id="rId54"/>
    </p:embeddedFont>
    <p:embeddedFont>
      <p:font typeface="Montserrat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9" roundtripDataSignature="AMtx7mho2S+IZKi3PpC3cqf1DHBM6LF8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SemiBold-bold.fntdata"/><Relationship Id="rId47" Type="http://schemas.openxmlformats.org/officeDocument/2006/relationships/font" Target="fonts/MontserratSemiBold-regular.fntdata"/><Relationship Id="rId49" Type="http://schemas.openxmlformats.org/officeDocument/2006/relationships/font" Target="fonts/Montserra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regular.fntdata"/><Relationship Id="rId50" Type="http://schemas.openxmlformats.org/officeDocument/2006/relationships/font" Target="fonts/MontserratSemiBold-boldItalic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6.xml"/><Relationship Id="rId55" Type="http://schemas.openxmlformats.org/officeDocument/2006/relationships/font" Target="fonts/MontserratMedium-regular.fntdata"/><Relationship Id="rId10" Type="http://schemas.openxmlformats.org/officeDocument/2006/relationships/slide" Target="slides/slide5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Medium-italic.fntdata"/><Relationship Id="rId12" Type="http://schemas.openxmlformats.org/officeDocument/2006/relationships/slide" Target="slides/slide7.xml"/><Relationship Id="rId56" Type="http://schemas.openxmlformats.org/officeDocument/2006/relationships/font" Target="fonts/MontserratMedium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Montserrat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41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b="1" sz="3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" name="Google Shape;1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0050"/>
            <a:ext cx="3040999" cy="20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2877" y="4573625"/>
            <a:ext cx="741498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3"/>
          <p:cNvSpPr txBox="1"/>
          <p:nvPr/>
        </p:nvSpPr>
        <p:spPr>
          <a:xfrm>
            <a:off x="3326000" y="3062475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Google Shape;14;p43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43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y sub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4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900"/>
              <a:buFont typeface="Montserrat"/>
              <a:buNone/>
              <a:defRPr b="1" sz="49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2 - 37">
  <p:cSld name="BLANK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5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5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5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5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5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5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" name="Google Shape;33;p45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" name="Google Shape;34;p45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" name="Google Shape;35;p45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4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5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5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" name="Google Shape;42;p4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6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6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4000"/>
              <a:buFont typeface="Montserrat"/>
              <a:buNone/>
              <a:defRPr b="1" sz="4000">
                <a:solidFill>
                  <a:srgbClr val="4141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" name="Google Shape;4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7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4" name="Google Shape;54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55" name="Google Shape;5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1" name="Google Shape;61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8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8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2960">
          <p15:clr>
            <a:srgbClr val="FA7B17"/>
          </p15:clr>
        </p15:guide>
        <p15:guide id="4" orient="horz" pos="3149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o destacado y explicación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9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b="1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49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9" name="Google Shape;6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ágenes o gráficos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4" name="Google Shape;7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0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jercicios e image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1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p51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51"/>
          <p:cNvSpPr/>
          <p:nvPr/>
        </p:nvSpPr>
        <p:spPr>
          <a:xfrm>
            <a:off x="4572150" y="-18175"/>
            <a:ext cx="45720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6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51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tarea y consigna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2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6135" y="4508338"/>
            <a:ext cx="1091725" cy="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2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Montserrat Medium"/>
              <a:buNone/>
              <a:defRPr sz="2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52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e o recordatorio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/>
          <p:nvPr/>
        </p:nvSpPr>
        <p:spPr>
          <a:xfrm>
            <a:off x="-13650" y="-577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-260761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6135" y="164938"/>
            <a:ext cx="1091725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3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700"/>
              <a:buFont typeface="Montserrat"/>
              <a:buNone/>
              <a:defRPr b="1" sz="3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s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4"/>
          <p:cNvSpPr txBox="1"/>
          <p:nvPr>
            <p:ph idx="1" type="body"/>
          </p:nvPr>
        </p:nvSpPr>
        <p:spPr>
          <a:xfrm>
            <a:off x="433800" y="1715975"/>
            <a:ext cx="82038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i="1" sz="2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pic>
        <p:nvPicPr>
          <p:cNvPr id="103" name="Google Shape;10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225" y="906000"/>
            <a:ext cx="1429649" cy="9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800" y="2758064"/>
            <a:ext cx="1385650" cy="907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4"/>
          <p:cNvSpPr txBox="1"/>
          <p:nvPr/>
        </p:nvSpPr>
        <p:spPr>
          <a:xfrm>
            <a:off x="432025" y="37922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Autor/as/es: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4"/>
          <p:cNvSpPr txBox="1"/>
          <p:nvPr>
            <p:ph type="title"/>
          </p:nvPr>
        </p:nvSpPr>
        <p:spPr>
          <a:xfrm>
            <a:off x="1766475" y="3773600"/>
            <a:ext cx="7145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1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54"/>
          <p:cNvSpPr txBox="1"/>
          <p:nvPr>
            <p:ph idx="2" type="title"/>
          </p:nvPr>
        </p:nvSpPr>
        <p:spPr>
          <a:xfrm>
            <a:off x="432025" y="83275"/>
            <a:ext cx="71451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SemiBold"/>
              <a:buNone/>
              <a:defRPr sz="1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0" name="Google Shape;110;p54"/>
          <p:cNvPicPr preferRelativeResize="0"/>
          <p:nvPr/>
        </p:nvPicPr>
        <p:blipFill rotWithShape="1">
          <a:blip r:embed="rId6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41">
          <p15:clr>
            <a:srgbClr val="FA7B17"/>
          </p15:clr>
        </p15:guide>
        <p15:guide id="3" orient="horz" pos="255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0">
  <p:cSld name="BLANK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5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5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5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5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5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5"/>
          <p:cNvSpPr txBox="1"/>
          <p:nvPr>
            <p:ph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55"/>
          <p:cNvSpPr txBox="1"/>
          <p:nvPr>
            <p:ph idx="2" type="title"/>
          </p:nvPr>
        </p:nvSpPr>
        <p:spPr>
          <a:xfrm>
            <a:off x="6134350" y="2196275"/>
            <a:ext cx="2397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55"/>
          <p:cNvSpPr txBox="1"/>
          <p:nvPr>
            <p:ph idx="3" type="title"/>
          </p:nvPr>
        </p:nvSpPr>
        <p:spPr>
          <a:xfrm>
            <a:off x="40399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55"/>
          <p:cNvSpPr txBox="1"/>
          <p:nvPr>
            <p:ph idx="4" type="title"/>
          </p:nvPr>
        </p:nvSpPr>
        <p:spPr>
          <a:xfrm>
            <a:off x="68774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5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ltima clase">
  <p:cSld name="BLANK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6"/>
          <p:cNvSpPr/>
          <p:nvPr/>
        </p:nvSpPr>
        <p:spPr>
          <a:xfrm>
            <a:off x="212425" y="1172325"/>
            <a:ext cx="4818000" cy="436800"/>
          </a:xfrm>
          <a:prstGeom prst="chevron">
            <a:avLst>
              <a:gd fmla="val 45084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6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6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6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6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1" name="Google Shape;131;p56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2" name="Google Shape;132;p56"/>
          <p:cNvSpPr txBox="1"/>
          <p:nvPr>
            <p:ph idx="3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56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6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6"/>
          <p:cNvSpPr txBox="1"/>
          <p:nvPr>
            <p:ph idx="4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56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d.team/comunidad/pagina-web-vs-sitio-web-vs-aplicacion-web" TargetMode="External"/><Relationship Id="rId4" Type="http://schemas.openxmlformats.org/officeDocument/2006/relationships/hyperlink" Target="https://ed.team/comunidad/pagina-web-vs-sitio-web-vs-aplicacion-web" TargetMode="External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43.png"/><Relationship Id="rId6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notepad-plus-plus.org/downloads/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code.visualstudio.com/download/" TargetMode="External"/><Relationship Id="rId6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w3schools.com/" TargetMode="External"/><Relationship Id="rId4" Type="http://schemas.openxmlformats.org/officeDocument/2006/relationships/hyperlink" Target="https://instintobinario.com/category/hardware/" TargetMode="External"/><Relationship Id="rId5" Type="http://schemas.openxmlformats.org/officeDocument/2006/relationships/hyperlink" Target="https://blog.ida.cl/estrategia-digital/diferencias-aplicacion-web-sitio-web/" TargetMode="External"/><Relationship Id="rId6" Type="http://schemas.openxmlformats.org/officeDocument/2006/relationships/hyperlink" Target="http://arngren.net/" TargetMode="External"/><Relationship Id="rId7" Type="http://schemas.openxmlformats.org/officeDocument/2006/relationships/hyperlink" Target="https://grafix.es/las-webs-mas-horrorosas-del-mundo/" TargetMode="External"/><Relationship Id="rId8" Type="http://schemas.openxmlformats.org/officeDocument/2006/relationships/hyperlink" Target="https://coach2coach.es/estructura-sitio-web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knorr.com/" TargetMode="External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hyperlink" Target="https://www.eladerezo.com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ellaggio.com/como-mejorar-el-posicionamiento-seo-de-mi-pagina-web/" TargetMode="External"/><Relationship Id="rId4" Type="http://schemas.openxmlformats.org/officeDocument/2006/relationships/hyperlink" Target="https://developers.google.com/search/docs/beginner/seo-starter-guide?hl=e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FULL STACK PYTHON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Clase 1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HTML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lang="es"/>
              <a:t>Conceptos básicos de HTML</a:t>
            </a:r>
            <a:endParaRPr b="0"/>
          </a:p>
        </p:txBody>
      </p:sp>
      <p:sp>
        <p:nvSpPr>
          <p:cNvPr id="150" name="Google Shape;15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813" y="2868475"/>
            <a:ext cx="7143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Les damos la bienvenida</a:t>
            </a:r>
            <a:endParaRPr/>
          </a:p>
        </p:txBody>
      </p:sp>
      <p:sp>
        <p:nvSpPr>
          <p:cNvPr id="157" name="Google Shape;15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Vamos a comenzar a grabar la clase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01</a:t>
            </a:r>
            <a:endParaRPr/>
          </a:p>
        </p:txBody>
      </p:sp>
      <p:sp>
        <p:nvSpPr>
          <p:cNvPr id="163" name="Google Shape;163;p4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00</a:t>
            </a:r>
            <a:endParaRPr/>
          </a:p>
        </p:txBody>
      </p:sp>
      <p:sp>
        <p:nvSpPr>
          <p:cNvPr id="164" name="Google Shape;164;p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Clase 02</a:t>
            </a:r>
            <a:endParaRPr/>
          </a:p>
        </p:txBody>
      </p:sp>
      <p:sp>
        <p:nvSpPr>
          <p:cNvPr id="165" name="Google Shape;165;p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Presentación del curso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Sobre Codo a Codo.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Objetivo del curso y lineamientos de cursada.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Conceptos básicos sobre Full Stack.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Herramientas a utilizar.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Instalación del software.</a:t>
            </a:r>
            <a:endParaRPr/>
          </a:p>
        </p:txBody>
      </p:sp>
      <p:sp>
        <p:nvSpPr>
          <p:cNvPr id="166" name="Google Shape;166;p4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2 - Continuando con 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Listas y enlaces.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Rutas absolutas y relativas.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Elementos en bloque y en línea.</a:t>
            </a:r>
            <a:endParaRPr/>
          </a:p>
        </p:txBody>
      </p:sp>
      <p:sp>
        <p:nvSpPr>
          <p:cNvPr id="167" name="Google Shape;167;p4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1 - Conceptos básicos de 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Conceptos básicos de la web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Proyecto web: ¿qué es?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 Cliente/Servidor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Introducción a HTML. Etiquetas básicas y atributos.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Página, Sitio y Aplicación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Página Web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Principales características de una página Web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un documento HTML (texto, imágenes, videos, CSS, Javascript).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Pueden ser estáticas (sólo código) o dinámica (con contenido extraído de una base de datos).</a:t>
            </a:r>
            <a:endParaRPr/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5500" y="1676181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Sitio Web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Principales características de un sitio Web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Son un conjunto de páginas Web estructuradas en un dominio.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 pueden crear escribiendo código o mediante CMS o builders.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Pertenecen a empresas, organizaciones o personas.</a:t>
            </a:r>
            <a:endParaRPr/>
          </a:p>
        </p:txBody>
      </p:sp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5775" y="1671738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Aplicación Web</a:t>
            </a:r>
            <a:endParaRPr/>
          </a:p>
        </p:txBody>
      </p:sp>
      <p:sp>
        <p:nvSpPr>
          <p:cNvPr id="192" name="Google Shape;19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Principales características de una aplicación Web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un software desarrollado con tecnologías Web.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 crea mediante código, utilizando diversos lenguajes de programación, librerías, frameworks, etc.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Son creadas por desarrolladores Web profesionales.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b="1" lang="es">
                <a:solidFill>
                  <a:schemeClr val="dk1"/>
                </a:solidFill>
              </a:rPr>
              <a:t>Fuente:</a:t>
            </a:r>
            <a:r>
              <a:rPr b="1" lang="es" u="sng">
                <a:solidFill>
                  <a:schemeClr val="hlink"/>
                </a:solidFill>
                <a:hlinkClick r:id="rId3"/>
              </a:rPr>
              <a:t> </a:t>
            </a:r>
            <a:r>
              <a:rPr lang="es" u="sng">
                <a:solidFill>
                  <a:schemeClr val="hlink"/>
                </a:solidFill>
                <a:hlinkClick r:id="rId4"/>
              </a:rPr>
              <a:t>https://ed.team/comunidad/pagina-web-vs-sitio-web-vs-aplicacion-web</a:t>
            </a:r>
            <a:endParaRPr/>
          </a:p>
        </p:txBody>
      </p:sp>
      <p:pic>
        <p:nvPicPr>
          <p:cNvPr id="193" name="Google Shape;1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7325" y="1960675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Aplicación de Escritorio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432025" y="1304875"/>
            <a:ext cx="8280000" cy="1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El usuario accede a la aplicación.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 aplicación accede a un repositorio de datos para pedir información o para modificarla.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 aplicación muestra al usuario la información solicitada.</a:t>
            </a:r>
            <a:endParaRPr/>
          </a:p>
        </p:txBody>
      </p:sp>
      <p:pic>
        <p:nvPicPr>
          <p:cNvPr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0950" y="2956525"/>
            <a:ext cx="1483575" cy="148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9"/>
          <p:cNvCxnSpPr/>
          <p:nvPr/>
        </p:nvCxnSpPr>
        <p:spPr>
          <a:xfrm>
            <a:off x="3746875" y="3161450"/>
            <a:ext cx="1674300" cy="193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9"/>
          <p:cNvCxnSpPr/>
          <p:nvPr/>
        </p:nvCxnSpPr>
        <p:spPr>
          <a:xfrm flipH="1">
            <a:off x="3863275" y="3638275"/>
            <a:ext cx="1489500" cy="33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9"/>
          <p:cNvSpPr/>
          <p:nvPr/>
        </p:nvSpPr>
        <p:spPr>
          <a:xfrm>
            <a:off x="3163375" y="2911850"/>
            <a:ext cx="458700" cy="442800"/>
          </a:xfrm>
          <a:prstGeom prst="ellipse">
            <a:avLst/>
          </a:prstGeom>
          <a:solidFill>
            <a:srgbClr val="7685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545975" y="3281600"/>
            <a:ext cx="458700" cy="442800"/>
          </a:xfrm>
          <a:prstGeom prst="ellipse">
            <a:avLst/>
          </a:prstGeom>
          <a:solidFill>
            <a:srgbClr val="7685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319613" y="3834050"/>
            <a:ext cx="458700" cy="442800"/>
          </a:xfrm>
          <a:prstGeom prst="ellipse">
            <a:avLst/>
          </a:prstGeom>
          <a:solidFill>
            <a:srgbClr val="7685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1525" y="2911838"/>
            <a:ext cx="1623599" cy="162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Aplicación Web</a:t>
            </a:r>
            <a:endParaRPr/>
          </a:p>
        </p:txBody>
      </p:sp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El usuario ingresa la URL (dirección) en el navegador.</a:t>
            </a:r>
            <a:endParaRPr sz="18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El servidor web recibe la solicitud y envía la respuesta en HTML al navegador.</a:t>
            </a:r>
            <a:endParaRPr sz="18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En el navegador se ingresa la información de usuario y contraseña.</a:t>
            </a:r>
            <a:endParaRPr sz="18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Dicha información se traduce a HTML. </a:t>
            </a:r>
            <a:endParaRPr sz="18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Dicha información se envía al servidor. </a:t>
            </a:r>
            <a:endParaRPr sz="18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1800"/>
              <a:t>Si estos datos son válidos el usuario es redireccionado a la página que desea ingresar.</a:t>
            </a:r>
            <a:endParaRPr/>
          </a:p>
        </p:txBody>
      </p:sp>
      <p:pic>
        <p:nvPicPr>
          <p:cNvPr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625" y="885425"/>
            <a:ext cx="4839149" cy="3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ctrTitle"/>
          </p:nvPr>
        </p:nvSpPr>
        <p:spPr>
          <a:xfrm>
            <a:off x="550375" y="7600"/>
            <a:ext cx="8043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"/>
              <a:t>Bases del desarrollo web</a:t>
            </a:r>
            <a:endParaRPr/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50" y="1170000"/>
            <a:ext cx="7593351" cy="3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Protocolo TCP/IP</a:t>
            </a:r>
            <a:endParaRPr/>
          </a:p>
        </p:txBody>
      </p:sp>
      <p:sp>
        <p:nvSpPr>
          <p:cNvPr id="225" name="Google Shape;225;p12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s"/>
              <a:t>Los protocolos…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TCP: Transmission Control Protocol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IP: Internet Protocol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Son una forma de comunicación común entre dispositivos.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Proveen reglas estandarizadas de comunicación en la red.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Determinan cómo se comunican y quién comunica, garantizan el envío de datos y proveen mecanismos para resolver errores.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IP proporciona la dirección de los dispositivos, TCP se encarga de la entrega de datos.</a:t>
            </a:r>
            <a:endParaRPr/>
          </a:p>
          <a:p>
            <a:pPr indent="-317182" lvl="0" marL="7271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mensajes se descomponen en “paquetes”, se envían a través de la red y se ensamblan en el destino.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rPr lang="es"/>
              <a:t>La dirección IP es un conjunto de números que identifica de forma unívoca a un dispositivo (computadora, laptop, smartphone) que utilice el protocolo IP.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Ventajas de una Aplicación Web</a:t>
            </a:r>
            <a:endParaRPr/>
          </a:p>
        </p:txBody>
      </p:sp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 puede ejecutar desde cualquier dispositivo que cuente con navegador y con conexión a Internet.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No es necesario instalarlas en el dispositivo, basta con un navegador web.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Son fáciles de actualizar y mantener.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Su funcionalidad es independiente al Sistema Operativo instalado en la PC del usuario.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Permite que las aplicaciones sean multiusuarios.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Permite separar los datos almacenados en el servidor de base datos, del front end, donde se muestran al usuario.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Las páginas web poseen estructuras similares que mejoran la experiencia en el uso de las diferentes aplicaciones.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Aplicación Escritorio vs. Aplicación Web</a:t>
            </a:r>
            <a:endParaRPr/>
          </a:p>
        </p:txBody>
      </p:sp>
      <p:sp>
        <p:nvSpPr>
          <p:cNvPr id="237" name="Google Shape;237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/>
              <a:t>Aplicación Escritorio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aquella que está instalada en el dispositivo del usuario.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ejecutada directamente por el sistema operativo del dispositivo, ya sea Microsoft Windows, Mac OS X, Linux, Android, etc.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Su rendimiento depende de diversas configuraciones de hardware como memoria RAM, disco duro, memoria de video, etc.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Aplicación Web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aquella que está instalada en un Servidor.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Su ejecución requiere que el usuario disponga de:</a:t>
            </a:r>
            <a:endParaRPr/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Un dispositivo con conexión a Internet</a:t>
            </a:r>
            <a:endParaRPr sz="1200"/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Un navegador (Google Chrome, Internet Explorer, Mozilla Firefox, etc.)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usuario solo necesita renderizar contenido, lo que suele ser menos demandante de poder de cálculo.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Front-End y Back-End</a:t>
            </a:r>
            <a:endParaRPr/>
          </a:p>
        </p:txBody>
      </p:sp>
      <p:sp>
        <p:nvSpPr>
          <p:cNvPr id="244" name="Google Shape;24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Concepto Cliente/Servidor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Front-End</a:t>
            </a:r>
            <a:endParaRPr/>
          </a:p>
        </p:txBody>
      </p:sp>
      <p:sp>
        <p:nvSpPr>
          <p:cNvPr id="250" name="Google Shape;250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 la parte visible por el usuario de una página Web.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 relaciona con la creación de una página funcional (computadora / tablet o celular) que puede verse en un navegador (</a:t>
            </a:r>
            <a:r>
              <a:rPr b="1" lang="es"/>
              <a:t>cliente</a:t>
            </a:r>
            <a:r>
              <a:rPr lang="es"/>
              <a:t>).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HTML, CSS y JavaScript.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Editor de texto plano y navegador de Internet.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Corre en el cliente</a:t>
            </a:r>
            <a:endParaRPr/>
          </a:p>
        </p:txBody>
      </p:sp>
      <p:pic>
        <p:nvPicPr>
          <p:cNvPr id="251" name="Google Shape;2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8555" y="133282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7700" y="133282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8550" y="30239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7700" y="3023975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Back-End</a:t>
            </a:r>
            <a:endParaRPr/>
          </a:p>
        </p:txBody>
      </p:sp>
      <p:sp>
        <p:nvSpPr>
          <p:cNvPr id="260" name="Google Shape;26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Corre en el </a:t>
            </a:r>
            <a:r>
              <a:rPr b="1" lang="es"/>
              <a:t>servidor</a:t>
            </a:r>
            <a:r>
              <a:rPr lang="es"/>
              <a:t>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 encarga del manejo de algoritmos y la utilización de bases de datos para guardar o procesar información: usuarios, productos, claves, procesos de selección, filtros, listados y todo tipo de consultas sobre plataformas Web.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Parte administrativa del sitio Web.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Bases de datos, Python y frameworks asociados.</a:t>
            </a:r>
            <a:endParaRPr/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1725" y="125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1700" y="222372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1725" y="3139225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"/>
              <a:t>HTML</a:t>
            </a:r>
            <a:endParaRPr/>
          </a:p>
        </p:txBody>
      </p:sp>
      <p:sp>
        <p:nvSpPr>
          <p:cNvPr id="269" name="Google Shape;269;p18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s"/>
              <a:t>H</a:t>
            </a:r>
            <a:r>
              <a:rPr lang="es"/>
              <a:t>yper</a:t>
            </a:r>
            <a:r>
              <a:rPr b="1" lang="es"/>
              <a:t>T</a:t>
            </a:r>
            <a:r>
              <a:rPr lang="es"/>
              <a:t>ext </a:t>
            </a:r>
            <a:r>
              <a:rPr b="1" lang="es"/>
              <a:t>M</a:t>
            </a:r>
            <a:r>
              <a:rPr lang="es"/>
              <a:t>arkup </a:t>
            </a:r>
            <a:r>
              <a:rPr b="1" lang="es"/>
              <a:t>L</a:t>
            </a:r>
            <a:r>
              <a:rPr lang="es"/>
              <a:t>anguage: Lenguaje de marcado de hipertexto.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Define la </a:t>
            </a:r>
            <a:r>
              <a:rPr b="1" lang="es"/>
              <a:t>estructura</a:t>
            </a:r>
            <a:r>
              <a:rPr lang="es"/>
              <a:t>, </a:t>
            </a:r>
            <a:r>
              <a:rPr b="1" lang="es"/>
              <a:t>semántica </a:t>
            </a:r>
            <a:r>
              <a:rPr lang="es"/>
              <a:t>y </a:t>
            </a:r>
            <a:r>
              <a:rPr b="1" lang="es"/>
              <a:t>contenido </a:t>
            </a:r>
            <a:r>
              <a:rPr lang="es"/>
              <a:t>de las páginas Web.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El navegador (cliente) interpreta el HTML y lo representan en pantalla.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Permite agregar texto, imágenes, enlaces, tablas, listas, formularios,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Última versión del estándar: HTML 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No todos los navegadores son capaces de interpretar un mismo código de una manera unificada (siempre debemos probar que funcione en la mayoría de ellos).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Utiliza etiquetas (tags) que definen la estructura del </a:t>
            </a:r>
            <a:r>
              <a:rPr b="1" lang="es"/>
              <a:t>documento</a:t>
            </a:r>
            <a:r>
              <a:rPr lang="e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Texto plano con extensión 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s"/>
              <a:t>Hipertexto:</a:t>
            </a:r>
            <a:br>
              <a:rPr b="1" lang="es"/>
            </a:br>
            <a:r>
              <a:rPr lang="es"/>
              <a:t>Sistema que permite enlazar fragmentos de textos entre sí. Permite que la lectura no sea lineal, sino que el usuario acceda a la información a través de los ítems relacionados.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HTML: ¿Cómo funciona?</a:t>
            </a:r>
            <a:endParaRPr/>
          </a:p>
        </p:txBody>
      </p:sp>
      <p:sp>
        <p:nvSpPr>
          <p:cNvPr id="275" name="Google Shape;275;p19"/>
          <p:cNvSpPr txBox="1"/>
          <p:nvPr>
            <p:ph idx="1" type="body"/>
          </p:nvPr>
        </p:nvSpPr>
        <p:spPr>
          <a:xfrm>
            <a:off x="432000" y="1129750"/>
            <a:ext cx="82800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El navegador (</a:t>
            </a:r>
            <a:r>
              <a:rPr b="1" lang="es"/>
              <a:t>cliente</a:t>
            </a:r>
            <a:r>
              <a:rPr lang="es"/>
              <a:t>) le pide información al servidor.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El servidor devuelve la información al cliente en un archivo HTML.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El navegador en el cliente lee el archivo de arriba hacia abajo y de izquierda a derecha para interpretar la información.</a:t>
            </a:r>
            <a:endParaRPr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Tiene en cuenta las etiquetas que tiene el documento y las va renderizando en la pantalla (lo que se ve en el navegador).</a:t>
            </a:r>
            <a:endParaRPr/>
          </a:p>
        </p:txBody>
      </p:sp>
      <p:pic>
        <p:nvPicPr>
          <p:cNvPr id="276" name="Google Shape;2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88" y="2910650"/>
            <a:ext cx="8017836" cy="18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Editores de texto ¿qué usamos para escribir HTML?</a:t>
            </a:r>
            <a:endParaRPr/>
          </a:p>
        </p:txBody>
      </p:sp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Necesitamos utilizar un editor de texto, que genere archivos de “texto plano”.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/>
              <a:t>Hay muchos disponibles, desde el bloc de notas de tu sistema operativo hasta algunos multiplataforma como Visual Studio Code.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/>
              <a:t>Nota: pueden hacer clic en las imágenes para descargar cada software.</a:t>
            </a:r>
            <a:endParaRPr/>
          </a:p>
        </p:txBody>
      </p:sp>
      <p:sp>
        <p:nvSpPr>
          <p:cNvPr id="283" name="Google Shape;28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84" name="Google Shape;284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250" y="1907294"/>
            <a:ext cx="1080000" cy="936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3975" y="2844250"/>
            <a:ext cx="2157334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lang="es"/>
              <a:t>Página Web</a:t>
            </a:r>
            <a:endParaRPr/>
          </a:p>
        </p:txBody>
      </p:sp>
      <p:sp>
        <p:nvSpPr>
          <p:cNvPr id="291" name="Google Shape;2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Estructura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Estas etiquetas ayudan a definir la clase de contenido tendrá una página Web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/>
              <a:t>Describen su significado tanto para el navegador como para el desarrollador. A través de ellas los navegadores y buscadores reconocen patrones y una estructura determinada.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/>
              <a:t>Debemos respetarlas porque ayudan al navegador a entender su significado para mostrarlo en pantalla y ayudan a los buscadores a reconocer el contenido y la estructura del sitio.</a:t>
            </a:r>
            <a:endParaRPr/>
          </a:p>
        </p:txBody>
      </p:sp>
      <p:sp>
        <p:nvSpPr>
          <p:cNvPr id="297" name="Google Shape;297;p2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 de una Página Web (ejemplo)</a:t>
            </a:r>
            <a:endParaRPr/>
          </a:p>
        </p:txBody>
      </p:sp>
      <p:pic>
        <p:nvPicPr>
          <p:cNvPr id="298" name="Google Shape;2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4000" y="1322525"/>
            <a:ext cx="4527600" cy="312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Estructura de una Página Web (ejemplo)</a:t>
            </a:r>
            <a:endParaRPr/>
          </a:p>
        </p:txBody>
      </p:sp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900" y="1170125"/>
            <a:ext cx="2881395" cy="34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2725" y="1170125"/>
            <a:ext cx="3930993" cy="34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 de una Página Web (código)</a:t>
            </a:r>
            <a:endParaRPr/>
          </a:p>
        </p:txBody>
      </p:sp>
      <p:sp>
        <p:nvSpPr>
          <p:cNvPr id="311" name="Google Shape;311;p24"/>
          <p:cNvSpPr txBox="1"/>
          <p:nvPr>
            <p:ph idx="2" type="body"/>
          </p:nvPr>
        </p:nvSpPr>
        <p:spPr>
          <a:xfrm>
            <a:off x="622025" y="4121250"/>
            <a:ext cx="8248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b="1" lang="es"/>
              <a:t>Tip:</a:t>
            </a:r>
            <a:r>
              <a:rPr lang="es"/>
              <a:t> En VSC si escribimos 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html:5</a:t>
            </a:r>
            <a:r>
              <a:rPr lang="es"/>
              <a:t> y presionamos TAB este código se escribirá automáticamente.</a:t>
            </a:r>
            <a:endParaRPr/>
          </a:p>
        </p:txBody>
      </p:sp>
      <p:pic>
        <p:nvPicPr>
          <p:cNvPr id="312" name="Google Shape;3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475" y="1322525"/>
            <a:ext cx="7341036" cy="26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Estructura de una Página Web (código)</a:t>
            </a:r>
            <a:endParaRPr/>
          </a:p>
        </p:txBody>
      </p:sp>
      <p:sp>
        <p:nvSpPr>
          <p:cNvPr id="318" name="Google Shape;318;p25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&lt;!DOCTYPE html&gt;</a:t>
            </a:r>
            <a:r>
              <a:rPr lang="es"/>
              <a:t> Indica que la versión corresponde a HTML5.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&lt;html lang= “es”&gt; </a:t>
            </a:r>
            <a:r>
              <a:rPr lang="es"/>
              <a:t>Es la etiqueta principal que engloba al resto de las etiquetas, el atributo </a:t>
            </a:r>
            <a:r>
              <a:rPr i="1" lang="es"/>
              <a:t>lang</a:t>
            </a:r>
            <a:r>
              <a:rPr lang="es"/>
              <a:t> define el tipo de lenguaje.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&lt;head&gt; </a:t>
            </a:r>
            <a:r>
              <a:rPr lang="es"/>
              <a:t>Es la cabeza del documento que contiene los metadatos de la página web.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&lt;meta charset="utf-8"/&gt; </a:t>
            </a:r>
            <a:r>
              <a:rPr lang="es"/>
              <a:t>Indica al navegador qué tipo de caracteres contiene la página, con el atributo </a:t>
            </a:r>
            <a:r>
              <a:rPr i="1" lang="es"/>
              <a:t>charset</a:t>
            </a:r>
            <a:r>
              <a:rPr lang="es"/>
              <a:t> vamos a indicar el conjunto de caracteres que vamos a usar y con el valor "utf-8" abarcamos a la mayoría de los sistemas de escritura.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&lt;title&gt; </a:t>
            </a:r>
            <a:r>
              <a:rPr lang="es"/>
              <a:t>Indica el título de la página Web, que se visualiza en la barra de título del navegador.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b="1" lang="es"/>
              <a:t>&lt;body&gt;</a:t>
            </a:r>
            <a:r>
              <a:rPr lang="es"/>
              <a:t> Es el cuerpo del documento donde va a estar todo el contenido que vamos a mostrar.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7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lang="es"/>
              <a:t>Sintaxis</a:t>
            </a:r>
            <a:endParaRPr/>
          </a:p>
        </p:txBody>
      </p:sp>
      <p:sp>
        <p:nvSpPr>
          <p:cNvPr id="324" name="Google Shape;32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Las etiquetas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Las etiquetas</a:t>
            </a:r>
            <a:endParaRPr/>
          </a:p>
        </p:txBody>
      </p:sp>
      <p:sp>
        <p:nvSpPr>
          <p:cNvPr id="330" name="Google Shape;33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Definen qué función cumple cada elemento dentro de la página.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Estructura básica, tienen una apertura y un cierre que describen la información contenida entre ellas, aunque algunos casos solamente tienen apertura, como la etiqueta &lt;br&gt; (line break o  salto de línea):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0200" y="2425438"/>
            <a:ext cx="1042030" cy="2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13" y="2903375"/>
            <a:ext cx="24098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7450" y="3722236"/>
            <a:ext cx="2409825" cy="53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175" y="2378950"/>
            <a:ext cx="2630225" cy="3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175" y="2883537"/>
            <a:ext cx="4509849" cy="6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75" y="3670850"/>
            <a:ext cx="5085275" cy="73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Etiquetas básicas</a:t>
            </a:r>
            <a:endParaRPr/>
          </a:p>
        </p:txBody>
      </p:sp>
      <p:sp>
        <p:nvSpPr>
          <p:cNvPr id="342" name="Google Shape;342;p28"/>
          <p:cNvSpPr txBox="1"/>
          <p:nvPr>
            <p:ph idx="1" type="body"/>
          </p:nvPr>
        </p:nvSpPr>
        <p:spPr>
          <a:xfrm>
            <a:off x="311700" y="1152475"/>
            <a:ext cx="8462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/>
              <a:t>&lt;h1&gt;, &lt;h2&gt;, &lt;h3&gt;….&lt;h6&gt;:</a:t>
            </a:r>
            <a:r>
              <a:rPr lang="es"/>
              <a:t> Encabezados, numerados del 1 al 6 por orden de relevancia. Es importante respetar ese orden para que el navegador entienda la estructura de la página.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b="1" lang="es"/>
              <a:t>Tip:</a:t>
            </a:r>
            <a:r>
              <a:rPr lang="es"/>
              <a:t> En VSC si escribimos 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"/>
              <a:t> y presionamos TAB la etiqueta de cierre se escribe automáticamente</a:t>
            </a:r>
            <a:endParaRPr/>
          </a:p>
        </p:txBody>
      </p:sp>
      <p:pic>
        <p:nvPicPr>
          <p:cNvPr id="343" name="Google Shape;3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100" y="1802188"/>
            <a:ext cx="2263525" cy="21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800" y="1802200"/>
            <a:ext cx="3883350" cy="20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Etiquetas básicas</a:t>
            </a:r>
            <a:endParaRPr/>
          </a:p>
        </p:txBody>
      </p:sp>
      <p:sp>
        <p:nvSpPr>
          <p:cNvPr id="350" name="Google Shape;350;p29"/>
          <p:cNvSpPr txBox="1"/>
          <p:nvPr>
            <p:ph idx="1" type="body"/>
          </p:nvPr>
        </p:nvSpPr>
        <p:spPr>
          <a:xfrm>
            <a:off x="311700" y="1402000"/>
            <a:ext cx="30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s"/>
              <a:t>&lt;p&gt;: </a:t>
            </a:r>
            <a:r>
              <a:rPr lang="es"/>
              <a:t>Representa un párrafo.</a:t>
            </a:r>
            <a:endParaRPr/>
          </a:p>
        </p:txBody>
      </p:sp>
      <p:pic>
        <p:nvPicPr>
          <p:cNvPr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00" y="1922063"/>
            <a:ext cx="4934775" cy="12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049" y="3546549"/>
            <a:ext cx="7783699" cy="10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5835725" y="1876050"/>
            <a:ext cx="3042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Tip:</a:t>
            </a: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En VSC con si escribimos </a:t>
            </a:r>
            <a:r>
              <a:rPr b="0" i="0" lang="es" sz="1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Lorem100</a:t>
            </a: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se escribirá un texto de ejemplo de 100 palabras.  Y escribiendo </a:t>
            </a:r>
            <a:r>
              <a:rPr b="0" i="0" lang="es" sz="1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p*3</a:t>
            </a: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se crearán 3 etiquetas </a:t>
            </a:r>
            <a:r>
              <a:rPr b="1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&lt;p&gt;</a:t>
            </a: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Las etiquetas</a:t>
            </a:r>
            <a:endParaRPr/>
          </a:p>
        </p:txBody>
      </p:sp>
      <p:sp>
        <p:nvSpPr>
          <p:cNvPr id="359" name="Google Shape;359;p30"/>
          <p:cNvSpPr txBox="1"/>
          <p:nvPr>
            <p:ph idx="1" type="body"/>
          </p:nvPr>
        </p:nvSpPr>
        <p:spPr>
          <a:xfrm>
            <a:off x="311700" y="1152475"/>
            <a:ext cx="85206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s" sz="1800">
                <a:solidFill>
                  <a:srgbClr val="FF0000"/>
                </a:solidFill>
              </a:rPr>
              <a:t>&lt;etiqueta </a:t>
            </a:r>
            <a:r>
              <a:rPr b="1" lang="es" sz="1800"/>
              <a:t>      </a:t>
            </a:r>
            <a:r>
              <a:rPr b="1" lang="es" sz="1800">
                <a:solidFill>
                  <a:schemeClr val="accent1"/>
                </a:solidFill>
              </a:rPr>
              <a:t>atributo =</a:t>
            </a:r>
            <a:r>
              <a:rPr b="1" lang="es" sz="1800"/>
              <a:t>      </a:t>
            </a:r>
            <a:r>
              <a:rPr b="1" lang="es" sz="1800">
                <a:solidFill>
                  <a:schemeClr val="accent5"/>
                </a:solidFill>
              </a:rPr>
              <a:t>“valor”</a:t>
            </a:r>
            <a:r>
              <a:rPr b="1" lang="es" sz="1800"/>
              <a:t>  </a:t>
            </a:r>
            <a:r>
              <a:rPr b="1" lang="es" sz="1800">
                <a:solidFill>
                  <a:srgbClr val="FF0000"/>
                </a:solidFill>
              </a:rPr>
              <a:t>&gt;</a:t>
            </a:r>
            <a:r>
              <a:rPr b="1" lang="es" sz="1800"/>
              <a:t>    </a:t>
            </a:r>
            <a:r>
              <a:rPr i="1" lang="es" sz="1800"/>
              <a:t>Contenido</a:t>
            </a:r>
            <a:r>
              <a:rPr b="1" lang="es" sz="1800"/>
              <a:t>  </a:t>
            </a:r>
            <a:r>
              <a:rPr b="1" lang="es" sz="1800">
                <a:solidFill>
                  <a:srgbClr val="FF0000"/>
                </a:solidFill>
              </a:rPr>
              <a:t>&lt;/etiqueta&gt;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914850" y="2174200"/>
            <a:ext cx="12906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" sz="1600">
                <a:solidFill>
                  <a:srgbClr val="FF0000"/>
                </a:solidFill>
              </a:rPr>
              <a:t>html, body, img, title, head, … </a:t>
            </a:r>
            <a:r>
              <a:rPr lang="es" sz="1600"/>
              <a:t>      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361" name="Google Shape;361;p30"/>
          <p:cNvSpPr txBox="1"/>
          <p:nvPr>
            <p:ph idx="1" type="body"/>
          </p:nvPr>
        </p:nvSpPr>
        <p:spPr>
          <a:xfrm>
            <a:off x="2331050" y="2174200"/>
            <a:ext cx="14637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" sz="1600">
                <a:solidFill>
                  <a:schemeClr val="accent1"/>
                </a:solidFill>
              </a:rPr>
              <a:t>charset, alt, src, id, class, href, target, … 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362" name="Google Shape;362;p30"/>
          <p:cNvSpPr txBox="1"/>
          <p:nvPr>
            <p:ph idx="1" type="body"/>
          </p:nvPr>
        </p:nvSpPr>
        <p:spPr>
          <a:xfrm>
            <a:off x="3807275" y="2174200"/>
            <a:ext cx="12906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" sz="1600">
                <a:solidFill>
                  <a:schemeClr val="accent5"/>
                </a:solidFill>
              </a:rPr>
              <a:t>utf-8, nombre de clase, id, url, …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363" name="Google Shape;363;p30"/>
          <p:cNvSpPr txBox="1"/>
          <p:nvPr>
            <p:ph idx="1" type="body"/>
          </p:nvPr>
        </p:nvSpPr>
        <p:spPr>
          <a:xfrm>
            <a:off x="371800" y="3517550"/>
            <a:ext cx="10218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b="1" lang="es"/>
              <a:t>Ejemplo: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64" name="Google Shape;3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053" y="3871600"/>
            <a:ext cx="7171038" cy="40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30"/>
          <p:cNvCxnSpPr/>
          <p:nvPr/>
        </p:nvCxnSpPr>
        <p:spPr>
          <a:xfrm flipH="1">
            <a:off x="1593700" y="1650588"/>
            <a:ext cx="8100" cy="43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" name="Google Shape;366;p30"/>
          <p:cNvCxnSpPr/>
          <p:nvPr/>
        </p:nvCxnSpPr>
        <p:spPr>
          <a:xfrm flipH="1">
            <a:off x="3058850" y="1650588"/>
            <a:ext cx="8100" cy="434700"/>
          </a:xfrm>
          <a:prstGeom prst="straightConnector1">
            <a:avLst/>
          </a:prstGeom>
          <a:noFill/>
          <a:ln cap="flat" cmpd="sng" w="28575">
            <a:solidFill>
              <a:srgbClr val="7685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30"/>
          <p:cNvCxnSpPr/>
          <p:nvPr/>
        </p:nvCxnSpPr>
        <p:spPr>
          <a:xfrm flipH="1">
            <a:off x="4524000" y="1650588"/>
            <a:ext cx="8100" cy="434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Delimitan el contenido de mi página Web, indicando sus partes. Hay distintas etiquetas determinadas para cierto tipo de contenido. A través de ellas los navegadores y buscadores reconocen patrones y una estructura determinada.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&lt;header&gt; </a:t>
            </a:r>
            <a:r>
              <a:rPr lang="es"/>
              <a:t>encabezado de un documento o sección.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&lt;nav&gt; </a:t>
            </a:r>
            <a:r>
              <a:rPr lang="es"/>
              <a:t>define un conjunto de enlaces de navegación.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&lt;main&gt; </a:t>
            </a:r>
            <a:r>
              <a:rPr lang="es"/>
              <a:t>representa al contenido principal dentro del body.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&lt;section&gt; </a:t>
            </a:r>
            <a:r>
              <a:rPr lang="es"/>
              <a:t>define secciones de un documento.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&lt;article&gt; </a:t>
            </a:r>
            <a:r>
              <a:rPr lang="es"/>
              <a:t>especifica contenido independiente ej: un mensaje en un foro, comentarios, etc.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&lt;aside&gt; </a:t>
            </a:r>
            <a:r>
              <a:rPr lang="es"/>
              <a:t>se suele usar para colocar información adicional ej: publicidad.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&lt;footer&gt;</a:t>
            </a:r>
            <a:r>
              <a:rPr lang="es"/>
              <a:t> pie de página, suele contener información de contacto, mapa del sitio.</a:t>
            </a:r>
            <a:endParaRPr/>
          </a:p>
        </p:txBody>
      </p:sp>
      <p:sp>
        <p:nvSpPr>
          <p:cNvPr id="373" name="Google Shape;373;p3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Etiquetas semánticas</a:t>
            </a:r>
            <a:endParaRPr/>
          </a:p>
        </p:txBody>
      </p:sp>
      <p:sp>
        <p:nvSpPr>
          <p:cNvPr id="374" name="Google Shape;374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75" name="Google Shape;375;p31"/>
          <p:cNvPicPr preferRelativeResize="0"/>
          <p:nvPr/>
        </p:nvPicPr>
        <p:blipFill rotWithShape="1">
          <a:blip r:embed="rId3">
            <a:alphaModFix/>
          </a:blip>
          <a:srcRect b="1986" l="8883" r="8784" t="8494"/>
          <a:stretch/>
        </p:blipFill>
        <p:spPr>
          <a:xfrm>
            <a:off x="5801700" y="1152475"/>
            <a:ext cx="2241019" cy="35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Etiquetas básicas</a:t>
            </a:r>
            <a:endParaRPr/>
          </a:p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6922" y="1312288"/>
            <a:ext cx="2620153" cy="274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00" y="1348313"/>
            <a:ext cx="5000650" cy="26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Alineación de párrafos</a:t>
            </a:r>
            <a:endParaRPr/>
          </a:p>
        </p:txBody>
      </p:sp>
      <p:sp>
        <p:nvSpPr>
          <p:cNvPr id="388" name="Google Shape;388;p33"/>
          <p:cNvSpPr txBox="1"/>
          <p:nvPr>
            <p:ph idx="1" type="body"/>
          </p:nvPr>
        </p:nvSpPr>
        <p:spPr>
          <a:xfrm>
            <a:off x="311700" y="1128350"/>
            <a:ext cx="8462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&lt;p align="left"&gt;</a:t>
            </a:r>
            <a:r>
              <a:rPr lang="es"/>
              <a:t> Párrafo </a:t>
            </a:r>
            <a:r>
              <a:rPr b="1" lang="es"/>
              <a:t>&lt;/p&gt;</a:t>
            </a:r>
            <a:r>
              <a:rPr lang="es"/>
              <a:t> el atributo “align” se utiliza para definir la alineación del párrafo: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	</a:t>
            </a:r>
            <a:r>
              <a:rPr b="1" lang="es"/>
              <a:t>left</a:t>
            </a:r>
            <a:r>
              <a:rPr lang="es"/>
              <a:t>: alinea el texto a la izquierda.</a:t>
            </a:r>
            <a:br>
              <a:rPr lang="es"/>
            </a:br>
            <a:r>
              <a:rPr lang="es"/>
              <a:t>	</a:t>
            </a:r>
            <a:r>
              <a:rPr b="1" lang="es"/>
              <a:t>right</a:t>
            </a:r>
            <a:r>
              <a:rPr lang="es"/>
              <a:t>: alinea el texto a la derecha.</a:t>
            </a:r>
            <a:br>
              <a:rPr lang="es"/>
            </a:br>
            <a:r>
              <a:rPr lang="es"/>
              <a:t>	</a:t>
            </a:r>
            <a:r>
              <a:rPr b="1" lang="es"/>
              <a:t>center</a:t>
            </a:r>
            <a:r>
              <a:rPr lang="es"/>
              <a:t>: alinea el texto al centro.</a:t>
            </a:r>
            <a:br>
              <a:rPr lang="es"/>
            </a:br>
            <a:r>
              <a:rPr lang="es"/>
              <a:t>	</a:t>
            </a:r>
            <a:r>
              <a:rPr b="1" lang="es"/>
              <a:t>justify</a:t>
            </a:r>
            <a:r>
              <a:rPr lang="es"/>
              <a:t>: coloca el texto justificado, parejo a ambos lados.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89" name="Google Shape;3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050" y="2841275"/>
            <a:ext cx="7458549" cy="16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3"/>
          <p:cNvSpPr/>
          <p:nvPr/>
        </p:nvSpPr>
        <p:spPr>
          <a:xfrm>
            <a:off x="7957600" y="2880938"/>
            <a:ext cx="958800" cy="292500"/>
          </a:xfrm>
          <a:prstGeom prst="roundRect">
            <a:avLst>
              <a:gd fmla="val 16667" name="adj"/>
            </a:avLst>
          </a:prstGeom>
          <a:solidFill>
            <a:srgbClr val="F8C823"/>
          </a:solidFill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7957600" y="3286446"/>
            <a:ext cx="958800" cy="292500"/>
          </a:xfrm>
          <a:prstGeom prst="roundRect">
            <a:avLst>
              <a:gd fmla="val 16667" name="adj"/>
            </a:avLst>
          </a:prstGeom>
          <a:solidFill>
            <a:srgbClr val="F8C823"/>
          </a:solidFill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7957600" y="3691954"/>
            <a:ext cx="958800" cy="292500"/>
          </a:xfrm>
          <a:prstGeom prst="roundRect">
            <a:avLst>
              <a:gd fmla="val 16667" name="adj"/>
            </a:avLst>
          </a:prstGeom>
          <a:solidFill>
            <a:srgbClr val="F8C823"/>
          </a:solidFill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center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7957600" y="4097463"/>
            <a:ext cx="958800" cy="292500"/>
          </a:xfrm>
          <a:prstGeom prst="roundRect">
            <a:avLst>
              <a:gd fmla="val 16667" name="adj"/>
            </a:avLst>
          </a:prstGeom>
          <a:solidFill>
            <a:srgbClr val="F8C823"/>
          </a:solidFill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justify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Ejemplos de páginas Web</a:t>
            </a:r>
            <a:endParaRPr/>
          </a:p>
        </p:txBody>
      </p:sp>
      <p:sp>
        <p:nvSpPr>
          <p:cNvPr id="399" name="Google Shape;399;p34"/>
          <p:cNvSpPr txBox="1"/>
          <p:nvPr>
            <p:ph idx="1" type="body"/>
          </p:nvPr>
        </p:nvSpPr>
        <p:spPr>
          <a:xfrm>
            <a:off x="340950" y="1170000"/>
            <a:ext cx="8462100" cy="3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https://www.w3schools.com/</a:t>
            </a:r>
            <a:r>
              <a:rPr lang="es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https://instintobinario.com/category/hardware/</a:t>
            </a:r>
            <a:r>
              <a:rPr lang="es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https://blog.ida.cl/estrategia-digital/diferencias-aplicacion-web-sitio-web/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s"/>
              <a:t>Ejemplos de lo que </a:t>
            </a:r>
            <a:r>
              <a:rPr b="1" lang="es">
                <a:solidFill>
                  <a:srgbClr val="FF0000"/>
                </a:solidFill>
              </a:rPr>
              <a:t>no</a:t>
            </a:r>
            <a:r>
              <a:rPr b="1" lang="es"/>
              <a:t> hay que hacer: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6"/>
              </a:rPr>
              <a:t>http://arngren.net/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/>
              <a:t>Artículo: </a:t>
            </a:r>
            <a:r>
              <a:rPr lang="es" u="sng">
                <a:solidFill>
                  <a:schemeClr val="hlink"/>
                </a:solidFill>
                <a:hlinkClick r:id="rId7"/>
              </a:rPr>
              <a:t>https://grafix.es/las-webs-mas-horrorosas-del-mundo/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s"/>
              <a:t>Cómo pensar la estructura de un Sitio Web:      </a:t>
            </a:r>
            <a:r>
              <a:rPr lang="es"/>
              <a:t>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8"/>
              </a:rPr>
              <a:t>https://coach2coach.es/estructura-sitio-web/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s"/>
              <a:t>Actividad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s"/>
              <a:t>Clase 1</a:t>
            </a:r>
            <a:endParaRPr/>
          </a:p>
        </p:txBody>
      </p:sp>
      <p:sp>
        <p:nvSpPr>
          <p:cNvPr id="405" name="Google Shape;405;p35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/>
              <a:t>Analizar los siguientes sitios web</a:t>
            </a:r>
            <a:endParaRPr/>
          </a:p>
        </p:txBody>
      </p:sp>
      <p:pic>
        <p:nvPicPr>
          <p:cNvPr id="406" name="Google Shape;4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797687">
            <a:off x="5294825" y="641075"/>
            <a:ext cx="3505201" cy="350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Actividad:</a:t>
            </a:r>
            <a:endParaRPr/>
          </a:p>
        </p:txBody>
      </p:sp>
      <p:sp>
        <p:nvSpPr>
          <p:cNvPr id="412" name="Google Shape;412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Investigar los siguientes sitios web e identificar: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Header (encabezado)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Footer (pie)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Nav (menú)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Párrafos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Imágenes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Links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Iconos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etc.</a:t>
            </a:r>
            <a:endParaRPr/>
          </a:p>
        </p:txBody>
      </p:sp>
      <p:sp>
        <p:nvSpPr>
          <p:cNvPr id="413" name="Google Shape;413;p36"/>
          <p:cNvSpPr txBox="1"/>
          <p:nvPr>
            <p:ph idx="2" type="body"/>
          </p:nvPr>
        </p:nvSpPr>
        <p:spPr>
          <a:xfrm>
            <a:off x="5477394" y="2392952"/>
            <a:ext cx="25167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www.knorr.com/</a:t>
            </a:r>
            <a:endParaRPr/>
          </a:p>
        </p:txBody>
      </p:sp>
      <p:pic>
        <p:nvPicPr>
          <p:cNvPr id="414" name="Google Shape;414;p36"/>
          <p:cNvPicPr preferRelativeResize="0"/>
          <p:nvPr/>
        </p:nvPicPr>
        <p:blipFill rotWithShape="1">
          <a:blip r:embed="rId4">
            <a:alphaModFix/>
          </a:blip>
          <a:srcRect b="0" l="12243" r="13818" t="0"/>
          <a:stretch/>
        </p:blipFill>
        <p:spPr>
          <a:xfrm>
            <a:off x="5860031" y="928213"/>
            <a:ext cx="1751426" cy="12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0032" y="2954140"/>
            <a:ext cx="1751424" cy="11254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6"/>
          <p:cNvSpPr txBox="1"/>
          <p:nvPr>
            <p:ph idx="2" type="body"/>
          </p:nvPr>
        </p:nvSpPr>
        <p:spPr>
          <a:xfrm>
            <a:off x="5477394" y="4279838"/>
            <a:ext cx="25167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s" u="sng">
                <a:solidFill>
                  <a:schemeClr val="hlink"/>
                </a:solidFill>
                <a:hlinkClick r:id="rId6"/>
              </a:rPr>
              <a:t>www.eladerezo.com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"/>
              <a:t>Posicionamiento de sitios web en buscadores (SEO)</a:t>
            </a:r>
            <a:endParaRPr/>
          </a:p>
        </p:txBody>
      </p:sp>
      <p:sp>
        <p:nvSpPr>
          <p:cNvPr id="422" name="Google Shape;422;p37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/>
              <a:t>El posicionamiento en buscadores, optimización en motores de búsqueda o SEO (del inglés </a:t>
            </a:r>
            <a:r>
              <a:rPr i="1" lang="es"/>
              <a:t>search engine optimization</a:t>
            </a:r>
            <a:r>
              <a:rPr lang="es"/>
              <a:t>), es un conjunto de acciones orientadas a mejorar el posicionamiento de un sitio Web en la lista de resultados de Google, Bing, u otros buscadores de internet.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es"/>
              <a:t>El SEO trabaja aspectos técnicos como la optimización de la estructura y los metadatos de una web, pero también se aplica a nivel de contenidos, con el objetivo de volverlos más útiles y relevantes para los usuarios.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s"/>
              <a:t>Info útil sobre posicionamiento en la Web: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https://wellaggio.com/como-mejorar-el-posicionamiento-seo-de-mi-pagina-web/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https://developers.google.com/search/docs/beginner/seo-starter-guide?hl=es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Tarea para el proyecto:</a:t>
            </a:r>
            <a:endParaRPr/>
          </a:p>
        </p:txBody>
      </p:sp>
      <p:sp>
        <p:nvSpPr>
          <p:cNvPr id="428" name="Google Shape;428;p38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Empezar a formar un grupo/equipo de 4 personas.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Comenzar a pensar en el contenido del proyecto web.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Recuerden que la temática es libre.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Recomendamos visitar sitios web de similares temáticas.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No te olvides de dar el presente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Recordá: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Revisar la Cartelera de Novedades.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Hacer tus consultas en el Foro.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 sz="3200"/>
              <a:t>Todo en el Aula Virtual.</a:t>
            </a:r>
            <a:endParaRPr sz="3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700"/>
              <a:buNone/>
            </a:pPr>
            <a:r>
              <a:rPr lang="es"/>
              <a:t>Muchas gracias por tu atención.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700"/>
              <a:buNone/>
            </a:pPr>
            <a:r>
              <a:rPr lang="es"/>
              <a:t>Nos vemos pronto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