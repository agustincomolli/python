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Montserrat SemiBold"/>
      <p:regular r:id="rId44"/>
      <p:bold r:id="rId45"/>
      <p:italic r:id="rId46"/>
      <p:boldItalic r:id="rId47"/>
    </p:embeddedFont>
    <p:embeddedFont>
      <p:font typeface="Montserrat"/>
      <p:regular r:id="rId48"/>
      <p:bold r:id="rId49"/>
      <p:italic r:id="rId50"/>
      <p:boldItalic r:id="rId51"/>
    </p:embeddedFont>
    <p:embeddedFont>
      <p:font typeface="Montserrat Medium"/>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GoogleSlidesCustomDataVersion2">
      <go:slidesCustomData xmlns:go="http://customooxmlschemas.google.com/" r:id="rId56" roundtripDataSignature="AMtx7mgmvfT+qhXcLPCglr43w8kpDGA/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MontserratSemiBold-regular.fntdata"/><Relationship Id="rId43" Type="http://schemas.openxmlformats.org/officeDocument/2006/relationships/slide" Target="slides/slide38.xml"/><Relationship Id="rId46" Type="http://schemas.openxmlformats.org/officeDocument/2006/relationships/font" Target="fonts/MontserratSemiBold-italic.fntdata"/><Relationship Id="rId45" Type="http://schemas.openxmlformats.org/officeDocument/2006/relationships/font" Target="fonts/Montserrat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regular.fntdata"/><Relationship Id="rId47" Type="http://schemas.openxmlformats.org/officeDocument/2006/relationships/font" Target="fonts/MontserratSemiBold-boldItalic.fntdata"/><Relationship Id="rId49"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oldItalic.fntdata"/><Relationship Id="rId50" Type="http://schemas.openxmlformats.org/officeDocument/2006/relationships/font" Target="fonts/Montserrat-italic.fntdata"/><Relationship Id="rId53" Type="http://schemas.openxmlformats.org/officeDocument/2006/relationships/font" Target="fonts/MontserratMedium-bold.fntdata"/><Relationship Id="rId52" Type="http://schemas.openxmlformats.org/officeDocument/2006/relationships/font" Target="fonts/MontserratMedium-regular.fntdata"/><Relationship Id="rId11" Type="http://schemas.openxmlformats.org/officeDocument/2006/relationships/slide" Target="slides/slide6.xml"/><Relationship Id="rId55" Type="http://schemas.openxmlformats.org/officeDocument/2006/relationships/font" Target="fonts/MontserratMedium-boldItalic.fntdata"/><Relationship Id="rId10" Type="http://schemas.openxmlformats.org/officeDocument/2006/relationships/slide" Target="slides/slide5.xml"/><Relationship Id="rId54" Type="http://schemas.openxmlformats.org/officeDocument/2006/relationships/font" Target="fonts/MontserratMedium-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40"/>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40"/>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40"/>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40"/>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40"/>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4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4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1"/>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4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4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4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4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4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4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2"/>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2"/>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42"/>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42"/>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42"/>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42"/>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42"/>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4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4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4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42"/>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4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3"/>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43"/>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43"/>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43"/>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43"/>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4"/>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4"/>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4"/>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45"/>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45"/>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45"/>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45"/>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4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4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6"/>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4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4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4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46"/>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4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47"/>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4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47"/>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4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4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8"/>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48"/>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48"/>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48"/>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9"/>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49"/>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4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9"/>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49"/>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4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0"/>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50"/>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50"/>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5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50"/>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50"/>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50"/>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50"/>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5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5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51"/>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51"/>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51"/>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51"/>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51"/>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52"/>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52"/>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2"/>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2"/>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52"/>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52"/>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2"/>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2"/>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52"/>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2"/>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52"/>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5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3"/>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3"/>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3"/>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3"/>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3"/>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3"/>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3"/>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3"/>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3"/>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carmoreno.com.co/python/2020/03/03/programacion-orientada-objetos-python-POO-herencia-composicion-clase-objeto-encapsulac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hyperlink" Target="https://kinsta.com/es/blog/programacion-orientada-objetos-python/" TargetMode="External"/><Relationship Id="rId4" Type="http://schemas.openxmlformats.org/officeDocument/2006/relationships/hyperlink" Target="https://pythones.net/propiedades-en-python-oop/" TargetMode="External"/><Relationship Id="rId9" Type="http://schemas.openxmlformats.org/officeDocument/2006/relationships/hyperlink" Target="https://www.youtube.com/watch?v=xOhz-8PZmw0&amp;ab_channel=yacklyon" TargetMode="External"/><Relationship Id="rId5" Type="http://schemas.openxmlformats.org/officeDocument/2006/relationships/hyperlink" Target="https://carmoreno.com.co/python/2020/03/03/programacion-orientada-objetos-python-POO-herencia-composicion-clase-objeto-encapsulacion/" TargetMode="External"/><Relationship Id="rId6" Type="http://schemas.openxmlformats.org/officeDocument/2006/relationships/hyperlink" Target="https://www.youtube.com/watch?v=Y_SiIgxc-xI&amp;list=PLU8oAlHdN5BlvPxziopYZRd55pdqFwkeS&amp;index=26" TargetMode="External"/><Relationship Id="rId7" Type="http://schemas.openxmlformats.org/officeDocument/2006/relationships/hyperlink" Target="https://www.youtube.com/watch?v=x5CY8fVyYLo&amp;list=PLU8oAlHdN5BlvPxziopYZRd55pdqFwkeS&amp;index=27" TargetMode="External"/><Relationship Id="rId8" Type="http://schemas.openxmlformats.org/officeDocument/2006/relationships/hyperlink" Target="https://www.youtube.com/watch?v=OU-e2uhoGxE&amp;list=PLU8oAlHdN5BlvPxziopYZRd55pdqFwkeS&amp;index=28&amp;ab_channel=pildorasinformatica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30</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6</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0" lang="es"/>
              <a:t>Colaboración entre clases y encapsulamiento</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30</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29</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31</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b="1" lang="es"/>
              <a:t>Clases y objetos</a:t>
            </a:r>
            <a:endParaRPr b="1"/>
          </a:p>
          <a:p>
            <a:pPr indent="0" lvl="0" marL="457200" rtl="0" algn="l">
              <a:lnSpc>
                <a:spcPct val="115000"/>
              </a:lnSpc>
              <a:spcBef>
                <a:spcPts val="0"/>
              </a:spcBef>
              <a:spcAft>
                <a:spcPts val="0"/>
              </a:spcAft>
              <a:buSzPts val="1000"/>
              <a:buNone/>
            </a:pPr>
            <a:r>
              <a:t/>
            </a:r>
            <a:endParaRPr b="1"/>
          </a:p>
          <a:p>
            <a:pPr indent="-285750" lvl="0" marL="457200" rtl="0" algn="l">
              <a:lnSpc>
                <a:spcPct val="115000"/>
              </a:lnSpc>
              <a:spcBef>
                <a:spcPts val="0"/>
              </a:spcBef>
              <a:spcAft>
                <a:spcPts val="0"/>
              </a:spcAft>
              <a:buSzPts val="900"/>
              <a:buChar char="●"/>
            </a:pPr>
            <a:r>
              <a:rPr lang="es" sz="900"/>
              <a:t>Paradigmas de programación. Programación estructurada vs POO.</a:t>
            </a:r>
            <a:endParaRPr sz="900"/>
          </a:p>
          <a:p>
            <a:pPr indent="-285750" lvl="0" marL="457200" rtl="0" algn="l">
              <a:lnSpc>
                <a:spcPct val="115000"/>
              </a:lnSpc>
              <a:spcBef>
                <a:spcPts val="0"/>
              </a:spcBef>
              <a:spcAft>
                <a:spcPts val="0"/>
              </a:spcAft>
              <a:buSzPts val="900"/>
              <a:buChar char="●"/>
            </a:pPr>
            <a:r>
              <a:rPr lang="es" sz="900"/>
              <a:t>Clases, objetos y atributos.</a:t>
            </a:r>
            <a:endParaRPr sz="900"/>
          </a:p>
          <a:p>
            <a:pPr indent="-285750" lvl="0" marL="457200" rtl="0" algn="l">
              <a:lnSpc>
                <a:spcPct val="115000"/>
              </a:lnSpc>
              <a:spcBef>
                <a:spcPts val="0"/>
              </a:spcBef>
              <a:spcAft>
                <a:spcPts val="0"/>
              </a:spcAft>
              <a:buSzPts val="900"/>
              <a:buChar char="●"/>
            </a:pPr>
            <a:r>
              <a:rPr lang="es" sz="900"/>
              <a:t>Métodos de clase y métodos especiales: init, del y str.</a:t>
            </a:r>
            <a:endParaRPr sz="900"/>
          </a:p>
          <a:p>
            <a:pPr indent="0" lvl="0" marL="457200" rtl="0" algn="l">
              <a:lnSpc>
                <a:spcPct val="115000"/>
              </a:lnSpc>
              <a:spcBef>
                <a:spcPts val="0"/>
              </a:spcBef>
              <a:spcAft>
                <a:spcPts val="0"/>
              </a:spcAft>
              <a:buSzPts val="1000"/>
              <a:buNone/>
            </a:pPr>
            <a:r>
              <a:t/>
            </a:r>
            <a:endParaRPr b="1"/>
          </a:p>
          <a:p>
            <a:pPr indent="0" lvl="0" marL="45720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s"/>
              <a:t>Herencia y Polimorfismo</a:t>
            </a:r>
            <a:endParaRPr b="1"/>
          </a:p>
          <a:p>
            <a:pPr indent="0" lvl="0" marL="0" rtl="0" algn="l">
              <a:lnSpc>
                <a:spcPct val="115000"/>
              </a:lnSpc>
              <a:spcBef>
                <a:spcPts val="0"/>
              </a:spcBef>
              <a:spcAft>
                <a:spcPts val="0"/>
              </a:spcAft>
              <a:buSzPts val="1000"/>
              <a:buNone/>
            </a:pPr>
            <a:r>
              <a:t/>
            </a:r>
            <a:endParaRPr b="1"/>
          </a:p>
          <a:p>
            <a:pPr indent="-279400" lvl="0" marL="457200" marR="0" rtl="0" algn="l">
              <a:lnSpc>
                <a:spcPct val="115000"/>
              </a:lnSpc>
              <a:spcBef>
                <a:spcPts val="0"/>
              </a:spcBef>
              <a:spcAft>
                <a:spcPts val="0"/>
              </a:spcAft>
              <a:buSzPts val="800"/>
              <a:buChar char="●"/>
            </a:pPr>
            <a:r>
              <a:rPr lang="es" sz="900"/>
              <a:t>Herencia.</a:t>
            </a:r>
            <a:endParaRPr sz="900"/>
          </a:p>
          <a:p>
            <a:pPr indent="-279400" lvl="0" marL="457200" marR="0" rtl="0" algn="l">
              <a:lnSpc>
                <a:spcPct val="115000"/>
              </a:lnSpc>
              <a:spcBef>
                <a:spcPts val="0"/>
              </a:spcBef>
              <a:spcAft>
                <a:spcPts val="0"/>
              </a:spcAft>
              <a:buSzPts val="800"/>
              <a:buChar char="●"/>
            </a:pPr>
            <a:r>
              <a:rPr lang="es" sz="900"/>
              <a:t>Polimorfismo.</a:t>
            </a:r>
            <a:endParaRPr sz="900"/>
          </a:p>
          <a:p>
            <a:pPr indent="-279400" lvl="0" marL="457200" marR="0" rtl="0" algn="l">
              <a:lnSpc>
                <a:spcPct val="115000"/>
              </a:lnSpc>
              <a:spcBef>
                <a:spcPts val="0"/>
              </a:spcBef>
              <a:spcAft>
                <a:spcPts val="0"/>
              </a:spcAft>
              <a:buSzPts val="800"/>
              <a:buChar char="●"/>
            </a:pPr>
            <a:r>
              <a:rPr lang="es" sz="900"/>
              <a:t>Herencia simple y múltiple.</a:t>
            </a:r>
            <a:endParaRPr sz="900"/>
          </a:p>
          <a:p>
            <a:pPr indent="-279400" lvl="0" marL="457200" marR="0" rtl="0" algn="l">
              <a:lnSpc>
                <a:spcPct val="115000"/>
              </a:lnSpc>
              <a:spcBef>
                <a:spcPts val="0"/>
              </a:spcBef>
              <a:spcAft>
                <a:spcPts val="0"/>
              </a:spcAft>
              <a:buSzPts val="800"/>
              <a:buChar char="●"/>
            </a:pPr>
            <a:r>
              <a:rPr lang="es" sz="900"/>
              <a:t>Clases Abstractas.</a:t>
            </a:r>
            <a:endParaRPr sz="900"/>
          </a:p>
          <a:p>
            <a:pPr indent="-279400" lvl="0" marL="457200" marR="0" rtl="0" algn="l">
              <a:lnSpc>
                <a:spcPct val="115000"/>
              </a:lnSpc>
              <a:spcBef>
                <a:spcPts val="0"/>
              </a:spcBef>
              <a:spcAft>
                <a:spcPts val="0"/>
              </a:spcAft>
              <a:buSzPts val="800"/>
              <a:buChar char="●"/>
            </a:pPr>
            <a:r>
              <a:rPr lang="es" sz="900"/>
              <a:t>Diagrama de Clases.</a:t>
            </a:r>
            <a:endParaRPr b="1"/>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s"/>
              <a:t>Colaboración entre clases y Encapsulamiento</a:t>
            </a:r>
            <a:endParaRPr b="1"/>
          </a:p>
          <a:p>
            <a:pPr indent="0" lvl="0" marL="0" rtl="0" algn="l">
              <a:lnSpc>
                <a:spcPct val="115000"/>
              </a:lnSpc>
              <a:spcBef>
                <a:spcPts val="0"/>
              </a:spcBef>
              <a:spcAft>
                <a:spcPts val="0"/>
              </a:spcAft>
              <a:buSzPts val="1000"/>
              <a:buNone/>
            </a:pPr>
            <a:r>
              <a:t/>
            </a:r>
            <a:endParaRPr b="1"/>
          </a:p>
          <a:p>
            <a:pPr indent="-279400" lvl="0" marL="457200" rtl="0" algn="l">
              <a:lnSpc>
                <a:spcPct val="115000"/>
              </a:lnSpc>
              <a:spcBef>
                <a:spcPts val="0"/>
              </a:spcBef>
              <a:spcAft>
                <a:spcPts val="0"/>
              </a:spcAft>
              <a:buSzPts val="800"/>
              <a:buChar char="●"/>
            </a:pPr>
            <a:r>
              <a:rPr lang="es" sz="900"/>
              <a:t>Mensajes y Métodos.</a:t>
            </a:r>
            <a:endParaRPr sz="900"/>
          </a:p>
          <a:p>
            <a:pPr indent="-279400" lvl="0" marL="457200" rtl="0" algn="l">
              <a:lnSpc>
                <a:spcPct val="115000"/>
              </a:lnSpc>
              <a:spcBef>
                <a:spcPts val="0"/>
              </a:spcBef>
              <a:spcAft>
                <a:spcPts val="0"/>
              </a:spcAft>
              <a:buSzPts val="800"/>
              <a:buChar char="●"/>
            </a:pPr>
            <a:r>
              <a:rPr lang="es" sz="900"/>
              <a:t>Colaboración entre clases.</a:t>
            </a:r>
            <a:endParaRPr sz="900"/>
          </a:p>
          <a:p>
            <a:pPr indent="-279400" lvl="0" marL="457200" rtl="0" algn="l">
              <a:lnSpc>
                <a:spcPct val="115000"/>
              </a:lnSpc>
              <a:spcBef>
                <a:spcPts val="0"/>
              </a:spcBef>
              <a:spcAft>
                <a:spcPts val="0"/>
              </a:spcAft>
              <a:buSzPts val="800"/>
              <a:buChar char="●"/>
            </a:pPr>
            <a:r>
              <a:rPr lang="es" sz="900"/>
              <a:t>Atributos de clase.</a:t>
            </a:r>
            <a:endParaRPr sz="900"/>
          </a:p>
          <a:p>
            <a:pPr indent="-279400" lvl="0" marL="457200" rtl="0" algn="l">
              <a:lnSpc>
                <a:spcPct val="115000"/>
              </a:lnSpc>
              <a:spcBef>
                <a:spcPts val="0"/>
              </a:spcBef>
              <a:spcAft>
                <a:spcPts val="0"/>
              </a:spcAft>
              <a:buSzPts val="800"/>
              <a:buChar char="●"/>
            </a:pPr>
            <a:r>
              <a:rPr lang="es" sz="900"/>
              <a:t>Composición.</a:t>
            </a:r>
            <a:endParaRPr sz="900"/>
          </a:p>
          <a:p>
            <a:pPr indent="-279400" lvl="0" marL="457200" rtl="0" algn="l">
              <a:lnSpc>
                <a:spcPct val="115000"/>
              </a:lnSpc>
              <a:spcBef>
                <a:spcPts val="0"/>
              </a:spcBef>
              <a:spcAft>
                <a:spcPts val="0"/>
              </a:spcAft>
              <a:buSzPts val="800"/>
              <a:buChar char="●"/>
            </a:pPr>
            <a:r>
              <a:rPr lang="es" sz="900"/>
              <a:t>Encapsular atributos y métodos.</a:t>
            </a:r>
            <a:endParaRPr sz="900"/>
          </a:p>
          <a:p>
            <a:pPr indent="-279400" lvl="0" marL="457200" rtl="0" algn="l">
              <a:lnSpc>
                <a:spcPct val="115000"/>
              </a:lnSpc>
              <a:spcBef>
                <a:spcPts val="0"/>
              </a:spcBef>
              <a:spcAft>
                <a:spcPts val="0"/>
              </a:spcAft>
              <a:buSzPts val="800"/>
              <a:buChar char="●"/>
            </a:pPr>
            <a:r>
              <a:rPr lang="es" sz="900"/>
              <a:t>Decorators.</a:t>
            </a:r>
            <a:endParaRPr b="1"/>
          </a:p>
          <a:p>
            <a:pPr indent="0" lvl="0" marL="457200" rtl="0" algn="l">
              <a:lnSpc>
                <a:spcPct val="115000"/>
              </a:lnSpc>
              <a:spcBef>
                <a:spcPts val="0"/>
              </a:spcBef>
              <a:spcAft>
                <a:spcPts val="0"/>
              </a:spcAft>
              <a:buSzPts val="1000"/>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Colaboración de clases</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Normalmente en un problema resuelto con la metodología de programación orientada a objetos no interviene una sola clase, sino que hay muchas clases que interactúan y se comunican. </a:t>
            </a:r>
            <a:endParaRPr/>
          </a:p>
          <a:p>
            <a:pPr indent="0" lvl="0" marL="0" rtl="0" algn="l">
              <a:lnSpc>
                <a:spcPct val="100000"/>
              </a:lnSpc>
              <a:spcBef>
                <a:spcPts val="0"/>
              </a:spcBef>
              <a:spcAft>
                <a:spcPts val="0"/>
              </a:spcAft>
              <a:buSzPts val="1700"/>
              <a:buNone/>
            </a:pPr>
            <a:r>
              <a:rPr lang="es"/>
              <a:t>Esta </a:t>
            </a:r>
            <a:r>
              <a:rPr b="1" lang="es">
                <a:latin typeface="Montserrat"/>
                <a:ea typeface="Montserrat"/>
                <a:cs typeface="Montserrat"/>
                <a:sym typeface="Montserrat"/>
              </a:rPr>
              <a:t>colaboración entre clases</a:t>
            </a:r>
            <a:r>
              <a:rPr lang="es"/>
              <a:t> se manifiesta como la posibilidad de utilizar en una clase objetos que son instancias de una clase diferente.</a:t>
            </a:r>
            <a:endParaRPr/>
          </a:p>
          <a:p>
            <a:pPr indent="0" lvl="0" marL="0" rtl="0" algn="l">
              <a:lnSpc>
                <a:spcPct val="100000"/>
              </a:lnSpc>
              <a:spcBef>
                <a:spcPts val="0"/>
              </a:spcBef>
              <a:spcAft>
                <a:spcPts val="0"/>
              </a:spcAft>
              <a:buSzPts val="1700"/>
              <a:buNone/>
            </a:pPr>
            <a:r>
              <a:rPr lang="es"/>
              <a:t>Este mecanismo potencia el alcance que tiene la Programación Orientada a Objetos, facilitando aún más el desarrollo de soluciones a problemas complejos sin necesidad de escribir código extenso o difícil de leer.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de clases</a:t>
            </a:r>
            <a:endParaRPr/>
          </a:p>
        </p:txBody>
      </p:sp>
      <p:sp>
        <p:nvSpPr>
          <p:cNvPr id="179" name="Google Shape;179;p6"/>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Para entender cómo se produce la colaboración entre clases vamos a desarrollar algunos ejemplos, explicando paso a paso que estamos haciendo.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chemeClr val="dk2"/>
                </a:solidFill>
                <a:latin typeface="Montserrat"/>
                <a:ea typeface="Montserrat"/>
                <a:cs typeface="Montserrat"/>
                <a:sym typeface="Montserrat"/>
              </a:rPr>
              <a:t>Enunciado 1:</a:t>
            </a:r>
            <a:r>
              <a:rPr b="0" i="0" lang="es" sz="1682" u="none" cap="none" strike="noStrike">
                <a:solidFill>
                  <a:schemeClr val="dk2"/>
                </a:solidFill>
                <a:latin typeface="Montserrat"/>
                <a:ea typeface="Montserrat"/>
                <a:cs typeface="Montserrat"/>
                <a:sym typeface="Montserrat"/>
              </a:rPr>
              <a:t>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Un banco tiene 3 clientes que pueden hacer depósitos y extracciones. </a:t>
            </a:r>
            <a:endParaRPr b="0" i="1"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El banco necesita obtener, al final del día, un reporte de la cantidad de dinero que sus clientes han depositado.</a:t>
            </a:r>
            <a:endParaRPr b="0" i="1"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Del enunciado se deduce que necesitamos objetos de dos clases: </a:t>
            </a:r>
            <a:r>
              <a:rPr b="1" i="0" lang="es" sz="1682" u="none" cap="none" strike="noStrike">
                <a:solidFill>
                  <a:schemeClr val="dk2"/>
                </a:solidFill>
                <a:latin typeface="Montserrat"/>
                <a:ea typeface="Montserrat"/>
                <a:cs typeface="Montserrat"/>
                <a:sym typeface="Montserrat"/>
              </a:rPr>
              <a:t>clientes</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bancos</a:t>
            </a:r>
            <a:r>
              <a:rPr b="0" i="0" lang="es" sz="1682" u="none" cap="none" strike="noStrike">
                <a:solidFill>
                  <a:schemeClr val="dk2"/>
                </a:solidFill>
                <a:latin typeface="Montserrat"/>
                <a:ea typeface="Montserrat"/>
                <a:cs typeface="Montserrat"/>
                <a:sym typeface="Montserrat"/>
              </a:rPr>
              <a:t>. Para cada una de estas entidades necesitamos crear una clase, y luego instanciar la cantidad necesaria de cada objeto.</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nvSpPr>
        <p:spPr>
          <a:xfrm>
            <a:off x="432150" y="1267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Identificadas las clases, que llamaremos </a:t>
            </a:r>
            <a:r>
              <a:rPr b="1" i="0" lang="es" sz="1682" u="none" cap="none" strike="noStrike">
                <a:solidFill>
                  <a:schemeClr val="dk2"/>
                </a:solidFill>
                <a:latin typeface="Montserrat"/>
                <a:ea typeface="Montserrat"/>
                <a:cs typeface="Montserrat"/>
                <a:sym typeface="Montserrat"/>
              </a:rPr>
              <a:t>Cliente</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Banco</a:t>
            </a:r>
            <a:r>
              <a:rPr b="0" i="0" lang="es" sz="1682" u="none" cap="none" strike="noStrike">
                <a:solidFill>
                  <a:schemeClr val="dk2"/>
                </a:solidFill>
                <a:latin typeface="Montserrat"/>
                <a:ea typeface="Montserrat"/>
                <a:cs typeface="Montserrat"/>
                <a:sym typeface="Montserrat"/>
              </a:rPr>
              <a:t> respectivamente, definimos qué </a:t>
            </a:r>
            <a:r>
              <a:rPr b="1" i="0" lang="es" sz="1682" u="none" cap="none" strike="noStrike">
                <a:solidFill>
                  <a:schemeClr val="dk2"/>
                </a:solidFill>
                <a:latin typeface="Montserrat"/>
                <a:ea typeface="Montserrat"/>
                <a:cs typeface="Montserrat"/>
                <a:sym typeface="Montserrat"/>
              </a:rPr>
              <a:t>atributos</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métodos</a:t>
            </a:r>
            <a:r>
              <a:rPr b="0" i="0" lang="es" sz="1682" u="none" cap="none" strike="noStrike">
                <a:solidFill>
                  <a:schemeClr val="dk2"/>
                </a:solidFill>
                <a:latin typeface="Montserrat"/>
                <a:ea typeface="Montserrat"/>
                <a:cs typeface="Montserrat"/>
                <a:sym typeface="Montserrat"/>
              </a:rPr>
              <a:t> necesitamos implementar en cada una.</a:t>
            </a:r>
            <a:endParaRPr b="0" i="0" sz="1682" u="none" cap="none" strike="noStrike">
              <a:solidFill>
                <a:srgbClr val="595959"/>
              </a:solidFill>
              <a:latin typeface="Montserrat"/>
              <a:ea typeface="Montserrat"/>
              <a:cs typeface="Montserrat"/>
              <a:sym typeface="Montserrat"/>
            </a:endParaRPr>
          </a:p>
        </p:txBody>
      </p:sp>
      <p:sp>
        <p:nvSpPr>
          <p:cNvPr id="185" name="Google Shape;185;p7"/>
          <p:cNvSpPr/>
          <p:nvPr/>
        </p:nvSpPr>
        <p:spPr>
          <a:xfrm>
            <a:off x="7446550" y="2089338"/>
            <a:ext cx="1087200" cy="7605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3 objetos de la clase </a:t>
            </a:r>
            <a:r>
              <a:rPr b="1" i="0" lang="es" sz="1100" u="none" cap="none" strike="noStrike">
                <a:solidFill>
                  <a:schemeClr val="dk2"/>
                </a:solidFill>
                <a:latin typeface="Montserrat"/>
                <a:ea typeface="Montserrat"/>
                <a:cs typeface="Montserrat"/>
                <a:sym typeface="Montserrat"/>
              </a:rPr>
              <a:t>Cliente</a:t>
            </a:r>
            <a:endParaRPr b="1" i="0" sz="1100" u="none" cap="none" strike="noStrike">
              <a:solidFill>
                <a:schemeClr val="dk2"/>
              </a:solidFill>
              <a:latin typeface="Montserrat"/>
              <a:ea typeface="Montserrat"/>
              <a:cs typeface="Montserrat"/>
              <a:sym typeface="Montserrat"/>
            </a:endParaRPr>
          </a:p>
        </p:txBody>
      </p:sp>
      <p:sp>
        <p:nvSpPr>
          <p:cNvPr id="186" name="Google Shape;186;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de clases</a:t>
            </a:r>
            <a:endParaRPr/>
          </a:p>
        </p:txBody>
      </p:sp>
      <p:cxnSp>
        <p:nvCxnSpPr>
          <p:cNvPr id="187" name="Google Shape;187;p7"/>
          <p:cNvCxnSpPr>
            <a:stCxn id="188" idx="0"/>
            <a:endCxn id="189" idx="1"/>
          </p:cNvCxnSpPr>
          <p:nvPr/>
        </p:nvCxnSpPr>
        <p:spPr>
          <a:xfrm flipH="1" rot="10800000">
            <a:off x="1153850" y="2747925"/>
            <a:ext cx="774300" cy="300000"/>
          </a:xfrm>
          <a:prstGeom prst="straightConnector1">
            <a:avLst/>
          </a:prstGeom>
          <a:noFill/>
          <a:ln cap="flat" cmpd="sng" w="28575">
            <a:solidFill>
              <a:schemeClr val="dk2"/>
            </a:solidFill>
            <a:prstDash val="solid"/>
            <a:round/>
            <a:headEnd len="sm" w="sm" type="none"/>
            <a:tailEnd len="med" w="med" type="triangle"/>
          </a:ln>
        </p:spPr>
      </p:cxnSp>
      <p:sp>
        <p:nvSpPr>
          <p:cNvPr id="188" name="Google Shape;188;p7"/>
          <p:cNvSpPr/>
          <p:nvPr/>
        </p:nvSpPr>
        <p:spPr>
          <a:xfrm>
            <a:off x="610250" y="3047925"/>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Cliente</a:t>
            </a:r>
            <a:endParaRPr b="1" i="0" sz="1100" u="none" cap="none" strike="noStrike">
              <a:solidFill>
                <a:schemeClr val="dk2"/>
              </a:solidFill>
              <a:latin typeface="Montserrat"/>
              <a:ea typeface="Montserrat"/>
              <a:cs typeface="Montserrat"/>
              <a:sym typeface="Montserrat"/>
            </a:endParaRPr>
          </a:p>
        </p:txBody>
      </p:sp>
      <p:sp>
        <p:nvSpPr>
          <p:cNvPr id="190" name="Google Shape;190;p7"/>
          <p:cNvSpPr/>
          <p:nvPr/>
        </p:nvSpPr>
        <p:spPr>
          <a:xfrm>
            <a:off x="3352450" y="2489663"/>
            <a:ext cx="10872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nombre</a:t>
            </a:r>
            <a:endParaRPr b="0" i="0" sz="1100" u="none" cap="none" strike="noStrike">
              <a:solidFill>
                <a:schemeClr val="dk2"/>
              </a:solidFill>
              <a:latin typeface="Montserrat"/>
              <a:ea typeface="Montserrat"/>
              <a:cs typeface="Montserrat"/>
              <a:sym typeface="Montserrat"/>
            </a:endParaRPr>
          </a:p>
        </p:txBody>
      </p:sp>
      <p:sp>
        <p:nvSpPr>
          <p:cNvPr id="191" name="Google Shape;191;p7"/>
          <p:cNvSpPr/>
          <p:nvPr/>
        </p:nvSpPr>
        <p:spPr>
          <a:xfrm>
            <a:off x="3352450" y="2089313"/>
            <a:ext cx="10872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monto</a:t>
            </a:r>
            <a:endParaRPr b="0" i="0" sz="1100" u="none" cap="none" strike="noStrike">
              <a:solidFill>
                <a:schemeClr val="dk2"/>
              </a:solidFill>
              <a:latin typeface="Montserrat"/>
              <a:ea typeface="Montserrat"/>
              <a:cs typeface="Montserrat"/>
              <a:sym typeface="Montserrat"/>
            </a:endParaRPr>
          </a:p>
        </p:txBody>
      </p:sp>
      <p:sp>
        <p:nvSpPr>
          <p:cNvPr id="192" name="Google Shape;192;p7"/>
          <p:cNvSpPr/>
          <p:nvPr/>
        </p:nvSpPr>
        <p:spPr>
          <a:xfrm>
            <a:off x="3352450" y="292373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193" name="Google Shape;193;p7"/>
          <p:cNvSpPr/>
          <p:nvPr/>
        </p:nvSpPr>
        <p:spPr>
          <a:xfrm>
            <a:off x="3352450" y="332638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depositar</a:t>
            </a:r>
            <a:endParaRPr b="0" i="0" sz="1100" u="none" cap="none" strike="noStrike">
              <a:solidFill>
                <a:schemeClr val="dk2"/>
              </a:solidFill>
              <a:latin typeface="Montserrat"/>
              <a:ea typeface="Montserrat"/>
              <a:cs typeface="Montserrat"/>
              <a:sym typeface="Montserrat"/>
            </a:endParaRPr>
          </a:p>
        </p:txBody>
      </p:sp>
      <p:sp>
        <p:nvSpPr>
          <p:cNvPr id="194" name="Google Shape;194;p7"/>
          <p:cNvSpPr/>
          <p:nvPr/>
        </p:nvSpPr>
        <p:spPr>
          <a:xfrm>
            <a:off x="3352450" y="372903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extraer</a:t>
            </a:r>
            <a:endParaRPr b="0" i="0" sz="1100" u="none" cap="none" strike="noStrike">
              <a:solidFill>
                <a:schemeClr val="dk2"/>
              </a:solidFill>
              <a:latin typeface="Montserrat"/>
              <a:ea typeface="Montserrat"/>
              <a:cs typeface="Montserrat"/>
              <a:sym typeface="Montserrat"/>
            </a:endParaRPr>
          </a:p>
        </p:txBody>
      </p:sp>
      <p:sp>
        <p:nvSpPr>
          <p:cNvPr id="195" name="Google Shape;195;p7"/>
          <p:cNvSpPr/>
          <p:nvPr/>
        </p:nvSpPr>
        <p:spPr>
          <a:xfrm>
            <a:off x="3352450" y="4131700"/>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retornar_monto</a:t>
            </a:r>
            <a:endParaRPr b="0" i="0" sz="1100" u="none" cap="none" strike="noStrike">
              <a:solidFill>
                <a:schemeClr val="dk2"/>
              </a:solidFill>
              <a:latin typeface="Montserrat"/>
              <a:ea typeface="Montserrat"/>
              <a:cs typeface="Montserrat"/>
              <a:sym typeface="Montserrat"/>
            </a:endParaRPr>
          </a:p>
        </p:txBody>
      </p:sp>
      <p:sp>
        <p:nvSpPr>
          <p:cNvPr id="189" name="Google Shape;189;p7"/>
          <p:cNvSpPr/>
          <p:nvPr/>
        </p:nvSpPr>
        <p:spPr>
          <a:xfrm>
            <a:off x="1928050" y="2568000"/>
            <a:ext cx="10872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196" name="Google Shape;196;p7"/>
          <p:cNvSpPr/>
          <p:nvPr/>
        </p:nvSpPr>
        <p:spPr>
          <a:xfrm>
            <a:off x="1928050" y="3527725"/>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197" name="Google Shape;197;p7"/>
          <p:cNvCxnSpPr>
            <a:stCxn id="188" idx="2"/>
            <a:endCxn id="196" idx="1"/>
          </p:cNvCxnSpPr>
          <p:nvPr/>
        </p:nvCxnSpPr>
        <p:spPr>
          <a:xfrm>
            <a:off x="1153850" y="3407925"/>
            <a:ext cx="774300" cy="299700"/>
          </a:xfrm>
          <a:prstGeom prst="straightConnector1">
            <a:avLst/>
          </a:prstGeom>
          <a:noFill/>
          <a:ln cap="flat" cmpd="sng" w="28575">
            <a:solidFill>
              <a:schemeClr val="dk2"/>
            </a:solidFill>
            <a:prstDash val="solid"/>
            <a:round/>
            <a:headEnd len="sm" w="sm" type="none"/>
            <a:tailEnd len="med" w="med" type="triangle"/>
          </a:ln>
        </p:spPr>
      </p:cxnSp>
      <p:cxnSp>
        <p:nvCxnSpPr>
          <p:cNvPr id="198" name="Google Shape;198;p7"/>
          <p:cNvCxnSpPr>
            <a:stCxn id="189" idx="3"/>
          </p:cNvCxnSpPr>
          <p:nvPr/>
        </p:nvCxnSpPr>
        <p:spPr>
          <a:xfrm flipH="1" rot="10800000">
            <a:off x="3015250" y="2271300"/>
            <a:ext cx="337200" cy="476700"/>
          </a:xfrm>
          <a:prstGeom prst="straightConnector1">
            <a:avLst/>
          </a:prstGeom>
          <a:noFill/>
          <a:ln cap="flat" cmpd="sng" w="28575">
            <a:solidFill>
              <a:schemeClr val="dk2"/>
            </a:solidFill>
            <a:prstDash val="solid"/>
            <a:round/>
            <a:headEnd len="sm" w="sm" type="none"/>
            <a:tailEnd len="med" w="med" type="triangle"/>
          </a:ln>
        </p:spPr>
      </p:cxnSp>
      <p:cxnSp>
        <p:nvCxnSpPr>
          <p:cNvPr id="199" name="Google Shape;199;p7"/>
          <p:cNvCxnSpPr>
            <a:stCxn id="189" idx="3"/>
            <a:endCxn id="190" idx="1"/>
          </p:cNvCxnSpPr>
          <p:nvPr/>
        </p:nvCxnSpPr>
        <p:spPr>
          <a:xfrm flipH="1" rot="10800000">
            <a:off x="3015250" y="2669700"/>
            <a:ext cx="337200" cy="78300"/>
          </a:xfrm>
          <a:prstGeom prst="straightConnector1">
            <a:avLst/>
          </a:prstGeom>
          <a:noFill/>
          <a:ln cap="flat" cmpd="sng" w="28575">
            <a:solidFill>
              <a:schemeClr val="dk2"/>
            </a:solidFill>
            <a:prstDash val="solid"/>
            <a:round/>
            <a:headEnd len="sm" w="sm" type="none"/>
            <a:tailEnd len="med" w="med" type="triangle"/>
          </a:ln>
        </p:spPr>
      </p:cxnSp>
      <p:cxnSp>
        <p:nvCxnSpPr>
          <p:cNvPr id="200" name="Google Shape;200;p7"/>
          <p:cNvCxnSpPr>
            <a:stCxn id="196" idx="3"/>
            <a:endCxn id="192" idx="1"/>
          </p:cNvCxnSpPr>
          <p:nvPr/>
        </p:nvCxnSpPr>
        <p:spPr>
          <a:xfrm flipH="1" rot="10800000">
            <a:off x="3015250" y="3103825"/>
            <a:ext cx="337200" cy="603900"/>
          </a:xfrm>
          <a:prstGeom prst="straightConnector1">
            <a:avLst/>
          </a:prstGeom>
          <a:noFill/>
          <a:ln cap="flat" cmpd="sng" w="28575">
            <a:solidFill>
              <a:schemeClr val="dk2"/>
            </a:solidFill>
            <a:prstDash val="solid"/>
            <a:round/>
            <a:headEnd len="sm" w="sm" type="none"/>
            <a:tailEnd len="med" w="med" type="triangle"/>
          </a:ln>
        </p:spPr>
      </p:cxnSp>
      <p:cxnSp>
        <p:nvCxnSpPr>
          <p:cNvPr id="201" name="Google Shape;201;p7"/>
          <p:cNvCxnSpPr>
            <a:stCxn id="196" idx="3"/>
            <a:endCxn id="193" idx="1"/>
          </p:cNvCxnSpPr>
          <p:nvPr/>
        </p:nvCxnSpPr>
        <p:spPr>
          <a:xfrm flipH="1" rot="10800000">
            <a:off x="3015250" y="350642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202" name="Google Shape;202;p7"/>
          <p:cNvCxnSpPr>
            <a:stCxn id="196" idx="3"/>
            <a:endCxn id="194" idx="1"/>
          </p:cNvCxnSpPr>
          <p:nvPr/>
        </p:nvCxnSpPr>
        <p:spPr>
          <a:xfrm>
            <a:off x="3015250" y="370772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203" name="Google Shape;203;p7"/>
          <p:cNvCxnSpPr>
            <a:stCxn id="196" idx="3"/>
            <a:endCxn id="195" idx="1"/>
          </p:cNvCxnSpPr>
          <p:nvPr/>
        </p:nvCxnSpPr>
        <p:spPr>
          <a:xfrm>
            <a:off x="3015250" y="3707725"/>
            <a:ext cx="337200" cy="603900"/>
          </a:xfrm>
          <a:prstGeom prst="straightConnector1">
            <a:avLst/>
          </a:prstGeom>
          <a:noFill/>
          <a:ln cap="flat" cmpd="sng" w="28575">
            <a:solidFill>
              <a:schemeClr val="dk2"/>
            </a:solidFill>
            <a:prstDash val="solid"/>
            <a:round/>
            <a:headEnd len="sm" w="sm" type="none"/>
            <a:tailEnd len="med" w="med" type="triangle"/>
          </a:ln>
        </p:spPr>
      </p:cxnSp>
      <p:cxnSp>
        <p:nvCxnSpPr>
          <p:cNvPr id="204" name="Google Shape;204;p7"/>
          <p:cNvCxnSpPr>
            <a:stCxn id="205" idx="0"/>
            <a:endCxn id="206" idx="1"/>
          </p:cNvCxnSpPr>
          <p:nvPr/>
        </p:nvCxnSpPr>
        <p:spPr>
          <a:xfrm flipH="1" rot="10800000">
            <a:off x="5247950" y="2747925"/>
            <a:ext cx="774300" cy="300000"/>
          </a:xfrm>
          <a:prstGeom prst="straightConnector1">
            <a:avLst/>
          </a:prstGeom>
          <a:noFill/>
          <a:ln cap="flat" cmpd="sng" w="28575">
            <a:solidFill>
              <a:schemeClr val="dk2"/>
            </a:solidFill>
            <a:prstDash val="solid"/>
            <a:round/>
            <a:headEnd len="sm" w="sm" type="none"/>
            <a:tailEnd len="med" w="med" type="triangle"/>
          </a:ln>
        </p:spPr>
      </p:cxnSp>
      <p:sp>
        <p:nvSpPr>
          <p:cNvPr id="205" name="Google Shape;205;p7"/>
          <p:cNvSpPr/>
          <p:nvPr/>
        </p:nvSpPr>
        <p:spPr>
          <a:xfrm>
            <a:off x="4704350" y="3047925"/>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Banco</a:t>
            </a:r>
            <a:endParaRPr b="1" i="0" sz="1100" u="none" cap="none" strike="noStrike">
              <a:solidFill>
                <a:schemeClr val="dk2"/>
              </a:solidFill>
              <a:latin typeface="Montserrat"/>
              <a:ea typeface="Montserrat"/>
              <a:cs typeface="Montserrat"/>
              <a:sym typeface="Montserrat"/>
            </a:endParaRPr>
          </a:p>
        </p:txBody>
      </p:sp>
      <p:sp>
        <p:nvSpPr>
          <p:cNvPr id="207" name="Google Shape;207;p7"/>
          <p:cNvSpPr/>
          <p:nvPr/>
        </p:nvSpPr>
        <p:spPr>
          <a:xfrm>
            <a:off x="7446550" y="3103813"/>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208" name="Google Shape;208;p7"/>
          <p:cNvSpPr/>
          <p:nvPr/>
        </p:nvSpPr>
        <p:spPr>
          <a:xfrm>
            <a:off x="7446550" y="3527713"/>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operar</a:t>
            </a:r>
            <a:endParaRPr b="0" i="0" sz="1100" u="none" cap="none" strike="noStrike">
              <a:solidFill>
                <a:schemeClr val="dk2"/>
              </a:solidFill>
              <a:latin typeface="Montserrat"/>
              <a:ea typeface="Montserrat"/>
              <a:cs typeface="Montserrat"/>
              <a:sym typeface="Montserrat"/>
            </a:endParaRPr>
          </a:p>
        </p:txBody>
      </p:sp>
      <p:sp>
        <p:nvSpPr>
          <p:cNvPr id="209" name="Google Shape;209;p7"/>
          <p:cNvSpPr/>
          <p:nvPr/>
        </p:nvSpPr>
        <p:spPr>
          <a:xfrm>
            <a:off x="7446550" y="3951625"/>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depositos_totales</a:t>
            </a:r>
            <a:endParaRPr b="0" i="0" sz="1100" u="none" cap="none" strike="noStrike">
              <a:solidFill>
                <a:schemeClr val="dk2"/>
              </a:solidFill>
              <a:latin typeface="Montserrat"/>
              <a:ea typeface="Montserrat"/>
              <a:cs typeface="Montserrat"/>
              <a:sym typeface="Montserrat"/>
            </a:endParaRPr>
          </a:p>
        </p:txBody>
      </p:sp>
      <p:sp>
        <p:nvSpPr>
          <p:cNvPr id="206" name="Google Shape;206;p7"/>
          <p:cNvSpPr/>
          <p:nvPr/>
        </p:nvSpPr>
        <p:spPr>
          <a:xfrm>
            <a:off x="6022150" y="2568000"/>
            <a:ext cx="10872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210" name="Google Shape;210;p7"/>
          <p:cNvSpPr/>
          <p:nvPr/>
        </p:nvSpPr>
        <p:spPr>
          <a:xfrm>
            <a:off x="6022150" y="3527725"/>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211" name="Google Shape;211;p7"/>
          <p:cNvCxnSpPr>
            <a:stCxn id="205" idx="2"/>
            <a:endCxn id="210" idx="1"/>
          </p:cNvCxnSpPr>
          <p:nvPr/>
        </p:nvCxnSpPr>
        <p:spPr>
          <a:xfrm>
            <a:off x="5247950" y="3407925"/>
            <a:ext cx="774300" cy="299700"/>
          </a:xfrm>
          <a:prstGeom prst="straightConnector1">
            <a:avLst/>
          </a:prstGeom>
          <a:noFill/>
          <a:ln cap="flat" cmpd="sng" w="28575">
            <a:solidFill>
              <a:schemeClr val="dk2"/>
            </a:solidFill>
            <a:prstDash val="solid"/>
            <a:round/>
            <a:headEnd len="sm" w="sm" type="none"/>
            <a:tailEnd len="med" w="med" type="triangle"/>
          </a:ln>
        </p:spPr>
      </p:cxnSp>
      <p:cxnSp>
        <p:nvCxnSpPr>
          <p:cNvPr id="212" name="Google Shape;212;p7"/>
          <p:cNvCxnSpPr>
            <a:stCxn id="206" idx="3"/>
            <a:endCxn id="185" idx="1"/>
          </p:cNvCxnSpPr>
          <p:nvPr/>
        </p:nvCxnSpPr>
        <p:spPr>
          <a:xfrm flipH="1" rot="10800000">
            <a:off x="7109350" y="2469600"/>
            <a:ext cx="337200" cy="278400"/>
          </a:xfrm>
          <a:prstGeom prst="straightConnector1">
            <a:avLst/>
          </a:prstGeom>
          <a:noFill/>
          <a:ln cap="flat" cmpd="sng" w="28575">
            <a:solidFill>
              <a:schemeClr val="dk2"/>
            </a:solidFill>
            <a:prstDash val="solid"/>
            <a:round/>
            <a:headEnd len="sm" w="sm" type="none"/>
            <a:tailEnd len="med" w="med" type="triangle"/>
          </a:ln>
        </p:spPr>
      </p:cxnSp>
      <p:cxnSp>
        <p:nvCxnSpPr>
          <p:cNvPr id="213" name="Google Shape;213;p7"/>
          <p:cNvCxnSpPr>
            <a:stCxn id="210" idx="3"/>
            <a:endCxn id="207" idx="1"/>
          </p:cNvCxnSpPr>
          <p:nvPr/>
        </p:nvCxnSpPr>
        <p:spPr>
          <a:xfrm flipH="1" rot="10800000">
            <a:off x="7109350" y="3283825"/>
            <a:ext cx="337200" cy="423900"/>
          </a:xfrm>
          <a:prstGeom prst="straightConnector1">
            <a:avLst/>
          </a:prstGeom>
          <a:noFill/>
          <a:ln cap="flat" cmpd="sng" w="28575">
            <a:solidFill>
              <a:schemeClr val="dk2"/>
            </a:solidFill>
            <a:prstDash val="solid"/>
            <a:round/>
            <a:headEnd len="sm" w="sm" type="none"/>
            <a:tailEnd len="med" w="med" type="triangle"/>
          </a:ln>
        </p:spPr>
      </p:cxnSp>
      <p:cxnSp>
        <p:nvCxnSpPr>
          <p:cNvPr id="214" name="Google Shape;214;p7"/>
          <p:cNvCxnSpPr>
            <a:stCxn id="210" idx="3"/>
            <a:endCxn id="208" idx="1"/>
          </p:cNvCxnSpPr>
          <p:nvPr/>
        </p:nvCxnSpPr>
        <p:spPr>
          <a:xfrm>
            <a:off x="7109350" y="3707725"/>
            <a:ext cx="337200" cy="0"/>
          </a:xfrm>
          <a:prstGeom prst="straightConnector1">
            <a:avLst/>
          </a:prstGeom>
          <a:noFill/>
          <a:ln cap="flat" cmpd="sng" w="28575">
            <a:solidFill>
              <a:schemeClr val="dk2"/>
            </a:solidFill>
            <a:prstDash val="solid"/>
            <a:round/>
            <a:headEnd len="sm" w="sm" type="none"/>
            <a:tailEnd len="med" w="med" type="triangle"/>
          </a:ln>
        </p:spPr>
      </p:cxnSp>
      <p:cxnSp>
        <p:nvCxnSpPr>
          <p:cNvPr id="215" name="Google Shape;215;p7"/>
          <p:cNvCxnSpPr>
            <a:stCxn id="210" idx="3"/>
            <a:endCxn id="209" idx="1"/>
          </p:cNvCxnSpPr>
          <p:nvPr/>
        </p:nvCxnSpPr>
        <p:spPr>
          <a:xfrm>
            <a:off x="7109350" y="3707725"/>
            <a:ext cx="337200" cy="4239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Colaboración de clases | Clase Cliente</a:t>
            </a:r>
            <a:endParaRPr/>
          </a:p>
        </p:txBody>
      </p:sp>
      <p:sp>
        <p:nvSpPr>
          <p:cNvPr id="221" name="Google Shape;221;p8"/>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En el método</a:t>
            </a:r>
            <a:r>
              <a:rPr b="1" lang="es" sz="1650"/>
              <a:t> __init__</a:t>
            </a:r>
            <a:r>
              <a:rPr lang="es" sz="1650"/>
              <a:t> se inicializan los atributos </a:t>
            </a:r>
            <a:r>
              <a:rPr i="1" lang="es" sz="1650"/>
              <a:t>nombre</a:t>
            </a:r>
            <a:r>
              <a:rPr lang="es" sz="1650"/>
              <a:t> con el valor del parámetro, y </a:t>
            </a:r>
            <a:r>
              <a:rPr i="1" lang="es" sz="1650"/>
              <a:t>monto</a:t>
            </a:r>
            <a:r>
              <a:rPr lang="es" sz="1650"/>
              <a:t> con el valor cero.</a:t>
            </a:r>
            <a:endParaRPr sz="1650"/>
          </a:p>
          <a:p>
            <a:pPr indent="0" lvl="0" marL="0" rtl="0" algn="l">
              <a:lnSpc>
                <a:spcPct val="115000"/>
              </a:lnSpc>
              <a:spcBef>
                <a:spcPts val="1200"/>
              </a:spcBef>
              <a:spcAft>
                <a:spcPts val="0"/>
              </a:spcAft>
              <a:buClr>
                <a:schemeClr val="dk1"/>
              </a:buClr>
              <a:buSzPts val="1100"/>
              <a:buFont typeface="Arial"/>
              <a:buNone/>
            </a:pPr>
            <a:r>
              <a:rPr lang="es" sz="1650"/>
              <a:t>Los métodos </a:t>
            </a:r>
            <a:r>
              <a:rPr i="1" lang="es" sz="1650"/>
              <a:t>depositar</a:t>
            </a:r>
            <a:r>
              <a:rPr lang="es" sz="1650"/>
              <a:t>, </a:t>
            </a:r>
            <a:r>
              <a:rPr i="1" lang="es" sz="1650"/>
              <a:t>extraer</a:t>
            </a:r>
            <a:r>
              <a:rPr lang="es" sz="1650"/>
              <a:t>, </a:t>
            </a:r>
            <a:r>
              <a:rPr i="1" lang="es" sz="1650"/>
              <a:t>retornar_monto</a:t>
            </a:r>
            <a:r>
              <a:rPr lang="es" sz="1650"/>
              <a:t> e </a:t>
            </a:r>
            <a:r>
              <a:rPr i="1" lang="es" sz="1650"/>
              <a:t>imprimir</a:t>
            </a:r>
            <a:r>
              <a:rPr lang="es" sz="1650"/>
              <a:t> se definen como se ve a la derecha. </a:t>
            </a:r>
            <a:endParaRPr sz="1650"/>
          </a:p>
          <a:p>
            <a:pPr indent="0" lvl="0" marL="0" rtl="0" algn="l">
              <a:lnSpc>
                <a:spcPct val="115000"/>
              </a:lnSpc>
              <a:spcBef>
                <a:spcPts val="1200"/>
              </a:spcBef>
              <a:spcAft>
                <a:spcPts val="0"/>
              </a:spcAft>
              <a:buClr>
                <a:schemeClr val="dk1"/>
              </a:buClr>
              <a:buSzPts val="1100"/>
              <a:buFont typeface="Arial"/>
              <a:buNone/>
            </a:pPr>
            <a:r>
              <a:rPr lang="es" sz="1650"/>
              <a:t>No se instancian objetos de esta clase en el cuerpo del programa, ya que serán atributos de la clase Banco.</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
        <p:nvSpPr>
          <p:cNvPr id="222" name="Google Shape;222;p8"/>
          <p:cNvSpPr/>
          <p:nvPr/>
        </p:nvSpPr>
        <p:spPr>
          <a:xfrm>
            <a:off x="4843050" y="1533775"/>
            <a:ext cx="3869100" cy="2994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nombre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nombre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0</a:t>
            </a:r>
            <a:endParaRPr b="0" i="0" sz="11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depositar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monto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monto</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extraer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monto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monto</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retornar_monto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return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 tiene depositada la suma de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format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.nombre,</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.monto))</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223" name="Google Shape;223;p8"/>
          <p:cNvSpPr/>
          <p:nvPr/>
        </p:nvSpPr>
        <p:spPr>
          <a:xfrm>
            <a:off x="4843050" y="1304875"/>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Cliente</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de clases | Banco</a:t>
            </a:r>
            <a:endParaRPr/>
          </a:p>
        </p:txBody>
      </p:sp>
      <p:sp>
        <p:nvSpPr>
          <p:cNvPr id="229" name="Google Shape;229;p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Al definir la </a:t>
            </a:r>
            <a:r>
              <a:rPr b="1" i="0" lang="es" sz="1682" u="none" cap="none" strike="noStrike">
                <a:solidFill>
                  <a:schemeClr val="dk2"/>
                </a:solidFill>
                <a:latin typeface="Montserrat"/>
                <a:ea typeface="Montserrat"/>
                <a:cs typeface="Montserrat"/>
                <a:sym typeface="Montserrat"/>
              </a:rPr>
              <a:t>clase Banco</a:t>
            </a:r>
            <a:r>
              <a:rPr b="0" i="0" lang="es" sz="1682" u="none" cap="none" strike="noStrike">
                <a:solidFill>
                  <a:schemeClr val="dk2"/>
                </a:solidFill>
                <a:latin typeface="Montserrat"/>
                <a:ea typeface="Montserrat"/>
                <a:cs typeface="Montserrat"/>
                <a:sym typeface="Montserrat"/>
              </a:rPr>
              <a:t> se incluye en su constructor la instancia de tres objetos de la </a:t>
            </a:r>
            <a:r>
              <a:rPr b="1" i="0" lang="es" sz="1682" u="none" cap="none" strike="noStrike">
                <a:solidFill>
                  <a:schemeClr val="dk2"/>
                </a:solidFill>
                <a:latin typeface="Montserrat"/>
                <a:ea typeface="Montserrat"/>
                <a:cs typeface="Montserrat"/>
                <a:sym typeface="Montserrat"/>
              </a:rPr>
              <a:t>clase Cliente</a:t>
            </a:r>
            <a:r>
              <a:rPr b="0" i="0" lang="es" sz="1682" u="none" cap="none" strike="noStrike">
                <a:solidFill>
                  <a:schemeClr val="dk2"/>
                </a:solidFill>
                <a:latin typeface="Montserrat"/>
                <a:ea typeface="Montserrat"/>
                <a:cs typeface="Montserrat"/>
                <a:sym typeface="Montserrat"/>
              </a:rPr>
              <a:t>. Estos objetos serán utilizados por la clase Banco para que su instancia (sólo se instancia un objeto de la clase Banco) sea capaz de operar con los clientes.</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En el método </a:t>
            </a:r>
            <a:r>
              <a:rPr b="0" i="1" lang="es" sz="1682" u="none" cap="none" strike="noStrike">
                <a:solidFill>
                  <a:schemeClr val="dk2"/>
                </a:solidFill>
                <a:latin typeface="Montserrat"/>
                <a:ea typeface="Montserrat"/>
                <a:cs typeface="Montserrat"/>
                <a:sym typeface="Montserrat"/>
              </a:rPr>
              <a:t>operar</a:t>
            </a:r>
            <a:r>
              <a:rPr b="0" i="0" lang="es" sz="1682" u="none" cap="none" strike="noStrike">
                <a:solidFill>
                  <a:schemeClr val="dk2"/>
                </a:solidFill>
                <a:latin typeface="Montserrat"/>
                <a:ea typeface="Montserrat"/>
                <a:cs typeface="Montserrat"/>
                <a:sym typeface="Montserrat"/>
              </a:rPr>
              <a:t> se invocan algunos métodos de la clase Cliente, para generar las transacciones (depósitos y extracciones).</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Con el método </a:t>
            </a:r>
            <a:r>
              <a:rPr b="0" i="1" lang="es" sz="1682" u="none" cap="none" strike="noStrike">
                <a:solidFill>
                  <a:schemeClr val="dk2"/>
                </a:solidFill>
                <a:latin typeface="Montserrat"/>
                <a:ea typeface="Montserrat"/>
                <a:cs typeface="Montserrat"/>
                <a:sym typeface="Montserrat"/>
              </a:rPr>
              <a:t>depositos_totales</a:t>
            </a:r>
            <a:r>
              <a:rPr b="0" i="0" lang="es" sz="1682" u="none" cap="none" strike="noStrike">
                <a:solidFill>
                  <a:schemeClr val="dk2"/>
                </a:solidFill>
                <a:latin typeface="Montserrat"/>
                <a:ea typeface="Montserrat"/>
                <a:cs typeface="Montserrat"/>
                <a:sym typeface="Montserrat"/>
              </a:rPr>
              <a:t> se calcula la suma de los montos depositados por los objetos de la clase Cliente, y se guardan en la variable total, que luego se muestra en la terminal mediante print()</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Colaboración de clases | Banco</a:t>
            </a:r>
            <a:endParaRPr/>
          </a:p>
        </p:txBody>
      </p:sp>
      <p:sp>
        <p:nvSpPr>
          <p:cNvPr id="235" name="Google Shape;235;p10"/>
          <p:cNvSpPr/>
          <p:nvPr/>
        </p:nvSpPr>
        <p:spPr>
          <a:xfrm>
            <a:off x="311700" y="1533775"/>
            <a:ext cx="8431500" cy="3087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Banco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.cliente1</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"Juan"</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.cliente2</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"Ana"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"Diego"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operar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.cliente1.</a:t>
            </a:r>
            <a:r>
              <a:rPr b="0" i="0" lang="es" sz="1100" u="none" cap="none" strike="noStrike">
                <a:solidFill>
                  <a:srgbClr val="FFE66D"/>
                </a:solidFill>
                <a:highlight>
                  <a:srgbClr val="23262E"/>
                </a:highlight>
                <a:latin typeface="Consolas"/>
                <a:ea typeface="Consolas"/>
                <a:cs typeface="Consolas"/>
                <a:sym typeface="Consolas"/>
              </a:rPr>
              <a:t>depositar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100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.cliente2.</a:t>
            </a:r>
            <a:r>
              <a:rPr b="0" i="0" lang="es" sz="1100" u="none" cap="none" strike="noStrike">
                <a:solidFill>
                  <a:srgbClr val="FFE66D"/>
                </a:solidFill>
                <a:highlight>
                  <a:srgbClr val="23262E"/>
                </a:highlight>
                <a:latin typeface="Consolas"/>
                <a:ea typeface="Consolas"/>
                <a:cs typeface="Consolas"/>
                <a:sym typeface="Consolas"/>
              </a:rPr>
              <a:t>depositar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150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depositar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extraer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150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depositos_totales</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total</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.cliente1.</a:t>
            </a:r>
            <a:r>
              <a:rPr b="0" i="0" lang="es" sz="1100" u="none" cap="none" strike="noStrike">
                <a:solidFill>
                  <a:srgbClr val="FFE66D"/>
                </a:solidFill>
                <a:highlight>
                  <a:srgbClr val="23262E"/>
                </a:highlight>
                <a:latin typeface="Consolas"/>
                <a:ea typeface="Consolas"/>
                <a:cs typeface="Consolas"/>
                <a:sym typeface="Consolas"/>
              </a:rPr>
              <a:t>retornar_monto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.cliente2.</a:t>
            </a:r>
            <a:r>
              <a:rPr b="0" i="0" lang="es" sz="1100" u="none" cap="none" strike="noStrike">
                <a:solidFill>
                  <a:srgbClr val="FFE66D"/>
                </a:solidFill>
                <a:highlight>
                  <a:srgbClr val="23262E"/>
                </a:highlight>
                <a:latin typeface="Consolas"/>
                <a:ea typeface="Consolas"/>
                <a:cs typeface="Consolas"/>
                <a:sym typeface="Consolas"/>
              </a:rPr>
              <a:t>retornar_monto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retornar_monto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"El total de dinero en el banco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format</a:t>
            </a:r>
            <a:r>
              <a:rPr b="0" i="0" lang="es" sz="1100" u="none" cap="none" strike="noStrike">
                <a:solidFill>
                  <a:srgbClr val="D5CED9"/>
                </a:solidFill>
                <a:highlight>
                  <a:srgbClr val="23262E"/>
                </a:highlight>
                <a:latin typeface="Consolas"/>
                <a:ea typeface="Consolas"/>
                <a:cs typeface="Consolas"/>
                <a:sym typeface="Consolas"/>
              </a:rPr>
              <a:t>(total))</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.cliente1.</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.cliente2.</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236" name="Google Shape;236;p10"/>
          <p:cNvSpPr/>
          <p:nvPr/>
        </p:nvSpPr>
        <p:spPr>
          <a:xfrm>
            <a:off x="311700" y="1304875"/>
            <a:ext cx="8431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Banco</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de clases | Programa principal</a:t>
            </a:r>
            <a:endParaRPr/>
          </a:p>
        </p:txBody>
      </p:sp>
      <p:sp>
        <p:nvSpPr>
          <p:cNvPr id="242" name="Google Shape;242;p11"/>
          <p:cNvSpPr txBox="1"/>
          <p:nvPr/>
        </p:nvSpPr>
        <p:spPr>
          <a:xfrm>
            <a:off x="432150" y="1260250"/>
            <a:ext cx="8279700" cy="19605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En el programa principal se instancia un objeto de la clase Banco, y se invocan sus </a:t>
            </a:r>
            <a:r>
              <a:rPr b="0" i="1" lang="es" sz="1650" u="none" cap="none" strike="noStrike">
                <a:solidFill>
                  <a:schemeClr val="dk2"/>
                </a:solidFill>
                <a:latin typeface="Montserrat"/>
                <a:ea typeface="Montserrat"/>
                <a:cs typeface="Montserrat"/>
                <a:sym typeface="Montserrat"/>
              </a:rPr>
              <a:t>métodos operar()</a:t>
            </a:r>
            <a:r>
              <a:rPr b="0" i="0" lang="es" sz="1650" u="none" cap="none" strike="noStrike">
                <a:solidFill>
                  <a:schemeClr val="dk2"/>
                </a:solidFill>
                <a:latin typeface="Montserrat"/>
                <a:ea typeface="Montserrat"/>
                <a:cs typeface="Montserrat"/>
                <a:sym typeface="Montserrat"/>
              </a:rPr>
              <a:t> y </a:t>
            </a:r>
            <a:r>
              <a:rPr b="0" i="1" lang="es" sz="1650" u="none" cap="none" strike="noStrike">
                <a:solidFill>
                  <a:schemeClr val="dk2"/>
                </a:solidFill>
                <a:latin typeface="Montserrat"/>
                <a:ea typeface="Montserrat"/>
                <a:cs typeface="Montserrat"/>
                <a:sym typeface="Montserrat"/>
              </a:rPr>
              <a:t>depositos_totales()</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rgbClr val="595959"/>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rgbClr val="595959"/>
              </a:solidFill>
              <a:latin typeface="Montserrat"/>
              <a:ea typeface="Montserrat"/>
              <a:cs typeface="Montserrat"/>
              <a:sym typeface="Montserrat"/>
            </a:endParaRPr>
          </a:p>
        </p:txBody>
      </p:sp>
      <p:sp>
        <p:nvSpPr>
          <p:cNvPr id="243" name="Google Shape;243;p11"/>
          <p:cNvSpPr/>
          <p:nvPr/>
        </p:nvSpPr>
        <p:spPr>
          <a:xfrm>
            <a:off x="752875" y="1929375"/>
            <a:ext cx="364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244" name="Google Shape;244;p11"/>
          <p:cNvSpPr/>
          <p:nvPr/>
        </p:nvSpPr>
        <p:spPr>
          <a:xfrm>
            <a:off x="752875" y="2158275"/>
            <a:ext cx="3648300" cy="941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banco1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Banco</a:t>
            </a:r>
            <a:r>
              <a:rPr b="0" i="0" lang="es" sz="1200" u="none" cap="none" strike="noStrike">
                <a:solidFill>
                  <a:srgbClr val="D5CED9"/>
                </a:solidFill>
                <a:highlight>
                  <a:srgbClr val="23262E"/>
                </a:highlight>
                <a:latin typeface="Consolas"/>
                <a:ea typeface="Consolas"/>
                <a:cs typeface="Consolas"/>
                <a:sym typeface="Consolas"/>
              </a:rPr>
              <a:t>()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banco1.</a:t>
            </a:r>
            <a:r>
              <a:rPr b="0" i="0" lang="es" sz="1200" u="none" cap="none" strike="noStrike">
                <a:solidFill>
                  <a:srgbClr val="FFE66D"/>
                </a:solidFill>
                <a:highlight>
                  <a:srgbClr val="23262E"/>
                </a:highlight>
                <a:latin typeface="Consolas"/>
                <a:ea typeface="Consolas"/>
                <a:cs typeface="Consolas"/>
                <a:sym typeface="Consolas"/>
              </a:rPr>
              <a:t>operar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banco1.</a:t>
            </a:r>
            <a:r>
              <a:rPr b="0" i="0" lang="es" sz="1200" u="none" cap="none" strike="noStrike">
                <a:solidFill>
                  <a:srgbClr val="FFE66D"/>
                </a:solidFill>
                <a:highlight>
                  <a:srgbClr val="23262E"/>
                </a:highlight>
                <a:latin typeface="Consolas"/>
                <a:ea typeface="Consolas"/>
                <a:cs typeface="Consolas"/>
                <a:sym typeface="Consolas"/>
              </a:rPr>
              <a:t>depositos_totales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45" name="Google Shape;245;p11"/>
          <p:cNvSpPr/>
          <p:nvPr/>
        </p:nvSpPr>
        <p:spPr>
          <a:xfrm>
            <a:off x="4725400" y="2158275"/>
            <a:ext cx="3648300" cy="941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El total de dinero en el banco es: 300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Juan tiene depositada la suma de 100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Ana tiene depositada la suma de 150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Diego tiene depositada la suma de 50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46" name="Google Shape;246;p11"/>
          <p:cNvSpPr/>
          <p:nvPr/>
        </p:nvSpPr>
        <p:spPr>
          <a:xfrm>
            <a:off x="4725400" y="1929375"/>
            <a:ext cx="364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47" name="Google Shape;247;p11"/>
          <p:cNvSpPr txBox="1"/>
          <p:nvPr/>
        </p:nvSpPr>
        <p:spPr>
          <a:xfrm>
            <a:off x="436425" y="3099675"/>
            <a:ext cx="8279700" cy="14577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Al invocar el método </a:t>
            </a:r>
            <a:r>
              <a:rPr b="0" i="1" lang="es" sz="1682" u="none" cap="none" strike="noStrike">
                <a:solidFill>
                  <a:schemeClr val="dk2"/>
                </a:solidFill>
                <a:latin typeface="Montserrat"/>
                <a:ea typeface="Montserrat"/>
                <a:cs typeface="Montserrat"/>
                <a:sym typeface="Montserrat"/>
              </a:rPr>
              <a:t>operar()</a:t>
            </a:r>
            <a:r>
              <a:rPr b="0" i="0" lang="es" sz="1682" u="none" cap="none" strike="noStrike">
                <a:solidFill>
                  <a:schemeClr val="dk2"/>
                </a:solidFill>
                <a:latin typeface="Montserrat"/>
                <a:ea typeface="Montserrat"/>
                <a:cs typeface="Montserrat"/>
                <a:sym typeface="Montserrat"/>
              </a:rPr>
              <a:t> de la clase Banco se llama a los métodos </a:t>
            </a:r>
            <a:r>
              <a:rPr b="0" i="1" lang="es" sz="1682" u="none" cap="none" strike="noStrike">
                <a:solidFill>
                  <a:schemeClr val="dk2"/>
                </a:solidFill>
                <a:latin typeface="Montserrat"/>
                <a:ea typeface="Montserrat"/>
                <a:cs typeface="Montserrat"/>
                <a:sym typeface="Montserrat"/>
              </a:rPr>
              <a:t>depositar()</a:t>
            </a:r>
            <a:r>
              <a:rPr b="0" i="0" lang="es" sz="1682" u="none" cap="none" strike="noStrike">
                <a:solidFill>
                  <a:schemeClr val="dk2"/>
                </a:solidFill>
                <a:latin typeface="Montserrat"/>
                <a:ea typeface="Montserrat"/>
                <a:cs typeface="Montserrat"/>
                <a:sym typeface="Montserrat"/>
              </a:rPr>
              <a:t> y </a:t>
            </a:r>
            <a:r>
              <a:rPr b="0" i="1" lang="es" sz="1682" u="none" cap="none" strike="noStrike">
                <a:solidFill>
                  <a:schemeClr val="dk2"/>
                </a:solidFill>
                <a:latin typeface="Montserrat"/>
                <a:ea typeface="Montserrat"/>
                <a:cs typeface="Montserrat"/>
                <a:sym typeface="Montserrat"/>
              </a:rPr>
              <a:t>extraer()</a:t>
            </a:r>
            <a:r>
              <a:rPr b="0" i="0" lang="es" sz="1682" u="none" cap="none" strike="noStrike">
                <a:solidFill>
                  <a:schemeClr val="dk2"/>
                </a:solidFill>
                <a:latin typeface="Montserrat"/>
                <a:ea typeface="Montserrat"/>
                <a:cs typeface="Montserrat"/>
                <a:sym typeface="Montserrat"/>
              </a:rPr>
              <a:t> de la clase Cliente. Al llamar al método </a:t>
            </a:r>
            <a:r>
              <a:rPr b="0" i="1" lang="es" sz="1682" u="none" cap="none" strike="noStrike">
                <a:solidFill>
                  <a:schemeClr val="dk2"/>
                </a:solidFill>
                <a:latin typeface="Montserrat"/>
                <a:ea typeface="Montserrat"/>
                <a:cs typeface="Montserrat"/>
                <a:sym typeface="Montserrat"/>
              </a:rPr>
              <a:t>depositos_totales()</a:t>
            </a:r>
            <a:r>
              <a:rPr b="0" i="0" lang="es" sz="1682" u="none" cap="none" strike="noStrike">
                <a:solidFill>
                  <a:schemeClr val="dk2"/>
                </a:solidFill>
                <a:latin typeface="Montserrat"/>
                <a:ea typeface="Montserrat"/>
                <a:cs typeface="Montserrat"/>
                <a:sym typeface="Montserrat"/>
              </a:rPr>
              <a:t> de la clase Banco se llama al método </a:t>
            </a:r>
            <a:r>
              <a:rPr b="0" i="1" lang="es" sz="1682" u="none" cap="none" strike="noStrike">
                <a:solidFill>
                  <a:schemeClr val="dk2"/>
                </a:solidFill>
                <a:latin typeface="Montserrat"/>
                <a:ea typeface="Montserrat"/>
                <a:cs typeface="Montserrat"/>
                <a:sym typeface="Montserrat"/>
              </a:rPr>
              <a:t>retornar_monto() </a:t>
            </a:r>
            <a:r>
              <a:rPr b="0" i="0" lang="es" sz="1682" u="none" cap="none" strike="noStrike">
                <a:solidFill>
                  <a:schemeClr val="dk2"/>
                </a:solidFill>
                <a:latin typeface="Montserrat"/>
                <a:ea typeface="Montserrat"/>
                <a:cs typeface="Montserrat"/>
                <a:sym typeface="Montserrat"/>
              </a:rPr>
              <a:t>e </a:t>
            </a:r>
            <a:r>
              <a:rPr b="0" i="1" lang="es" sz="1682" u="none" cap="none" strike="noStrike">
                <a:solidFill>
                  <a:schemeClr val="dk2"/>
                </a:solidFill>
                <a:latin typeface="Montserrat"/>
                <a:ea typeface="Montserrat"/>
                <a:cs typeface="Montserrat"/>
                <a:sym typeface="Montserrat"/>
              </a:rPr>
              <a:t>imprimir()</a:t>
            </a:r>
            <a:r>
              <a:rPr b="0" i="0" lang="es" sz="1682" u="none" cap="none" strike="noStrike">
                <a:solidFill>
                  <a:schemeClr val="dk2"/>
                </a:solidFill>
                <a:latin typeface="Montserrat"/>
                <a:ea typeface="Montserrat"/>
                <a:cs typeface="Montserrat"/>
                <a:sym typeface="Montserrat"/>
              </a:rPr>
              <a:t> de la clase Cliente. Ambas clases colaboran para resolver la situación planteada en el enunciado.</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Atributos de clase</a:t>
            </a:r>
            <a:endParaRPr/>
          </a:p>
        </p:txBody>
      </p:sp>
      <p:sp>
        <p:nvSpPr>
          <p:cNvPr id="253" name="Google Shape;253;p12"/>
          <p:cNvSpPr txBox="1"/>
          <p:nvPr/>
        </p:nvSpPr>
        <p:spPr>
          <a:xfrm>
            <a:off x="432150" y="1260250"/>
            <a:ext cx="8279700" cy="8790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Los </a:t>
            </a:r>
            <a:r>
              <a:rPr b="1" i="0" lang="es" sz="1650" u="none" cap="none" strike="noStrike">
                <a:solidFill>
                  <a:schemeClr val="dk2"/>
                </a:solidFill>
                <a:latin typeface="Montserrat"/>
                <a:ea typeface="Montserrat"/>
                <a:cs typeface="Montserrat"/>
                <a:sym typeface="Montserrat"/>
              </a:rPr>
              <a:t>atributos de clase</a:t>
            </a:r>
            <a:r>
              <a:rPr b="0" i="0" lang="es" sz="1650" u="none" cap="none" strike="noStrike">
                <a:solidFill>
                  <a:schemeClr val="dk2"/>
                </a:solidFill>
                <a:latin typeface="Montserrat"/>
                <a:ea typeface="Montserrat"/>
                <a:cs typeface="Montserrat"/>
                <a:sym typeface="Montserrat"/>
              </a:rPr>
              <a:t>, a diferencia de los </a:t>
            </a:r>
            <a:r>
              <a:rPr b="1" i="0" lang="es" sz="1650" u="none" cap="none" strike="noStrike">
                <a:solidFill>
                  <a:schemeClr val="dk2"/>
                </a:solidFill>
                <a:latin typeface="Montserrat"/>
                <a:ea typeface="Montserrat"/>
                <a:cs typeface="Montserrat"/>
                <a:sym typeface="Montserrat"/>
              </a:rPr>
              <a:t>atributos de instancia</a:t>
            </a:r>
            <a:r>
              <a:rPr b="0" i="0" lang="es" sz="1650" u="none" cap="none" strike="noStrike">
                <a:solidFill>
                  <a:schemeClr val="dk2"/>
                </a:solidFill>
                <a:latin typeface="Montserrat"/>
                <a:ea typeface="Montserrat"/>
                <a:cs typeface="Montserrat"/>
                <a:sym typeface="Montserrat"/>
              </a:rPr>
              <a:t>, son compartidos por todos los objetos de dicha clase. Los atributos de clase se definen dentro de la clase pero fuera de sus métodos:</a:t>
            </a:r>
            <a:endParaRPr b="0" i="0" sz="1682" u="none" cap="none" strike="noStrike">
              <a:solidFill>
                <a:srgbClr val="595959"/>
              </a:solidFill>
              <a:latin typeface="Montserrat"/>
              <a:ea typeface="Montserrat"/>
              <a:cs typeface="Montserrat"/>
              <a:sym typeface="Montserrat"/>
            </a:endParaRPr>
          </a:p>
        </p:txBody>
      </p:sp>
      <p:sp>
        <p:nvSpPr>
          <p:cNvPr id="254" name="Google Shape;254;p12"/>
          <p:cNvSpPr/>
          <p:nvPr/>
        </p:nvSpPr>
        <p:spPr>
          <a:xfrm>
            <a:off x="432023" y="2229375"/>
            <a:ext cx="29226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255" name="Google Shape;255;p12"/>
          <p:cNvSpPr/>
          <p:nvPr/>
        </p:nvSpPr>
        <p:spPr>
          <a:xfrm>
            <a:off x="432033" y="2458275"/>
            <a:ext cx="2922600" cy="2119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Persona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variable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Atributo de clase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nombre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nombre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p1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Persona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"Aldo"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p2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Persona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"Berta"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"Valor en p1:"</a:t>
            </a:r>
            <a:r>
              <a:rPr b="0" i="0" lang="es" sz="1100" u="none" cap="none" strike="noStrike">
                <a:solidFill>
                  <a:srgbClr val="D5CED9"/>
                </a:solidFill>
                <a:highlight>
                  <a:srgbClr val="23262E"/>
                </a:highlight>
                <a:latin typeface="Consolas"/>
                <a:ea typeface="Consolas"/>
                <a:cs typeface="Consolas"/>
                <a:sym typeface="Consolas"/>
              </a:rPr>
              <a:t>,p1.variable)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"Valor en p2:"</a:t>
            </a:r>
            <a:r>
              <a:rPr b="0" i="0" lang="es" sz="1100" u="none" cap="none" strike="noStrike">
                <a:solidFill>
                  <a:srgbClr val="D5CED9"/>
                </a:solidFill>
                <a:highlight>
                  <a:srgbClr val="23262E"/>
                </a:highlight>
                <a:latin typeface="Consolas"/>
                <a:ea typeface="Consolas"/>
                <a:cs typeface="Consolas"/>
                <a:sym typeface="Consolas"/>
              </a:rPr>
              <a:t>,p2.variable)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p1.variable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39C12"/>
                </a:solidFill>
                <a:highlight>
                  <a:srgbClr val="23262E"/>
                </a:highlight>
                <a:latin typeface="Consolas"/>
                <a:ea typeface="Consolas"/>
                <a:cs typeface="Consolas"/>
                <a:sym typeface="Consolas"/>
              </a:rPr>
              <a:t>30</a:t>
            </a:r>
            <a:endParaRPr b="0" i="0" sz="11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"Valor en p1:"</a:t>
            </a:r>
            <a:r>
              <a:rPr b="0" i="0" lang="es" sz="1100" u="none" cap="none" strike="noStrike">
                <a:solidFill>
                  <a:srgbClr val="D5CED9"/>
                </a:solidFill>
                <a:highlight>
                  <a:srgbClr val="23262E"/>
                </a:highlight>
                <a:latin typeface="Consolas"/>
                <a:ea typeface="Consolas"/>
                <a:cs typeface="Consolas"/>
                <a:sym typeface="Consolas"/>
              </a:rPr>
              <a:t>,p1.variable)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"Valor en p2:"</a:t>
            </a:r>
            <a:r>
              <a:rPr b="0" i="0" lang="es" sz="1100" u="none" cap="none" strike="noStrike">
                <a:solidFill>
                  <a:srgbClr val="D5CED9"/>
                </a:solidFill>
                <a:highlight>
                  <a:srgbClr val="23262E"/>
                </a:highlight>
                <a:latin typeface="Consolas"/>
                <a:ea typeface="Consolas"/>
                <a:cs typeface="Consolas"/>
                <a:sym typeface="Consolas"/>
              </a:rPr>
              <a:t>,p2.variable)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56" name="Google Shape;256;p12"/>
          <p:cNvSpPr/>
          <p:nvPr/>
        </p:nvSpPr>
        <p:spPr>
          <a:xfrm>
            <a:off x="3503198" y="2458275"/>
            <a:ext cx="1518300" cy="2119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Valor en p1: 20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Valor en p2: 20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Valor en p1: 30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Valor en p2: 20</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57" name="Google Shape;257;p12"/>
          <p:cNvSpPr/>
          <p:nvPr/>
        </p:nvSpPr>
        <p:spPr>
          <a:xfrm>
            <a:off x="3503193" y="2229375"/>
            <a:ext cx="1518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58" name="Google Shape;258;p12"/>
          <p:cNvSpPr txBox="1"/>
          <p:nvPr/>
        </p:nvSpPr>
        <p:spPr>
          <a:xfrm>
            <a:off x="5215025" y="2139250"/>
            <a:ext cx="3496800" cy="25599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1" i="0" lang="es" sz="1250" u="none" cap="none" strike="noStrike">
                <a:solidFill>
                  <a:schemeClr val="dk2"/>
                </a:solidFill>
                <a:latin typeface="Montserrat"/>
                <a:ea typeface="Montserrat"/>
                <a:cs typeface="Montserrat"/>
                <a:sym typeface="Montserrat"/>
              </a:rPr>
              <a:t>Importante: </a:t>
            </a:r>
            <a:r>
              <a:rPr b="0" i="0" lang="es" sz="1250" u="none" cap="none" strike="noStrike">
                <a:solidFill>
                  <a:schemeClr val="dk2"/>
                </a:solidFill>
                <a:latin typeface="Consolas"/>
                <a:ea typeface="Consolas"/>
                <a:cs typeface="Consolas"/>
                <a:sym typeface="Consolas"/>
              </a:rPr>
              <a:t>p1.variable = 30</a:t>
            </a:r>
            <a:r>
              <a:rPr b="0" i="0" lang="es" sz="1250" u="none" cap="none" strike="noStrike">
                <a:solidFill>
                  <a:schemeClr val="dk2"/>
                </a:solidFill>
                <a:latin typeface="Montserrat"/>
                <a:ea typeface="Montserrat"/>
                <a:cs typeface="Montserrat"/>
                <a:sym typeface="Montserrat"/>
              </a:rPr>
              <a:t> </a:t>
            </a:r>
            <a:r>
              <a:rPr b="0" i="1" lang="es" sz="1250" u="none" cap="none" strike="noStrike">
                <a:solidFill>
                  <a:schemeClr val="dk2"/>
                </a:solidFill>
                <a:latin typeface="Montserrat"/>
                <a:ea typeface="Montserrat"/>
                <a:cs typeface="Montserrat"/>
                <a:sym typeface="Montserrat"/>
              </a:rPr>
              <a:t>no modifica</a:t>
            </a:r>
            <a:r>
              <a:rPr b="0" i="0" lang="es" sz="1250" u="none" cap="none" strike="noStrike">
                <a:solidFill>
                  <a:schemeClr val="dk2"/>
                </a:solidFill>
                <a:latin typeface="Montserrat"/>
                <a:ea typeface="Montserrat"/>
                <a:cs typeface="Montserrat"/>
                <a:sym typeface="Montserrat"/>
              </a:rPr>
              <a:t> el valor del atributo de clase del mismo nombre, sino que </a:t>
            </a:r>
            <a:r>
              <a:rPr b="0" i="1" lang="es" sz="1250" u="none" cap="none" strike="noStrike">
                <a:solidFill>
                  <a:schemeClr val="dk2"/>
                </a:solidFill>
                <a:latin typeface="Montserrat"/>
                <a:ea typeface="Montserrat"/>
                <a:cs typeface="Montserrat"/>
                <a:sym typeface="Montserrat"/>
              </a:rPr>
              <a:t>crea un atributo de instancia</a:t>
            </a:r>
            <a:r>
              <a:rPr b="0" i="0" lang="es" sz="1250" u="none" cap="none" strike="noStrike">
                <a:solidFill>
                  <a:schemeClr val="dk2"/>
                </a:solidFill>
                <a:latin typeface="Montserrat"/>
                <a:ea typeface="Montserrat"/>
                <a:cs typeface="Montserrat"/>
                <a:sym typeface="Montserrat"/>
              </a:rPr>
              <a:t> que existe solo para ese objeto. Por lo tanto, cuando volvemos a consultar su valor, vemos “30” que es el valor de su atributo de instancia.</a:t>
            </a:r>
            <a:endParaRPr b="0" i="0" sz="12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s" sz="1250" u="none" cap="none" strike="noStrike">
                <a:solidFill>
                  <a:schemeClr val="dk2"/>
                </a:solidFill>
                <a:latin typeface="Montserrat"/>
                <a:ea typeface="Montserrat"/>
                <a:cs typeface="Montserrat"/>
                <a:sym typeface="Montserrat"/>
              </a:rPr>
              <a:t>Si existe un atributo de clase y uno de instancia con el mismo nombre, tiene prioridad el de la instancia. El cambio de valor no afecta a p2, que sigue mostrando el valor del atributo de clase.</a:t>
            </a:r>
            <a:endParaRPr b="0" i="0" sz="125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Atributos de clase</a:t>
            </a:r>
            <a:endParaRPr/>
          </a:p>
        </p:txBody>
      </p:sp>
      <p:sp>
        <p:nvSpPr>
          <p:cNvPr id="264" name="Google Shape;264;p1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Apliquemos el concepto de atributo de clase en un caso concreto, que implementa una lista compartida entre los objetos de esa clase:</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chemeClr val="dk2"/>
                </a:solidFill>
                <a:latin typeface="Montserrat"/>
                <a:ea typeface="Montserrat"/>
                <a:cs typeface="Montserrat"/>
                <a:sym typeface="Montserrat"/>
              </a:rPr>
              <a:t>Enunciado 2:</a:t>
            </a:r>
            <a:r>
              <a:rPr b="0" i="0" lang="es" sz="1682" u="none" cap="none" strike="noStrike">
                <a:solidFill>
                  <a:schemeClr val="dk2"/>
                </a:solidFill>
                <a:latin typeface="Montserrat"/>
                <a:ea typeface="Montserrat"/>
                <a:cs typeface="Montserrat"/>
                <a:sym typeface="Montserrat"/>
              </a:rPr>
              <a:t>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Define una clase Cliente que almacena un código de cliente y un nombre.</a:t>
            </a:r>
            <a:endParaRPr b="0" i="1"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En la clase Cliente define un atributo de clase de tipo lista que almacene todos los clientes con sus cuentas corrientes suspendidas.</a:t>
            </a:r>
            <a:endParaRPr b="0" i="1"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Imprimir por pantalla todos los datos de clientes y el estado en que se encuentra su cuenta corriente.</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nvSpPr>
        <p:spPr>
          <a:xfrm>
            <a:off x="432150" y="1267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La </a:t>
            </a:r>
            <a:r>
              <a:rPr b="1" i="0" lang="es" sz="1682" u="none" cap="none" strike="noStrike">
                <a:solidFill>
                  <a:schemeClr val="dk2"/>
                </a:solidFill>
                <a:latin typeface="Montserrat"/>
                <a:ea typeface="Montserrat"/>
                <a:cs typeface="Montserrat"/>
                <a:sym typeface="Montserrat"/>
              </a:rPr>
              <a:t>clase Cliente</a:t>
            </a:r>
            <a:r>
              <a:rPr b="0" i="0" lang="es" sz="1682" u="none" cap="none" strike="noStrike">
                <a:solidFill>
                  <a:schemeClr val="dk2"/>
                </a:solidFill>
                <a:latin typeface="Montserrat"/>
                <a:ea typeface="Montserrat"/>
                <a:cs typeface="Montserrat"/>
                <a:sym typeface="Montserrat"/>
              </a:rPr>
              <a:t> posee varios atributos de instancia, métodos y un </a:t>
            </a:r>
            <a:r>
              <a:rPr b="1" i="0" lang="es" sz="1682" u="none" cap="none" strike="noStrike">
                <a:solidFill>
                  <a:schemeClr val="dk2"/>
                </a:solidFill>
                <a:latin typeface="Montserrat"/>
                <a:ea typeface="Montserrat"/>
                <a:cs typeface="Montserrat"/>
                <a:sym typeface="Montserrat"/>
              </a:rPr>
              <a:t>atributo de clase</a:t>
            </a:r>
            <a:r>
              <a:rPr b="0" i="0" lang="es" sz="1682" u="none" cap="none" strike="noStrike">
                <a:solidFill>
                  <a:schemeClr val="dk2"/>
                </a:solidFill>
                <a:latin typeface="Montserrat"/>
                <a:ea typeface="Montserrat"/>
                <a:cs typeface="Montserrat"/>
                <a:sym typeface="Montserrat"/>
              </a:rPr>
              <a:t>, que es del tipo lista:</a:t>
            </a:r>
            <a:endParaRPr b="0" i="0" sz="1682" u="none" cap="none" strike="noStrike">
              <a:solidFill>
                <a:srgbClr val="595959"/>
              </a:solidFill>
              <a:latin typeface="Montserrat"/>
              <a:ea typeface="Montserrat"/>
              <a:cs typeface="Montserrat"/>
              <a:sym typeface="Montserrat"/>
            </a:endParaRPr>
          </a:p>
        </p:txBody>
      </p:sp>
      <p:sp>
        <p:nvSpPr>
          <p:cNvPr id="270" name="Google Shape;270;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Atributos de clase | Clase Cliente</a:t>
            </a:r>
            <a:endParaRPr/>
          </a:p>
        </p:txBody>
      </p:sp>
      <p:cxnSp>
        <p:nvCxnSpPr>
          <p:cNvPr id="271" name="Google Shape;271;p14"/>
          <p:cNvCxnSpPr>
            <a:stCxn id="272" idx="0"/>
            <a:endCxn id="273" idx="1"/>
          </p:cNvCxnSpPr>
          <p:nvPr/>
        </p:nvCxnSpPr>
        <p:spPr>
          <a:xfrm flipH="1" rot="10800000">
            <a:off x="3804625" y="2755075"/>
            <a:ext cx="774300" cy="300000"/>
          </a:xfrm>
          <a:prstGeom prst="straightConnector1">
            <a:avLst/>
          </a:prstGeom>
          <a:noFill/>
          <a:ln cap="flat" cmpd="sng" w="28575">
            <a:solidFill>
              <a:schemeClr val="dk2"/>
            </a:solidFill>
            <a:prstDash val="solid"/>
            <a:round/>
            <a:headEnd len="sm" w="sm" type="none"/>
            <a:tailEnd len="med" w="med" type="triangle"/>
          </a:ln>
        </p:spPr>
      </p:cxnSp>
      <p:sp>
        <p:nvSpPr>
          <p:cNvPr id="272" name="Google Shape;272;p14"/>
          <p:cNvSpPr/>
          <p:nvPr/>
        </p:nvSpPr>
        <p:spPr>
          <a:xfrm>
            <a:off x="3261025" y="3055075"/>
            <a:ext cx="10872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Cliente</a:t>
            </a:r>
            <a:endParaRPr b="1" i="0" sz="1100" u="none" cap="none" strike="noStrike">
              <a:solidFill>
                <a:schemeClr val="dk2"/>
              </a:solidFill>
              <a:latin typeface="Montserrat"/>
              <a:ea typeface="Montserrat"/>
              <a:cs typeface="Montserrat"/>
              <a:sym typeface="Montserrat"/>
            </a:endParaRPr>
          </a:p>
        </p:txBody>
      </p:sp>
      <p:sp>
        <p:nvSpPr>
          <p:cNvPr id="274" name="Google Shape;274;p14"/>
          <p:cNvSpPr/>
          <p:nvPr/>
        </p:nvSpPr>
        <p:spPr>
          <a:xfrm>
            <a:off x="6003225" y="2496825"/>
            <a:ext cx="1569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nombre</a:t>
            </a:r>
            <a:endParaRPr b="0" i="0" sz="1100" u="none" cap="none" strike="noStrike">
              <a:solidFill>
                <a:schemeClr val="dk2"/>
              </a:solidFill>
              <a:latin typeface="Montserrat"/>
              <a:ea typeface="Montserrat"/>
              <a:cs typeface="Montserrat"/>
              <a:sym typeface="Montserrat"/>
            </a:endParaRPr>
          </a:p>
        </p:txBody>
      </p:sp>
      <p:sp>
        <p:nvSpPr>
          <p:cNvPr id="275" name="Google Shape;275;p14"/>
          <p:cNvSpPr/>
          <p:nvPr/>
        </p:nvSpPr>
        <p:spPr>
          <a:xfrm>
            <a:off x="6003225" y="2096475"/>
            <a:ext cx="1569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codigo</a:t>
            </a:r>
            <a:endParaRPr b="0" i="0" sz="1100" u="none" cap="none" strike="noStrike">
              <a:solidFill>
                <a:schemeClr val="dk2"/>
              </a:solidFill>
              <a:latin typeface="Montserrat"/>
              <a:ea typeface="Montserrat"/>
              <a:cs typeface="Montserrat"/>
              <a:sym typeface="Montserrat"/>
            </a:endParaRPr>
          </a:p>
        </p:txBody>
      </p:sp>
      <p:sp>
        <p:nvSpPr>
          <p:cNvPr id="276" name="Google Shape;276;p14"/>
          <p:cNvSpPr/>
          <p:nvPr/>
        </p:nvSpPr>
        <p:spPr>
          <a:xfrm>
            <a:off x="6003225" y="2930900"/>
            <a:ext cx="15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277" name="Google Shape;277;p14"/>
          <p:cNvSpPr/>
          <p:nvPr/>
        </p:nvSpPr>
        <p:spPr>
          <a:xfrm>
            <a:off x="6003225" y="3333550"/>
            <a:ext cx="15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imprimir</a:t>
            </a:r>
            <a:endParaRPr b="0" i="0" sz="1100" u="none" cap="none" strike="noStrike">
              <a:solidFill>
                <a:schemeClr val="dk2"/>
              </a:solidFill>
              <a:latin typeface="Montserrat"/>
              <a:ea typeface="Montserrat"/>
              <a:cs typeface="Montserrat"/>
              <a:sym typeface="Montserrat"/>
            </a:endParaRPr>
          </a:p>
        </p:txBody>
      </p:sp>
      <p:sp>
        <p:nvSpPr>
          <p:cNvPr id="278" name="Google Shape;278;p14"/>
          <p:cNvSpPr/>
          <p:nvPr/>
        </p:nvSpPr>
        <p:spPr>
          <a:xfrm>
            <a:off x="6003225" y="3736200"/>
            <a:ext cx="15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suspender</a:t>
            </a:r>
            <a:endParaRPr b="0" i="0" sz="1100" u="none" cap="none" strike="noStrike">
              <a:solidFill>
                <a:schemeClr val="dk2"/>
              </a:solidFill>
              <a:latin typeface="Montserrat"/>
              <a:ea typeface="Montserrat"/>
              <a:cs typeface="Montserrat"/>
              <a:sym typeface="Montserrat"/>
            </a:endParaRPr>
          </a:p>
        </p:txBody>
      </p:sp>
      <p:sp>
        <p:nvSpPr>
          <p:cNvPr id="279" name="Google Shape;279;p14"/>
          <p:cNvSpPr/>
          <p:nvPr/>
        </p:nvSpPr>
        <p:spPr>
          <a:xfrm>
            <a:off x="6003225" y="4138850"/>
            <a:ext cx="15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esta_suspendida</a:t>
            </a:r>
            <a:endParaRPr b="0" i="0" sz="1100" u="none" cap="none" strike="noStrike">
              <a:solidFill>
                <a:schemeClr val="dk2"/>
              </a:solidFill>
              <a:latin typeface="Montserrat"/>
              <a:ea typeface="Montserrat"/>
              <a:cs typeface="Montserrat"/>
              <a:sym typeface="Montserrat"/>
            </a:endParaRPr>
          </a:p>
        </p:txBody>
      </p:sp>
      <p:sp>
        <p:nvSpPr>
          <p:cNvPr id="273" name="Google Shape;273;p14"/>
          <p:cNvSpPr/>
          <p:nvPr/>
        </p:nvSpPr>
        <p:spPr>
          <a:xfrm>
            <a:off x="4578825" y="2575150"/>
            <a:ext cx="10872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280" name="Google Shape;280;p14"/>
          <p:cNvSpPr/>
          <p:nvPr/>
        </p:nvSpPr>
        <p:spPr>
          <a:xfrm>
            <a:off x="4578825" y="3534875"/>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281" name="Google Shape;281;p14"/>
          <p:cNvCxnSpPr>
            <a:stCxn id="272" idx="2"/>
            <a:endCxn id="280" idx="1"/>
          </p:cNvCxnSpPr>
          <p:nvPr/>
        </p:nvCxnSpPr>
        <p:spPr>
          <a:xfrm>
            <a:off x="3804625" y="3415075"/>
            <a:ext cx="774300" cy="299700"/>
          </a:xfrm>
          <a:prstGeom prst="straightConnector1">
            <a:avLst/>
          </a:prstGeom>
          <a:noFill/>
          <a:ln cap="flat" cmpd="sng" w="28575">
            <a:solidFill>
              <a:schemeClr val="dk2"/>
            </a:solidFill>
            <a:prstDash val="solid"/>
            <a:round/>
            <a:headEnd len="sm" w="sm" type="none"/>
            <a:tailEnd len="med" w="med" type="triangle"/>
          </a:ln>
        </p:spPr>
      </p:cxnSp>
      <p:cxnSp>
        <p:nvCxnSpPr>
          <p:cNvPr id="282" name="Google Shape;282;p14"/>
          <p:cNvCxnSpPr>
            <a:stCxn id="273" idx="3"/>
          </p:cNvCxnSpPr>
          <p:nvPr/>
        </p:nvCxnSpPr>
        <p:spPr>
          <a:xfrm flipH="1" rot="10800000">
            <a:off x="5666025" y="2278450"/>
            <a:ext cx="337200" cy="476700"/>
          </a:xfrm>
          <a:prstGeom prst="straightConnector1">
            <a:avLst/>
          </a:prstGeom>
          <a:noFill/>
          <a:ln cap="flat" cmpd="sng" w="28575">
            <a:solidFill>
              <a:schemeClr val="dk2"/>
            </a:solidFill>
            <a:prstDash val="solid"/>
            <a:round/>
            <a:headEnd len="sm" w="sm" type="none"/>
            <a:tailEnd len="med" w="med" type="triangle"/>
          </a:ln>
        </p:spPr>
      </p:cxnSp>
      <p:cxnSp>
        <p:nvCxnSpPr>
          <p:cNvPr id="283" name="Google Shape;283;p14"/>
          <p:cNvCxnSpPr>
            <a:stCxn id="273" idx="3"/>
            <a:endCxn id="274" idx="1"/>
          </p:cNvCxnSpPr>
          <p:nvPr/>
        </p:nvCxnSpPr>
        <p:spPr>
          <a:xfrm flipH="1" rot="10800000">
            <a:off x="5666025" y="2676850"/>
            <a:ext cx="337200" cy="78300"/>
          </a:xfrm>
          <a:prstGeom prst="straightConnector1">
            <a:avLst/>
          </a:prstGeom>
          <a:noFill/>
          <a:ln cap="flat" cmpd="sng" w="28575">
            <a:solidFill>
              <a:schemeClr val="dk2"/>
            </a:solidFill>
            <a:prstDash val="solid"/>
            <a:round/>
            <a:headEnd len="sm" w="sm" type="none"/>
            <a:tailEnd len="med" w="med" type="triangle"/>
          </a:ln>
        </p:spPr>
      </p:cxnSp>
      <p:cxnSp>
        <p:nvCxnSpPr>
          <p:cNvPr id="284" name="Google Shape;284;p14"/>
          <p:cNvCxnSpPr>
            <a:stCxn id="280" idx="3"/>
            <a:endCxn id="276" idx="1"/>
          </p:cNvCxnSpPr>
          <p:nvPr/>
        </p:nvCxnSpPr>
        <p:spPr>
          <a:xfrm flipH="1" rot="10800000">
            <a:off x="5666025" y="3110975"/>
            <a:ext cx="337200" cy="603900"/>
          </a:xfrm>
          <a:prstGeom prst="straightConnector1">
            <a:avLst/>
          </a:prstGeom>
          <a:noFill/>
          <a:ln cap="flat" cmpd="sng" w="28575">
            <a:solidFill>
              <a:schemeClr val="dk2"/>
            </a:solidFill>
            <a:prstDash val="solid"/>
            <a:round/>
            <a:headEnd len="sm" w="sm" type="none"/>
            <a:tailEnd len="med" w="med" type="triangle"/>
          </a:ln>
        </p:spPr>
      </p:cxnSp>
      <p:cxnSp>
        <p:nvCxnSpPr>
          <p:cNvPr id="285" name="Google Shape;285;p14"/>
          <p:cNvCxnSpPr>
            <a:stCxn id="280" idx="3"/>
            <a:endCxn id="277" idx="1"/>
          </p:cNvCxnSpPr>
          <p:nvPr/>
        </p:nvCxnSpPr>
        <p:spPr>
          <a:xfrm flipH="1" rot="10800000">
            <a:off x="5666025" y="351357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286" name="Google Shape;286;p14"/>
          <p:cNvCxnSpPr>
            <a:stCxn id="280" idx="3"/>
            <a:endCxn id="278" idx="1"/>
          </p:cNvCxnSpPr>
          <p:nvPr/>
        </p:nvCxnSpPr>
        <p:spPr>
          <a:xfrm>
            <a:off x="5666025" y="371487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287" name="Google Shape;287;p14"/>
          <p:cNvCxnSpPr>
            <a:stCxn id="280" idx="3"/>
            <a:endCxn id="279" idx="1"/>
          </p:cNvCxnSpPr>
          <p:nvPr/>
        </p:nvCxnSpPr>
        <p:spPr>
          <a:xfrm>
            <a:off x="5666025" y="3714875"/>
            <a:ext cx="337200" cy="603900"/>
          </a:xfrm>
          <a:prstGeom prst="straightConnector1">
            <a:avLst/>
          </a:prstGeom>
          <a:noFill/>
          <a:ln cap="flat" cmpd="sng" w="28575">
            <a:solidFill>
              <a:schemeClr val="dk2"/>
            </a:solidFill>
            <a:prstDash val="solid"/>
            <a:round/>
            <a:headEnd len="sm" w="sm" type="none"/>
            <a:tailEnd len="med" w="med" type="triangle"/>
          </a:ln>
        </p:spPr>
      </p:cxnSp>
      <p:sp>
        <p:nvSpPr>
          <p:cNvPr id="288" name="Google Shape;288;p14"/>
          <p:cNvSpPr/>
          <p:nvPr/>
        </p:nvSpPr>
        <p:spPr>
          <a:xfrm>
            <a:off x="1812525" y="3055075"/>
            <a:ext cx="1087200" cy="360000"/>
          </a:xfrm>
          <a:prstGeom prst="flowChartAlternateProcess">
            <a:avLst/>
          </a:prstGeom>
          <a:solidFill>
            <a:srgbClr val="7685E6"/>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lt1"/>
                </a:solidFill>
                <a:latin typeface="Montserrat"/>
                <a:ea typeface="Montserrat"/>
                <a:cs typeface="Montserrat"/>
                <a:sym typeface="Montserrat"/>
              </a:rPr>
              <a:t>Atributos de clase</a:t>
            </a:r>
            <a:endParaRPr b="1" i="0" sz="1100" u="none" cap="none" strike="noStrike">
              <a:solidFill>
                <a:schemeClr val="lt1"/>
              </a:solidFill>
              <a:latin typeface="Montserrat"/>
              <a:ea typeface="Montserrat"/>
              <a:cs typeface="Montserrat"/>
              <a:sym typeface="Montserrat"/>
            </a:endParaRPr>
          </a:p>
        </p:txBody>
      </p:sp>
      <p:cxnSp>
        <p:nvCxnSpPr>
          <p:cNvPr id="289" name="Google Shape;289;p14"/>
          <p:cNvCxnSpPr>
            <a:stCxn id="272" idx="1"/>
            <a:endCxn id="288" idx="3"/>
          </p:cNvCxnSpPr>
          <p:nvPr/>
        </p:nvCxnSpPr>
        <p:spPr>
          <a:xfrm rot="10800000">
            <a:off x="2899825" y="3235075"/>
            <a:ext cx="361200" cy="0"/>
          </a:xfrm>
          <a:prstGeom prst="straightConnector1">
            <a:avLst/>
          </a:prstGeom>
          <a:noFill/>
          <a:ln cap="flat" cmpd="sng" w="28575">
            <a:solidFill>
              <a:schemeClr val="dk2"/>
            </a:solidFill>
            <a:prstDash val="solid"/>
            <a:round/>
            <a:headEnd len="sm" w="sm" type="none"/>
            <a:tailEnd len="med" w="med" type="triangle"/>
          </a:ln>
        </p:spPr>
      </p:cxnSp>
      <p:sp>
        <p:nvSpPr>
          <p:cNvPr id="290" name="Google Shape;290;p14"/>
          <p:cNvSpPr/>
          <p:nvPr/>
        </p:nvSpPr>
        <p:spPr>
          <a:xfrm>
            <a:off x="1571475" y="2215150"/>
            <a:ext cx="1569300" cy="360000"/>
          </a:xfrm>
          <a:prstGeom prst="flowChartAlternateProcess">
            <a:avLst/>
          </a:prstGeom>
          <a:solidFill>
            <a:srgbClr val="5F6167"/>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lt1"/>
                </a:solidFill>
                <a:latin typeface="Montserrat"/>
                <a:ea typeface="Montserrat"/>
                <a:cs typeface="Montserrat"/>
                <a:sym typeface="Montserrat"/>
              </a:rPr>
              <a:t>suspendidos</a:t>
            </a:r>
            <a:endParaRPr b="0" i="0" sz="11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lt1"/>
                </a:solidFill>
                <a:latin typeface="Montserrat"/>
                <a:ea typeface="Montserrat"/>
                <a:cs typeface="Montserrat"/>
                <a:sym typeface="Montserrat"/>
              </a:rPr>
              <a:t>(lista)</a:t>
            </a:r>
            <a:endParaRPr b="0" i="0" sz="1100" u="none" cap="none" strike="noStrike">
              <a:solidFill>
                <a:schemeClr val="lt1"/>
              </a:solidFill>
              <a:latin typeface="Montserrat"/>
              <a:ea typeface="Montserrat"/>
              <a:cs typeface="Montserrat"/>
              <a:sym typeface="Montserrat"/>
            </a:endParaRPr>
          </a:p>
        </p:txBody>
      </p:sp>
      <p:cxnSp>
        <p:nvCxnSpPr>
          <p:cNvPr id="291" name="Google Shape;291;p14"/>
          <p:cNvCxnSpPr>
            <a:stCxn id="288" idx="0"/>
            <a:endCxn id="290" idx="2"/>
          </p:cNvCxnSpPr>
          <p:nvPr/>
        </p:nvCxnSpPr>
        <p:spPr>
          <a:xfrm rot="10800000">
            <a:off x="2356125" y="2575075"/>
            <a:ext cx="0" cy="4800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Atributos de clase | Clase Cliente</a:t>
            </a:r>
            <a:endParaRPr/>
          </a:p>
        </p:txBody>
      </p:sp>
      <p:sp>
        <p:nvSpPr>
          <p:cNvPr id="297" name="Google Shape;297;p15"/>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La lista </a:t>
            </a:r>
            <a:r>
              <a:rPr i="1" lang="es" sz="1650"/>
              <a:t>suspendidos</a:t>
            </a:r>
            <a:r>
              <a:rPr lang="es" sz="1650"/>
              <a:t> es compartida por todos los objetos de la clase.</a:t>
            </a:r>
            <a:endParaRPr sz="1650"/>
          </a:p>
          <a:p>
            <a:pPr indent="0" lvl="0" marL="0" rtl="0" algn="l">
              <a:lnSpc>
                <a:spcPct val="115000"/>
              </a:lnSpc>
              <a:spcBef>
                <a:spcPts val="1200"/>
              </a:spcBef>
              <a:spcAft>
                <a:spcPts val="0"/>
              </a:spcAft>
              <a:buSzPts val="1800"/>
              <a:buNone/>
            </a:pPr>
            <a:r>
              <a:rPr lang="es" sz="1650"/>
              <a:t>El método </a:t>
            </a:r>
            <a:r>
              <a:rPr i="1" lang="es" sz="1650"/>
              <a:t>imprimir</a:t>
            </a:r>
            <a:r>
              <a:rPr lang="es" sz="1650"/>
              <a:t> muestra los datos y estado de la cuenta de cada instancia de la clase Cliente.</a:t>
            </a:r>
            <a:endParaRPr sz="1650"/>
          </a:p>
          <a:p>
            <a:pPr indent="0" lvl="0" marL="0" rtl="0" algn="l">
              <a:lnSpc>
                <a:spcPct val="115000"/>
              </a:lnSpc>
              <a:spcBef>
                <a:spcPts val="1200"/>
              </a:spcBef>
              <a:spcAft>
                <a:spcPts val="1200"/>
              </a:spcAft>
              <a:buSzPts val="1800"/>
              <a:buNone/>
            </a:pPr>
            <a:r>
              <a:rPr lang="es" sz="1650"/>
              <a:t>El método </a:t>
            </a:r>
            <a:r>
              <a:rPr i="1" lang="es" sz="1650"/>
              <a:t>suspender</a:t>
            </a:r>
            <a:r>
              <a:rPr lang="es" sz="1650"/>
              <a:t> agrega el código de un cliente a la lista del cliente suspendido.</a:t>
            </a:r>
            <a:endParaRPr sz="1650"/>
          </a:p>
        </p:txBody>
      </p:sp>
      <p:sp>
        <p:nvSpPr>
          <p:cNvPr id="298" name="Google Shape;298;p15"/>
          <p:cNvSpPr/>
          <p:nvPr/>
        </p:nvSpPr>
        <p:spPr>
          <a:xfrm>
            <a:off x="4843050" y="1533775"/>
            <a:ext cx="3869100" cy="2994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suspendidos</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#Atributo de Clase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codigo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nombre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.codigo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codigo </a:t>
            </a:r>
            <a:r>
              <a:rPr b="0" i="0" lang="es" sz="1100" u="none" cap="none" strike="noStrike">
                <a:solidFill>
                  <a:srgbClr val="5F6167"/>
                </a:solidFill>
                <a:highlight>
                  <a:srgbClr val="23262E"/>
                </a:highlight>
                <a:latin typeface="Consolas"/>
                <a:ea typeface="Consolas"/>
                <a:cs typeface="Consolas"/>
                <a:sym typeface="Consolas"/>
              </a:rPr>
              <a:t>#Atributo de instancia</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nombre </a:t>
            </a:r>
            <a:r>
              <a:rPr b="0" i="0" lang="es" sz="1100" u="none" cap="none" strike="noStrike">
                <a:solidFill>
                  <a:srgbClr val="5F6167"/>
                </a:solidFill>
                <a:highlight>
                  <a:srgbClr val="23262E"/>
                </a:highlight>
                <a:latin typeface="Consolas"/>
                <a:ea typeface="Consolas"/>
                <a:cs typeface="Consolas"/>
                <a:sym typeface="Consolas"/>
              </a:rPr>
              <a:t>#Atributo de instancia</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"Codigo: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.codigo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"Nombre: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esta_suspendido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suspender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45720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Cliente.suspendidos.</a:t>
            </a:r>
            <a:r>
              <a:rPr b="0" i="0" lang="es" sz="1100" u="none" cap="none" strike="noStrike">
                <a:solidFill>
                  <a:srgbClr val="FFE66D"/>
                </a:solidFill>
                <a:highlight>
                  <a:srgbClr val="23262E"/>
                </a:highlight>
                <a:latin typeface="Consolas"/>
                <a:ea typeface="Consolas"/>
                <a:cs typeface="Consolas"/>
                <a:sym typeface="Consolas"/>
              </a:rPr>
              <a:t>append</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.codigo)</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299" name="Google Shape;299;p15"/>
          <p:cNvSpPr/>
          <p:nvPr/>
        </p:nvSpPr>
        <p:spPr>
          <a:xfrm>
            <a:off x="4843050" y="1304875"/>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Cliente (Parte I)</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Atributos de clase | Clase Cliente y programa ppal.</a:t>
            </a:r>
            <a:endParaRPr/>
          </a:p>
        </p:txBody>
      </p:sp>
      <p:sp>
        <p:nvSpPr>
          <p:cNvPr id="305" name="Google Shape;305;p16"/>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sz="1650"/>
              <a:t>El método </a:t>
            </a:r>
            <a:r>
              <a:rPr i="1" lang="es" sz="1650"/>
              <a:t>esta_suspendido</a:t>
            </a:r>
            <a:r>
              <a:rPr lang="es" sz="1650"/>
              <a:t> verifica si el código del cliente se encuentra en la lista suspendidos, que es un </a:t>
            </a:r>
            <a:r>
              <a:rPr b="1" lang="es" sz="1650"/>
              <a:t>atributo de clase.</a:t>
            </a:r>
            <a:r>
              <a:rPr lang="es" sz="1650"/>
              <a:t> </a:t>
            </a:r>
            <a:endParaRPr sz="1650"/>
          </a:p>
          <a:p>
            <a:pPr indent="0" lvl="0" marL="0" rtl="0" algn="l">
              <a:lnSpc>
                <a:spcPct val="115000"/>
              </a:lnSpc>
              <a:spcBef>
                <a:spcPts val="1200"/>
              </a:spcBef>
              <a:spcAft>
                <a:spcPts val="1200"/>
              </a:spcAft>
              <a:buSzPts val="1800"/>
              <a:buNone/>
            </a:pPr>
            <a:r>
              <a:rPr lang="es" sz="1650"/>
              <a:t>Dentro del cuerpo principal del programa se instancian cuatro clientes, y se suspenden dos de ellos mediante el método correspondiente: </a:t>
            </a:r>
            <a:endParaRPr sz="1650"/>
          </a:p>
        </p:txBody>
      </p:sp>
      <p:sp>
        <p:nvSpPr>
          <p:cNvPr id="306" name="Google Shape;306;p16"/>
          <p:cNvSpPr/>
          <p:nvPr/>
        </p:nvSpPr>
        <p:spPr>
          <a:xfrm>
            <a:off x="4843050" y="1533775"/>
            <a:ext cx="3869100" cy="2994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esta_suspendido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if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.codigo </a:t>
            </a:r>
            <a:r>
              <a:rPr b="0" i="0" lang="es" sz="1100" u="none" cap="none" strike="noStrike">
                <a:solidFill>
                  <a:srgbClr val="EE5D43"/>
                </a:solidFill>
                <a:highlight>
                  <a:srgbClr val="23262E"/>
                </a:highlight>
                <a:latin typeface="Consolas"/>
                <a:ea typeface="Consolas"/>
                <a:cs typeface="Consolas"/>
                <a:sym typeface="Consolas"/>
              </a:rPr>
              <a:t>in</a:t>
            </a:r>
            <a:r>
              <a:rPr b="0" i="0" lang="es" sz="1100" u="none" cap="none" strike="noStrike">
                <a:solidFill>
                  <a:srgbClr val="D5CED9"/>
                </a:solidFill>
                <a:highlight>
                  <a:srgbClr val="23262E"/>
                </a:highlight>
                <a:latin typeface="Consolas"/>
                <a:ea typeface="Consolas"/>
                <a:cs typeface="Consolas"/>
                <a:sym typeface="Consolas"/>
              </a:rPr>
              <a:t> Cliente.suspendidos:</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"Esta suspendido"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else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"No esta suspendido"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"_"</a:t>
            </a:r>
            <a:r>
              <a:rPr b="0" i="0" lang="es" sz="1100" u="none" cap="none" strike="noStrike">
                <a:solidFill>
                  <a:srgbClr val="EE5D43"/>
                </a:solidFill>
                <a:highlight>
                  <a:srgbClr val="23262E"/>
                </a:highlight>
                <a:latin typeface="Consolas"/>
                <a:ea typeface="Consolas"/>
                <a:cs typeface="Consolas"/>
                <a:sym typeface="Consolas"/>
              </a:rPr>
              <a:t>*2</a:t>
            </a:r>
            <a:r>
              <a:rPr b="0" i="0" lang="es" sz="1100" u="none" cap="none" strike="noStrike">
                <a:solidFill>
                  <a:srgbClr val="F39C12"/>
                </a:solidFill>
                <a:highlight>
                  <a:srgbClr val="23262E"/>
                </a:highlight>
                <a:latin typeface="Consolas"/>
                <a:ea typeface="Consolas"/>
                <a:cs typeface="Consolas"/>
                <a:sym typeface="Consolas"/>
              </a:rPr>
              <a:t>0</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Programa principal:</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"Juan"</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cliente2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"Ana"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cliente3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3</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"Diego"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cliente4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4</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"Pedro"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suspender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cliente4.</a:t>
            </a:r>
            <a:r>
              <a:rPr b="0" i="0" lang="es" sz="1100" u="none" cap="none" strike="noStrike">
                <a:solidFill>
                  <a:srgbClr val="FFE66D"/>
                </a:solidFill>
                <a:highlight>
                  <a:srgbClr val="23262E"/>
                </a:highlight>
                <a:latin typeface="Consolas"/>
                <a:ea typeface="Consolas"/>
                <a:cs typeface="Consolas"/>
                <a:sym typeface="Consolas"/>
              </a:rPr>
              <a:t>suspender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07" name="Google Shape;307;p16"/>
          <p:cNvSpPr/>
          <p:nvPr/>
        </p:nvSpPr>
        <p:spPr>
          <a:xfrm>
            <a:off x="4843050" y="1304875"/>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Cliente (Parte I) y programa ppal: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Atributos de clase | Ejecución</a:t>
            </a:r>
            <a:endParaRPr/>
          </a:p>
        </p:txBody>
      </p:sp>
      <p:sp>
        <p:nvSpPr>
          <p:cNvPr id="313" name="Google Shape;313;p17"/>
          <p:cNvSpPr txBox="1"/>
          <p:nvPr/>
        </p:nvSpPr>
        <p:spPr>
          <a:xfrm>
            <a:off x="432150" y="1260250"/>
            <a:ext cx="8279700" cy="4137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Si en este punto invocamos el método </a:t>
            </a:r>
            <a:r>
              <a:rPr b="0" i="1" lang="es" sz="1650" u="none" cap="none" strike="noStrike">
                <a:solidFill>
                  <a:schemeClr val="dk2"/>
                </a:solidFill>
                <a:latin typeface="Montserrat"/>
                <a:ea typeface="Montserrat"/>
                <a:cs typeface="Montserrat"/>
                <a:sym typeface="Montserrat"/>
              </a:rPr>
              <a:t>imprimir</a:t>
            </a:r>
            <a:r>
              <a:rPr b="0" i="0" lang="es" sz="1650" u="none" cap="none" strike="noStrike">
                <a:solidFill>
                  <a:schemeClr val="dk2"/>
                </a:solidFill>
                <a:latin typeface="Montserrat"/>
                <a:ea typeface="Montserrat"/>
                <a:cs typeface="Montserrat"/>
                <a:sym typeface="Montserrat"/>
              </a:rPr>
              <a:t> de cada instancia, vemos:</a:t>
            </a:r>
            <a:endParaRPr b="0" i="0" sz="1682" u="none" cap="none" strike="noStrike">
              <a:solidFill>
                <a:srgbClr val="595959"/>
              </a:solidFill>
              <a:latin typeface="Montserrat"/>
              <a:ea typeface="Montserrat"/>
              <a:cs typeface="Montserrat"/>
              <a:sym typeface="Montserrat"/>
            </a:endParaRPr>
          </a:p>
        </p:txBody>
      </p:sp>
      <p:sp>
        <p:nvSpPr>
          <p:cNvPr id="314" name="Google Shape;314;p17"/>
          <p:cNvSpPr/>
          <p:nvPr/>
        </p:nvSpPr>
        <p:spPr>
          <a:xfrm>
            <a:off x="432150" y="1642775"/>
            <a:ext cx="2601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315" name="Google Shape;315;p17"/>
          <p:cNvSpPr/>
          <p:nvPr/>
        </p:nvSpPr>
        <p:spPr>
          <a:xfrm>
            <a:off x="432150" y="1871675"/>
            <a:ext cx="2601000" cy="2606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Programa principal:</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1</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"Juan"</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cliente2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"Ana"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cliente3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3</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"Diego"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cliente4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Cliente</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4</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"Pedro"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suspender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cliente4.</a:t>
            </a:r>
            <a:r>
              <a:rPr b="0" i="0" lang="es" sz="1100" u="none" cap="none" strike="noStrike">
                <a:solidFill>
                  <a:srgbClr val="FFE66D"/>
                </a:solidFill>
                <a:highlight>
                  <a:srgbClr val="23262E"/>
                </a:highlight>
                <a:latin typeface="Consolas"/>
                <a:ea typeface="Consolas"/>
                <a:cs typeface="Consolas"/>
                <a:sym typeface="Consolas"/>
              </a:rPr>
              <a:t>suspender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cliente1.</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cliente2.</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cliente3.</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cliente4.</a:t>
            </a:r>
            <a:r>
              <a:rPr b="0" i="0" lang="es" sz="1100" u="none" cap="none" strike="noStrike">
                <a:solidFill>
                  <a:srgbClr val="FFE66D"/>
                </a:solidFill>
                <a:highlight>
                  <a:srgbClr val="23262E"/>
                </a:highlight>
                <a:latin typeface="Consolas"/>
                <a:ea typeface="Consolas"/>
                <a:cs typeface="Consolas"/>
                <a:sym typeface="Consolas"/>
              </a:rPr>
              <a:t>imprimir</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316" name="Google Shape;316;p17"/>
          <p:cNvSpPr/>
          <p:nvPr/>
        </p:nvSpPr>
        <p:spPr>
          <a:xfrm>
            <a:off x="3221700" y="1896150"/>
            <a:ext cx="1804800" cy="2559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Codigo: 1</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Nombre: Juan</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 esta suspendido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____________________</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Codigo: 2</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Nombre: Ana</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 esta suspendido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____________________</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Codigo: 3</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Nombre: Diego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Esta suspendido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____________________</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Codigo: 4</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Nombre: Pedro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Esta suspendido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____________________</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317" name="Google Shape;317;p17"/>
          <p:cNvSpPr/>
          <p:nvPr/>
        </p:nvSpPr>
        <p:spPr>
          <a:xfrm>
            <a:off x="3221700" y="1642775"/>
            <a:ext cx="18048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318" name="Google Shape;318;p17"/>
          <p:cNvSpPr txBox="1"/>
          <p:nvPr/>
        </p:nvSpPr>
        <p:spPr>
          <a:xfrm>
            <a:off x="5300875" y="1642775"/>
            <a:ext cx="3411000" cy="28353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chemeClr val="dk2"/>
                </a:solidFill>
                <a:latin typeface="Montserrat"/>
                <a:ea typeface="Montserrat"/>
                <a:cs typeface="Montserrat"/>
                <a:sym typeface="Montserrat"/>
              </a:rPr>
              <a:t>Es importante recordar que todos los objetos acceden a una única lista llamada suspendidos gracias a que se definió como un atributo de clase.</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0" i="0" lang="es" sz="1350" u="none" cap="none" strike="noStrike">
                <a:solidFill>
                  <a:schemeClr val="dk2"/>
                </a:solidFill>
                <a:latin typeface="Montserrat"/>
                <a:ea typeface="Montserrat"/>
                <a:cs typeface="Montserrat"/>
                <a:sym typeface="Montserrat"/>
              </a:rPr>
              <a:t>Podemos ver el contenido de la lista con:</a:t>
            </a:r>
            <a:endParaRPr b="0" i="0" sz="13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1" i="0" sz="12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1" i="0" sz="1250" u="none" cap="none" strike="noStrike">
              <a:solidFill>
                <a:schemeClr val="dk2"/>
              </a:solidFill>
              <a:latin typeface="Montserrat"/>
              <a:ea typeface="Montserrat"/>
              <a:cs typeface="Montserrat"/>
              <a:sym typeface="Montserrat"/>
            </a:endParaRPr>
          </a:p>
        </p:txBody>
      </p:sp>
      <p:sp>
        <p:nvSpPr>
          <p:cNvPr id="319" name="Google Shape;319;p17"/>
          <p:cNvSpPr/>
          <p:nvPr/>
        </p:nvSpPr>
        <p:spPr>
          <a:xfrm>
            <a:off x="5215049" y="3259500"/>
            <a:ext cx="2181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320" name="Google Shape;320;p17"/>
          <p:cNvSpPr/>
          <p:nvPr/>
        </p:nvSpPr>
        <p:spPr>
          <a:xfrm>
            <a:off x="5215050" y="3488400"/>
            <a:ext cx="2181900" cy="360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FFE66D"/>
              </a:buClr>
              <a:buSzPts val="1400"/>
              <a:buFont typeface="Consolas"/>
              <a:buNone/>
            </a:pP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(Cliente.suspendidos)</a:t>
            </a:r>
            <a:endParaRPr b="0" i="0" sz="1100" u="none" cap="none" strike="noStrike">
              <a:solidFill>
                <a:srgbClr val="5F6167"/>
              </a:solidFill>
              <a:highlight>
                <a:srgbClr val="23262E"/>
              </a:highlight>
              <a:latin typeface="Consolas"/>
              <a:ea typeface="Consolas"/>
              <a:cs typeface="Consolas"/>
              <a:sym typeface="Consolas"/>
            </a:endParaRPr>
          </a:p>
        </p:txBody>
      </p:sp>
      <p:sp>
        <p:nvSpPr>
          <p:cNvPr id="321" name="Google Shape;321;p17"/>
          <p:cNvSpPr/>
          <p:nvPr/>
        </p:nvSpPr>
        <p:spPr>
          <a:xfrm>
            <a:off x="7549400" y="3488400"/>
            <a:ext cx="992100" cy="360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[3, 4]</a:t>
            </a:r>
            <a:endParaRPr b="0" i="0" sz="1500" u="none" cap="none" strike="noStrike">
              <a:solidFill>
                <a:srgbClr val="5F6167"/>
              </a:solidFill>
              <a:highlight>
                <a:srgbClr val="23262E"/>
              </a:highlight>
              <a:latin typeface="Consolas"/>
              <a:ea typeface="Consolas"/>
              <a:cs typeface="Consolas"/>
              <a:sym typeface="Consolas"/>
            </a:endParaRPr>
          </a:p>
        </p:txBody>
      </p:sp>
      <p:sp>
        <p:nvSpPr>
          <p:cNvPr id="322" name="Google Shape;322;p17"/>
          <p:cNvSpPr/>
          <p:nvPr/>
        </p:nvSpPr>
        <p:spPr>
          <a:xfrm>
            <a:off x="7549397" y="3259500"/>
            <a:ext cx="992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a:t>
            </a:r>
            <a:endParaRPr/>
          </a:p>
        </p:txBody>
      </p:sp>
      <p:sp>
        <p:nvSpPr>
          <p:cNvPr id="328" name="Google Shape;328;p18"/>
          <p:cNvSpPr txBox="1"/>
          <p:nvPr/>
        </p:nvSpPr>
        <p:spPr>
          <a:xfrm>
            <a:off x="432150" y="1260250"/>
            <a:ext cx="8279700" cy="33252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Cada clase que definimos es un nuevo tipo de datos, con sus atributos y métodos. Y al igual que los demás tipos de datos, los objetos instanciados a partir de ellas se pueden utilizar como parte de colecciones</a:t>
            </a:r>
            <a:r>
              <a:rPr b="0" i="0" lang="es" sz="1650" u="none" cap="none" strike="noStrike">
                <a:solidFill>
                  <a:srgbClr val="595959"/>
                </a:solidFill>
                <a:latin typeface="Montserrat"/>
                <a:ea typeface="Montserrat"/>
                <a:cs typeface="Montserrat"/>
                <a:sym typeface="Montserrat"/>
              </a:rPr>
              <a:t> o incluso ser parte de otras clases.</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La </a:t>
            </a:r>
            <a:r>
              <a:rPr b="1" i="0" lang="es" sz="1650" u="none" cap="none" strike="noStrike">
                <a:solidFill>
                  <a:srgbClr val="595959"/>
                </a:solidFill>
                <a:latin typeface="Montserrat"/>
                <a:ea typeface="Montserrat"/>
                <a:cs typeface="Montserrat"/>
                <a:sym typeface="Montserrat"/>
              </a:rPr>
              <a:t>composición</a:t>
            </a:r>
            <a:r>
              <a:rPr b="0" i="0" lang="es" sz="1650" u="none" cap="none" strike="noStrike">
                <a:solidFill>
                  <a:srgbClr val="595959"/>
                </a:solidFill>
                <a:latin typeface="Montserrat"/>
                <a:ea typeface="Montserrat"/>
                <a:cs typeface="Montserrat"/>
                <a:sym typeface="Montserrat"/>
              </a:rPr>
              <a:t> es uno de los conceptos fundamentales de la POO. Tiene lugar cuando una clase (clase “</a:t>
            </a:r>
            <a:r>
              <a:rPr b="0" i="1" lang="es" sz="1650" u="none" cap="none" strike="noStrike">
                <a:solidFill>
                  <a:srgbClr val="595959"/>
                </a:solidFill>
                <a:latin typeface="Montserrat"/>
                <a:ea typeface="Montserrat"/>
                <a:cs typeface="Montserrat"/>
                <a:sym typeface="Montserrat"/>
              </a:rPr>
              <a:t>que tiene</a:t>
            </a:r>
            <a:r>
              <a:rPr b="0" i="0" lang="es" sz="1650" u="none" cap="none" strike="noStrike">
                <a:solidFill>
                  <a:srgbClr val="595959"/>
                </a:solidFill>
                <a:latin typeface="Montserrat"/>
                <a:ea typeface="Montserrat"/>
                <a:cs typeface="Montserrat"/>
                <a:sym typeface="Montserrat"/>
              </a:rPr>
              <a:t>”) hace referencia a uno o más objetos de otras clases (clases “</a:t>
            </a:r>
            <a:r>
              <a:rPr b="0" i="1" lang="es" sz="1650" u="none" cap="none" strike="noStrike">
                <a:solidFill>
                  <a:srgbClr val="595959"/>
                </a:solidFill>
                <a:latin typeface="Montserrat"/>
                <a:ea typeface="Montserrat"/>
                <a:cs typeface="Montserrat"/>
                <a:sym typeface="Montserrat"/>
              </a:rPr>
              <a:t>que son parte de</a:t>
            </a:r>
            <a:r>
              <a:rPr b="0" i="0" lang="es" sz="1650" u="none" cap="none" strike="noStrike">
                <a:solidFill>
                  <a:srgbClr val="595959"/>
                </a:solidFill>
                <a:latin typeface="Montserrat"/>
                <a:ea typeface="Montserrat"/>
                <a:cs typeface="Montserrat"/>
                <a:sym typeface="Montserrat"/>
              </a:rPr>
              <a:t>”), como una variable de instancia. </a:t>
            </a:r>
            <a:r>
              <a:rPr b="0" i="0" lang="es" sz="1650" u="sng" cap="none" strike="noStrike">
                <a:solidFill>
                  <a:schemeClr val="hlink"/>
                </a:solidFill>
                <a:latin typeface="Montserrat"/>
                <a:ea typeface="Montserrat"/>
                <a:cs typeface="Montserrat"/>
                <a:sym typeface="Montserrat"/>
                <a:hlinkClick r:id="rId3"/>
              </a:rPr>
              <a:t>+info</a:t>
            </a:r>
            <a:endParaRPr b="0" i="0" sz="1650" u="none" cap="none" strike="noStrike">
              <a:solidFill>
                <a:srgbClr val="595959"/>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rgbClr val="595959"/>
                </a:solidFill>
                <a:latin typeface="Montserrat"/>
                <a:ea typeface="Montserrat"/>
                <a:cs typeface="Montserrat"/>
                <a:sym typeface="Montserrat"/>
              </a:rPr>
              <a:t>Al usar el nombre de la clase o al crear el objeto, se accede a los miembros de una clase dentro de otra clase. La composición permite crear tipos complejos mediante la combinación de objetos de diferentes clases. </a:t>
            </a:r>
            <a:endParaRPr b="0" i="0" sz="165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a:t>
            </a:r>
            <a:endParaRPr/>
          </a:p>
        </p:txBody>
      </p:sp>
      <p:sp>
        <p:nvSpPr>
          <p:cNvPr id="334" name="Google Shape;334;p19"/>
          <p:cNvSpPr txBox="1"/>
          <p:nvPr/>
        </p:nvSpPr>
        <p:spPr>
          <a:xfrm>
            <a:off x="432150" y="1260250"/>
            <a:ext cx="8279700" cy="3325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Mediante la composición solo se puede utilizar la otra clase (la “que es parte de”), no se puede modificar ni extender la funcionalidad de la misma. No proporciona funciones adicionales. Así, cuando se necesita usar otra clase sin ninguna modificación, se recomienda la composición</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s" sz="1682" u="none" cap="none" strike="noStrike">
                <a:solidFill>
                  <a:srgbClr val="595959"/>
                </a:solidFill>
                <a:latin typeface="Montserrat"/>
                <a:ea typeface="Montserrat"/>
                <a:cs typeface="Montserrat"/>
                <a:sym typeface="Montserrat"/>
              </a:rPr>
              <a:t>Enunciado 3: </a:t>
            </a:r>
            <a:endParaRPr b="1" i="0" sz="1682" u="none" cap="none" strike="noStrike">
              <a:solidFill>
                <a:srgbClr val="595959"/>
              </a:solidFill>
              <a:latin typeface="Montserrat"/>
              <a:ea typeface="Montserrat"/>
              <a:cs typeface="Montserrat"/>
              <a:sym typeface="Montserrat"/>
            </a:endParaRPr>
          </a:p>
          <a:p>
            <a:pPr indent="-335429" lvl="0" marL="457200" marR="0" rtl="0" algn="l">
              <a:lnSpc>
                <a:spcPct val="100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Define una clase </a:t>
            </a:r>
            <a:r>
              <a:rPr b="0" i="1" lang="es" sz="1682" u="none" cap="none" strike="noStrike">
                <a:solidFill>
                  <a:srgbClr val="595959"/>
                </a:solidFill>
                <a:latin typeface="Montserrat"/>
                <a:ea typeface="Montserrat"/>
                <a:cs typeface="Montserrat"/>
                <a:sym typeface="Montserrat"/>
              </a:rPr>
              <a:t>Pelicula</a:t>
            </a:r>
            <a:r>
              <a:rPr b="0" i="0" lang="es" sz="1682" u="none" cap="none" strike="noStrike">
                <a:solidFill>
                  <a:srgbClr val="595959"/>
                </a:solidFill>
                <a:latin typeface="Montserrat"/>
                <a:ea typeface="Montserrat"/>
                <a:cs typeface="Montserrat"/>
                <a:sym typeface="Montserrat"/>
              </a:rPr>
              <a:t> que gestione datos de películas</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00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La clase Película tiene los atributos </a:t>
            </a:r>
            <a:r>
              <a:rPr b="0" i="1" lang="es" sz="1682" u="none" cap="none" strike="noStrike">
                <a:solidFill>
                  <a:srgbClr val="595959"/>
                </a:solidFill>
                <a:latin typeface="Montserrat"/>
                <a:ea typeface="Montserrat"/>
                <a:cs typeface="Montserrat"/>
                <a:sym typeface="Montserrat"/>
              </a:rPr>
              <a:t>título</a:t>
            </a:r>
            <a:r>
              <a:rPr b="0" i="0" lang="es" sz="1682" u="none" cap="none" strike="noStrike">
                <a:solidFill>
                  <a:srgbClr val="595959"/>
                </a:solidFill>
                <a:latin typeface="Montserrat"/>
                <a:ea typeface="Montserrat"/>
                <a:cs typeface="Montserrat"/>
                <a:sym typeface="Montserrat"/>
              </a:rPr>
              <a:t>, </a:t>
            </a:r>
            <a:r>
              <a:rPr b="0" i="1" lang="es" sz="1682" u="none" cap="none" strike="noStrike">
                <a:solidFill>
                  <a:srgbClr val="595959"/>
                </a:solidFill>
                <a:latin typeface="Montserrat"/>
                <a:ea typeface="Montserrat"/>
                <a:cs typeface="Montserrat"/>
                <a:sym typeface="Montserrat"/>
              </a:rPr>
              <a:t>duración</a:t>
            </a:r>
            <a:r>
              <a:rPr b="0" i="0" lang="es" sz="1682" u="none" cap="none" strike="noStrike">
                <a:solidFill>
                  <a:srgbClr val="595959"/>
                </a:solidFill>
                <a:latin typeface="Montserrat"/>
                <a:ea typeface="Montserrat"/>
                <a:cs typeface="Montserrat"/>
                <a:sym typeface="Montserrat"/>
              </a:rPr>
              <a:t> y </a:t>
            </a:r>
            <a:r>
              <a:rPr b="0" i="1" lang="es" sz="1682" u="none" cap="none" strike="noStrike">
                <a:solidFill>
                  <a:srgbClr val="595959"/>
                </a:solidFill>
                <a:latin typeface="Montserrat"/>
                <a:ea typeface="Montserrat"/>
                <a:cs typeface="Montserrat"/>
                <a:sym typeface="Montserrat"/>
              </a:rPr>
              <a:t>lanzamiento</a:t>
            </a:r>
            <a:r>
              <a:rPr b="0" i="0" lang="es" sz="1682" u="none" cap="none" strike="noStrike">
                <a:solidFill>
                  <a:srgbClr val="595959"/>
                </a:solidFill>
                <a:latin typeface="Montserrat"/>
                <a:ea typeface="Montserrat"/>
                <a:cs typeface="Montserrat"/>
                <a:sym typeface="Montserrat"/>
              </a:rPr>
              <a:t>, e implementa </a:t>
            </a:r>
            <a:r>
              <a:rPr b="0" i="1" lang="es" sz="1682" u="none" cap="none" strike="noStrike">
                <a:solidFill>
                  <a:srgbClr val="595959"/>
                </a:solidFill>
                <a:latin typeface="Montserrat"/>
                <a:ea typeface="Montserrat"/>
                <a:cs typeface="Montserrat"/>
                <a:sym typeface="Montserrat"/>
              </a:rPr>
              <a:t>__str__ </a:t>
            </a:r>
            <a:r>
              <a:rPr b="0" i="0" lang="es" sz="1682" u="none" cap="none" strike="noStrike">
                <a:solidFill>
                  <a:srgbClr val="595959"/>
                </a:solidFill>
                <a:latin typeface="Montserrat"/>
                <a:ea typeface="Montserrat"/>
                <a:cs typeface="Montserrat"/>
                <a:sym typeface="Montserrat"/>
              </a:rPr>
              <a:t>para mostrar sus datos.</a:t>
            </a:r>
            <a:endParaRPr b="0" i="0" sz="1682" u="none" cap="none" strike="noStrike">
              <a:solidFill>
                <a:srgbClr val="595959"/>
              </a:solidFill>
              <a:latin typeface="Montserrat"/>
              <a:ea typeface="Montserrat"/>
              <a:cs typeface="Montserrat"/>
              <a:sym typeface="Montserrat"/>
            </a:endParaRPr>
          </a:p>
          <a:p>
            <a:pPr indent="-335429" lvl="0" marL="457200" marR="0" rtl="0" algn="l">
              <a:lnSpc>
                <a:spcPct val="100000"/>
              </a:lnSpc>
              <a:spcBef>
                <a:spcPts val="0"/>
              </a:spcBef>
              <a:spcAft>
                <a:spcPts val="0"/>
              </a:spcAft>
              <a:buClr>
                <a:srgbClr val="595959"/>
              </a:buClr>
              <a:buSzPts val="1682"/>
              <a:buFont typeface="Montserrat"/>
              <a:buChar char="●"/>
            </a:pPr>
            <a:r>
              <a:rPr b="0" i="0" lang="es" sz="1682" u="none" cap="none" strike="noStrike">
                <a:solidFill>
                  <a:srgbClr val="595959"/>
                </a:solidFill>
                <a:latin typeface="Montserrat"/>
                <a:ea typeface="Montserrat"/>
                <a:cs typeface="Montserrat"/>
                <a:sym typeface="Montserrat"/>
              </a:rPr>
              <a:t>Define la clase </a:t>
            </a:r>
            <a:r>
              <a:rPr b="0" i="1" lang="es" sz="1682" u="none" cap="none" strike="noStrike">
                <a:solidFill>
                  <a:srgbClr val="595959"/>
                </a:solidFill>
                <a:latin typeface="Montserrat"/>
                <a:ea typeface="Montserrat"/>
                <a:cs typeface="Montserrat"/>
                <a:sym typeface="Montserrat"/>
              </a:rPr>
              <a:t>Catalogo</a:t>
            </a:r>
            <a:r>
              <a:rPr b="0" i="0" lang="es" sz="1682" u="none" cap="none" strike="noStrike">
                <a:solidFill>
                  <a:srgbClr val="595959"/>
                </a:solidFill>
                <a:latin typeface="Montserrat"/>
                <a:ea typeface="Montserrat"/>
                <a:cs typeface="Montserrat"/>
                <a:sym typeface="Montserrat"/>
              </a:rPr>
              <a:t>, que administra una lista de películas. Estas películas son objetos de la clase </a:t>
            </a:r>
            <a:r>
              <a:rPr b="0" i="1" lang="es" sz="1682" u="none" cap="none" strike="noStrike">
                <a:solidFill>
                  <a:srgbClr val="595959"/>
                </a:solidFill>
                <a:latin typeface="Montserrat"/>
                <a:ea typeface="Montserrat"/>
                <a:cs typeface="Montserrat"/>
                <a:sym typeface="Montserrat"/>
              </a:rPr>
              <a:t>Película</a:t>
            </a:r>
            <a:r>
              <a:rPr b="0" i="0" lang="es" sz="1682" u="none" cap="none" strike="noStrike">
                <a:solidFill>
                  <a:srgbClr val="595959"/>
                </a:solidFill>
                <a:latin typeface="Montserrat"/>
                <a:ea typeface="Montserrat"/>
                <a:cs typeface="Montserrat"/>
                <a:sym typeface="Montserrat"/>
              </a:rPr>
              <a:t>. Debe implementar los métodos </a:t>
            </a:r>
            <a:r>
              <a:rPr b="0" i="1" lang="es" sz="1682" u="none" cap="none" strike="noStrike">
                <a:solidFill>
                  <a:srgbClr val="595959"/>
                </a:solidFill>
                <a:latin typeface="Montserrat"/>
                <a:ea typeface="Montserrat"/>
                <a:cs typeface="Montserrat"/>
                <a:sym typeface="Montserrat"/>
              </a:rPr>
              <a:t>mostrar</a:t>
            </a:r>
            <a:r>
              <a:rPr b="0" i="0" lang="es" sz="1682" u="none" cap="none" strike="noStrike">
                <a:solidFill>
                  <a:srgbClr val="595959"/>
                </a:solidFill>
                <a:latin typeface="Montserrat"/>
                <a:ea typeface="Montserrat"/>
                <a:cs typeface="Montserrat"/>
                <a:sym typeface="Montserrat"/>
              </a:rPr>
              <a:t> y agregar </a:t>
            </a:r>
            <a:r>
              <a:rPr b="0" i="1" lang="es" sz="1682" u="none" cap="none" strike="noStrike">
                <a:solidFill>
                  <a:srgbClr val="595959"/>
                </a:solidFill>
                <a:latin typeface="Montserrat"/>
                <a:ea typeface="Montserrat"/>
                <a:cs typeface="Montserrat"/>
                <a:sym typeface="Montserrat"/>
              </a:rPr>
              <a:t>películas</a:t>
            </a:r>
            <a:r>
              <a:rPr b="0" i="0" lang="es" sz="1682" u="none" cap="none" strike="noStrike">
                <a:solidFill>
                  <a:srgbClr val="595959"/>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0"/>
          <p:cNvSpPr txBox="1"/>
          <p:nvPr/>
        </p:nvSpPr>
        <p:spPr>
          <a:xfrm>
            <a:off x="432150" y="1267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Se implementan dos clases,  que llamaremos </a:t>
            </a:r>
            <a:r>
              <a:rPr b="1" i="0" lang="es" sz="1682" u="none" cap="none" strike="noStrike">
                <a:solidFill>
                  <a:schemeClr val="dk2"/>
                </a:solidFill>
                <a:latin typeface="Montserrat"/>
                <a:ea typeface="Montserrat"/>
                <a:cs typeface="Montserrat"/>
                <a:sym typeface="Montserrat"/>
              </a:rPr>
              <a:t>Pelicula </a:t>
            </a:r>
            <a:r>
              <a:rPr b="0" i="0" lang="es" sz="1682" u="none" cap="none" strike="noStrike">
                <a:solidFill>
                  <a:schemeClr val="dk2"/>
                </a:solidFill>
                <a:latin typeface="Montserrat"/>
                <a:ea typeface="Montserrat"/>
                <a:cs typeface="Montserrat"/>
                <a:sym typeface="Montserrat"/>
              </a:rPr>
              <a:t>(“es parte de”) y </a:t>
            </a:r>
            <a:r>
              <a:rPr b="1" i="0" lang="es" sz="1682" u="none" cap="none" strike="noStrike">
                <a:solidFill>
                  <a:schemeClr val="dk2"/>
                </a:solidFill>
                <a:latin typeface="Montserrat"/>
                <a:ea typeface="Montserrat"/>
                <a:cs typeface="Montserrat"/>
                <a:sym typeface="Montserrat"/>
              </a:rPr>
              <a:t>Catalogo </a:t>
            </a:r>
            <a:r>
              <a:rPr b="0" i="0" lang="es" sz="1682" u="none" cap="none" strike="noStrike">
                <a:solidFill>
                  <a:schemeClr val="dk2"/>
                </a:solidFill>
                <a:latin typeface="Montserrat"/>
                <a:ea typeface="Montserrat"/>
                <a:cs typeface="Montserrat"/>
                <a:sym typeface="Montserrat"/>
              </a:rPr>
              <a:t>(clase “que tiene”) respectivamente</a:t>
            </a:r>
            <a:endParaRPr b="0" i="0" sz="1682" u="none" cap="none" strike="noStrike">
              <a:solidFill>
                <a:srgbClr val="595959"/>
              </a:solidFill>
              <a:latin typeface="Montserrat"/>
              <a:ea typeface="Montserrat"/>
              <a:cs typeface="Montserrat"/>
              <a:sym typeface="Montserrat"/>
            </a:endParaRPr>
          </a:p>
        </p:txBody>
      </p:sp>
      <p:sp>
        <p:nvSpPr>
          <p:cNvPr id="340" name="Google Shape;340;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a:t>
            </a:r>
            <a:endParaRPr/>
          </a:p>
        </p:txBody>
      </p:sp>
      <p:cxnSp>
        <p:nvCxnSpPr>
          <p:cNvPr id="341" name="Google Shape;341;p20"/>
          <p:cNvCxnSpPr>
            <a:stCxn id="342" idx="0"/>
            <a:endCxn id="343" idx="1"/>
          </p:cNvCxnSpPr>
          <p:nvPr/>
        </p:nvCxnSpPr>
        <p:spPr>
          <a:xfrm flipH="1" rot="10800000">
            <a:off x="2506950" y="2759888"/>
            <a:ext cx="202500" cy="300000"/>
          </a:xfrm>
          <a:prstGeom prst="straightConnector1">
            <a:avLst/>
          </a:prstGeom>
          <a:noFill/>
          <a:ln cap="flat" cmpd="sng" w="28575">
            <a:solidFill>
              <a:schemeClr val="dk2"/>
            </a:solidFill>
            <a:prstDash val="solid"/>
            <a:round/>
            <a:headEnd len="sm" w="sm" type="none"/>
            <a:tailEnd len="med" w="med" type="triangle"/>
          </a:ln>
        </p:spPr>
      </p:cxnSp>
      <p:sp>
        <p:nvSpPr>
          <p:cNvPr id="342" name="Google Shape;342;p20"/>
          <p:cNvSpPr/>
          <p:nvPr/>
        </p:nvSpPr>
        <p:spPr>
          <a:xfrm>
            <a:off x="2050500" y="3059888"/>
            <a:ext cx="9129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Catalogo</a:t>
            </a:r>
            <a:endParaRPr b="1" i="0" sz="1100" u="none" cap="none" strike="noStrike">
              <a:solidFill>
                <a:schemeClr val="dk2"/>
              </a:solidFill>
              <a:latin typeface="Montserrat"/>
              <a:ea typeface="Montserrat"/>
              <a:cs typeface="Montserrat"/>
              <a:sym typeface="Montserrat"/>
            </a:endParaRPr>
          </a:p>
        </p:txBody>
      </p:sp>
      <p:sp>
        <p:nvSpPr>
          <p:cNvPr id="344" name="Google Shape;344;p20"/>
          <p:cNvSpPr/>
          <p:nvPr/>
        </p:nvSpPr>
        <p:spPr>
          <a:xfrm>
            <a:off x="4010400" y="2083020"/>
            <a:ext cx="1087200" cy="9585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peliculas</a:t>
            </a:r>
            <a:endParaRPr b="0" i="0" sz="11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(objeto de la clase Peliculas)</a:t>
            </a:r>
            <a:endParaRPr b="0" i="0" sz="1100" u="none" cap="none" strike="noStrike">
              <a:solidFill>
                <a:schemeClr val="dk2"/>
              </a:solidFill>
              <a:latin typeface="Montserrat"/>
              <a:ea typeface="Montserrat"/>
              <a:cs typeface="Montserrat"/>
              <a:sym typeface="Montserrat"/>
            </a:endParaRPr>
          </a:p>
        </p:txBody>
      </p:sp>
      <p:sp>
        <p:nvSpPr>
          <p:cNvPr id="345" name="Google Shape;345;p20"/>
          <p:cNvSpPr/>
          <p:nvPr/>
        </p:nvSpPr>
        <p:spPr>
          <a:xfrm>
            <a:off x="4010400" y="313708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346" name="Google Shape;346;p20"/>
          <p:cNvSpPr/>
          <p:nvPr/>
        </p:nvSpPr>
        <p:spPr>
          <a:xfrm>
            <a:off x="4010400" y="353973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agregar</a:t>
            </a:r>
            <a:endParaRPr b="0" i="0" sz="1100" u="none" cap="none" strike="noStrike">
              <a:solidFill>
                <a:schemeClr val="dk2"/>
              </a:solidFill>
              <a:latin typeface="Montserrat"/>
              <a:ea typeface="Montserrat"/>
              <a:cs typeface="Montserrat"/>
              <a:sym typeface="Montserrat"/>
            </a:endParaRPr>
          </a:p>
        </p:txBody>
      </p:sp>
      <p:sp>
        <p:nvSpPr>
          <p:cNvPr id="347" name="Google Shape;347;p20"/>
          <p:cNvSpPr/>
          <p:nvPr/>
        </p:nvSpPr>
        <p:spPr>
          <a:xfrm>
            <a:off x="4010400" y="3942388"/>
            <a:ext cx="10872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mostrar</a:t>
            </a:r>
            <a:endParaRPr b="0" i="0" sz="1100" u="none" cap="none" strike="noStrike">
              <a:solidFill>
                <a:schemeClr val="dk2"/>
              </a:solidFill>
              <a:latin typeface="Montserrat"/>
              <a:ea typeface="Montserrat"/>
              <a:cs typeface="Montserrat"/>
              <a:sym typeface="Montserrat"/>
            </a:endParaRPr>
          </a:p>
        </p:txBody>
      </p:sp>
      <p:sp>
        <p:nvSpPr>
          <p:cNvPr id="343" name="Google Shape;343;p20"/>
          <p:cNvSpPr/>
          <p:nvPr/>
        </p:nvSpPr>
        <p:spPr>
          <a:xfrm>
            <a:off x="2709550" y="2580025"/>
            <a:ext cx="9999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348" name="Google Shape;348;p20"/>
          <p:cNvSpPr/>
          <p:nvPr/>
        </p:nvSpPr>
        <p:spPr>
          <a:xfrm>
            <a:off x="2709550" y="3539750"/>
            <a:ext cx="9999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349" name="Google Shape;349;p20"/>
          <p:cNvCxnSpPr>
            <a:stCxn id="342" idx="2"/>
            <a:endCxn id="348" idx="1"/>
          </p:cNvCxnSpPr>
          <p:nvPr/>
        </p:nvCxnSpPr>
        <p:spPr>
          <a:xfrm>
            <a:off x="2506950" y="3419888"/>
            <a:ext cx="202500" cy="300000"/>
          </a:xfrm>
          <a:prstGeom prst="straightConnector1">
            <a:avLst/>
          </a:prstGeom>
          <a:noFill/>
          <a:ln cap="flat" cmpd="sng" w="28575">
            <a:solidFill>
              <a:schemeClr val="dk2"/>
            </a:solidFill>
            <a:prstDash val="solid"/>
            <a:round/>
            <a:headEnd len="sm" w="sm" type="none"/>
            <a:tailEnd len="med" w="med" type="triangle"/>
          </a:ln>
        </p:spPr>
      </p:cxnSp>
      <p:cxnSp>
        <p:nvCxnSpPr>
          <p:cNvPr id="350" name="Google Shape;350;p20"/>
          <p:cNvCxnSpPr>
            <a:stCxn id="343" idx="3"/>
            <a:endCxn id="344" idx="1"/>
          </p:cNvCxnSpPr>
          <p:nvPr/>
        </p:nvCxnSpPr>
        <p:spPr>
          <a:xfrm flipH="1" rot="10800000">
            <a:off x="3709450" y="2562325"/>
            <a:ext cx="300900" cy="197700"/>
          </a:xfrm>
          <a:prstGeom prst="straightConnector1">
            <a:avLst/>
          </a:prstGeom>
          <a:noFill/>
          <a:ln cap="flat" cmpd="sng" w="28575">
            <a:solidFill>
              <a:schemeClr val="dk2"/>
            </a:solidFill>
            <a:prstDash val="solid"/>
            <a:round/>
            <a:headEnd len="sm" w="sm" type="none"/>
            <a:tailEnd len="med" w="med" type="triangle"/>
          </a:ln>
        </p:spPr>
      </p:cxnSp>
      <p:cxnSp>
        <p:nvCxnSpPr>
          <p:cNvPr id="351" name="Google Shape;351;p20"/>
          <p:cNvCxnSpPr>
            <a:stCxn id="348" idx="3"/>
            <a:endCxn id="345" idx="1"/>
          </p:cNvCxnSpPr>
          <p:nvPr/>
        </p:nvCxnSpPr>
        <p:spPr>
          <a:xfrm flipH="1" rot="10800000">
            <a:off x="3709450" y="3317150"/>
            <a:ext cx="300900" cy="402600"/>
          </a:xfrm>
          <a:prstGeom prst="straightConnector1">
            <a:avLst/>
          </a:prstGeom>
          <a:noFill/>
          <a:ln cap="flat" cmpd="sng" w="28575">
            <a:solidFill>
              <a:schemeClr val="dk2"/>
            </a:solidFill>
            <a:prstDash val="solid"/>
            <a:round/>
            <a:headEnd len="sm" w="sm" type="none"/>
            <a:tailEnd len="med" w="med" type="triangle"/>
          </a:ln>
        </p:spPr>
      </p:cxnSp>
      <p:cxnSp>
        <p:nvCxnSpPr>
          <p:cNvPr id="352" name="Google Shape;352;p20"/>
          <p:cNvCxnSpPr>
            <a:stCxn id="348" idx="3"/>
            <a:endCxn id="346" idx="1"/>
          </p:cNvCxnSpPr>
          <p:nvPr/>
        </p:nvCxnSpPr>
        <p:spPr>
          <a:xfrm>
            <a:off x="3709450" y="3719750"/>
            <a:ext cx="300900" cy="0"/>
          </a:xfrm>
          <a:prstGeom prst="straightConnector1">
            <a:avLst/>
          </a:prstGeom>
          <a:noFill/>
          <a:ln cap="flat" cmpd="sng" w="28575">
            <a:solidFill>
              <a:schemeClr val="dk2"/>
            </a:solidFill>
            <a:prstDash val="solid"/>
            <a:round/>
            <a:headEnd len="sm" w="sm" type="none"/>
            <a:tailEnd len="med" w="med" type="triangle"/>
          </a:ln>
        </p:spPr>
      </p:cxnSp>
      <p:cxnSp>
        <p:nvCxnSpPr>
          <p:cNvPr id="353" name="Google Shape;353;p20"/>
          <p:cNvCxnSpPr>
            <a:stCxn id="348" idx="3"/>
            <a:endCxn id="347" idx="1"/>
          </p:cNvCxnSpPr>
          <p:nvPr/>
        </p:nvCxnSpPr>
        <p:spPr>
          <a:xfrm>
            <a:off x="3709450" y="3719750"/>
            <a:ext cx="300900" cy="402600"/>
          </a:xfrm>
          <a:prstGeom prst="straightConnector1">
            <a:avLst/>
          </a:prstGeom>
          <a:noFill/>
          <a:ln cap="flat" cmpd="sng" w="28575">
            <a:solidFill>
              <a:schemeClr val="dk2"/>
            </a:solidFill>
            <a:prstDash val="solid"/>
            <a:round/>
            <a:headEnd len="sm" w="sm" type="none"/>
            <a:tailEnd len="med" w="med" type="triangle"/>
          </a:ln>
        </p:spPr>
      </p:cxnSp>
      <p:cxnSp>
        <p:nvCxnSpPr>
          <p:cNvPr id="354" name="Google Shape;354;p20"/>
          <p:cNvCxnSpPr>
            <a:stCxn id="355" idx="0"/>
            <a:endCxn id="356" idx="1"/>
          </p:cNvCxnSpPr>
          <p:nvPr/>
        </p:nvCxnSpPr>
        <p:spPr>
          <a:xfrm flipH="1" rot="10800000">
            <a:off x="5792325" y="2747850"/>
            <a:ext cx="260100" cy="300000"/>
          </a:xfrm>
          <a:prstGeom prst="straightConnector1">
            <a:avLst/>
          </a:prstGeom>
          <a:noFill/>
          <a:ln cap="flat" cmpd="sng" w="28575">
            <a:solidFill>
              <a:schemeClr val="dk2"/>
            </a:solidFill>
            <a:prstDash val="solid"/>
            <a:round/>
            <a:headEnd len="sm" w="sm" type="none"/>
            <a:tailEnd len="med" w="med" type="triangle"/>
          </a:ln>
        </p:spPr>
      </p:cxnSp>
      <p:sp>
        <p:nvSpPr>
          <p:cNvPr id="355" name="Google Shape;355;p20"/>
          <p:cNvSpPr/>
          <p:nvPr/>
        </p:nvSpPr>
        <p:spPr>
          <a:xfrm>
            <a:off x="5335875" y="3047850"/>
            <a:ext cx="9129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Peliculas</a:t>
            </a:r>
            <a:endParaRPr b="1" i="0" sz="1100" u="none" cap="none" strike="noStrike">
              <a:solidFill>
                <a:schemeClr val="dk2"/>
              </a:solidFill>
              <a:latin typeface="Montserrat"/>
              <a:ea typeface="Montserrat"/>
              <a:cs typeface="Montserrat"/>
              <a:sym typeface="Montserrat"/>
            </a:endParaRPr>
          </a:p>
        </p:txBody>
      </p:sp>
      <p:sp>
        <p:nvSpPr>
          <p:cNvPr id="357" name="Google Shape;357;p20"/>
          <p:cNvSpPr/>
          <p:nvPr/>
        </p:nvSpPr>
        <p:spPr>
          <a:xfrm>
            <a:off x="7389600" y="3326391"/>
            <a:ext cx="1152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358" name="Google Shape;358;p20"/>
          <p:cNvSpPr/>
          <p:nvPr/>
        </p:nvSpPr>
        <p:spPr>
          <a:xfrm>
            <a:off x="7389600" y="3769075"/>
            <a:ext cx="1152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__str__</a:t>
            </a:r>
            <a:endParaRPr b="0" i="0" sz="1100" u="none" cap="none" strike="noStrike">
              <a:solidFill>
                <a:schemeClr val="dk2"/>
              </a:solidFill>
              <a:latin typeface="Montserrat"/>
              <a:ea typeface="Montserrat"/>
              <a:cs typeface="Montserrat"/>
              <a:sym typeface="Montserrat"/>
            </a:endParaRPr>
          </a:p>
        </p:txBody>
      </p:sp>
      <p:sp>
        <p:nvSpPr>
          <p:cNvPr id="356" name="Google Shape;356;p20"/>
          <p:cNvSpPr/>
          <p:nvPr/>
        </p:nvSpPr>
        <p:spPr>
          <a:xfrm>
            <a:off x="6052300" y="2568000"/>
            <a:ext cx="9999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359" name="Google Shape;359;p20"/>
          <p:cNvSpPr/>
          <p:nvPr/>
        </p:nvSpPr>
        <p:spPr>
          <a:xfrm>
            <a:off x="6052500" y="3527725"/>
            <a:ext cx="9999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360" name="Google Shape;360;p20"/>
          <p:cNvCxnSpPr>
            <a:stCxn id="355" idx="2"/>
            <a:endCxn id="359" idx="1"/>
          </p:cNvCxnSpPr>
          <p:nvPr/>
        </p:nvCxnSpPr>
        <p:spPr>
          <a:xfrm>
            <a:off x="5792325" y="3407850"/>
            <a:ext cx="260100" cy="300000"/>
          </a:xfrm>
          <a:prstGeom prst="straightConnector1">
            <a:avLst/>
          </a:prstGeom>
          <a:noFill/>
          <a:ln cap="flat" cmpd="sng" w="28575">
            <a:solidFill>
              <a:schemeClr val="dk2"/>
            </a:solidFill>
            <a:prstDash val="solid"/>
            <a:round/>
            <a:headEnd len="sm" w="sm" type="none"/>
            <a:tailEnd len="med" w="med" type="triangle"/>
          </a:ln>
        </p:spPr>
      </p:cxnSp>
      <p:cxnSp>
        <p:nvCxnSpPr>
          <p:cNvPr id="361" name="Google Shape;361;p20"/>
          <p:cNvCxnSpPr>
            <a:stCxn id="356" idx="3"/>
            <a:endCxn id="362" idx="1"/>
          </p:cNvCxnSpPr>
          <p:nvPr/>
        </p:nvCxnSpPr>
        <p:spPr>
          <a:xfrm flipH="1" rot="10800000">
            <a:off x="7052200" y="2262900"/>
            <a:ext cx="337500" cy="485100"/>
          </a:xfrm>
          <a:prstGeom prst="straightConnector1">
            <a:avLst/>
          </a:prstGeom>
          <a:noFill/>
          <a:ln cap="flat" cmpd="sng" w="28575">
            <a:solidFill>
              <a:schemeClr val="dk2"/>
            </a:solidFill>
            <a:prstDash val="solid"/>
            <a:round/>
            <a:headEnd len="sm" w="sm" type="none"/>
            <a:tailEnd len="med" w="med" type="triangle"/>
          </a:ln>
        </p:spPr>
      </p:cxnSp>
      <p:cxnSp>
        <p:nvCxnSpPr>
          <p:cNvPr id="363" name="Google Shape;363;p20"/>
          <p:cNvCxnSpPr>
            <a:stCxn id="359" idx="3"/>
            <a:endCxn id="357" idx="1"/>
          </p:cNvCxnSpPr>
          <p:nvPr/>
        </p:nvCxnSpPr>
        <p:spPr>
          <a:xfrm flipH="1" rot="10800000">
            <a:off x="7052400" y="350642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364" name="Google Shape;364;p20"/>
          <p:cNvCxnSpPr>
            <a:stCxn id="359" idx="3"/>
            <a:endCxn id="358" idx="1"/>
          </p:cNvCxnSpPr>
          <p:nvPr/>
        </p:nvCxnSpPr>
        <p:spPr>
          <a:xfrm>
            <a:off x="7052400" y="3707725"/>
            <a:ext cx="337200" cy="241500"/>
          </a:xfrm>
          <a:prstGeom prst="straightConnector1">
            <a:avLst/>
          </a:prstGeom>
          <a:noFill/>
          <a:ln cap="flat" cmpd="sng" w="28575">
            <a:solidFill>
              <a:schemeClr val="dk2"/>
            </a:solidFill>
            <a:prstDash val="solid"/>
            <a:round/>
            <a:headEnd len="sm" w="sm" type="none"/>
            <a:tailEnd len="med" w="med" type="triangle"/>
          </a:ln>
        </p:spPr>
      </p:cxnSp>
      <p:sp>
        <p:nvSpPr>
          <p:cNvPr id="365" name="Google Shape;365;p20"/>
          <p:cNvSpPr/>
          <p:nvPr/>
        </p:nvSpPr>
        <p:spPr>
          <a:xfrm>
            <a:off x="602100" y="3059875"/>
            <a:ext cx="1087200" cy="360000"/>
          </a:xfrm>
          <a:prstGeom prst="flowChartAlternateProcess">
            <a:avLst/>
          </a:prstGeom>
          <a:solidFill>
            <a:srgbClr val="7685E6"/>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lt1"/>
                </a:solidFill>
                <a:latin typeface="Montserrat"/>
                <a:ea typeface="Montserrat"/>
                <a:cs typeface="Montserrat"/>
                <a:sym typeface="Montserrat"/>
              </a:rPr>
              <a:t>Atributos de clase</a:t>
            </a:r>
            <a:endParaRPr b="1" i="0" sz="1100" u="none" cap="none" strike="noStrike">
              <a:solidFill>
                <a:schemeClr val="lt1"/>
              </a:solidFill>
              <a:latin typeface="Montserrat"/>
              <a:ea typeface="Montserrat"/>
              <a:cs typeface="Montserrat"/>
              <a:sym typeface="Montserrat"/>
            </a:endParaRPr>
          </a:p>
        </p:txBody>
      </p:sp>
      <p:cxnSp>
        <p:nvCxnSpPr>
          <p:cNvPr id="366" name="Google Shape;366;p20"/>
          <p:cNvCxnSpPr>
            <a:endCxn id="365" idx="3"/>
          </p:cNvCxnSpPr>
          <p:nvPr/>
        </p:nvCxnSpPr>
        <p:spPr>
          <a:xfrm rot="10800000">
            <a:off x="1689300" y="3239875"/>
            <a:ext cx="361200" cy="0"/>
          </a:xfrm>
          <a:prstGeom prst="straightConnector1">
            <a:avLst/>
          </a:prstGeom>
          <a:noFill/>
          <a:ln cap="flat" cmpd="sng" w="28575">
            <a:solidFill>
              <a:schemeClr val="dk2"/>
            </a:solidFill>
            <a:prstDash val="solid"/>
            <a:round/>
            <a:headEnd len="sm" w="sm" type="none"/>
            <a:tailEnd len="med" w="med" type="triangle"/>
          </a:ln>
        </p:spPr>
      </p:cxnSp>
      <p:sp>
        <p:nvSpPr>
          <p:cNvPr id="367" name="Google Shape;367;p20"/>
          <p:cNvSpPr/>
          <p:nvPr/>
        </p:nvSpPr>
        <p:spPr>
          <a:xfrm>
            <a:off x="602100" y="2219950"/>
            <a:ext cx="1087200" cy="360000"/>
          </a:xfrm>
          <a:prstGeom prst="flowChartAlternateProcess">
            <a:avLst/>
          </a:prstGeom>
          <a:solidFill>
            <a:srgbClr val="5F6167"/>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lt1"/>
                </a:solidFill>
                <a:latin typeface="Montserrat"/>
                <a:ea typeface="Montserrat"/>
                <a:cs typeface="Montserrat"/>
                <a:sym typeface="Montserrat"/>
              </a:rPr>
              <a:t>peliculas</a:t>
            </a:r>
            <a:endParaRPr b="0" i="0" sz="11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lt1"/>
                </a:solidFill>
                <a:latin typeface="Montserrat"/>
                <a:ea typeface="Montserrat"/>
                <a:cs typeface="Montserrat"/>
                <a:sym typeface="Montserrat"/>
              </a:rPr>
              <a:t>(lista)</a:t>
            </a:r>
            <a:endParaRPr b="0" i="0" sz="1100" u="none" cap="none" strike="noStrike">
              <a:solidFill>
                <a:schemeClr val="lt1"/>
              </a:solidFill>
              <a:latin typeface="Montserrat"/>
              <a:ea typeface="Montserrat"/>
              <a:cs typeface="Montserrat"/>
              <a:sym typeface="Montserrat"/>
            </a:endParaRPr>
          </a:p>
        </p:txBody>
      </p:sp>
      <p:cxnSp>
        <p:nvCxnSpPr>
          <p:cNvPr id="368" name="Google Shape;368;p20"/>
          <p:cNvCxnSpPr>
            <a:stCxn id="365" idx="0"/>
            <a:endCxn id="367" idx="2"/>
          </p:cNvCxnSpPr>
          <p:nvPr/>
        </p:nvCxnSpPr>
        <p:spPr>
          <a:xfrm rot="10800000">
            <a:off x="1145700" y="2579875"/>
            <a:ext cx="0" cy="480000"/>
          </a:xfrm>
          <a:prstGeom prst="straightConnector1">
            <a:avLst/>
          </a:prstGeom>
          <a:noFill/>
          <a:ln cap="flat" cmpd="sng" w="28575">
            <a:solidFill>
              <a:schemeClr val="dk2"/>
            </a:solidFill>
            <a:prstDash val="solid"/>
            <a:round/>
            <a:headEnd len="sm" w="sm" type="none"/>
            <a:tailEnd len="med" w="med" type="triangle"/>
          </a:ln>
        </p:spPr>
      </p:cxnSp>
      <p:sp>
        <p:nvSpPr>
          <p:cNvPr id="369" name="Google Shape;369;p20"/>
          <p:cNvSpPr/>
          <p:nvPr/>
        </p:nvSpPr>
        <p:spPr>
          <a:xfrm>
            <a:off x="7389600" y="2483372"/>
            <a:ext cx="1152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duracion</a:t>
            </a:r>
            <a:endParaRPr b="0" i="0" sz="1100" u="none" cap="none" strike="noStrike">
              <a:solidFill>
                <a:schemeClr val="dk2"/>
              </a:solidFill>
              <a:latin typeface="Montserrat"/>
              <a:ea typeface="Montserrat"/>
              <a:cs typeface="Montserrat"/>
              <a:sym typeface="Montserrat"/>
            </a:endParaRPr>
          </a:p>
        </p:txBody>
      </p:sp>
      <p:sp>
        <p:nvSpPr>
          <p:cNvPr id="362" name="Google Shape;362;p20"/>
          <p:cNvSpPr/>
          <p:nvPr/>
        </p:nvSpPr>
        <p:spPr>
          <a:xfrm>
            <a:off x="7389600" y="2083025"/>
            <a:ext cx="1152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titulo</a:t>
            </a:r>
            <a:endParaRPr b="0" i="0" sz="1100" u="none" cap="none" strike="noStrike">
              <a:solidFill>
                <a:schemeClr val="dk2"/>
              </a:solidFill>
              <a:latin typeface="Montserrat"/>
              <a:ea typeface="Montserrat"/>
              <a:cs typeface="Montserrat"/>
              <a:sym typeface="Montserrat"/>
            </a:endParaRPr>
          </a:p>
        </p:txBody>
      </p:sp>
      <p:sp>
        <p:nvSpPr>
          <p:cNvPr id="370" name="Google Shape;370;p20"/>
          <p:cNvSpPr/>
          <p:nvPr/>
        </p:nvSpPr>
        <p:spPr>
          <a:xfrm>
            <a:off x="7389600" y="2883719"/>
            <a:ext cx="1152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lanzamiento</a:t>
            </a:r>
            <a:endParaRPr b="0" i="0" sz="1100" u="none" cap="none" strike="noStrike">
              <a:solidFill>
                <a:schemeClr val="dk2"/>
              </a:solidFill>
              <a:latin typeface="Montserrat"/>
              <a:ea typeface="Montserrat"/>
              <a:cs typeface="Montserrat"/>
              <a:sym typeface="Montserrat"/>
            </a:endParaRPr>
          </a:p>
        </p:txBody>
      </p:sp>
      <p:cxnSp>
        <p:nvCxnSpPr>
          <p:cNvPr id="371" name="Google Shape;371;p20"/>
          <p:cNvCxnSpPr>
            <a:stCxn id="356" idx="3"/>
            <a:endCxn id="369" idx="1"/>
          </p:cNvCxnSpPr>
          <p:nvPr/>
        </p:nvCxnSpPr>
        <p:spPr>
          <a:xfrm flipH="1" rot="10800000">
            <a:off x="7052200" y="2663400"/>
            <a:ext cx="337500" cy="84600"/>
          </a:xfrm>
          <a:prstGeom prst="straightConnector1">
            <a:avLst/>
          </a:prstGeom>
          <a:noFill/>
          <a:ln cap="flat" cmpd="sng" w="28575">
            <a:solidFill>
              <a:schemeClr val="dk2"/>
            </a:solidFill>
            <a:prstDash val="solid"/>
            <a:round/>
            <a:headEnd len="sm" w="sm" type="none"/>
            <a:tailEnd len="med" w="med" type="triangle"/>
          </a:ln>
        </p:spPr>
      </p:cxnSp>
      <p:cxnSp>
        <p:nvCxnSpPr>
          <p:cNvPr id="372" name="Google Shape;372;p20"/>
          <p:cNvCxnSpPr>
            <a:stCxn id="356" idx="3"/>
            <a:endCxn id="370" idx="1"/>
          </p:cNvCxnSpPr>
          <p:nvPr/>
        </p:nvCxnSpPr>
        <p:spPr>
          <a:xfrm>
            <a:off x="7052200" y="2748000"/>
            <a:ext cx="337500" cy="3156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 | Clase Pelicula</a:t>
            </a:r>
            <a:endParaRPr/>
          </a:p>
        </p:txBody>
      </p:sp>
      <p:sp>
        <p:nvSpPr>
          <p:cNvPr id="378" name="Google Shape;378;p21"/>
          <p:cNvSpPr txBox="1"/>
          <p:nvPr/>
        </p:nvSpPr>
        <p:spPr>
          <a:xfrm>
            <a:off x="432150" y="1260250"/>
            <a:ext cx="8279700" cy="1036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Definición de la clase </a:t>
            </a:r>
            <a:r>
              <a:rPr b="1" i="0" lang="es" sz="1650" u="none" cap="none" strike="noStrike">
                <a:solidFill>
                  <a:schemeClr val="dk2"/>
                </a:solidFill>
                <a:latin typeface="Montserrat"/>
                <a:ea typeface="Montserrat"/>
                <a:cs typeface="Montserrat"/>
                <a:sym typeface="Montserrat"/>
              </a:rPr>
              <a:t>Pelicula</a:t>
            </a:r>
            <a:r>
              <a:rPr b="0" i="0" lang="es" sz="1650" u="none" cap="none" strike="noStrike">
                <a:solidFill>
                  <a:schemeClr val="dk2"/>
                </a:solidFill>
                <a:latin typeface="Montserrat"/>
                <a:ea typeface="Montserrat"/>
                <a:cs typeface="Montserrat"/>
                <a:sym typeface="Montserrat"/>
              </a:rPr>
              <a:t>. Esta es la clase que, en la composición, se comporta como “</a:t>
            </a:r>
            <a:r>
              <a:rPr b="1" i="0" lang="es" sz="1650" u="none" cap="none" strike="noStrike">
                <a:solidFill>
                  <a:schemeClr val="dk2"/>
                </a:solidFill>
                <a:latin typeface="Montserrat"/>
                <a:ea typeface="Montserrat"/>
                <a:cs typeface="Montserrat"/>
                <a:sym typeface="Montserrat"/>
              </a:rPr>
              <a:t>clase que es parte de</a:t>
            </a:r>
            <a:r>
              <a:rPr b="0" i="0" lang="es" sz="1650" u="none" cap="none" strike="noStrike">
                <a:solidFill>
                  <a:schemeClr val="dk2"/>
                </a:solidFill>
                <a:latin typeface="Montserrat"/>
                <a:ea typeface="Montserrat"/>
                <a:cs typeface="Montserrat"/>
                <a:sym typeface="Montserrat"/>
              </a:rPr>
              <a:t>”, ya que sus instancias serán parte de la clase </a:t>
            </a:r>
            <a:r>
              <a:rPr b="1" i="0" lang="es" sz="1650" u="none" cap="none" strike="noStrike">
                <a:solidFill>
                  <a:schemeClr val="dk2"/>
                </a:solidFill>
                <a:latin typeface="Montserrat"/>
                <a:ea typeface="Montserrat"/>
                <a:cs typeface="Montserrat"/>
                <a:sym typeface="Montserrat"/>
              </a:rPr>
              <a:t>Catalogo</a:t>
            </a:r>
            <a:r>
              <a:rPr b="0" i="0" lang="es" sz="1650" u="none" cap="none" strike="noStrike">
                <a:solidFill>
                  <a:schemeClr val="dk2"/>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379" name="Google Shape;379;p21"/>
          <p:cNvSpPr/>
          <p:nvPr/>
        </p:nvSpPr>
        <p:spPr>
          <a:xfrm>
            <a:off x="1749726" y="2236525"/>
            <a:ext cx="5627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Pelicula</a:t>
            </a:r>
            <a:endParaRPr b="0" i="0" sz="1400" u="none" cap="none" strike="noStrike">
              <a:solidFill>
                <a:schemeClr val="dk2"/>
              </a:solidFill>
              <a:latin typeface="Montserrat"/>
              <a:ea typeface="Montserrat"/>
              <a:cs typeface="Montserrat"/>
              <a:sym typeface="Montserrat"/>
            </a:endParaRPr>
          </a:p>
        </p:txBody>
      </p:sp>
      <p:sp>
        <p:nvSpPr>
          <p:cNvPr id="380" name="Google Shape;380;p21"/>
          <p:cNvSpPr/>
          <p:nvPr/>
        </p:nvSpPr>
        <p:spPr>
          <a:xfrm>
            <a:off x="1749750" y="2465425"/>
            <a:ext cx="5627100" cy="1934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Pelicula</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Constructor de 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titulo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duracion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lanzamiento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.titulo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titulo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.duracion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duracion</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.lanzamiento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lanzamiento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'Se ha creado la película: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.titulo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__str__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.titulo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.lanzamiento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 | Clase Catalogo</a:t>
            </a:r>
            <a:endParaRPr/>
          </a:p>
        </p:txBody>
      </p:sp>
      <p:sp>
        <p:nvSpPr>
          <p:cNvPr id="386" name="Google Shape;386;p22"/>
          <p:cNvSpPr txBox="1"/>
          <p:nvPr/>
        </p:nvSpPr>
        <p:spPr>
          <a:xfrm>
            <a:off x="432150" y="1260250"/>
            <a:ext cx="8279700" cy="1036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Definición de la clase </a:t>
            </a:r>
            <a:r>
              <a:rPr b="1" i="0" lang="es" sz="1650" u="none" cap="none" strike="noStrike">
                <a:solidFill>
                  <a:schemeClr val="dk2"/>
                </a:solidFill>
                <a:latin typeface="Montserrat"/>
                <a:ea typeface="Montserrat"/>
                <a:cs typeface="Montserrat"/>
                <a:sym typeface="Montserrat"/>
              </a:rPr>
              <a:t>Catalogo</a:t>
            </a:r>
            <a:r>
              <a:rPr b="0" i="0" lang="es" sz="1650" u="none" cap="none" strike="noStrike">
                <a:solidFill>
                  <a:schemeClr val="dk2"/>
                </a:solidFill>
                <a:latin typeface="Montserrat"/>
                <a:ea typeface="Montserrat"/>
                <a:cs typeface="Montserrat"/>
                <a:sym typeface="Montserrat"/>
              </a:rPr>
              <a:t>. En la composición se comporta como “</a:t>
            </a:r>
            <a:r>
              <a:rPr b="1" i="0" lang="es" sz="1650" u="none" cap="none" strike="noStrike">
                <a:solidFill>
                  <a:schemeClr val="dk2"/>
                </a:solidFill>
                <a:latin typeface="Montserrat"/>
                <a:ea typeface="Montserrat"/>
                <a:cs typeface="Montserrat"/>
                <a:sym typeface="Montserrat"/>
              </a:rPr>
              <a:t>clase que tiene</a:t>
            </a:r>
            <a:r>
              <a:rPr b="0" i="0" lang="es" sz="1650" u="none" cap="none" strike="noStrike">
                <a:solidFill>
                  <a:schemeClr val="dk2"/>
                </a:solidFill>
                <a:latin typeface="Montserrat"/>
                <a:ea typeface="Montserrat"/>
                <a:cs typeface="Montserrat"/>
                <a:sym typeface="Montserrat"/>
              </a:rPr>
              <a:t>”, ya uno de sus atributos de instancia es un objeto de la clase </a:t>
            </a:r>
            <a:r>
              <a:rPr b="1" i="0" lang="es" sz="1650" u="none" cap="none" strike="noStrike">
                <a:solidFill>
                  <a:schemeClr val="dk2"/>
                </a:solidFill>
                <a:latin typeface="Montserrat"/>
                <a:ea typeface="Montserrat"/>
                <a:cs typeface="Montserrat"/>
                <a:sym typeface="Montserrat"/>
              </a:rPr>
              <a:t>Pelicula</a:t>
            </a:r>
            <a:r>
              <a:rPr b="0" i="0" lang="es" sz="1650" u="none" cap="none" strike="noStrike">
                <a:solidFill>
                  <a:schemeClr val="dk2"/>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387" name="Google Shape;387;p22"/>
          <p:cNvSpPr/>
          <p:nvPr/>
        </p:nvSpPr>
        <p:spPr>
          <a:xfrm>
            <a:off x="1758438" y="2122075"/>
            <a:ext cx="5627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Catalogo</a:t>
            </a:r>
            <a:endParaRPr b="0" i="0" sz="1400" u="none" cap="none" strike="noStrike">
              <a:solidFill>
                <a:schemeClr val="dk2"/>
              </a:solidFill>
              <a:latin typeface="Montserrat"/>
              <a:ea typeface="Montserrat"/>
              <a:cs typeface="Montserrat"/>
              <a:sym typeface="Montserrat"/>
            </a:endParaRPr>
          </a:p>
        </p:txBody>
      </p:sp>
      <p:sp>
        <p:nvSpPr>
          <p:cNvPr id="388" name="Google Shape;388;p22"/>
          <p:cNvSpPr/>
          <p:nvPr/>
        </p:nvSpPr>
        <p:spPr>
          <a:xfrm>
            <a:off x="1758463" y="2350975"/>
            <a:ext cx="5627100" cy="2163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Catalogo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peliculas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 </a:t>
            </a:r>
            <a:r>
              <a:rPr b="0" i="0" lang="es" sz="1100" u="none" cap="none" strike="noStrike">
                <a:solidFill>
                  <a:srgbClr val="5F6167"/>
                </a:solidFill>
                <a:highlight>
                  <a:srgbClr val="23262E"/>
                </a:highlight>
                <a:latin typeface="Consolas"/>
                <a:ea typeface="Consolas"/>
                <a:cs typeface="Consolas"/>
                <a:sym typeface="Consolas"/>
              </a:rPr>
              <a:t># Esta de objetos de la clase Pelicula</a:t>
            </a:r>
            <a:r>
              <a:rPr b="0" i="0" lang="es" sz="1100" u="none" cap="none" strike="noStrike">
                <a:solidFill>
                  <a:srgbClr val="D5CED9"/>
                </a:solidFill>
                <a:highlight>
                  <a:srgbClr val="23262E"/>
                </a:highlight>
                <a:latin typeface="Consolas"/>
                <a:ea typeface="Consolas"/>
                <a:cs typeface="Consolas"/>
                <a:sym typeface="Consolas"/>
              </a:rPr>
              <a:t>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Constructor de clase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peliculas</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Catalogo.peliculas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peliculas</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agregar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p</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p es un objeto Pelicula</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Catalogo.peliculas.</a:t>
            </a:r>
            <a:r>
              <a:rPr b="0" i="0" lang="es" sz="1100" u="none" cap="none" strike="noStrike">
                <a:solidFill>
                  <a:srgbClr val="FFE66D"/>
                </a:solidFill>
                <a:highlight>
                  <a:srgbClr val="23262E"/>
                </a:highlight>
                <a:latin typeface="Consolas"/>
                <a:ea typeface="Consolas"/>
                <a:cs typeface="Consolas"/>
                <a:sym typeface="Consolas"/>
              </a:rPr>
              <a:t>append</a:t>
            </a:r>
            <a:r>
              <a:rPr b="0" i="0" lang="es" sz="1100" u="none" cap="none" strike="noStrike">
                <a:solidFill>
                  <a:srgbClr val="D5CED9"/>
                </a:solidFill>
                <a:highlight>
                  <a:srgbClr val="23262E"/>
                </a:highlight>
                <a:latin typeface="Consolas"/>
                <a:ea typeface="Consolas"/>
                <a:cs typeface="Consolas"/>
                <a:sym typeface="Consolas"/>
              </a:rPr>
              <a:t>(p)</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mostrar</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for</a:t>
            </a:r>
            <a:r>
              <a:rPr b="0" i="0" lang="es" sz="1100" u="none" cap="none" strike="noStrike">
                <a:solidFill>
                  <a:srgbClr val="D5CED9"/>
                </a:solidFill>
                <a:highlight>
                  <a:srgbClr val="23262E"/>
                </a:highlight>
                <a:latin typeface="Consolas"/>
                <a:ea typeface="Consolas"/>
                <a:cs typeface="Consolas"/>
                <a:sym typeface="Consolas"/>
              </a:rPr>
              <a:t> p </a:t>
            </a:r>
            <a:r>
              <a:rPr b="0" i="0" lang="es" sz="1100" u="none" cap="none" strike="noStrike">
                <a:solidFill>
                  <a:srgbClr val="C74DED"/>
                </a:solidFill>
                <a:highlight>
                  <a:srgbClr val="23262E"/>
                </a:highlight>
                <a:latin typeface="Consolas"/>
                <a:ea typeface="Consolas"/>
                <a:cs typeface="Consolas"/>
                <a:sym typeface="Consolas"/>
              </a:rPr>
              <a:t>in</a:t>
            </a:r>
            <a:r>
              <a:rPr b="0" i="0" lang="es" sz="1100" u="none" cap="none" strike="noStrike">
                <a:solidFill>
                  <a:srgbClr val="D5CED9"/>
                </a:solidFill>
                <a:highlight>
                  <a:srgbClr val="23262E"/>
                </a:highlight>
                <a:latin typeface="Consolas"/>
                <a:ea typeface="Consolas"/>
                <a:cs typeface="Consolas"/>
                <a:sym typeface="Consolas"/>
              </a:rPr>
              <a:t> Catalogo.peliculas:</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(p) </a:t>
            </a:r>
            <a:r>
              <a:rPr b="0" i="0" lang="es" sz="1100" u="none" cap="none" strike="noStrike">
                <a:solidFill>
                  <a:srgbClr val="5F6167"/>
                </a:solidFill>
                <a:highlight>
                  <a:srgbClr val="23262E"/>
                </a:highlight>
                <a:latin typeface="Consolas"/>
                <a:ea typeface="Consolas"/>
                <a:cs typeface="Consolas"/>
                <a:sym typeface="Consolas"/>
              </a:rPr>
              <a:t># Print toma por defecto str(p)</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Composición | Programa principal</a:t>
            </a:r>
            <a:endParaRPr/>
          </a:p>
        </p:txBody>
      </p:sp>
      <p:sp>
        <p:nvSpPr>
          <p:cNvPr id="394" name="Google Shape;394;p23"/>
          <p:cNvSpPr txBox="1"/>
          <p:nvPr/>
        </p:nvSpPr>
        <p:spPr>
          <a:xfrm>
            <a:off x="432150" y="1260250"/>
            <a:ext cx="8279700" cy="1036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Definición de la clase </a:t>
            </a:r>
            <a:r>
              <a:rPr b="1" i="0" lang="es" sz="1650" u="none" cap="none" strike="noStrike">
                <a:solidFill>
                  <a:schemeClr val="dk2"/>
                </a:solidFill>
                <a:latin typeface="Montserrat"/>
                <a:ea typeface="Montserrat"/>
                <a:cs typeface="Montserrat"/>
                <a:sym typeface="Montserrat"/>
              </a:rPr>
              <a:t>Catalogo</a:t>
            </a:r>
            <a:r>
              <a:rPr b="0" i="0" lang="es" sz="1650" u="none" cap="none" strike="noStrike">
                <a:solidFill>
                  <a:schemeClr val="dk2"/>
                </a:solidFill>
                <a:latin typeface="Montserrat"/>
                <a:ea typeface="Montserrat"/>
                <a:cs typeface="Montserrat"/>
                <a:sym typeface="Montserrat"/>
              </a:rPr>
              <a:t>. En la composición se comporta como “</a:t>
            </a:r>
            <a:r>
              <a:rPr b="1" i="0" lang="es" sz="1650" u="none" cap="none" strike="noStrike">
                <a:solidFill>
                  <a:schemeClr val="dk2"/>
                </a:solidFill>
                <a:latin typeface="Montserrat"/>
                <a:ea typeface="Montserrat"/>
                <a:cs typeface="Montserrat"/>
                <a:sym typeface="Montserrat"/>
              </a:rPr>
              <a:t>clase que tiene</a:t>
            </a:r>
            <a:r>
              <a:rPr b="0" i="0" lang="es" sz="1650" u="none" cap="none" strike="noStrike">
                <a:solidFill>
                  <a:schemeClr val="dk2"/>
                </a:solidFill>
                <a:latin typeface="Montserrat"/>
                <a:ea typeface="Montserrat"/>
                <a:cs typeface="Montserrat"/>
                <a:sym typeface="Montserrat"/>
              </a:rPr>
              <a:t>”, ya uno de sus atributos de instancia es un objeto de la clase </a:t>
            </a:r>
            <a:r>
              <a:rPr b="1" i="0" lang="es" sz="1650" u="none" cap="none" strike="noStrike">
                <a:solidFill>
                  <a:schemeClr val="dk2"/>
                </a:solidFill>
                <a:latin typeface="Montserrat"/>
                <a:ea typeface="Montserrat"/>
                <a:cs typeface="Montserrat"/>
                <a:sym typeface="Montserrat"/>
              </a:rPr>
              <a:t>Pelicula</a:t>
            </a:r>
            <a:r>
              <a:rPr b="0" i="0" lang="es" sz="1650" u="none" cap="none" strike="noStrike">
                <a:solidFill>
                  <a:schemeClr val="dk2"/>
                </a:solidFill>
                <a:latin typeface="Montserrat"/>
                <a:ea typeface="Montserrat"/>
                <a:cs typeface="Montserrat"/>
                <a:sym typeface="Montserrat"/>
              </a:rPr>
              <a:t>.</a:t>
            </a:r>
            <a:endParaRPr b="0" i="0" sz="1682" u="none" cap="none" strike="noStrike">
              <a:solidFill>
                <a:srgbClr val="595959"/>
              </a:solidFill>
              <a:latin typeface="Montserrat"/>
              <a:ea typeface="Montserrat"/>
              <a:cs typeface="Montserrat"/>
              <a:sym typeface="Montserrat"/>
            </a:endParaRPr>
          </a:p>
        </p:txBody>
      </p:sp>
      <p:sp>
        <p:nvSpPr>
          <p:cNvPr id="395" name="Google Shape;395;p23"/>
          <p:cNvSpPr/>
          <p:nvPr/>
        </p:nvSpPr>
        <p:spPr>
          <a:xfrm>
            <a:off x="432023" y="2222225"/>
            <a:ext cx="4694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396" name="Google Shape;396;p23"/>
          <p:cNvSpPr/>
          <p:nvPr/>
        </p:nvSpPr>
        <p:spPr>
          <a:xfrm>
            <a:off x="432050" y="2451125"/>
            <a:ext cx="4694100" cy="1984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Instanciamos una película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peli1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Pelicula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"El Padrino"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175</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1972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Instanciamos un catálogo que contiene una pelicula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Catalogo</a:t>
            </a:r>
            <a:r>
              <a:rPr b="0" i="0" lang="es" sz="1200" u="none" cap="none" strike="noStrike">
                <a:solidFill>
                  <a:srgbClr val="D5CED9"/>
                </a:solidFill>
                <a:highlight>
                  <a:srgbClr val="23262E"/>
                </a:highlight>
                <a:latin typeface="Consolas"/>
                <a:ea typeface="Consolas"/>
                <a:cs typeface="Consolas"/>
                <a:sym typeface="Consolas"/>
              </a:rPr>
              <a:t>([peli1])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t>
            </a:r>
            <a:r>
              <a:rPr b="0" i="0" lang="es" sz="1200" u="none" cap="none" strike="noStrike">
                <a:solidFill>
                  <a:srgbClr val="FFE66D"/>
                </a:solidFill>
                <a:highlight>
                  <a:srgbClr val="23262E"/>
                </a:highlight>
                <a:latin typeface="Consolas"/>
                <a:ea typeface="Consolas"/>
                <a:cs typeface="Consolas"/>
                <a:sym typeface="Consolas"/>
              </a:rPr>
              <a:t>mostrar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Añadimos una nueva película al catálogo: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t>
            </a:r>
            <a:r>
              <a:rPr b="0" i="0" lang="es" sz="1200" u="none" cap="none" strike="noStrike">
                <a:solidFill>
                  <a:srgbClr val="FFE66D"/>
                </a:solidFill>
                <a:highlight>
                  <a:srgbClr val="23262E"/>
                </a:highlight>
                <a:latin typeface="Consolas"/>
                <a:ea typeface="Consolas"/>
                <a:cs typeface="Consolas"/>
                <a:sym typeface="Consolas"/>
              </a:rPr>
              <a:t>agregar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E66D"/>
                </a:solidFill>
                <a:highlight>
                  <a:srgbClr val="23262E"/>
                </a:highlight>
                <a:latin typeface="Consolas"/>
                <a:ea typeface="Consolas"/>
                <a:cs typeface="Consolas"/>
                <a:sym typeface="Consolas"/>
              </a:rPr>
              <a:t>Pelicula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"El Padrino: Parte 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202</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1974</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c.</a:t>
            </a:r>
            <a:r>
              <a:rPr b="0" i="0" lang="es" sz="1200" u="none" cap="none" strike="noStrike">
                <a:solidFill>
                  <a:srgbClr val="FFE66D"/>
                </a:solidFill>
                <a:highlight>
                  <a:srgbClr val="23262E"/>
                </a:highlight>
                <a:latin typeface="Consolas"/>
                <a:ea typeface="Consolas"/>
                <a:cs typeface="Consolas"/>
                <a:sym typeface="Consolas"/>
              </a:rPr>
              <a:t>mostrar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C74DED"/>
              </a:solidFill>
              <a:highlight>
                <a:srgbClr val="23262E"/>
              </a:highlight>
              <a:latin typeface="Consolas"/>
              <a:ea typeface="Consolas"/>
              <a:cs typeface="Consolas"/>
              <a:sym typeface="Consolas"/>
            </a:endParaRPr>
          </a:p>
        </p:txBody>
      </p:sp>
      <p:sp>
        <p:nvSpPr>
          <p:cNvPr id="397" name="Google Shape;397;p23"/>
          <p:cNvSpPr/>
          <p:nvPr/>
        </p:nvSpPr>
        <p:spPr>
          <a:xfrm>
            <a:off x="5314100" y="2475600"/>
            <a:ext cx="3397800" cy="1959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Se ha creado la película: El Padrino</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El Padrino (1972)</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Se ha creado la película: El Padrino: Parte 2</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El Padrino (1972)</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chemeClr val="lt2"/>
                </a:solidFill>
                <a:highlight>
                  <a:srgbClr val="23262E"/>
                </a:highlight>
                <a:latin typeface="Consolas"/>
                <a:ea typeface="Consolas"/>
                <a:cs typeface="Consolas"/>
                <a:sym typeface="Consolas"/>
              </a:rPr>
              <a:t>El Padrino: Parte 2 (1974)</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398" name="Google Shape;398;p23"/>
          <p:cNvSpPr/>
          <p:nvPr/>
        </p:nvSpPr>
        <p:spPr>
          <a:xfrm>
            <a:off x="5314175" y="2222225"/>
            <a:ext cx="33978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 | Atributos protegidos</a:t>
            </a:r>
            <a:endParaRPr/>
          </a:p>
        </p:txBody>
      </p:sp>
      <p:sp>
        <p:nvSpPr>
          <p:cNvPr id="404" name="Google Shape;404;p24"/>
          <p:cNvSpPr txBox="1"/>
          <p:nvPr/>
        </p:nvSpPr>
        <p:spPr>
          <a:xfrm>
            <a:off x="432150" y="1260250"/>
            <a:ext cx="8279700" cy="16368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Si el nombre de un atributo está precedido por un guión bajo, significa que es un </a:t>
            </a:r>
            <a:r>
              <a:rPr b="1" i="0" lang="es" sz="1650" u="none" cap="none" strike="noStrike">
                <a:solidFill>
                  <a:schemeClr val="dk2"/>
                </a:solidFill>
                <a:latin typeface="Montserrat"/>
                <a:ea typeface="Montserrat"/>
                <a:cs typeface="Montserrat"/>
                <a:sym typeface="Montserrat"/>
              </a:rPr>
              <a:t>atributo protegido.</a:t>
            </a:r>
            <a:r>
              <a:rPr b="0" i="0" lang="es" sz="1650" u="none" cap="none" strike="noStrike">
                <a:solidFill>
                  <a:schemeClr val="dk2"/>
                </a:solidFill>
                <a:latin typeface="Montserrat"/>
                <a:ea typeface="Montserrat"/>
                <a:cs typeface="Montserrat"/>
                <a:sym typeface="Montserrat"/>
              </a:rPr>
              <a:t> Solo puede ser accedido por esa clase y es una buena práctica para los atributos (o métodos) de uso interno, sobre todo en programas que recurren a muchas clases. De lo contrario, resulta, en realidad, innecesario.</a:t>
            </a:r>
            <a:endParaRPr b="0" i="0" sz="1650" u="none" cap="none" strike="noStrike">
              <a:solidFill>
                <a:schemeClr val="dk2"/>
              </a:solidFill>
              <a:latin typeface="Montserrat"/>
              <a:ea typeface="Montserrat"/>
              <a:cs typeface="Montserrat"/>
              <a:sym typeface="Montserrat"/>
            </a:endParaRPr>
          </a:p>
        </p:txBody>
      </p:sp>
      <p:sp>
        <p:nvSpPr>
          <p:cNvPr id="405" name="Google Shape;405;p24"/>
          <p:cNvSpPr/>
          <p:nvPr/>
        </p:nvSpPr>
        <p:spPr>
          <a:xfrm>
            <a:off x="432026" y="2736450"/>
            <a:ext cx="3541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406" name="Google Shape;406;p24"/>
          <p:cNvSpPr/>
          <p:nvPr/>
        </p:nvSpPr>
        <p:spPr>
          <a:xfrm>
            <a:off x="432025" y="2965350"/>
            <a:ext cx="3541200" cy="1461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Vehiculo</a:t>
            </a:r>
            <a:r>
              <a:rPr b="0" i="0" lang="es" sz="1100" u="none" cap="none" strike="noStrike">
                <a:solidFill>
                  <a:srgbClr val="D5CED9"/>
                </a:solidFill>
                <a:highlight>
                  <a:srgbClr val="23262E"/>
                </a:highlight>
                <a:latin typeface="Consolas"/>
                <a:ea typeface="Consolas"/>
                <a:cs typeface="Consolas"/>
                <a:sym typeface="Consolas"/>
              </a:rPr>
              <a:t>: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marca</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color</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placa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._marca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marca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._color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color</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._placa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placa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coche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Vehiculo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"Ford"</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"Rojo"</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"AB123CD"</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(coche.marca)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407" name="Google Shape;407;p24"/>
          <p:cNvSpPr/>
          <p:nvPr/>
        </p:nvSpPr>
        <p:spPr>
          <a:xfrm>
            <a:off x="4141974" y="2736450"/>
            <a:ext cx="4378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08" name="Google Shape;408;p24"/>
          <p:cNvSpPr/>
          <p:nvPr/>
        </p:nvSpPr>
        <p:spPr>
          <a:xfrm>
            <a:off x="4141985" y="2965350"/>
            <a:ext cx="4378200" cy="14619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Traceback (most recent call last):</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  File "prueba.py", line 13, in &lt;module&gt;</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    print(coche.marca)</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AttributeError: 'Vehiculo' object has no attribute 'marca'. Did you mean: '_marca'?</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a:t>
            </a:r>
            <a:endParaRPr/>
          </a:p>
        </p:txBody>
      </p:sp>
      <p:sp>
        <p:nvSpPr>
          <p:cNvPr id="414" name="Google Shape;414;p25"/>
          <p:cNvSpPr txBox="1"/>
          <p:nvPr/>
        </p:nvSpPr>
        <p:spPr>
          <a:xfrm>
            <a:off x="432150" y="1260250"/>
            <a:ext cx="8279700" cy="3325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rgbClr val="000000"/>
              </a:buClr>
              <a:buSzPts val="1650"/>
              <a:buFont typeface="Arial"/>
              <a:buNone/>
            </a:pPr>
            <a:r>
              <a:rPr b="1" i="0" lang="es" sz="1650" u="none" cap="none" strike="noStrike">
                <a:solidFill>
                  <a:schemeClr val="dk2"/>
                </a:solidFill>
                <a:latin typeface="Montserrat"/>
                <a:ea typeface="Montserrat"/>
                <a:cs typeface="Montserrat"/>
                <a:sym typeface="Montserrat"/>
              </a:rPr>
              <a:t>Encapsulación</a:t>
            </a:r>
            <a:r>
              <a:rPr b="0" i="0" lang="es" sz="1650" u="none" cap="none" strike="noStrike">
                <a:solidFill>
                  <a:schemeClr val="dk2"/>
                </a:solidFill>
                <a:latin typeface="Montserrat"/>
                <a:ea typeface="Montserrat"/>
                <a:cs typeface="Montserrat"/>
                <a:sym typeface="Montserrat"/>
              </a:rPr>
              <a:t> se refiere al ocultamiento de los atributos o métodos de una clase al exterior, para que no se puedan acceder ni modificar desde fuera. Por defecto Python no oculta los atributos y métodos de una clase al exterior:</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p:txBody>
      </p:sp>
      <p:sp>
        <p:nvSpPr>
          <p:cNvPr id="415" name="Google Shape;415;p25"/>
          <p:cNvSpPr/>
          <p:nvPr/>
        </p:nvSpPr>
        <p:spPr>
          <a:xfrm>
            <a:off x="1561737" y="2215075"/>
            <a:ext cx="4275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416" name="Google Shape;416;p25"/>
          <p:cNvSpPr/>
          <p:nvPr/>
        </p:nvSpPr>
        <p:spPr>
          <a:xfrm>
            <a:off x="1561750" y="2443975"/>
            <a:ext cx="4275000" cy="145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C74DED"/>
                </a:solidFill>
                <a:highlight>
                  <a:srgbClr val="23262E"/>
                </a:highlight>
                <a:latin typeface="Consolas"/>
                <a:ea typeface="Consolas"/>
                <a:cs typeface="Consolas"/>
                <a:sym typeface="Consolas"/>
              </a:rPr>
              <a:t>class</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Clase</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atributo_clase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96E072"/>
                </a:solidFill>
                <a:highlight>
                  <a:srgbClr val="23262E"/>
                </a:highlight>
                <a:latin typeface="Consolas"/>
                <a:ea typeface="Consolas"/>
                <a:cs typeface="Consolas"/>
                <a:sym typeface="Consolas"/>
              </a:rPr>
              <a:t>"Hola"</a:t>
            </a:r>
            <a:endParaRPr b="0" i="0" sz="105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C74DED"/>
                </a:solidFill>
                <a:highlight>
                  <a:srgbClr val="23262E"/>
                </a:highlight>
                <a:latin typeface="Consolas"/>
                <a:ea typeface="Consolas"/>
                <a:cs typeface="Consolas"/>
                <a:sym typeface="Consolas"/>
              </a:rPr>
              <a:t>def</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EE5D43"/>
                </a:solidFill>
                <a:highlight>
                  <a:srgbClr val="23262E"/>
                </a:highlight>
                <a:latin typeface="Consolas"/>
                <a:ea typeface="Consolas"/>
                <a:cs typeface="Consolas"/>
                <a:sym typeface="Consolas"/>
              </a:rPr>
              <a:t>__init__</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00E8C6"/>
                </a:solidFill>
                <a:highlight>
                  <a:srgbClr val="23262E"/>
                </a:highlight>
                <a:latin typeface="Consolas"/>
                <a:ea typeface="Consolas"/>
                <a:cs typeface="Consolas"/>
                <a:sym typeface="Consolas"/>
              </a:rPr>
              <a:t>self</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00E8C6"/>
                </a:solidFill>
                <a:highlight>
                  <a:srgbClr val="23262E"/>
                </a:highlight>
                <a:latin typeface="Consolas"/>
                <a:ea typeface="Consolas"/>
                <a:cs typeface="Consolas"/>
                <a:sym typeface="Consolas"/>
              </a:rPr>
              <a:t>atributo_instancia</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00AA"/>
                </a:solidFill>
                <a:highlight>
                  <a:srgbClr val="23262E"/>
                </a:highlight>
                <a:latin typeface="Consolas"/>
                <a:ea typeface="Consolas"/>
                <a:cs typeface="Consolas"/>
                <a:sym typeface="Consolas"/>
              </a:rPr>
              <a:t>self</a:t>
            </a:r>
            <a:r>
              <a:rPr b="0" i="0" lang="es" sz="1050" u="none" cap="none" strike="noStrike">
                <a:solidFill>
                  <a:srgbClr val="D5CED9"/>
                </a:solidFill>
                <a:highlight>
                  <a:srgbClr val="23262E"/>
                </a:highlight>
                <a:latin typeface="Consolas"/>
                <a:ea typeface="Consolas"/>
                <a:cs typeface="Consolas"/>
                <a:sym typeface="Consolas"/>
              </a:rPr>
              <a:t>.atributo_instancia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atributo_instancia</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D5CED9"/>
                </a:solidFill>
                <a:highlight>
                  <a:srgbClr val="23262E"/>
                </a:highlight>
                <a:latin typeface="Consolas"/>
                <a:ea typeface="Consolas"/>
                <a:cs typeface="Consolas"/>
                <a:sym typeface="Consolas"/>
              </a:rPr>
              <a:t>mi_clase </a:t>
            </a:r>
            <a:r>
              <a:rPr b="0" i="0" lang="es" sz="1050" u="none" cap="none" strike="noStrike">
                <a:solidFill>
                  <a:srgbClr val="EE5D43"/>
                </a:solidFill>
                <a:highlight>
                  <a:srgbClr val="23262E"/>
                </a:highlight>
                <a:latin typeface="Consolas"/>
                <a:ea typeface="Consolas"/>
                <a:cs typeface="Consolas"/>
                <a:sym typeface="Consolas"/>
              </a:rPr>
              <a:t>=</a:t>
            </a:r>
            <a:r>
              <a:rPr b="0" i="0" lang="es" sz="105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FFE66D"/>
                </a:solidFill>
                <a:highlight>
                  <a:srgbClr val="23262E"/>
                </a:highlight>
                <a:latin typeface="Consolas"/>
                <a:ea typeface="Consolas"/>
                <a:cs typeface="Consolas"/>
                <a:sym typeface="Consolas"/>
              </a:rPr>
              <a:t>Clase</a:t>
            </a:r>
            <a:r>
              <a:rPr b="0" i="0" lang="es" sz="1050" u="none" cap="none" strike="noStrike">
                <a:solidFill>
                  <a:srgbClr val="D5CED9"/>
                </a:solidFill>
                <a:highlight>
                  <a:srgbClr val="23262E"/>
                </a:highlight>
                <a:latin typeface="Consolas"/>
                <a:ea typeface="Consolas"/>
                <a:cs typeface="Consolas"/>
                <a:sym typeface="Consolas"/>
              </a:rPr>
              <a:t>(</a:t>
            </a:r>
            <a:r>
              <a:rPr b="0" i="0" lang="es" sz="1050" u="none" cap="none" strike="noStrike">
                <a:solidFill>
                  <a:srgbClr val="96E072"/>
                </a:solidFill>
                <a:highlight>
                  <a:srgbClr val="23262E"/>
                </a:highlight>
                <a:latin typeface="Consolas"/>
                <a:ea typeface="Consolas"/>
                <a:cs typeface="Consolas"/>
                <a:sym typeface="Consolas"/>
              </a:rPr>
              <a:t>"Que tal"</a:t>
            </a:r>
            <a:r>
              <a:rPr b="0" i="0" lang="es" sz="1050" u="none" cap="none" strike="noStrike">
                <a:solidFill>
                  <a:srgbClr val="D5CED9"/>
                </a:solidFill>
                <a:highlight>
                  <a:srgbClr val="23262E"/>
                </a:highlight>
                <a:latin typeface="Consolas"/>
                <a:ea typeface="Consolas"/>
                <a:cs typeface="Consolas"/>
                <a:sym typeface="Consolas"/>
              </a:rPr>
              <a:t>)</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print</a:t>
            </a:r>
            <a:r>
              <a:rPr b="0" i="0" lang="es" sz="1050" u="none" cap="none" strike="noStrike">
                <a:solidFill>
                  <a:srgbClr val="D5CED9"/>
                </a:solidFill>
                <a:highlight>
                  <a:srgbClr val="23262E"/>
                </a:highlight>
                <a:latin typeface="Consolas"/>
                <a:ea typeface="Consolas"/>
                <a:cs typeface="Consolas"/>
                <a:sym typeface="Consolas"/>
              </a:rPr>
              <a:t>(mi_clase.atributo_clase)</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50" u="none" cap="none" strike="noStrike">
                <a:solidFill>
                  <a:srgbClr val="FFE66D"/>
                </a:solidFill>
                <a:highlight>
                  <a:srgbClr val="23262E"/>
                </a:highlight>
                <a:latin typeface="Consolas"/>
                <a:ea typeface="Consolas"/>
                <a:cs typeface="Consolas"/>
                <a:sym typeface="Consolas"/>
              </a:rPr>
              <a:t>print</a:t>
            </a:r>
            <a:r>
              <a:rPr b="0" i="0" lang="es" sz="1050" u="none" cap="none" strike="noStrike">
                <a:solidFill>
                  <a:srgbClr val="D5CED9"/>
                </a:solidFill>
                <a:highlight>
                  <a:srgbClr val="23262E"/>
                </a:highlight>
                <a:latin typeface="Consolas"/>
                <a:ea typeface="Consolas"/>
                <a:cs typeface="Consolas"/>
                <a:sym typeface="Consolas"/>
              </a:rPr>
              <a:t>(mi_clase.atributo_instancia)</a:t>
            </a:r>
            <a:endParaRPr b="0" i="0" sz="105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50" u="none" cap="none" strike="noStrike">
              <a:solidFill>
                <a:srgbClr val="5F6167"/>
              </a:solidFill>
              <a:highlight>
                <a:srgbClr val="23262E"/>
              </a:highlight>
              <a:latin typeface="Consolas"/>
              <a:ea typeface="Consolas"/>
              <a:cs typeface="Consolas"/>
              <a:sym typeface="Consolas"/>
            </a:endParaRPr>
          </a:p>
        </p:txBody>
      </p:sp>
      <p:sp>
        <p:nvSpPr>
          <p:cNvPr id="417" name="Google Shape;417;p25"/>
          <p:cNvSpPr/>
          <p:nvPr/>
        </p:nvSpPr>
        <p:spPr>
          <a:xfrm>
            <a:off x="6164700" y="2470035"/>
            <a:ext cx="1417500" cy="1450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Hola</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Que tal</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418" name="Google Shape;418;p25"/>
          <p:cNvSpPr/>
          <p:nvPr/>
        </p:nvSpPr>
        <p:spPr>
          <a:xfrm>
            <a:off x="6164763" y="2215075"/>
            <a:ext cx="14175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19" name="Google Shape;419;p25"/>
          <p:cNvSpPr txBox="1"/>
          <p:nvPr/>
        </p:nvSpPr>
        <p:spPr>
          <a:xfrm>
            <a:off x="436425" y="3920225"/>
            <a:ext cx="8279700" cy="7224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Para ocultar métodos y atributos del exterior se usa doble guión bajo __ en el comienzo de su nombre. Esto hará que Python los interprete como “privados”.</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 | Decoradores - setters</a:t>
            </a:r>
            <a:endParaRPr/>
          </a:p>
        </p:txBody>
      </p:sp>
      <p:sp>
        <p:nvSpPr>
          <p:cNvPr id="425" name="Google Shape;425;p26"/>
          <p:cNvSpPr txBox="1"/>
          <p:nvPr/>
        </p:nvSpPr>
        <p:spPr>
          <a:xfrm>
            <a:off x="432150" y="1260250"/>
            <a:ext cx="3945900" cy="3325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Un </a:t>
            </a:r>
            <a:r>
              <a:rPr b="1" i="0" lang="es" sz="1650" u="none" cap="none" strike="noStrike">
                <a:solidFill>
                  <a:schemeClr val="dk2"/>
                </a:solidFill>
                <a:latin typeface="Montserrat"/>
                <a:ea typeface="Montserrat"/>
                <a:cs typeface="Montserrat"/>
                <a:sym typeface="Montserrat"/>
              </a:rPr>
              <a:t>setter</a:t>
            </a:r>
            <a:r>
              <a:rPr b="0" i="0" lang="es" sz="1650" u="none" cap="none" strike="noStrike">
                <a:solidFill>
                  <a:schemeClr val="dk2"/>
                </a:solidFill>
                <a:latin typeface="Montserrat"/>
                <a:ea typeface="Montserrat"/>
                <a:cs typeface="Montserrat"/>
                <a:sym typeface="Montserrat"/>
              </a:rPr>
              <a:t> permite crear métodos que permiten modificar el valor de un atributo privado.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En Python se declaran escribiendo antes del método un </a:t>
            </a:r>
            <a:r>
              <a:rPr b="1" i="0" lang="es" sz="1650" u="none" cap="none" strike="noStrike">
                <a:solidFill>
                  <a:schemeClr val="dk2"/>
                </a:solidFill>
                <a:latin typeface="Montserrat"/>
                <a:ea typeface="Montserrat"/>
                <a:cs typeface="Montserrat"/>
                <a:sym typeface="Montserrat"/>
              </a:rPr>
              <a:t>decorador</a:t>
            </a:r>
            <a:r>
              <a:rPr b="0" i="0" lang="es" sz="1650" u="none" cap="none" strike="noStrike">
                <a:solidFill>
                  <a:schemeClr val="dk2"/>
                </a:solidFill>
                <a:latin typeface="Montserrat"/>
                <a:ea typeface="Montserrat"/>
                <a:cs typeface="Montserrat"/>
                <a:sym typeface="Montserrat"/>
              </a:rPr>
              <a:t> con su nombre seguido de </a:t>
            </a:r>
            <a:r>
              <a:rPr b="1" i="0" lang="es" sz="1650" u="none" cap="none" strike="noStrike">
                <a:solidFill>
                  <a:schemeClr val="dk2"/>
                </a:solidFill>
                <a:latin typeface="Montserrat"/>
                <a:ea typeface="Montserrat"/>
                <a:cs typeface="Montserrat"/>
                <a:sym typeface="Montserrat"/>
              </a:rPr>
              <a:t>.setter</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Junto con el decorador @property permiten leer y escribir los atributos privados de manera segura.</a:t>
            </a:r>
            <a:endParaRPr b="0" i="0" sz="1650" u="none" cap="none" strike="noStrike">
              <a:solidFill>
                <a:schemeClr val="dk2"/>
              </a:solidFill>
              <a:latin typeface="Montserrat"/>
              <a:ea typeface="Montserrat"/>
              <a:cs typeface="Montserrat"/>
              <a:sym typeface="Montserrat"/>
            </a:endParaRPr>
          </a:p>
        </p:txBody>
      </p:sp>
      <p:sp>
        <p:nvSpPr>
          <p:cNvPr id="426" name="Google Shape;426;p26"/>
          <p:cNvSpPr/>
          <p:nvPr/>
        </p:nvSpPr>
        <p:spPr>
          <a:xfrm>
            <a:off x="4766075" y="1260250"/>
            <a:ext cx="3945900" cy="2307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Getters y setters:</a:t>
            </a:r>
            <a:endParaRPr b="0" i="0" sz="1400" u="none" cap="none" strike="noStrike">
              <a:solidFill>
                <a:schemeClr val="dk2"/>
              </a:solidFill>
              <a:latin typeface="Montserrat"/>
              <a:ea typeface="Montserrat"/>
              <a:cs typeface="Montserrat"/>
              <a:sym typeface="Montserrat"/>
            </a:endParaRPr>
          </a:p>
        </p:txBody>
      </p:sp>
      <p:sp>
        <p:nvSpPr>
          <p:cNvPr id="427" name="Google Shape;427;p26"/>
          <p:cNvSpPr/>
          <p:nvPr/>
        </p:nvSpPr>
        <p:spPr>
          <a:xfrm>
            <a:off x="4766100" y="1490921"/>
            <a:ext cx="3945900" cy="3094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Bebidas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.__bebida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'Naranja'</a:t>
            </a:r>
            <a:endParaRPr b="0" i="0" sz="11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property</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favorita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return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"La bebida preferida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.__bebida</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endParaRPr b="0" i="0" sz="11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@favorita.setter</a:t>
            </a:r>
            <a:endParaRPr b="0" i="0" sz="1100" u="none" cap="none" strike="noStrike">
              <a:solidFill>
                <a:srgbClr val="FFE66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favorita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00E8C6"/>
                </a:solidFill>
                <a:highlight>
                  <a:srgbClr val="23262E"/>
                </a:highlight>
                <a:latin typeface="Consolas"/>
                <a:ea typeface="Consolas"/>
                <a:cs typeface="Consolas"/>
                <a:sym typeface="Consolas"/>
              </a:rPr>
              <a:t>bebida</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.__bebida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bebida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Programa principal</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obj1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Bebidas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obj1.favorita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"Pomelo"</a:t>
            </a:r>
            <a:endParaRPr b="0" i="0" sz="11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(obj1.favorita)    </a:t>
            </a:r>
            <a:r>
              <a:rPr b="0" i="0" lang="es" sz="1100" u="none" cap="none" strike="noStrike">
                <a:solidFill>
                  <a:srgbClr val="5F6167"/>
                </a:solidFill>
                <a:highlight>
                  <a:srgbClr val="23262E"/>
                </a:highlight>
                <a:latin typeface="Consolas"/>
                <a:ea typeface="Consolas"/>
                <a:cs typeface="Consolas"/>
                <a:sym typeface="Consolas"/>
              </a:rPr>
              <a:t># Pomelo</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a:t>
            </a:r>
            <a:endParaRPr/>
          </a:p>
        </p:txBody>
      </p:sp>
      <p:sp>
        <p:nvSpPr>
          <p:cNvPr id="433" name="Google Shape;433;p27"/>
          <p:cNvSpPr txBox="1"/>
          <p:nvPr/>
        </p:nvSpPr>
        <p:spPr>
          <a:xfrm>
            <a:off x="432150" y="1260250"/>
            <a:ext cx="8279700" cy="3325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p:txBody>
      </p:sp>
      <p:sp>
        <p:nvSpPr>
          <p:cNvPr id="434" name="Google Shape;434;p27"/>
          <p:cNvSpPr/>
          <p:nvPr/>
        </p:nvSpPr>
        <p:spPr>
          <a:xfrm>
            <a:off x="975479" y="1260250"/>
            <a:ext cx="55629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435" name="Google Shape;435;p27"/>
          <p:cNvSpPr/>
          <p:nvPr/>
        </p:nvSpPr>
        <p:spPr>
          <a:xfrm>
            <a:off x="975508" y="1489150"/>
            <a:ext cx="5562900" cy="2889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Clase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atributo_clase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"Hola"</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Accesible desde el exterior</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__atributo_clase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"Hola"</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No accesible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__mi_metodo</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No accesible desde el exterior</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"Haz algo"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.__variable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39C12"/>
                </a:solidFill>
                <a:highlight>
                  <a:srgbClr val="23262E"/>
                </a:highlight>
                <a:latin typeface="Consolas"/>
                <a:ea typeface="Consolas"/>
                <a:cs typeface="Consolas"/>
                <a:sym typeface="Consolas"/>
              </a:rPr>
              <a:t>0</a:t>
            </a:r>
            <a:endParaRPr b="0" i="0" sz="11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metodo_normal</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5F6167"/>
                </a:solidFill>
                <a:highlight>
                  <a:srgbClr val="23262E"/>
                </a:highlight>
                <a:latin typeface="Consolas"/>
                <a:ea typeface="Consolas"/>
                <a:cs typeface="Consolas"/>
                <a:sym typeface="Consolas"/>
              </a:rPr>
              <a:t># Accesible desde el exterior</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FE66D"/>
                </a:solidFill>
                <a:highlight>
                  <a:srgbClr val="23262E"/>
                </a:highlight>
                <a:latin typeface="Consolas"/>
                <a:ea typeface="Consolas"/>
                <a:cs typeface="Consolas"/>
                <a:sym typeface="Consolas"/>
              </a:rPr>
              <a:t>__mi_metodo</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mi_clase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Clase</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#mi_clase.__atributo_clase #AttributeError (atributo no accesible)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#mi_clase.__mi_metodo()    #AttributeError (método no accesible)</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(mi_clase.atributo_clase)</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mi_clase.</a:t>
            </a:r>
            <a:r>
              <a:rPr b="0" i="0" lang="es" sz="1100" u="none" cap="none" strike="noStrike">
                <a:solidFill>
                  <a:srgbClr val="FFE66D"/>
                </a:solidFill>
                <a:highlight>
                  <a:srgbClr val="23262E"/>
                </a:highlight>
                <a:latin typeface="Consolas"/>
                <a:ea typeface="Consolas"/>
                <a:cs typeface="Consolas"/>
                <a:sym typeface="Consolas"/>
              </a:rPr>
              <a:t>metodo_normal</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p:txBody>
      </p:sp>
      <p:sp>
        <p:nvSpPr>
          <p:cNvPr id="436" name="Google Shape;436;p27"/>
          <p:cNvSpPr/>
          <p:nvPr/>
        </p:nvSpPr>
        <p:spPr>
          <a:xfrm>
            <a:off x="6750958" y="1513625"/>
            <a:ext cx="1417500" cy="2864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Hola</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Que tal</a:t>
            </a:r>
            <a:endParaRPr b="0" i="0" sz="1200" u="none" cap="none" strike="noStrike">
              <a:solidFill>
                <a:srgbClr val="5F6167"/>
              </a:solidFill>
              <a:highlight>
                <a:srgbClr val="23262E"/>
              </a:highlight>
              <a:latin typeface="Consolas"/>
              <a:ea typeface="Consolas"/>
              <a:cs typeface="Consolas"/>
              <a:sym typeface="Consolas"/>
            </a:endParaRPr>
          </a:p>
        </p:txBody>
      </p:sp>
      <p:sp>
        <p:nvSpPr>
          <p:cNvPr id="437" name="Google Shape;437;p27"/>
          <p:cNvSpPr/>
          <p:nvPr/>
        </p:nvSpPr>
        <p:spPr>
          <a:xfrm>
            <a:off x="6751021" y="1260250"/>
            <a:ext cx="14175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a:t>
            </a:r>
            <a:endParaRPr/>
          </a:p>
        </p:txBody>
      </p:sp>
      <p:sp>
        <p:nvSpPr>
          <p:cNvPr id="443" name="Google Shape;443;p28"/>
          <p:cNvSpPr txBox="1"/>
          <p:nvPr/>
        </p:nvSpPr>
        <p:spPr>
          <a:xfrm>
            <a:off x="432150" y="1260250"/>
            <a:ext cx="8279700" cy="33252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En el ejemplo se ve como los atributos y métodos de la clase </a:t>
            </a:r>
            <a:r>
              <a:rPr b="1" i="0" lang="es" sz="1650" u="none" cap="none" strike="noStrike">
                <a:solidFill>
                  <a:schemeClr val="dk2"/>
                </a:solidFill>
                <a:latin typeface="Montserrat"/>
                <a:ea typeface="Montserrat"/>
                <a:cs typeface="Montserrat"/>
                <a:sym typeface="Montserrat"/>
              </a:rPr>
              <a:t>Clase</a:t>
            </a:r>
            <a:r>
              <a:rPr b="0" i="0" lang="es" sz="1650" u="none" cap="none" strike="noStrike">
                <a:solidFill>
                  <a:schemeClr val="dk2"/>
                </a:solidFill>
                <a:latin typeface="Montserrat"/>
                <a:ea typeface="Montserrat"/>
                <a:cs typeface="Montserrat"/>
                <a:sym typeface="Montserrat"/>
              </a:rPr>
              <a:t> cuyos nombres comienzan con __ no son “visibles” desde el exterior de la clase.</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En efecto, </a:t>
            </a:r>
            <a:r>
              <a:rPr b="0" i="1" lang="es" sz="1650" u="none" cap="none" strike="noStrike">
                <a:solidFill>
                  <a:schemeClr val="dk2"/>
                </a:solidFill>
                <a:latin typeface="Montserrat"/>
                <a:ea typeface="Montserrat"/>
                <a:cs typeface="Montserrat"/>
                <a:sym typeface="Montserrat"/>
              </a:rPr>
              <a:t> __atributo_clase</a:t>
            </a:r>
            <a:r>
              <a:rPr b="0" i="0" lang="es" sz="1650" u="none" cap="none" strike="noStrike">
                <a:solidFill>
                  <a:schemeClr val="dk2"/>
                </a:solidFill>
                <a:latin typeface="Montserrat"/>
                <a:ea typeface="Montserrat"/>
                <a:cs typeface="Montserrat"/>
                <a:sym typeface="Montserrat"/>
              </a:rPr>
              <a:t> y  </a:t>
            </a:r>
            <a:r>
              <a:rPr b="0" i="1" lang="es" sz="1650" u="none" cap="none" strike="noStrike">
                <a:solidFill>
                  <a:schemeClr val="dk2"/>
                </a:solidFill>
                <a:latin typeface="Montserrat"/>
                <a:ea typeface="Montserrat"/>
                <a:cs typeface="Montserrat"/>
                <a:sym typeface="Montserrat"/>
              </a:rPr>
              <a:t>__mi_metodo()</a:t>
            </a:r>
            <a:r>
              <a:rPr b="0" i="0" lang="es" sz="1650" u="none" cap="none" strike="noStrike">
                <a:solidFill>
                  <a:schemeClr val="dk2"/>
                </a:solidFill>
                <a:latin typeface="Montserrat"/>
                <a:ea typeface="Montserrat"/>
                <a:cs typeface="Montserrat"/>
                <a:sym typeface="Montserrat"/>
              </a:rPr>
              <a:t> están “</a:t>
            </a:r>
            <a:r>
              <a:rPr b="1" i="0" lang="es" sz="1650" u="none" cap="none" strike="noStrike">
                <a:solidFill>
                  <a:schemeClr val="dk2"/>
                </a:solidFill>
                <a:latin typeface="Montserrat"/>
                <a:ea typeface="Montserrat"/>
                <a:cs typeface="Montserrat"/>
                <a:sym typeface="Montserrat"/>
              </a:rPr>
              <a:t>encapsulados</a:t>
            </a:r>
            <a:r>
              <a:rPr b="0" i="0" lang="es" sz="1650" u="none" cap="none" strike="noStrike">
                <a:solidFill>
                  <a:schemeClr val="dk2"/>
                </a:solidFill>
                <a:latin typeface="Montserrat"/>
                <a:ea typeface="Montserrat"/>
                <a:cs typeface="Montserrat"/>
                <a:sym typeface="Montserrat"/>
              </a:rPr>
              <a:t>” en la Clase. Se puede acceder y modificar desde su interior, pero cuando intentamos hacerlo desde el exterior Python arroja un error explicando que no es posible. Por ejemplo, en el código anterior al intentar usar </a:t>
            </a:r>
            <a:r>
              <a:rPr b="0" i="1" lang="es" sz="1650" u="none" cap="none" strike="noStrike">
                <a:solidFill>
                  <a:schemeClr val="dk2"/>
                </a:solidFill>
                <a:latin typeface="Montserrat"/>
                <a:ea typeface="Montserrat"/>
                <a:cs typeface="Montserrat"/>
                <a:sym typeface="Montserrat"/>
              </a:rPr>
              <a:t> __atributo_clase:</a:t>
            </a:r>
            <a:endParaRPr b="0" i="0" sz="1650" u="none" cap="none" strike="noStrike">
              <a:solidFill>
                <a:schemeClr val="dk2"/>
              </a:solidFill>
              <a:latin typeface="Montserrat"/>
              <a:ea typeface="Montserrat"/>
              <a:cs typeface="Montserrat"/>
              <a:sym typeface="Montserrat"/>
            </a:endParaRPr>
          </a:p>
        </p:txBody>
      </p:sp>
      <p:sp>
        <p:nvSpPr>
          <p:cNvPr id="444" name="Google Shape;444;p28"/>
          <p:cNvSpPr/>
          <p:nvPr/>
        </p:nvSpPr>
        <p:spPr>
          <a:xfrm>
            <a:off x="483587" y="3258850"/>
            <a:ext cx="81768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445" name="Google Shape;445;p28"/>
          <p:cNvSpPr/>
          <p:nvPr/>
        </p:nvSpPr>
        <p:spPr>
          <a:xfrm>
            <a:off x="483613" y="3512350"/>
            <a:ext cx="8176800" cy="10731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Traceback (most recent call last):</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  File "prueba.py", line 13, in &lt;module&gt;</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    mi_clase.__atributo_clase</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AttributeError: 'Clase' object has no attribute '__atributo_clase' Did you mean: 'atributo_clase'?</a:t>
            </a:r>
            <a:endParaRPr b="0" i="0" sz="1200" u="none" cap="none" strike="noStrike">
              <a:solidFill>
                <a:schemeClr val="lt2"/>
              </a:solidFill>
              <a:highlight>
                <a:srgbClr val="23262E"/>
              </a:highlight>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a:t>
            </a:r>
            <a:endParaRPr/>
          </a:p>
        </p:txBody>
      </p:sp>
      <p:sp>
        <p:nvSpPr>
          <p:cNvPr id="451" name="Google Shape;451;p29"/>
          <p:cNvSpPr txBox="1"/>
          <p:nvPr/>
        </p:nvSpPr>
        <p:spPr>
          <a:xfrm>
            <a:off x="432150" y="1260250"/>
            <a:ext cx="8279700" cy="33252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Entonces, los atributos de una clase pueden presentar tres niveles de privacidad:</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chemeClr val="dk1"/>
              </a:buClr>
              <a:buSzPts val="1100"/>
              <a:buFont typeface="Arial"/>
              <a:buNone/>
            </a:pPr>
            <a:r>
              <a:t/>
            </a:r>
            <a:endParaRPr b="0" i="0" sz="1650" u="none" cap="none" strike="noStrike">
              <a:solidFill>
                <a:schemeClr val="dk2"/>
              </a:solidFill>
              <a:latin typeface="Montserrat"/>
              <a:ea typeface="Montserrat"/>
              <a:cs typeface="Montserrat"/>
              <a:sym typeface="Montserrat"/>
            </a:endParaRPr>
          </a:p>
          <a:p>
            <a:pPr indent="-333375" lvl="0" marL="457200" marR="0" rtl="0" algn="l">
              <a:lnSpc>
                <a:spcPct val="115000"/>
              </a:lnSpc>
              <a:spcBef>
                <a:spcPts val="0"/>
              </a:spcBef>
              <a:spcAft>
                <a:spcPts val="0"/>
              </a:spcAft>
              <a:buClr>
                <a:schemeClr val="dk2"/>
              </a:buClr>
              <a:buSzPts val="1650"/>
              <a:buFont typeface="Montserrat"/>
              <a:buChar char="●"/>
            </a:pPr>
            <a:r>
              <a:rPr b="1" i="0" lang="es" sz="1650" u="none" cap="none" strike="noStrike">
                <a:solidFill>
                  <a:schemeClr val="dk2"/>
                </a:solidFill>
                <a:latin typeface="Montserrat"/>
                <a:ea typeface="Montserrat"/>
                <a:cs typeface="Montserrat"/>
                <a:sym typeface="Montserrat"/>
              </a:rPr>
              <a:t>Públicos:</a:t>
            </a:r>
            <a:r>
              <a:rPr b="0" i="0" lang="es" sz="1650" u="none" cap="none" strike="noStrike">
                <a:solidFill>
                  <a:schemeClr val="dk2"/>
                </a:solidFill>
                <a:latin typeface="Montserrat"/>
                <a:ea typeface="Montserrat"/>
                <a:cs typeface="Montserrat"/>
                <a:sym typeface="Montserrat"/>
              </a:rPr>
              <a:t> Creando un objeto de dicha clase y usando la sintaxis del punto, podemos acceder y modificar desde otra clase cualquier atributo.</a:t>
            </a:r>
            <a:endParaRPr b="0" i="0" sz="1650" u="none" cap="none" strike="noStrike">
              <a:solidFill>
                <a:schemeClr val="dk2"/>
              </a:solidFill>
              <a:latin typeface="Montserrat"/>
              <a:ea typeface="Montserrat"/>
              <a:cs typeface="Montserrat"/>
              <a:sym typeface="Montserrat"/>
            </a:endParaRPr>
          </a:p>
          <a:p>
            <a:pPr indent="-333375" lvl="0" marL="457200" marR="0" rtl="0" algn="l">
              <a:lnSpc>
                <a:spcPct val="115000"/>
              </a:lnSpc>
              <a:spcBef>
                <a:spcPts val="0"/>
              </a:spcBef>
              <a:spcAft>
                <a:spcPts val="0"/>
              </a:spcAft>
              <a:buClr>
                <a:schemeClr val="dk2"/>
              </a:buClr>
              <a:buSzPts val="1650"/>
              <a:buFont typeface="Montserrat"/>
              <a:buChar char="●"/>
            </a:pPr>
            <a:r>
              <a:rPr b="1" i="0" lang="es" sz="1650" u="none" cap="none" strike="noStrike">
                <a:solidFill>
                  <a:schemeClr val="dk2"/>
                </a:solidFill>
                <a:latin typeface="Montserrat"/>
                <a:ea typeface="Montserrat"/>
                <a:cs typeface="Montserrat"/>
                <a:sym typeface="Montserrat"/>
              </a:rPr>
              <a:t>Protegidos:</a:t>
            </a:r>
            <a:r>
              <a:rPr b="0" i="0" lang="es" sz="1650" u="none" cap="none" strike="noStrike">
                <a:solidFill>
                  <a:schemeClr val="dk2"/>
                </a:solidFill>
                <a:latin typeface="Montserrat"/>
                <a:ea typeface="Montserrat"/>
                <a:cs typeface="Montserrat"/>
                <a:sym typeface="Montserrat"/>
              </a:rPr>
              <a:t> Un atributo solo puede ser accedido y modificado por la clase en sí misma (y sus clases hijas, como veremos). Para definir un atributo como protegido, se declara con un “guión bajo”.</a:t>
            </a:r>
            <a:endParaRPr b="0" i="0" sz="1650" u="none" cap="none" strike="noStrike">
              <a:solidFill>
                <a:schemeClr val="dk2"/>
              </a:solidFill>
              <a:latin typeface="Montserrat"/>
              <a:ea typeface="Montserrat"/>
              <a:cs typeface="Montserrat"/>
              <a:sym typeface="Montserrat"/>
            </a:endParaRPr>
          </a:p>
          <a:p>
            <a:pPr indent="-333375" lvl="0" marL="457200" marR="0" rtl="0" algn="l">
              <a:lnSpc>
                <a:spcPct val="115000"/>
              </a:lnSpc>
              <a:spcBef>
                <a:spcPts val="0"/>
              </a:spcBef>
              <a:spcAft>
                <a:spcPts val="0"/>
              </a:spcAft>
              <a:buClr>
                <a:schemeClr val="dk2"/>
              </a:buClr>
              <a:buSzPts val="1650"/>
              <a:buFont typeface="Montserrat"/>
              <a:buChar char="●"/>
            </a:pPr>
            <a:r>
              <a:rPr b="1" i="0" lang="es" sz="1650" u="none" cap="none" strike="noStrike">
                <a:solidFill>
                  <a:schemeClr val="dk2"/>
                </a:solidFill>
                <a:latin typeface="Montserrat"/>
                <a:ea typeface="Montserrat"/>
                <a:cs typeface="Montserrat"/>
                <a:sym typeface="Montserrat"/>
              </a:rPr>
              <a:t>Privados: </a:t>
            </a:r>
            <a:r>
              <a:rPr b="0" i="0" lang="es" sz="1650" u="none" cap="none" strike="noStrike">
                <a:solidFill>
                  <a:schemeClr val="dk2"/>
                </a:solidFill>
                <a:latin typeface="Montserrat"/>
                <a:ea typeface="Montserrat"/>
                <a:cs typeface="Montserrat"/>
                <a:sym typeface="Montserrat"/>
              </a:rPr>
              <a:t>Pueden ser accedidos únicamente desde la clase donde fueron definidos. Su nombre empieza con “dobles guiones bajo”.</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650"/>
              <a:buFont typeface="Arial"/>
              <a:buNone/>
            </a:pPr>
            <a:r>
              <a:rPr b="0" i="0" lang="es" sz="1650" u="none" cap="none" strike="noStrike">
                <a:solidFill>
                  <a:schemeClr val="dk2"/>
                </a:solidFill>
                <a:latin typeface="Montserrat"/>
                <a:ea typeface="Montserrat"/>
                <a:cs typeface="Montserrat"/>
                <a:sym typeface="Montserrat"/>
              </a:rPr>
              <a:t>Los últimos necesitan implementar </a:t>
            </a:r>
            <a:r>
              <a:rPr b="0" i="1" lang="es" sz="1650" u="none" cap="none" strike="noStrike">
                <a:solidFill>
                  <a:schemeClr val="dk2"/>
                </a:solidFill>
                <a:latin typeface="Montserrat"/>
                <a:ea typeface="Montserrat"/>
                <a:cs typeface="Montserrat"/>
                <a:sym typeface="Montserrat"/>
              </a:rPr>
              <a:t>getters</a:t>
            </a:r>
            <a:r>
              <a:rPr b="0" i="0" lang="es" sz="1650" u="none" cap="none" strike="noStrike">
                <a:solidFill>
                  <a:schemeClr val="dk2"/>
                </a:solidFill>
                <a:latin typeface="Montserrat"/>
                <a:ea typeface="Montserrat"/>
                <a:cs typeface="Montserrat"/>
                <a:sym typeface="Montserrat"/>
              </a:rPr>
              <a:t> y </a:t>
            </a:r>
            <a:r>
              <a:rPr b="0" i="1" lang="es" sz="1650" u="none" cap="none" strike="noStrike">
                <a:solidFill>
                  <a:schemeClr val="dk2"/>
                </a:solidFill>
                <a:latin typeface="Montserrat"/>
                <a:ea typeface="Montserrat"/>
                <a:cs typeface="Montserrat"/>
                <a:sym typeface="Montserrat"/>
              </a:rPr>
              <a:t>setters</a:t>
            </a:r>
            <a:r>
              <a:rPr b="0" i="0" lang="es" sz="1650" u="none" cap="none" strike="noStrike">
                <a:solidFill>
                  <a:schemeClr val="dk2"/>
                </a:solidFill>
                <a:latin typeface="Montserrat"/>
                <a:ea typeface="Montserrat"/>
                <a:cs typeface="Montserrat"/>
                <a:sym typeface="Montserrat"/>
              </a:rPr>
              <a:t> para implementar el acceso a ellos.</a:t>
            </a:r>
            <a:endParaRPr b="0" i="0" sz="165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Encapsulación | Decoradores - getters</a:t>
            </a:r>
            <a:endParaRPr/>
          </a:p>
        </p:txBody>
      </p:sp>
      <p:sp>
        <p:nvSpPr>
          <p:cNvPr id="457" name="Google Shape;457;p30"/>
          <p:cNvSpPr txBox="1"/>
          <p:nvPr/>
        </p:nvSpPr>
        <p:spPr>
          <a:xfrm>
            <a:off x="432150" y="1260250"/>
            <a:ext cx="8279700" cy="3325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Un </a:t>
            </a:r>
            <a:r>
              <a:rPr b="1" i="0" lang="es" sz="1650" u="none" cap="none" strike="noStrike">
                <a:solidFill>
                  <a:schemeClr val="dk2"/>
                </a:solidFill>
                <a:latin typeface="Montserrat"/>
                <a:ea typeface="Montserrat"/>
                <a:cs typeface="Montserrat"/>
                <a:sym typeface="Montserrat"/>
              </a:rPr>
              <a:t>getter</a:t>
            </a:r>
            <a:r>
              <a:rPr b="0" i="0" lang="es" sz="1650" u="none" cap="none" strike="noStrike">
                <a:solidFill>
                  <a:schemeClr val="dk2"/>
                </a:solidFill>
                <a:latin typeface="Montserrat"/>
                <a:ea typeface="Montserrat"/>
                <a:cs typeface="Montserrat"/>
                <a:sym typeface="Montserrat"/>
              </a:rPr>
              <a:t> es un mecanismo que permite acceder a un método o atributo privado. En Python se declaran creando un método con el </a:t>
            </a:r>
            <a:r>
              <a:rPr b="1" i="0" lang="es" sz="1650" u="none" cap="none" strike="noStrike">
                <a:solidFill>
                  <a:schemeClr val="dk2"/>
                </a:solidFill>
                <a:latin typeface="Montserrat"/>
                <a:ea typeface="Montserrat"/>
                <a:cs typeface="Montserrat"/>
                <a:sym typeface="Montserrat"/>
              </a:rPr>
              <a:t>decorador @property</a:t>
            </a:r>
            <a:r>
              <a:rPr b="0" i="0" lang="es" sz="1650" u="none" cap="none" strike="noStrike">
                <a:solidFill>
                  <a:schemeClr val="dk2"/>
                </a:solidFill>
                <a:latin typeface="Montserrat"/>
                <a:ea typeface="Montserrat"/>
                <a:cs typeface="Montserrat"/>
                <a:sym typeface="Montserrat"/>
              </a:rPr>
              <a:t>:</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2"/>
              </a:solidFill>
              <a:latin typeface="Montserrat"/>
              <a:ea typeface="Montserrat"/>
              <a:cs typeface="Montserrat"/>
              <a:sym typeface="Montserrat"/>
            </a:endParaRPr>
          </a:p>
        </p:txBody>
      </p:sp>
      <p:sp>
        <p:nvSpPr>
          <p:cNvPr id="458" name="Google Shape;458;p30"/>
          <p:cNvSpPr/>
          <p:nvPr/>
        </p:nvSpPr>
        <p:spPr>
          <a:xfrm>
            <a:off x="2050202" y="2250850"/>
            <a:ext cx="3430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Ejemplo del decorador @property </a:t>
            </a:r>
            <a:endParaRPr b="0" i="0" sz="1400" u="none" cap="none" strike="noStrike">
              <a:solidFill>
                <a:schemeClr val="dk2"/>
              </a:solidFill>
              <a:latin typeface="Montserrat"/>
              <a:ea typeface="Montserrat"/>
              <a:cs typeface="Montserrat"/>
              <a:sym typeface="Montserrat"/>
            </a:endParaRPr>
          </a:p>
        </p:txBody>
      </p:sp>
      <p:sp>
        <p:nvSpPr>
          <p:cNvPr id="459" name="Google Shape;459;p30"/>
          <p:cNvSpPr/>
          <p:nvPr/>
        </p:nvSpPr>
        <p:spPr>
          <a:xfrm>
            <a:off x="2050225" y="2479750"/>
            <a:ext cx="3430800" cy="2034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highlight>
                  <a:srgbClr val="23262E"/>
                </a:highlight>
                <a:latin typeface="Consolas"/>
                <a:ea typeface="Consolas"/>
                <a:cs typeface="Consolas"/>
                <a:sym typeface="Consolas"/>
              </a:rPr>
              <a:t>class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Bebidas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EE5D43"/>
                </a:solidFill>
                <a:highlight>
                  <a:srgbClr val="23262E"/>
                </a:highlight>
                <a:latin typeface="Consolas"/>
                <a:ea typeface="Consolas"/>
                <a:cs typeface="Consolas"/>
                <a:sym typeface="Consolas"/>
              </a:rPr>
              <a:t>__init__</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.__bebida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'Naranja'</a:t>
            </a:r>
            <a:endParaRPr b="0" i="0" sz="11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property</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def</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favorita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00E8C6"/>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return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"La bebida preferida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FF00AA"/>
                </a:solidFill>
                <a:highlight>
                  <a:srgbClr val="23262E"/>
                </a:highlight>
                <a:latin typeface="Consolas"/>
                <a:ea typeface="Consolas"/>
                <a:cs typeface="Consolas"/>
                <a:sym typeface="Consolas"/>
              </a:rPr>
              <a:t>self</a:t>
            </a:r>
            <a:r>
              <a:rPr b="0" i="0" lang="es" sz="1100" u="none" cap="none" strike="noStrike">
                <a:solidFill>
                  <a:srgbClr val="D5CED9"/>
                </a:solidFill>
                <a:highlight>
                  <a:srgbClr val="23262E"/>
                </a:highlight>
                <a:latin typeface="Consolas"/>
                <a:ea typeface="Consolas"/>
                <a:cs typeface="Consolas"/>
                <a:sym typeface="Consolas"/>
              </a:rPr>
              <a:t>.__bebida</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endParaRPr b="0" i="0" sz="11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obj1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Bebidas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(obj1.favorita)</a:t>
            </a:r>
            <a:endParaRPr b="0" i="0" sz="1100" u="none" cap="none" strike="noStrike">
              <a:solidFill>
                <a:srgbClr val="5F6167"/>
              </a:solidFill>
              <a:highlight>
                <a:srgbClr val="23262E"/>
              </a:highlight>
              <a:latin typeface="Consolas"/>
              <a:ea typeface="Consolas"/>
              <a:cs typeface="Consolas"/>
              <a:sym typeface="Consolas"/>
            </a:endParaRPr>
          </a:p>
        </p:txBody>
      </p:sp>
      <p:sp>
        <p:nvSpPr>
          <p:cNvPr id="460" name="Google Shape;460;p30"/>
          <p:cNvSpPr/>
          <p:nvPr/>
        </p:nvSpPr>
        <p:spPr>
          <a:xfrm>
            <a:off x="5658825" y="2505796"/>
            <a:ext cx="1417500" cy="2008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highlight>
                  <a:srgbClr val="23262E"/>
                </a:highlight>
                <a:latin typeface="Consolas"/>
                <a:ea typeface="Consolas"/>
                <a:cs typeface="Consolas"/>
                <a:sym typeface="Consolas"/>
              </a:rPr>
              <a:t>La bebida preferida es: Naranja</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461" name="Google Shape;461;p30"/>
          <p:cNvSpPr/>
          <p:nvPr/>
        </p:nvSpPr>
        <p:spPr>
          <a:xfrm>
            <a:off x="5658888" y="2250850"/>
            <a:ext cx="1417500" cy="2535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y encapsulación</a:t>
            </a:r>
            <a:endParaRPr/>
          </a:p>
        </p:txBody>
      </p:sp>
      <p:sp>
        <p:nvSpPr>
          <p:cNvPr id="467" name="Google Shape;467;p31"/>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Para finalizar, vamos a analizar un nuevo ejemplo:</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chemeClr val="dk2"/>
                </a:solidFill>
                <a:latin typeface="Montserrat"/>
                <a:ea typeface="Montserrat"/>
                <a:cs typeface="Montserrat"/>
                <a:sym typeface="Montserrat"/>
              </a:rPr>
              <a:t>Enunciado 4:</a:t>
            </a:r>
            <a:r>
              <a:rPr b="0" i="0" lang="es" sz="1682" u="none" cap="none" strike="noStrike">
                <a:solidFill>
                  <a:schemeClr val="dk2"/>
                </a:solidFill>
                <a:latin typeface="Montserrat"/>
                <a:ea typeface="Montserrat"/>
                <a:cs typeface="Montserrat"/>
                <a:sym typeface="Montserrat"/>
              </a:rPr>
              <a:t>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Crear una clase Carrera, que tenga un método constructor y otro que permita agregar materias a la carrera. </a:t>
            </a:r>
            <a:endParaRPr b="0" i="1"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1" lang="es" sz="1682" u="none" cap="none" strike="noStrike">
                <a:solidFill>
                  <a:schemeClr val="dk2"/>
                </a:solidFill>
                <a:latin typeface="Montserrat"/>
                <a:ea typeface="Montserrat"/>
                <a:cs typeface="Montserrat"/>
                <a:sym typeface="Montserrat"/>
              </a:rPr>
              <a:t>Crear otra clase, Materia, que tenga los atributos privados nombre,  profesor y fecha_inicio. Proporcionar un método para acceder a la fecha_inicio.</a:t>
            </a:r>
            <a:endParaRPr b="0" i="1"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Del enunciado se deduce que necesitamos objetos de dos clases: </a:t>
            </a:r>
            <a:r>
              <a:rPr b="1" i="0" lang="es" sz="1682" u="none" cap="none" strike="noStrike">
                <a:solidFill>
                  <a:schemeClr val="dk2"/>
                </a:solidFill>
                <a:latin typeface="Montserrat"/>
                <a:ea typeface="Montserrat"/>
                <a:cs typeface="Montserrat"/>
                <a:sym typeface="Montserrat"/>
              </a:rPr>
              <a:t>Carrera</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Materia</a:t>
            </a:r>
            <a:r>
              <a:rPr b="0" i="0" lang="es" sz="1682" u="none" cap="none" strike="noStrike">
                <a:solidFill>
                  <a:schemeClr val="dk2"/>
                </a:solidFill>
                <a:latin typeface="Montserrat"/>
                <a:ea typeface="Montserrat"/>
                <a:cs typeface="Montserrat"/>
                <a:sym typeface="Montserrat"/>
              </a:rPr>
              <a:t>. Para cada una de estas entidades necesitamos crear una clase, con sus atributos y métodos.</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2"/>
          <p:cNvSpPr txBox="1"/>
          <p:nvPr/>
        </p:nvSpPr>
        <p:spPr>
          <a:xfrm>
            <a:off x="432150" y="1267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Identificadas las clases, que llamaremos </a:t>
            </a:r>
            <a:r>
              <a:rPr b="1" i="0" lang="es" sz="1682" u="none" cap="none" strike="noStrike">
                <a:solidFill>
                  <a:schemeClr val="dk2"/>
                </a:solidFill>
                <a:latin typeface="Montserrat"/>
                <a:ea typeface="Montserrat"/>
                <a:cs typeface="Montserrat"/>
                <a:sym typeface="Montserrat"/>
              </a:rPr>
              <a:t>Cliente</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Banco</a:t>
            </a:r>
            <a:r>
              <a:rPr b="0" i="0" lang="es" sz="1682" u="none" cap="none" strike="noStrike">
                <a:solidFill>
                  <a:schemeClr val="dk2"/>
                </a:solidFill>
                <a:latin typeface="Montserrat"/>
                <a:ea typeface="Montserrat"/>
                <a:cs typeface="Montserrat"/>
                <a:sym typeface="Montserrat"/>
              </a:rPr>
              <a:t> respectivamente, definimos qué </a:t>
            </a:r>
            <a:r>
              <a:rPr b="1" i="0" lang="es" sz="1682" u="none" cap="none" strike="noStrike">
                <a:solidFill>
                  <a:schemeClr val="dk2"/>
                </a:solidFill>
                <a:latin typeface="Montserrat"/>
                <a:ea typeface="Montserrat"/>
                <a:cs typeface="Montserrat"/>
                <a:sym typeface="Montserrat"/>
              </a:rPr>
              <a:t>atributos</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métodos</a:t>
            </a:r>
            <a:r>
              <a:rPr b="0" i="0" lang="es" sz="1682" u="none" cap="none" strike="noStrike">
                <a:solidFill>
                  <a:schemeClr val="dk2"/>
                </a:solidFill>
                <a:latin typeface="Montserrat"/>
                <a:ea typeface="Montserrat"/>
                <a:cs typeface="Montserrat"/>
                <a:sym typeface="Montserrat"/>
              </a:rPr>
              <a:t> necesitamos implementar en cada una.</a:t>
            </a:r>
            <a:endParaRPr b="0" i="0" sz="1682" u="none" cap="none" strike="noStrike">
              <a:solidFill>
                <a:srgbClr val="595959"/>
              </a:solidFill>
              <a:latin typeface="Montserrat"/>
              <a:ea typeface="Montserrat"/>
              <a:cs typeface="Montserrat"/>
              <a:sym typeface="Montserrat"/>
            </a:endParaRPr>
          </a:p>
        </p:txBody>
      </p:sp>
      <p:sp>
        <p:nvSpPr>
          <p:cNvPr id="473" name="Google Shape;473;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Colaboración y encapsulación</a:t>
            </a:r>
            <a:endParaRPr/>
          </a:p>
        </p:txBody>
      </p:sp>
      <p:cxnSp>
        <p:nvCxnSpPr>
          <p:cNvPr id="474" name="Google Shape;474;p32"/>
          <p:cNvCxnSpPr>
            <a:stCxn id="475" idx="0"/>
            <a:endCxn id="476" idx="1"/>
          </p:cNvCxnSpPr>
          <p:nvPr/>
        </p:nvCxnSpPr>
        <p:spPr>
          <a:xfrm flipH="1" rot="10800000">
            <a:off x="1053138" y="2958975"/>
            <a:ext cx="406500" cy="300000"/>
          </a:xfrm>
          <a:prstGeom prst="straightConnector1">
            <a:avLst/>
          </a:prstGeom>
          <a:noFill/>
          <a:ln cap="flat" cmpd="sng" w="28575">
            <a:solidFill>
              <a:schemeClr val="dk2"/>
            </a:solidFill>
            <a:prstDash val="solid"/>
            <a:round/>
            <a:headEnd len="sm" w="sm" type="none"/>
            <a:tailEnd len="med" w="med" type="triangle"/>
          </a:ln>
        </p:spPr>
      </p:cxnSp>
      <p:sp>
        <p:nvSpPr>
          <p:cNvPr id="475" name="Google Shape;475;p32"/>
          <p:cNvSpPr/>
          <p:nvPr/>
        </p:nvSpPr>
        <p:spPr>
          <a:xfrm>
            <a:off x="646488" y="3258975"/>
            <a:ext cx="8133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Carrera</a:t>
            </a:r>
            <a:endParaRPr b="1" i="0" sz="1100" u="none" cap="none" strike="noStrike">
              <a:solidFill>
                <a:schemeClr val="dk2"/>
              </a:solidFill>
              <a:latin typeface="Montserrat"/>
              <a:ea typeface="Montserrat"/>
              <a:cs typeface="Montserrat"/>
              <a:sym typeface="Montserrat"/>
            </a:endParaRPr>
          </a:p>
        </p:txBody>
      </p:sp>
      <p:sp>
        <p:nvSpPr>
          <p:cNvPr id="477" name="Google Shape;477;p32"/>
          <p:cNvSpPr/>
          <p:nvPr/>
        </p:nvSpPr>
        <p:spPr>
          <a:xfrm>
            <a:off x="2766288" y="2708117"/>
            <a:ext cx="1430700" cy="7605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materias</a:t>
            </a:r>
            <a:endParaRPr b="0" i="0" sz="11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(es un conjunto de tuplas)</a:t>
            </a:r>
            <a:endParaRPr b="0" i="0" sz="1100" u="none" cap="none" strike="noStrike">
              <a:solidFill>
                <a:schemeClr val="dk2"/>
              </a:solidFill>
              <a:latin typeface="Montserrat"/>
              <a:ea typeface="Montserrat"/>
              <a:cs typeface="Montserrat"/>
              <a:sym typeface="Montserrat"/>
            </a:endParaRPr>
          </a:p>
        </p:txBody>
      </p:sp>
      <p:sp>
        <p:nvSpPr>
          <p:cNvPr id="478" name="Google Shape;478;p32"/>
          <p:cNvSpPr/>
          <p:nvPr/>
        </p:nvSpPr>
        <p:spPr>
          <a:xfrm>
            <a:off x="2766288" y="2279300"/>
            <a:ext cx="14307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nombre</a:t>
            </a:r>
            <a:endParaRPr b="0" i="0" sz="1100" u="none" cap="none" strike="noStrike">
              <a:solidFill>
                <a:schemeClr val="dk2"/>
              </a:solidFill>
              <a:latin typeface="Montserrat"/>
              <a:ea typeface="Montserrat"/>
              <a:cs typeface="Montserrat"/>
              <a:sym typeface="Montserrat"/>
            </a:endParaRPr>
          </a:p>
        </p:txBody>
      </p:sp>
      <p:sp>
        <p:nvSpPr>
          <p:cNvPr id="479" name="Google Shape;479;p32"/>
          <p:cNvSpPr/>
          <p:nvPr/>
        </p:nvSpPr>
        <p:spPr>
          <a:xfrm>
            <a:off x="2766288" y="3537450"/>
            <a:ext cx="14307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480" name="Google Shape;480;p32"/>
          <p:cNvSpPr/>
          <p:nvPr/>
        </p:nvSpPr>
        <p:spPr>
          <a:xfrm>
            <a:off x="2766288" y="3940100"/>
            <a:ext cx="14307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agregar_materia</a:t>
            </a:r>
            <a:endParaRPr b="0" i="0" sz="1100" u="none" cap="none" strike="noStrike">
              <a:solidFill>
                <a:schemeClr val="dk2"/>
              </a:solidFill>
              <a:latin typeface="Montserrat"/>
              <a:ea typeface="Montserrat"/>
              <a:cs typeface="Montserrat"/>
              <a:sym typeface="Montserrat"/>
            </a:endParaRPr>
          </a:p>
        </p:txBody>
      </p:sp>
      <p:sp>
        <p:nvSpPr>
          <p:cNvPr id="476" name="Google Shape;476;p32"/>
          <p:cNvSpPr/>
          <p:nvPr/>
        </p:nvSpPr>
        <p:spPr>
          <a:xfrm>
            <a:off x="1459788" y="2779050"/>
            <a:ext cx="969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481" name="Google Shape;481;p32"/>
          <p:cNvSpPr/>
          <p:nvPr/>
        </p:nvSpPr>
        <p:spPr>
          <a:xfrm>
            <a:off x="1459788" y="3738775"/>
            <a:ext cx="9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482" name="Google Shape;482;p32"/>
          <p:cNvCxnSpPr>
            <a:stCxn id="475" idx="2"/>
            <a:endCxn id="481" idx="1"/>
          </p:cNvCxnSpPr>
          <p:nvPr/>
        </p:nvCxnSpPr>
        <p:spPr>
          <a:xfrm>
            <a:off x="1053138" y="3618975"/>
            <a:ext cx="406500" cy="299700"/>
          </a:xfrm>
          <a:prstGeom prst="straightConnector1">
            <a:avLst/>
          </a:prstGeom>
          <a:noFill/>
          <a:ln cap="flat" cmpd="sng" w="28575">
            <a:solidFill>
              <a:schemeClr val="dk2"/>
            </a:solidFill>
            <a:prstDash val="solid"/>
            <a:round/>
            <a:headEnd len="sm" w="sm" type="none"/>
            <a:tailEnd len="med" w="med" type="triangle"/>
          </a:ln>
        </p:spPr>
      </p:cxnSp>
      <p:cxnSp>
        <p:nvCxnSpPr>
          <p:cNvPr id="483" name="Google Shape;483;p32"/>
          <p:cNvCxnSpPr>
            <a:stCxn id="476" idx="3"/>
          </p:cNvCxnSpPr>
          <p:nvPr/>
        </p:nvCxnSpPr>
        <p:spPr>
          <a:xfrm flipH="1" rot="10800000">
            <a:off x="2429088" y="2482350"/>
            <a:ext cx="337200" cy="476700"/>
          </a:xfrm>
          <a:prstGeom prst="straightConnector1">
            <a:avLst/>
          </a:prstGeom>
          <a:noFill/>
          <a:ln cap="flat" cmpd="sng" w="28575">
            <a:solidFill>
              <a:schemeClr val="dk2"/>
            </a:solidFill>
            <a:prstDash val="solid"/>
            <a:round/>
            <a:headEnd len="sm" w="sm" type="none"/>
            <a:tailEnd len="med" w="med" type="triangle"/>
          </a:ln>
        </p:spPr>
      </p:cxnSp>
      <p:cxnSp>
        <p:nvCxnSpPr>
          <p:cNvPr id="484" name="Google Shape;484;p32"/>
          <p:cNvCxnSpPr>
            <a:stCxn id="476" idx="3"/>
            <a:endCxn id="477" idx="1"/>
          </p:cNvCxnSpPr>
          <p:nvPr/>
        </p:nvCxnSpPr>
        <p:spPr>
          <a:xfrm>
            <a:off x="2429088" y="2959050"/>
            <a:ext cx="337200" cy="129300"/>
          </a:xfrm>
          <a:prstGeom prst="straightConnector1">
            <a:avLst/>
          </a:prstGeom>
          <a:noFill/>
          <a:ln cap="flat" cmpd="sng" w="28575">
            <a:solidFill>
              <a:schemeClr val="dk2"/>
            </a:solidFill>
            <a:prstDash val="solid"/>
            <a:round/>
            <a:headEnd len="sm" w="sm" type="none"/>
            <a:tailEnd len="med" w="med" type="triangle"/>
          </a:ln>
        </p:spPr>
      </p:cxnSp>
      <p:cxnSp>
        <p:nvCxnSpPr>
          <p:cNvPr id="485" name="Google Shape;485;p32"/>
          <p:cNvCxnSpPr>
            <a:stCxn id="481" idx="3"/>
            <a:endCxn id="479" idx="1"/>
          </p:cNvCxnSpPr>
          <p:nvPr/>
        </p:nvCxnSpPr>
        <p:spPr>
          <a:xfrm flipH="1" rot="10800000">
            <a:off x="2429088" y="371747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486" name="Google Shape;486;p32"/>
          <p:cNvCxnSpPr>
            <a:stCxn id="481" idx="3"/>
            <a:endCxn id="480" idx="1"/>
          </p:cNvCxnSpPr>
          <p:nvPr/>
        </p:nvCxnSpPr>
        <p:spPr>
          <a:xfrm>
            <a:off x="2429088" y="3918775"/>
            <a:ext cx="337200" cy="201300"/>
          </a:xfrm>
          <a:prstGeom prst="straightConnector1">
            <a:avLst/>
          </a:prstGeom>
          <a:noFill/>
          <a:ln cap="flat" cmpd="sng" w="28575">
            <a:solidFill>
              <a:schemeClr val="dk2"/>
            </a:solidFill>
            <a:prstDash val="solid"/>
            <a:round/>
            <a:headEnd len="sm" w="sm" type="none"/>
            <a:tailEnd len="med" w="med" type="triangle"/>
          </a:ln>
        </p:spPr>
      </p:cxnSp>
      <p:cxnSp>
        <p:nvCxnSpPr>
          <p:cNvPr id="487" name="Google Shape;487;p32"/>
          <p:cNvCxnSpPr>
            <a:stCxn id="488" idx="0"/>
            <a:endCxn id="489" idx="1"/>
          </p:cNvCxnSpPr>
          <p:nvPr/>
        </p:nvCxnSpPr>
        <p:spPr>
          <a:xfrm flipH="1" rot="10800000">
            <a:off x="5166413" y="2657588"/>
            <a:ext cx="419700" cy="452100"/>
          </a:xfrm>
          <a:prstGeom prst="straightConnector1">
            <a:avLst/>
          </a:prstGeom>
          <a:noFill/>
          <a:ln cap="flat" cmpd="sng" w="28575">
            <a:solidFill>
              <a:schemeClr val="dk2"/>
            </a:solidFill>
            <a:prstDash val="solid"/>
            <a:round/>
            <a:headEnd len="sm" w="sm" type="none"/>
            <a:tailEnd len="med" w="med" type="triangle"/>
          </a:ln>
        </p:spPr>
      </p:cxnSp>
      <p:sp>
        <p:nvSpPr>
          <p:cNvPr id="488" name="Google Shape;488;p32"/>
          <p:cNvSpPr/>
          <p:nvPr/>
        </p:nvSpPr>
        <p:spPr>
          <a:xfrm>
            <a:off x="4703663" y="3109688"/>
            <a:ext cx="925500" cy="360000"/>
          </a:xfrm>
          <a:prstGeom prst="flowChartAlternateProcess">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Materia</a:t>
            </a:r>
            <a:endParaRPr b="1" i="0" sz="1100" u="none" cap="none" strike="noStrike">
              <a:solidFill>
                <a:schemeClr val="dk2"/>
              </a:solidFill>
              <a:latin typeface="Montserrat"/>
              <a:ea typeface="Montserrat"/>
              <a:cs typeface="Montserrat"/>
              <a:sym typeface="Montserrat"/>
            </a:endParaRPr>
          </a:p>
        </p:txBody>
      </p:sp>
      <p:sp>
        <p:nvSpPr>
          <p:cNvPr id="490" name="Google Shape;490;p32"/>
          <p:cNvSpPr/>
          <p:nvPr/>
        </p:nvSpPr>
        <p:spPr>
          <a:xfrm>
            <a:off x="7066713" y="3326375"/>
            <a:ext cx="14307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__init__</a:t>
            </a:r>
            <a:endParaRPr b="0" i="0" sz="1100" u="none" cap="none" strike="noStrike">
              <a:solidFill>
                <a:schemeClr val="dk2"/>
              </a:solidFill>
              <a:latin typeface="Montserrat"/>
              <a:ea typeface="Montserrat"/>
              <a:cs typeface="Montserrat"/>
              <a:sym typeface="Montserrat"/>
            </a:endParaRPr>
          </a:p>
        </p:txBody>
      </p:sp>
      <p:sp>
        <p:nvSpPr>
          <p:cNvPr id="491" name="Google Shape;491;p32"/>
          <p:cNvSpPr/>
          <p:nvPr/>
        </p:nvSpPr>
        <p:spPr>
          <a:xfrm>
            <a:off x="7066713" y="3750271"/>
            <a:ext cx="14307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fecha_inicio</a:t>
            </a:r>
            <a:endParaRPr b="0" i="0" sz="11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b="0" i="0" lang="es" sz="1100" u="none" cap="none" strike="noStrike">
                <a:solidFill>
                  <a:schemeClr val="dk2"/>
                </a:solidFill>
                <a:latin typeface="Montserrat"/>
                <a:ea typeface="Montserrat"/>
                <a:cs typeface="Montserrat"/>
                <a:sym typeface="Montserrat"/>
              </a:rPr>
              <a:t>(getter)</a:t>
            </a:r>
            <a:endParaRPr b="0" i="0" sz="1100" u="none" cap="none" strike="noStrike">
              <a:solidFill>
                <a:schemeClr val="dk2"/>
              </a:solidFill>
              <a:latin typeface="Montserrat"/>
              <a:ea typeface="Montserrat"/>
              <a:cs typeface="Montserrat"/>
              <a:sym typeface="Montserrat"/>
            </a:endParaRPr>
          </a:p>
        </p:txBody>
      </p:sp>
      <p:sp>
        <p:nvSpPr>
          <p:cNvPr id="492" name="Google Shape;492;p32"/>
          <p:cNvSpPr/>
          <p:nvPr/>
        </p:nvSpPr>
        <p:spPr>
          <a:xfrm>
            <a:off x="7066713" y="4174179"/>
            <a:ext cx="14307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chemeClr val="dk1"/>
              </a:buClr>
              <a:buSzPts val="1100"/>
              <a:buFont typeface="Arial"/>
              <a:buNone/>
            </a:pPr>
            <a:r>
              <a:rPr b="0" i="0" lang="es" sz="1100" u="none" cap="none" strike="noStrike">
                <a:solidFill>
                  <a:schemeClr val="dk2"/>
                </a:solidFill>
                <a:latin typeface="Montserrat"/>
                <a:ea typeface="Montserrat"/>
                <a:cs typeface="Montserrat"/>
                <a:sym typeface="Montserrat"/>
              </a:rPr>
              <a:t>fecha_inicio</a:t>
            </a:r>
            <a:endParaRPr b="0" i="0" sz="11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ts val="1100"/>
              <a:buFont typeface="Arial"/>
              <a:buNone/>
            </a:pPr>
            <a:r>
              <a:rPr b="0" i="0" lang="es" sz="1100" u="none" cap="none" strike="noStrike">
                <a:solidFill>
                  <a:schemeClr val="dk2"/>
                </a:solidFill>
                <a:latin typeface="Montserrat"/>
                <a:ea typeface="Montserrat"/>
                <a:cs typeface="Montserrat"/>
                <a:sym typeface="Montserrat"/>
              </a:rPr>
              <a:t>(setter)</a:t>
            </a:r>
            <a:endParaRPr b="0" i="0" sz="1100" u="none" cap="none" strike="noStrike">
              <a:solidFill>
                <a:schemeClr val="dk2"/>
              </a:solidFill>
              <a:latin typeface="Montserrat"/>
              <a:ea typeface="Montserrat"/>
              <a:cs typeface="Montserrat"/>
              <a:sym typeface="Montserrat"/>
            </a:endParaRPr>
          </a:p>
        </p:txBody>
      </p:sp>
      <p:sp>
        <p:nvSpPr>
          <p:cNvPr id="489" name="Google Shape;489;p32"/>
          <p:cNvSpPr/>
          <p:nvPr/>
        </p:nvSpPr>
        <p:spPr>
          <a:xfrm>
            <a:off x="5586238" y="2477675"/>
            <a:ext cx="9693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Atributos</a:t>
            </a:r>
            <a:endParaRPr b="1" i="0" sz="1100" u="none" cap="none" strike="noStrike">
              <a:solidFill>
                <a:schemeClr val="dk2"/>
              </a:solidFill>
              <a:latin typeface="Montserrat"/>
              <a:ea typeface="Montserrat"/>
              <a:cs typeface="Montserrat"/>
              <a:sym typeface="Montserrat"/>
            </a:endParaRPr>
          </a:p>
        </p:txBody>
      </p:sp>
      <p:sp>
        <p:nvSpPr>
          <p:cNvPr id="493" name="Google Shape;493;p32"/>
          <p:cNvSpPr/>
          <p:nvPr/>
        </p:nvSpPr>
        <p:spPr>
          <a:xfrm>
            <a:off x="5586238" y="3741700"/>
            <a:ext cx="969300" cy="360000"/>
          </a:xfrm>
          <a:prstGeom prst="flowChartAlternateProcess">
            <a:avLst/>
          </a:prstGeom>
          <a:solidFill>
            <a:srgbClr val="96E07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100"/>
              <a:buFont typeface="Arial"/>
              <a:buNone/>
            </a:pPr>
            <a:r>
              <a:rPr b="1" i="0" lang="es" sz="1100" u="none" cap="none" strike="noStrike">
                <a:solidFill>
                  <a:schemeClr val="dk2"/>
                </a:solidFill>
                <a:latin typeface="Montserrat"/>
                <a:ea typeface="Montserrat"/>
                <a:cs typeface="Montserrat"/>
                <a:sym typeface="Montserrat"/>
              </a:rPr>
              <a:t>Métodos</a:t>
            </a:r>
            <a:endParaRPr b="1" i="0" sz="1100" u="none" cap="none" strike="noStrike">
              <a:solidFill>
                <a:schemeClr val="dk2"/>
              </a:solidFill>
              <a:latin typeface="Montserrat"/>
              <a:ea typeface="Montserrat"/>
              <a:cs typeface="Montserrat"/>
              <a:sym typeface="Montserrat"/>
            </a:endParaRPr>
          </a:p>
        </p:txBody>
      </p:sp>
      <p:cxnSp>
        <p:nvCxnSpPr>
          <p:cNvPr id="494" name="Google Shape;494;p32"/>
          <p:cNvCxnSpPr>
            <a:stCxn id="488" idx="2"/>
            <a:endCxn id="493" idx="1"/>
          </p:cNvCxnSpPr>
          <p:nvPr/>
        </p:nvCxnSpPr>
        <p:spPr>
          <a:xfrm>
            <a:off x="5166413" y="3469688"/>
            <a:ext cx="419700" cy="452100"/>
          </a:xfrm>
          <a:prstGeom prst="straightConnector1">
            <a:avLst/>
          </a:prstGeom>
          <a:noFill/>
          <a:ln cap="flat" cmpd="sng" w="28575">
            <a:solidFill>
              <a:schemeClr val="dk2"/>
            </a:solidFill>
            <a:prstDash val="solid"/>
            <a:round/>
            <a:headEnd len="sm" w="sm" type="none"/>
            <a:tailEnd len="med" w="med" type="triangle"/>
          </a:ln>
        </p:spPr>
      </p:cxnSp>
      <p:cxnSp>
        <p:nvCxnSpPr>
          <p:cNvPr id="495" name="Google Shape;495;p32"/>
          <p:cNvCxnSpPr>
            <a:stCxn id="489" idx="3"/>
            <a:endCxn id="496" idx="1"/>
          </p:cNvCxnSpPr>
          <p:nvPr/>
        </p:nvCxnSpPr>
        <p:spPr>
          <a:xfrm flipH="1" rot="10800000">
            <a:off x="6555538" y="2248175"/>
            <a:ext cx="511200" cy="409500"/>
          </a:xfrm>
          <a:prstGeom prst="straightConnector1">
            <a:avLst/>
          </a:prstGeom>
          <a:noFill/>
          <a:ln cap="flat" cmpd="sng" w="28575">
            <a:solidFill>
              <a:schemeClr val="dk2"/>
            </a:solidFill>
            <a:prstDash val="solid"/>
            <a:round/>
            <a:headEnd len="sm" w="sm" type="none"/>
            <a:tailEnd len="med" w="med" type="triangle"/>
          </a:ln>
        </p:spPr>
      </p:cxnSp>
      <p:cxnSp>
        <p:nvCxnSpPr>
          <p:cNvPr id="497" name="Google Shape;497;p32"/>
          <p:cNvCxnSpPr>
            <a:stCxn id="493" idx="3"/>
            <a:endCxn id="490" idx="1"/>
          </p:cNvCxnSpPr>
          <p:nvPr/>
        </p:nvCxnSpPr>
        <p:spPr>
          <a:xfrm flipH="1" rot="10800000">
            <a:off x="6555538" y="3506500"/>
            <a:ext cx="511200" cy="415200"/>
          </a:xfrm>
          <a:prstGeom prst="straightConnector1">
            <a:avLst/>
          </a:prstGeom>
          <a:noFill/>
          <a:ln cap="flat" cmpd="sng" w="28575">
            <a:solidFill>
              <a:schemeClr val="dk2"/>
            </a:solidFill>
            <a:prstDash val="solid"/>
            <a:round/>
            <a:headEnd len="sm" w="sm" type="none"/>
            <a:tailEnd len="med" w="med" type="triangle"/>
          </a:ln>
        </p:spPr>
      </p:cxnSp>
      <p:cxnSp>
        <p:nvCxnSpPr>
          <p:cNvPr id="498" name="Google Shape;498;p32"/>
          <p:cNvCxnSpPr>
            <a:stCxn id="493" idx="3"/>
            <a:endCxn id="491" idx="1"/>
          </p:cNvCxnSpPr>
          <p:nvPr/>
        </p:nvCxnSpPr>
        <p:spPr>
          <a:xfrm>
            <a:off x="6555538" y="3921700"/>
            <a:ext cx="511200" cy="8700"/>
          </a:xfrm>
          <a:prstGeom prst="straightConnector1">
            <a:avLst/>
          </a:prstGeom>
          <a:noFill/>
          <a:ln cap="flat" cmpd="sng" w="28575">
            <a:solidFill>
              <a:schemeClr val="dk2"/>
            </a:solidFill>
            <a:prstDash val="solid"/>
            <a:round/>
            <a:headEnd len="sm" w="sm" type="none"/>
            <a:tailEnd len="med" w="med" type="triangle"/>
          </a:ln>
        </p:spPr>
      </p:cxnSp>
      <p:cxnSp>
        <p:nvCxnSpPr>
          <p:cNvPr id="499" name="Google Shape;499;p32"/>
          <p:cNvCxnSpPr>
            <a:stCxn id="493" idx="3"/>
            <a:endCxn id="492" idx="1"/>
          </p:cNvCxnSpPr>
          <p:nvPr/>
        </p:nvCxnSpPr>
        <p:spPr>
          <a:xfrm>
            <a:off x="6555538" y="3921700"/>
            <a:ext cx="511200" cy="432600"/>
          </a:xfrm>
          <a:prstGeom prst="straightConnector1">
            <a:avLst/>
          </a:prstGeom>
          <a:noFill/>
          <a:ln cap="flat" cmpd="sng" w="28575">
            <a:solidFill>
              <a:schemeClr val="dk2"/>
            </a:solidFill>
            <a:prstDash val="solid"/>
            <a:round/>
            <a:headEnd len="sm" w="sm" type="none"/>
            <a:tailEnd len="med" w="med" type="triangle"/>
          </a:ln>
        </p:spPr>
      </p:cxnSp>
      <p:sp>
        <p:nvSpPr>
          <p:cNvPr id="496" name="Google Shape;496;p32"/>
          <p:cNvSpPr/>
          <p:nvPr/>
        </p:nvSpPr>
        <p:spPr>
          <a:xfrm>
            <a:off x="7066813" y="2068250"/>
            <a:ext cx="14307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nombre</a:t>
            </a:r>
            <a:endParaRPr b="0" i="0" sz="1100" u="none" cap="none" strike="noStrike">
              <a:solidFill>
                <a:schemeClr val="dk2"/>
              </a:solidFill>
              <a:latin typeface="Montserrat"/>
              <a:ea typeface="Montserrat"/>
              <a:cs typeface="Montserrat"/>
              <a:sym typeface="Montserrat"/>
            </a:endParaRPr>
          </a:p>
        </p:txBody>
      </p:sp>
      <p:sp>
        <p:nvSpPr>
          <p:cNvPr id="500" name="Google Shape;500;p32"/>
          <p:cNvSpPr/>
          <p:nvPr/>
        </p:nvSpPr>
        <p:spPr>
          <a:xfrm>
            <a:off x="7066813" y="2466050"/>
            <a:ext cx="14307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profesor</a:t>
            </a:r>
            <a:endParaRPr b="0" i="0" sz="1100" u="none" cap="none" strike="noStrike">
              <a:solidFill>
                <a:schemeClr val="dk2"/>
              </a:solidFill>
              <a:latin typeface="Montserrat"/>
              <a:ea typeface="Montserrat"/>
              <a:cs typeface="Montserrat"/>
              <a:sym typeface="Montserrat"/>
            </a:endParaRPr>
          </a:p>
        </p:txBody>
      </p:sp>
      <p:sp>
        <p:nvSpPr>
          <p:cNvPr id="501" name="Google Shape;501;p32"/>
          <p:cNvSpPr/>
          <p:nvPr/>
        </p:nvSpPr>
        <p:spPr>
          <a:xfrm>
            <a:off x="7066813" y="2857213"/>
            <a:ext cx="1430700" cy="360000"/>
          </a:xfrm>
          <a:prstGeom prst="flowChartAlternateProcess">
            <a:avLst/>
          </a:prstGeom>
          <a:solidFill>
            <a:srgbClr val="F39C12"/>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0" i="0" lang="es" sz="1100" u="none" cap="none" strike="noStrike">
                <a:solidFill>
                  <a:schemeClr val="dk2"/>
                </a:solidFill>
                <a:latin typeface="Montserrat"/>
                <a:ea typeface="Montserrat"/>
                <a:cs typeface="Montserrat"/>
                <a:sym typeface="Montserrat"/>
              </a:rPr>
              <a:t>fecha_inicio</a:t>
            </a:r>
            <a:endParaRPr b="0" i="0" sz="1100" u="none" cap="none" strike="noStrike">
              <a:solidFill>
                <a:schemeClr val="dk2"/>
              </a:solidFill>
              <a:latin typeface="Montserrat"/>
              <a:ea typeface="Montserrat"/>
              <a:cs typeface="Montserrat"/>
              <a:sym typeface="Montserrat"/>
            </a:endParaRPr>
          </a:p>
        </p:txBody>
      </p:sp>
      <p:cxnSp>
        <p:nvCxnSpPr>
          <p:cNvPr id="502" name="Google Shape;502;p32"/>
          <p:cNvCxnSpPr>
            <a:stCxn id="489" idx="3"/>
            <a:endCxn id="500" idx="1"/>
          </p:cNvCxnSpPr>
          <p:nvPr/>
        </p:nvCxnSpPr>
        <p:spPr>
          <a:xfrm flipH="1" rot="10800000">
            <a:off x="6555538" y="2645975"/>
            <a:ext cx="511200" cy="11700"/>
          </a:xfrm>
          <a:prstGeom prst="straightConnector1">
            <a:avLst/>
          </a:prstGeom>
          <a:noFill/>
          <a:ln cap="flat" cmpd="sng" w="28575">
            <a:solidFill>
              <a:schemeClr val="dk2"/>
            </a:solidFill>
            <a:prstDash val="solid"/>
            <a:round/>
            <a:headEnd len="sm" w="sm" type="none"/>
            <a:tailEnd len="med" w="med" type="triangle"/>
          </a:ln>
        </p:spPr>
      </p:cxnSp>
      <p:cxnSp>
        <p:nvCxnSpPr>
          <p:cNvPr id="503" name="Google Shape;503;p32"/>
          <p:cNvCxnSpPr>
            <a:stCxn id="489" idx="3"/>
            <a:endCxn id="501" idx="1"/>
          </p:cNvCxnSpPr>
          <p:nvPr/>
        </p:nvCxnSpPr>
        <p:spPr>
          <a:xfrm>
            <a:off x="6555538" y="2657675"/>
            <a:ext cx="511200" cy="3795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Colaboración y encapsulación</a:t>
            </a:r>
            <a:endParaRPr/>
          </a:p>
        </p:txBody>
      </p:sp>
      <p:sp>
        <p:nvSpPr>
          <p:cNvPr id="509" name="Google Shape;509;p33"/>
          <p:cNvSpPr/>
          <p:nvPr/>
        </p:nvSpPr>
        <p:spPr>
          <a:xfrm>
            <a:off x="432025" y="1533775"/>
            <a:ext cx="4046100" cy="2994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C74DE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Materia</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__init__</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nombre</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profesor</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fecha</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.nombre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nombre</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.profesor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profesor</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#Fecha no puede ser anterior a 2006</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.fecha_inicio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fecha</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property</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fecha_inicio</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#print("Estoy obteniendo la fecha de inicio")</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return</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._fecha_inicio</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@fecha_inicio.setter</a:t>
            </a:r>
            <a:endParaRPr b="0" i="0" sz="1000" u="none" cap="none" strike="noStrike">
              <a:solidFill>
                <a:srgbClr val="FFE66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fecha_inicio</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fecha</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print("Estoy seteando la fecha de inicio")</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if</a:t>
            </a:r>
            <a:r>
              <a:rPr b="0" i="0" lang="es" sz="1000" u="none" cap="none" strike="noStrike">
                <a:solidFill>
                  <a:srgbClr val="D5CED9"/>
                </a:solidFill>
                <a:highlight>
                  <a:srgbClr val="23262E"/>
                </a:highlight>
                <a:latin typeface="Consolas"/>
                <a:ea typeface="Consolas"/>
                <a:cs typeface="Consolas"/>
                <a:sym typeface="Consolas"/>
              </a:rPr>
              <a:t> fecha </a:t>
            </a:r>
            <a:r>
              <a:rPr b="0" i="0" lang="es" sz="1000" u="none" cap="none" strike="noStrike">
                <a:solidFill>
                  <a:srgbClr val="EE5D43"/>
                </a:solidFill>
                <a:highlight>
                  <a:srgbClr val="23262E"/>
                </a:highlight>
                <a:latin typeface="Consolas"/>
                <a:ea typeface="Consolas"/>
                <a:cs typeface="Consolas"/>
                <a:sym typeface="Consolas"/>
              </a:rPr>
              <a:t>&lt;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2006</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._fecha_inicio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39C12"/>
                </a:solidFill>
                <a:highlight>
                  <a:srgbClr val="23262E"/>
                </a:highlight>
                <a:latin typeface="Consolas"/>
                <a:ea typeface="Consolas"/>
                <a:cs typeface="Consolas"/>
                <a:sym typeface="Consolas"/>
              </a:rPr>
              <a:t>2006</a:t>
            </a:r>
            <a:endParaRPr b="0" i="0" sz="1000" u="none" cap="none" strike="noStrike">
              <a:solidFill>
                <a:srgbClr val="F39C1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else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._fecha_inicio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fecha</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510" name="Google Shape;510;p33"/>
          <p:cNvSpPr/>
          <p:nvPr/>
        </p:nvSpPr>
        <p:spPr>
          <a:xfrm>
            <a:off x="432150" y="1304875"/>
            <a:ext cx="4046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Materia</a:t>
            </a:r>
            <a:endParaRPr b="0" i="0" sz="1400" u="none" cap="none" strike="noStrike">
              <a:solidFill>
                <a:schemeClr val="dk2"/>
              </a:solidFill>
              <a:latin typeface="Montserrat"/>
              <a:ea typeface="Montserrat"/>
              <a:cs typeface="Montserrat"/>
              <a:sym typeface="Montserrat"/>
            </a:endParaRPr>
          </a:p>
        </p:txBody>
      </p:sp>
      <p:sp>
        <p:nvSpPr>
          <p:cNvPr id="511" name="Google Shape;511;p33"/>
          <p:cNvSpPr/>
          <p:nvPr/>
        </p:nvSpPr>
        <p:spPr>
          <a:xfrm>
            <a:off x="4666050" y="1533775"/>
            <a:ext cx="4046100" cy="2994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C74DED"/>
                </a:solidFill>
                <a:highlight>
                  <a:srgbClr val="23262E"/>
                </a:highlight>
                <a:latin typeface="Consolas"/>
                <a:ea typeface="Consolas"/>
                <a:cs typeface="Consolas"/>
                <a:sym typeface="Consolas"/>
              </a:rPr>
              <a:t>class</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Carrera</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EE5D43"/>
                </a:solidFill>
                <a:highlight>
                  <a:srgbClr val="23262E"/>
                </a:highlight>
                <a:latin typeface="Consolas"/>
                <a:ea typeface="Consolas"/>
                <a:cs typeface="Consolas"/>
                <a:sym typeface="Consolas"/>
              </a:rPr>
              <a:t>__init__</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nombre</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.nombre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nombre</a:t>
            </a:r>
            <a:endParaRPr b="0" i="0" sz="1000" u="none" cap="none" strike="noStrike">
              <a:solidFill>
                <a:srgbClr val="D5CED9"/>
              </a:solidFill>
              <a:highlight>
                <a:srgbClr val="23262E"/>
              </a:highlight>
              <a:latin typeface="Consolas"/>
              <a:ea typeface="Consolas"/>
              <a:cs typeface="Consolas"/>
              <a:sym typeface="Consolas"/>
            </a:endParaRPr>
          </a:p>
          <a:p>
            <a:pPr indent="45720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45720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5F6167"/>
                </a:solidFill>
                <a:highlight>
                  <a:srgbClr val="23262E"/>
                </a:highlight>
                <a:latin typeface="Consolas"/>
                <a:ea typeface="Consolas"/>
                <a:cs typeface="Consolas"/>
                <a:sym typeface="Consolas"/>
              </a:rPr>
              <a:t>#Contendrá tuplas (código, materia)</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.materias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5F6167"/>
                </a:solidFill>
                <a:highlight>
                  <a:srgbClr val="23262E"/>
                </a:highlight>
                <a:latin typeface="Consolas"/>
                <a:ea typeface="Consolas"/>
                <a:cs typeface="Consolas"/>
                <a:sym typeface="Consolas"/>
              </a:rPr>
              <a:t># Este método agrega materias a la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5F6167"/>
                </a:solidFill>
                <a:highlight>
                  <a:srgbClr val="23262E"/>
                </a:highlight>
                <a:latin typeface="Consolas"/>
                <a:ea typeface="Consolas"/>
                <a:cs typeface="Consolas"/>
                <a:sym typeface="Consolas"/>
              </a:rPr>
              <a:t>   # colección de materias</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C74DED"/>
                </a:solidFill>
                <a:highlight>
                  <a:srgbClr val="23262E"/>
                </a:highlight>
                <a:latin typeface="Consolas"/>
                <a:ea typeface="Consolas"/>
                <a:cs typeface="Consolas"/>
                <a:sym typeface="Consolas"/>
              </a:rPr>
              <a:t>def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E66D"/>
                </a:solidFill>
                <a:highlight>
                  <a:srgbClr val="23262E"/>
                </a:highlight>
                <a:latin typeface="Consolas"/>
                <a:ea typeface="Consolas"/>
                <a:cs typeface="Consolas"/>
                <a:sym typeface="Consolas"/>
              </a:rPr>
              <a:t>agregar_materia</a:t>
            </a:r>
            <a:r>
              <a:rPr b="0" i="0" lang="es" sz="1000" u="none" cap="none" strike="noStrike">
                <a:solidFill>
                  <a:srgbClr val="D5CED9"/>
                </a:solidFill>
                <a:highlight>
                  <a:srgbClr val="23262E"/>
                </a:highlight>
                <a:latin typeface="Consolas"/>
                <a:ea typeface="Consolas"/>
                <a:cs typeface="Consolas"/>
                <a:sym typeface="Consolas"/>
              </a:rPr>
              <a:t>(</a:t>
            </a:r>
            <a:r>
              <a:rPr b="0" i="0" lang="es" sz="1000" u="none" cap="none" strike="noStrike">
                <a:solidFill>
                  <a:srgbClr val="00E8C6"/>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materia</a:t>
            </a: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00E8C6"/>
                </a:solidFill>
                <a:highlight>
                  <a:srgbClr val="23262E"/>
                </a:highlight>
                <a:latin typeface="Consolas"/>
                <a:ea typeface="Consolas"/>
                <a:cs typeface="Consolas"/>
                <a:sym typeface="Consolas"/>
              </a:rPr>
              <a:t>codigo</a:t>
            </a:r>
            <a:r>
              <a:rPr b="0" i="0" lang="es" sz="1000" u="none" cap="none" strike="noStrike">
                <a:solidFill>
                  <a:srgbClr val="D5CED9"/>
                </a:solidFill>
                <a:highlight>
                  <a:srgbClr val="23262E"/>
                </a:highlight>
                <a:latin typeface="Consolas"/>
                <a:ea typeface="Consolas"/>
                <a:cs typeface="Consolas"/>
                <a:sym typeface="Consolas"/>
              </a:rPr>
              <a:t>):</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000" u="none" cap="none" strike="noStrike">
                <a:solidFill>
                  <a:srgbClr val="D5CED9"/>
                </a:solidFill>
                <a:highlight>
                  <a:srgbClr val="23262E"/>
                </a:highlight>
                <a:latin typeface="Consolas"/>
                <a:ea typeface="Consolas"/>
                <a:cs typeface="Consolas"/>
                <a:sym typeface="Consolas"/>
              </a:rPr>
              <a:t>       </a:t>
            </a:r>
            <a:r>
              <a:rPr b="0" i="0" lang="es" sz="1000" u="none" cap="none" strike="noStrike">
                <a:solidFill>
                  <a:srgbClr val="FF00AA"/>
                </a:solidFill>
                <a:highlight>
                  <a:srgbClr val="23262E"/>
                </a:highlight>
                <a:latin typeface="Consolas"/>
                <a:ea typeface="Consolas"/>
                <a:cs typeface="Consolas"/>
                <a:sym typeface="Consolas"/>
              </a:rPr>
              <a:t>self</a:t>
            </a:r>
            <a:r>
              <a:rPr b="0" i="0" lang="es" sz="1000" u="none" cap="none" strike="noStrike">
                <a:solidFill>
                  <a:srgbClr val="D5CED9"/>
                </a:solidFill>
                <a:highlight>
                  <a:srgbClr val="23262E"/>
                </a:highlight>
                <a:latin typeface="Consolas"/>
                <a:ea typeface="Consolas"/>
                <a:cs typeface="Consolas"/>
                <a:sym typeface="Consolas"/>
              </a:rPr>
              <a:t>.materias[codigo] </a:t>
            </a:r>
            <a:r>
              <a:rPr b="0" i="0" lang="es" sz="1000" u="none" cap="none" strike="noStrike">
                <a:solidFill>
                  <a:srgbClr val="EE5D43"/>
                </a:solidFill>
                <a:highlight>
                  <a:srgbClr val="23262E"/>
                </a:highlight>
                <a:latin typeface="Consolas"/>
                <a:ea typeface="Consolas"/>
                <a:cs typeface="Consolas"/>
                <a:sym typeface="Consolas"/>
              </a:rPr>
              <a:t>=</a:t>
            </a:r>
            <a:r>
              <a:rPr b="0" i="0" lang="es" sz="1000" u="none" cap="none" strike="noStrike">
                <a:solidFill>
                  <a:srgbClr val="D5CED9"/>
                </a:solidFill>
                <a:highlight>
                  <a:srgbClr val="23262E"/>
                </a:highlight>
                <a:latin typeface="Consolas"/>
                <a:ea typeface="Consolas"/>
                <a:cs typeface="Consolas"/>
                <a:sym typeface="Consolas"/>
              </a:rPr>
              <a:t> materia</a:t>
            </a:r>
            <a:endParaRPr b="0" i="0" sz="10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35714"/>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512" name="Google Shape;512;p33"/>
          <p:cNvSpPr/>
          <p:nvPr/>
        </p:nvSpPr>
        <p:spPr>
          <a:xfrm>
            <a:off x="4666050" y="1304875"/>
            <a:ext cx="4046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Carrera</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Colaboración y encapsulación</a:t>
            </a:r>
            <a:endParaRPr/>
          </a:p>
        </p:txBody>
      </p:sp>
      <p:sp>
        <p:nvSpPr>
          <p:cNvPr id="518" name="Google Shape;518;p34"/>
          <p:cNvSpPr/>
          <p:nvPr/>
        </p:nvSpPr>
        <p:spPr>
          <a:xfrm>
            <a:off x="5300875" y="1533775"/>
            <a:ext cx="3417900" cy="3101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chemeClr val="lt2"/>
                </a:solidFill>
                <a:highlight>
                  <a:srgbClr val="23262E"/>
                </a:highlight>
                <a:latin typeface="Consolas"/>
                <a:ea typeface="Consolas"/>
                <a:cs typeface="Consolas"/>
                <a:sym typeface="Consolas"/>
              </a:rPr>
              <a:t>La fecha de inicio de Álgebra es 2006</a:t>
            </a:r>
            <a:endParaRPr b="0" i="0" sz="11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chemeClr val="lt2"/>
                </a:solidFill>
                <a:highlight>
                  <a:srgbClr val="23262E"/>
                </a:highlight>
                <a:latin typeface="Consolas"/>
                <a:ea typeface="Consolas"/>
                <a:cs typeface="Consolas"/>
                <a:sym typeface="Consolas"/>
              </a:rPr>
              <a:t>La fecha de inicio de Física es 2012</a:t>
            </a:r>
            <a:endParaRPr b="0" i="0" sz="11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chemeClr val="lt2"/>
                </a:solidFill>
                <a:highlight>
                  <a:srgbClr val="23262E"/>
                </a:highlight>
                <a:latin typeface="Consolas"/>
                <a:ea typeface="Consolas"/>
                <a:cs typeface="Consolas"/>
                <a:sym typeface="Consolas"/>
              </a:rPr>
              <a:t>La fecha de inicio de Programación es 2022</a:t>
            </a:r>
            <a:endParaRPr b="0" i="0" sz="11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
        <p:nvSpPr>
          <p:cNvPr id="519" name="Google Shape;519;p34"/>
          <p:cNvSpPr/>
          <p:nvPr/>
        </p:nvSpPr>
        <p:spPr>
          <a:xfrm>
            <a:off x="433267" y="1304875"/>
            <a:ext cx="47310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Materia</a:t>
            </a:r>
            <a:endParaRPr b="0" i="0" sz="1400" u="none" cap="none" strike="noStrike">
              <a:solidFill>
                <a:schemeClr val="dk2"/>
              </a:solidFill>
              <a:latin typeface="Montserrat"/>
              <a:ea typeface="Montserrat"/>
              <a:cs typeface="Montserrat"/>
              <a:sym typeface="Montserrat"/>
            </a:endParaRPr>
          </a:p>
        </p:txBody>
      </p:sp>
      <p:sp>
        <p:nvSpPr>
          <p:cNvPr id="520" name="Google Shape;520;p34"/>
          <p:cNvSpPr/>
          <p:nvPr/>
        </p:nvSpPr>
        <p:spPr>
          <a:xfrm>
            <a:off x="5306432" y="1304875"/>
            <a:ext cx="3406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521" name="Google Shape;521;p34"/>
          <p:cNvSpPr/>
          <p:nvPr/>
        </p:nvSpPr>
        <p:spPr>
          <a:xfrm>
            <a:off x="425550" y="1533775"/>
            <a:ext cx="4746600" cy="3101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#Creamos una carrera y tres materias</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carrera1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Carrera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"Ingeniería en Sistemas"</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algebra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"Algebra"</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"Juan Quinteros"</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39C12"/>
                </a:solidFill>
                <a:highlight>
                  <a:srgbClr val="23262E"/>
                </a:highlight>
                <a:latin typeface="Consolas"/>
                <a:ea typeface="Consolas"/>
                <a:cs typeface="Consolas"/>
                <a:sym typeface="Consolas"/>
              </a:rPr>
              <a:t>2004</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fisica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"Física"</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"Pedro Perez"</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39C12"/>
                </a:solidFill>
                <a:highlight>
                  <a:srgbClr val="23262E"/>
                </a:highlight>
                <a:latin typeface="Consolas"/>
                <a:ea typeface="Consolas"/>
                <a:cs typeface="Consolas"/>
                <a:sym typeface="Consolas"/>
              </a:rPr>
              <a:t>2012</a:t>
            </a:r>
            <a:r>
              <a:rPr b="0" i="0" lang="es" sz="1100" u="none" cap="none" strike="noStrike">
                <a:solidFill>
                  <a:srgbClr val="D5CED9"/>
                </a:solidFill>
                <a:highlight>
                  <a:srgbClr val="23262E"/>
                </a:highlight>
                <a:latin typeface="Consolas"/>
                <a:ea typeface="Consolas"/>
                <a:cs typeface="Consolas"/>
                <a:sym typeface="Consolas"/>
              </a:rPr>
              <a:t>)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programacion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FFE66D"/>
                </a:solidFill>
                <a:highlight>
                  <a:srgbClr val="23262E"/>
                </a:highlight>
                <a:latin typeface="Consolas"/>
                <a:ea typeface="Consolas"/>
                <a:cs typeface="Consolas"/>
                <a:sym typeface="Consolas"/>
              </a:rPr>
              <a:t>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"Programación"</a:t>
            </a:r>
            <a:r>
              <a:rPr b="0" i="0" lang="es" sz="1100" u="none" cap="none" strike="noStrike">
                <a:solidFill>
                  <a:srgbClr val="D5CED9"/>
                </a:solidFill>
                <a:highlight>
                  <a:srgbClr val="23262E"/>
                </a:highlight>
                <a:latin typeface="Consolas"/>
                <a:ea typeface="Consolas"/>
                <a:cs typeface="Consolas"/>
                <a:sym typeface="Consolas"/>
              </a:rPr>
              <a:t>, </a:t>
            </a:r>
            <a:r>
              <a:rPr b="0" i="0" lang="es" sz="1100" u="none" cap="none" strike="noStrike">
                <a:solidFill>
                  <a:srgbClr val="96E072"/>
                </a:solidFill>
                <a:highlight>
                  <a:srgbClr val="23262E"/>
                </a:highlight>
                <a:latin typeface="Consolas"/>
                <a:ea typeface="Consolas"/>
                <a:cs typeface="Consolas"/>
                <a:sym typeface="Consolas"/>
              </a:rPr>
              <a:t>"Lorena Ríos"</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2022</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#Agregamos las materias a la carrera:</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carrera1.</a:t>
            </a:r>
            <a:r>
              <a:rPr b="0" i="0" lang="es" sz="1100" u="none" cap="none" strike="noStrike">
                <a:solidFill>
                  <a:srgbClr val="FFE66D"/>
                </a:solidFill>
                <a:highlight>
                  <a:srgbClr val="23262E"/>
                </a:highlight>
                <a:latin typeface="Consolas"/>
                <a:ea typeface="Consolas"/>
                <a:cs typeface="Consolas"/>
                <a:sym typeface="Consolas"/>
              </a:rPr>
              <a:t>agregar_materia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201</a:t>
            </a:r>
            <a:r>
              <a:rPr b="0" i="0" lang="es" sz="1100" u="none" cap="none" strike="noStrike">
                <a:solidFill>
                  <a:srgbClr val="D5CED9"/>
                </a:solidFill>
                <a:highlight>
                  <a:srgbClr val="23262E"/>
                </a:highlight>
                <a:latin typeface="Consolas"/>
                <a:ea typeface="Consolas"/>
                <a:cs typeface="Consolas"/>
                <a:sym typeface="Consolas"/>
              </a:rPr>
              <a:t>,algebra)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carrera1.</a:t>
            </a:r>
            <a:r>
              <a:rPr b="0" i="0" lang="es" sz="1100" u="none" cap="none" strike="noStrike">
                <a:solidFill>
                  <a:srgbClr val="FFE66D"/>
                </a:solidFill>
                <a:highlight>
                  <a:srgbClr val="23262E"/>
                </a:highlight>
                <a:latin typeface="Consolas"/>
                <a:ea typeface="Consolas"/>
                <a:cs typeface="Consolas"/>
                <a:sym typeface="Consolas"/>
              </a:rPr>
              <a:t>agregar_materia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202</a:t>
            </a:r>
            <a:r>
              <a:rPr b="0" i="0" lang="es" sz="1100" u="none" cap="none" strike="noStrike">
                <a:solidFill>
                  <a:srgbClr val="D5CED9"/>
                </a:solidFill>
                <a:highlight>
                  <a:srgbClr val="23262E"/>
                </a:highlight>
                <a:latin typeface="Consolas"/>
                <a:ea typeface="Consolas"/>
                <a:cs typeface="Consolas"/>
                <a:sym typeface="Consolas"/>
              </a:rPr>
              <a:t>,fisica)</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D5CED9"/>
                </a:solidFill>
                <a:highlight>
                  <a:srgbClr val="23262E"/>
                </a:highlight>
                <a:latin typeface="Consolas"/>
                <a:ea typeface="Consolas"/>
                <a:cs typeface="Consolas"/>
                <a:sym typeface="Consolas"/>
              </a:rPr>
              <a:t>carrera1.</a:t>
            </a:r>
            <a:r>
              <a:rPr b="0" i="0" lang="es" sz="1100" u="none" cap="none" strike="noStrike">
                <a:solidFill>
                  <a:srgbClr val="FFE66D"/>
                </a:solidFill>
                <a:highlight>
                  <a:srgbClr val="23262E"/>
                </a:highlight>
                <a:latin typeface="Consolas"/>
                <a:ea typeface="Consolas"/>
                <a:cs typeface="Consolas"/>
                <a:sym typeface="Consolas"/>
              </a:rPr>
              <a:t>agregar_materia</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F39C12"/>
                </a:solidFill>
                <a:highlight>
                  <a:srgbClr val="23262E"/>
                </a:highlight>
                <a:latin typeface="Consolas"/>
                <a:ea typeface="Consolas"/>
                <a:cs typeface="Consolas"/>
                <a:sym typeface="Consolas"/>
              </a:rPr>
              <a:t>203</a:t>
            </a:r>
            <a:r>
              <a:rPr b="0" i="0" lang="es" sz="1100" u="none" cap="none" strike="noStrike">
                <a:solidFill>
                  <a:srgbClr val="D5CED9"/>
                </a:solidFill>
                <a:highlight>
                  <a:srgbClr val="23262E"/>
                </a:highlight>
                <a:latin typeface="Consolas"/>
                <a:ea typeface="Consolas"/>
                <a:cs typeface="Consolas"/>
                <a:sym typeface="Consolas"/>
              </a:rPr>
              <a:t>,programacion)</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5F6167"/>
                </a:solidFill>
                <a:highlight>
                  <a:srgbClr val="23262E"/>
                </a:highlight>
                <a:latin typeface="Consolas"/>
                <a:ea typeface="Consolas"/>
                <a:cs typeface="Consolas"/>
                <a:sym typeface="Consolas"/>
              </a:rPr>
              <a:t># Veomos la fecha de inicio de dictado de algunas materias:</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"La fecha de inicio de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algebra.nombre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algebra.fecha_inicio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"La fecha de inicio de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fisica.nombre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fisica.fecha_inicio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FFE66D"/>
                </a:solidFill>
                <a:highlight>
                  <a:srgbClr val="23262E"/>
                </a:highlight>
                <a:latin typeface="Consolas"/>
                <a:ea typeface="Consolas"/>
                <a:cs typeface="Consolas"/>
                <a:sym typeface="Consolas"/>
              </a:rPr>
              <a:t>print</a:t>
            </a:r>
            <a:r>
              <a:rPr b="0" i="0" lang="es" sz="1100" u="none" cap="none" strike="noStrike">
                <a:solidFill>
                  <a:srgbClr val="D5CED9"/>
                </a:solidFill>
                <a:highlight>
                  <a:srgbClr val="23262E"/>
                </a:highlight>
                <a:latin typeface="Consolas"/>
                <a:ea typeface="Consolas"/>
                <a:cs typeface="Consolas"/>
                <a:sym typeface="Consolas"/>
              </a:rPr>
              <a:t>(</a:t>
            </a:r>
            <a:r>
              <a:rPr b="0" i="0" lang="es" sz="1100" u="none" cap="none" strike="noStrike">
                <a:solidFill>
                  <a:srgbClr val="C74DED"/>
                </a:solidFill>
                <a:highlight>
                  <a:srgbClr val="23262E"/>
                </a:highlight>
                <a:latin typeface="Consolas"/>
                <a:ea typeface="Consolas"/>
                <a:cs typeface="Consolas"/>
                <a:sym typeface="Consolas"/>
              </a:rPr>
              <a:t>f</a:t>
            </a:r>
            <a:r>
              <a:rPr b="0" i="0" lang="es" sz="1100" u="none" cap="none" strike="noStrike">
                <a:solidFill>
                  <a:srgbClr val="96E072"/>
                </a:solidFill>
                <a:highlight>
                  <a:srgbClr val="23262E"/>
                </a:highlight>
                <a:latin typeface="Consolas"/>
                <a:ea typeface="Consolas"/>
                <a:cs typeface="Consolas"/>
                <a:sym typeface="Consolas"/>
              </a:rPr>
              <a:t>"La fecha de inicio de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programacion.nombre</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 es </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programacion.fecha_inicio</a:t>
            </a:r>
            <a:r>
              <a:rPr b="0" i="0" lang="es" sz="1100" u="none" cap="none" strike="noStrike">
                <a:solidFill>
                  <a:srgbClr val="EE5D43"/>
                </a:solidFill>
                <a:highlight>
                  <a:srgbClr val="23262E"/>
                </a:highlight>
                <a:latin typeface="Consolas"/>
                <a:ea typeface="Consolas"/>
                <a:cs typeface="Consolas"/>
                <a:sym typeface="Consolas"/>
              </a:rPr>
              <a:t>}</a:t>
            </a:r>
            <a:r>
              <a:rPr b="0" i="0" lang="es" sz="1100" u="none" cap="none" strike="noStrike">
                <a:solidFill>
                  <a:srgbClr val="96E072"/>
                </a:solidFill>
                <a:highlight>
                  <a:srgbClr val="23262E"/>
                </a:highlight>
                <a:latin typeface="Consolas"/>
                <a:ea typeface="Consolas"/>
                <a:cs typeface="Consolas"/>
                <a:sym typeface="Consolas"/>
              </a:rPr>
              <a:t>"</a:t>
            </a:r>
            <a:r>
              <a:rPr b="0" i="0" lang="es" sz="1100" u="none" cap="none" strike="noStrike">
                <a:solidFill>
                  <a:srgbClr val="D5CED9"/>
                </a:solidFill>
                <a:highlight>
                  <a:srgbClr val="23262E"/>
                </a:highlight>
                <a:latin typeface="Consolas"/>
                <a:ea typeface="Consolas"/>
                <a:cs typeface="Consolas"/>
                <a:sym typeface="Consolas"/>
              </a:rPr>
              <a:t>)</a:t>
            </a:r>
            <a:endParaRPr b="0" i="0" sz="11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rgbClr val="5F6167"/>
              </a:solidFill>
              <a:highlight>
                <a:srgbClr val="23262E"/>
              </a:highlight>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527" name="Google Shape;527;p3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6"/>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533" name="Google Shape;533;p36"/>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700"/>
              <a:buFont typeface="Arial"/>
              <a:buNone/>
            </a:pPr>
            <a:r>
              <a:rPr b="0" i="0" lang="es" sz="1700" u="none" cap="none" strike="noStrike">
                <a:solidFill>
                  <a:srgbClr val="595959"/>
                </a:solidFill>
                <a:latin typeface="Montserrat"/>
                <a:ea typeface="Montserrat"/>
                <a:cs typeface="Montserrat"/>
                <a:sym typeface="Montserrat"/>
              </a:rPr>
              <a:t>Material extra:</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120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3"/>
              </a:rPr>
              <a:t>Guía de la Programación Orientada a Objetos (POO)</a:t>
            </a:r>
            <a:r>
              <a:rPr b="0" i="0" lang="es" sz="1700" u="none" cap="none" strike="noStrike">
                <a:solidFill>
                  <a:srgbClr val="595959"/>
                </a:solidFill>
                <a:latin typeface="Montserrat"/>
                <a:ea typeface="Montserrat"/>
                <a:cs typeface="Montserrat"/>
                <a:sym typeface="Montserrat"/>
              </a:rPr>
              <a:t>, en Kinsta</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4"/>
              </a:rPr>
              <a:t>¿Qué es el encapsulamiento en Python?</a:t>
            </a:r>
            <a:r>
              <a:rPr b="0" i="0" lang="es" sz="1700" u="none" cap="none" strike="noStrike">
                <a:solidFill>
                  <a:srgbClr val="595959"/>
                </a:solidFill>
                <a:latin typeface="Montserrat"/>
                <a:ea typeface="Montserrat"/>
                <a:cs typeface="Montserrat"/>
                <a:sym typeface="Montserrat"/>
              </a:rPr>
              <a:t>, en pythones.net</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5"/>
              </a:rPr>
              <a:t>Programación Orientada a Objetos</a:t>
            </a:r>
            <a:r>
              <a:rPr b="0" i="0" lang="es" sz="1700" u="none" cap="none" strike="noStrike">
                <a:solidFill>
                  <a:srgbClr val="595959"/>
                </a:solidFill>
                <a:latin typeface="Montserrat"/>
                <a:ea typeface="Montserrat"/>
                <a:cs typeface="Montserrat"/>
                <a:sym typeface="Montserrat"/>
              </a:rPr>
              <a:t>, en carmoreno.com</a:t>
            </a:r>
            <a:endParaRPr b="0" i="0" sz="17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700"/>
              <a:buFont typeface="Arial"/>
              <a:buNone/>
            </a:pPr>
            <a:r>
              <a:rPr b="0" i="0" lang="es" sz="1700" u="none" cap="none" strike="noStrike">
                <a:solidFill>
                  <a:srgbClr val="595959"/>
                </a:solidFill>
                <a:latin typeface="Montserrat"/>
                <a:ea typeface="Montserrat"/>
                <a:cs typeface="Montserrat"/>
                <a:sym typeface="Montserrat"/>
              </a:rPr>
              <a:t>Videos:</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1200"/>
              </a:spcBef>
              <a:spcAft>
                <a:spcPts val="0"/>
              </a:spcAft>
              <a:buClr>
                <a:srgbClr val="595959"/>
              </a:buClr>
              <a:buSzPts val="1700"/>
              <a:buFont typeface="Montserrat"/>
              <a:buChar char="●"/>
            </a:pPr>
            <a:r>
              <a:rPr b="0" i="0" lang="es" sz="1700" u="none" cap="none" strike="noStrike">
                <a:solidFill>
                  <a:srgbClr val="595959"/>
                </a:solidFill>
                <a:latin typeface="Montserrat"/>
                <a:ea typeface="Montserrat"/>
                <a:cs typeface="Montserrat"/>
                <a:sym typeface="Montserrat"/>
              </a:rPr>
              <a:t>Objetos </a:t>
            </a:r>
            <a:r>
              <a:rPr b="0" i="0" lang="es" sz="1700" u="sng" cap="none" strike="noStrike">
                <a:solidFill>
                  <a:schemeClr val="hlink"/>
                </a:solidFill>
                <a:latin typeface="Montserrat"/>
                <a:ea typeface="Montserrat"/>
                <a:cs typeface="Montserrat"/>
                <a:sym typeface="Montserrat"/>
                <a:hlinkClick r:id="rId6"/>
              </a:rPr>
              <a:t>parte III</a:t>
            </a:r>
            <a:r>
              <a:rPr b="0" i="0" lang="es" sz="1700" u="none" cap="none" strike="noStrike">
                <a:solidFill>
                  <a:srgbClr val="595959"/>
                </a:solidFill>
                <a:latin typeface="Montserrat"/>
                <a:ea typeface="Montserrat"/>
                <a:cs typeface="Montserrat"/>
                <a:sym typeface="Montserrat"/>
              </a:rPr>
              <a:t>, </a:t>
            </a:r>
            <a:r>
              <a:rPr b="0" i="0" lang="es" sz="1700" u="sng" cap="none" strike="noStrike">
                <a:solidFill>
                  <a:schemeClr val="hlink"/>
                </a:solidFill>
                <a:latin typeface="Montserrat"/>
                <a:ea typeface="Montserrat"/>
                <a:cs typeface="Montserrat"/>
                <a:sym typeface="Montserrat"/>
                <a:hlinkClick r:id="rId7"/>
              </a:rPr>
              <a:t>parte IV</a:t>
            </a:r>
            <a:r>
              <a:rPr b="0" i="0" lang="es" sz="1700" u="none" cap="none" strike="noStrike">
                <a:solidFill>
                  <a:srgbClr val="595959"/>
                </a:solidFill>
                <a:latin typeface="Montserrat"/>
                <a:ea typeface="Montserrat"/>
                <a:cs typeface="Montserrat"/>
                <a:sym typeface="Montserrat"/>
              </a:rPr>
              <a:t> y </a:t>
            </a:r>
            <a:r>
              <a:rPr b="0" i="0" lang="es" sz="1700" u="sng" cap="none" strike="noStrike">
                <a:solidFill>
                  <a:schemeClr val="hlink"/>
                </a:solidFill>
                <a:latin typeface="Montserrat"/>
                <a:ea typeface="Montserrat"/>
                <a:cs typeface="Montserrat"/>
                <a:sym typeface="Montserrat"/>
                <a:hlinkClick r:id="rId8"/>
              </a:rPr>
              <a:t>parte V</a:t>
            </a:r>
            <a:r>
              <a:rPr b="0" i="0" lang="es" sz="1700" u="none" cap="none" strike="noStrike">
                <a:solidFill>
                  <a:srgbClr val="595959"/>
                </a:solidFill>
                <a:latin typeface="Montserrat"/>
                <a:ea typeface="Montserrat"/>
                <a:cs typeface="Montserrat"/>
                <a:sym typeface="Montserrat"/>
              </a:rPr>
              <a:t> en Píldoras informáticas</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9"/>
              </a:rPr>
              <a:t>Clases y Objetos</a:t>
            </a:r>
            <a:r>
              <a:rPr b="0" i="0" lang="es" sz="1700" u="none" cap="none" strike="noStrike">
                <a:solidFill>
                  <a:srgbClr val="595959"/>
                </a:solidFill>
                <a:latin typeface="Montserrat"/>
                <a:ea typeface="Montserrat"/>
                <a:cs typeface="Montserrat"/>
                <a:sym typeface="Montserrat"/>
              </a:rPr>
              <a:t> en Python, por yacklyon</a:t>
            </a:r>
            <a:endParaRPr b="0" i="0" sz="1700" u="none" cap="none" strike="noStrike">
              <a:solidFill>
                <a:srgbClr val="595959"/>
              </a:solidFill>
              <a:latin typeface="Montserrat"/>
              <a:ea typeface="Montserrat"/>
              <a:cs typeface="Montserrat"/>
              <a:sym typeface="Montserrat"/>
            </a:endParaRPr>
          </a:p>
          <a:p>
            <a:pPr indent="0" lvl="0" marL="457200" marR="0" rtl="0" algn="l">
              <a:lnSpc>
                <a:spcPct val="115000"/>
              </a:lnSpc>
              <a:spcBef>
                <a:spcPts val="1200"/>
              </a:spcBef>
              <a:spcAft>
                <a:spcPts val="1200"/>
              </a:spcAft>
              <a:buClr>
                <a:srgbClr val="000000"/>
              </a:buClr>
              <a:buSzPts val="1500"/>
              <a:buFont typeface="Arial"/>
              <a:buNone/>
            </a:pPr>
            <a:r>
              <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7"/>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8"/>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