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Montserrat SemiBold"/>
      <p:regular r:id="rId45"/>
      <p:bold r:id="rId46"/>
      <p:italic r:id="rId47"/>
      <p:boldItalic r:id="rId48"/>
    </p:embeddedFont>
    <p:embeddedFont>
      <p:font typeface="Montserrat"/>
      <p:regular r:id="rId49"/>
      <p:bold r:id="rId50"/>
      <p:italic r:id="rId51"/>
      <p:boldItalic r:id="rId52"/>
    </p:embeddedFont>
    <p:embeddedFont>
      <p:font typeface="Montserrat Medium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3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613D91-C19B-4788-A19F-AB26F923AD2A}">
  <a:tblStyle styleId="{B7613D91-C19B-4788-A19F-AB26F923AD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37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MontserratSemiBold-bold.fntdata"/><Relationship Id="rId45" Type="http://schemas.openxmlformats.org/officeDocument/2006/relationships/font" Target="fonts/Montserra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SemiBold-boldItalic.fntdata"/><Relationship Id="rId47" Type="http://schemas.openxmlformats.org/officeDocument/2006/relationships/font" Target="fonts/MontserratSemiBold-italic.fntdata"/><Relationship Id="rId49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italic.fntdata"/><Relationship Id="rId50" Type="http://schemas.openxmlformats.org/officeDocument/2006/relationships/font" Target="fonts/Montserrat-bold.fntdata"/><Relationship Id="rId53" Type="http://schemas.openxmlformats.org/officeDocument/2006/relationships/font" Target="fonts/MontserratMedium-regular.fntdata"/><Relationship Id="rId52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55" Type="http://schemas.openxmlformats.org/officeDocument/2006/relationships/font" Target="fonts/MontserratMedium-italic.fntdata"/><Relationship Id="rId10" Type="http://schemas.openxmlformats.org/officeDocument/2006/relationships/slide" Target="slides/slide4.xml"/><Relationship Id="rId54" Type="http://schemas.openxmlformats.org/officeDocument/2006/relationships/font" Target="fonts/Montserrat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Montserrat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9592eaf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49592eaf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9592eaf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49592eaf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49592eaf8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49592eaf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9592eaf8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49592eaf8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9592eaf8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49592eaf8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49592eaf82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49592eaf8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9592eaf8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49592eaf8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49592eaf8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49592eaf8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9592eaf8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49592eaf8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9592eaf82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49592eaf8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b067adf1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4b067adf1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38b05d04f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38b05d04f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38b05d04f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38b05d04f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38b05d04f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38b05d04f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49592eaf8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49592eaf8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38b05d04f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38b05d04f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38b05d04f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38b05d04f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49592eaf82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49592eaf82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38b05d04f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38b05d04f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38b05d04f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38b05d04f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38b05d04f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38b05d04f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38b05d04f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38b05d04f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38b05d04f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38b05d04f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38b05d04f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38b05d04f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8b05d04f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8b05d04f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38b05d04f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38b05d04f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4b067adf1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4b067adf1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38b05d04f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38b05d04f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4b067adf14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4b067adf14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4b067adf14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4b067adf1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38b05d04f4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38b05d04f4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49592eaf8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49592eaf8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49592eaf8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49592eaf8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38b05d04f4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38b05d04f4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49592eaf8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49592eaf8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49592eaf8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49592eaf8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49592eaf8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49592eaf8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49592eaf8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49592eaf8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y subtítulo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900"/>
              <a:buFont typeface="Montserrat"/>
              <a:buNone/>
              <a:defRPr b="1" sz="49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o destacado y explicación">
  <p:cSld name="TITLE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550375" y="7600"/>
            <a:ext cx="80433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b="1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550375" y="1614925"/>
            <a:ext cx="8043300" cy="26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None/>
              <a:defRPr sz="1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335100" y="1617575"/>
            <a:ext cx="5497200" cy="13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b="1" sz="3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26" name="Google Shape;2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90050"/>
            <a:ext cx="3040999" cy="20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2877" y="4573625"/>
            <a:ext cx="741498" cy="3992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/>
        </p:nvSpPr>
        <p:spPr>
          <a:xfrm>
            <a:off x="3326000" y="3062475"/>
            <a:ext cx="55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3335025" y="2986525"/>
            <a:ext cx="5534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 Medium"/>
              <a:buNone/>
              <a:defRPr sz="2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" name="Google Shape;3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88">
          <p15:clr>
            <a:srgbClr val="FA7B17"/>
          </p15:clr>
        </p15:guide>
        <p15:guide id="3" orient="horz" pos="2960">
          <p15:clr>
            <a:srgbClr val="FA7B17"/>
          </p15:clr>
        </p15:guide>
        <p15:guide id="4" orient="horz" pos="314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ágenes o gráficos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-12175"/>
            <a:ext cx="774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9" name="Google Shape;4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 txBox="1"/>
          <p:nvPr>
            <p:ph type="title"/>
          </p:nvPr>
        </p:nvSpPr>
        <p:spPr>
          <a:xfrm>
            <a:off x="490250" y="450150"/>
            <a:ext cx="8061000" cy="37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4000"/>
              <a:buFont typeface="Montserrat"/>
              <a:buNone/>
              <a:defRPr b="1" sz="4000">
                <a:solidFill>
                  <a:srgbClr val="41414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6" name="Google Shape;5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jercicios e image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265500" y="7759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Font typeface="Montserrat"/>
              <a:buNone/>
              <a:defRPr sz="3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265500" y="24982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4572150" y="-18175"/>
            <a:ext cx="45720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s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433800" y="1715975"/>
            <a:ext cx="8203800" cy="148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i="1" sz="2000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7225" y="906000"/>
            <a:ext cx="1429649" cy="9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2800" y="2758064"/>
            <a:ext cx="1385650" cy="90783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432025" y="3792225"/>
            <a:ext cx="84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Autor/as/es: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title"/>
          </p:nvPr>
        </p:nvSpPr>
        <p:spPr>
          <a:xfrm>
            <a:off x="1766475" y="3773600"/>
            <a:ext cx="71451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1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2" type="title"/>
          </p:nvPr>
        </p:nvSpPr>
        <p:spPr>
          <a:xfrm>
            <a:off x="432025" y="83275"/>
            <a:ext cx="71451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Font typeface="Montserrat SemiBold"/>
              <a:buNone/>
              <a:defRPr sz="15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8" name="Google Shape;78;p10"/>
          <p:cNvPicPr preferRelativeResize="0"/>
          <p:nvPr/>
        </p:nvPicPr>
        <p:blipFill rotWithShape="1">
          <a:blip r:embed="rId6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41">
          <p15:clr>
            <a:srgbClr val="FA7B17"/>
          </p15:clr>
        </p15:guide>
        <p15:guide id="3" orient="horz" pos="2551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tarea y consigna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26135" y="4508338"/>
            <a:ext cx="1091725" cy="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 txBox="1"/>
          <p:nvPr>
            <p:ph type="title"/>
          </p:nvPr>
        </p:nvSpPr>
        <p:spPr>
          <a:xfrm>
            <a:off x="432025" y="187325"/>
            <a:ext cx="79821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Montserrat Medium"/>
              <a:buNone/>
              <a:defRPr sz="2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432025" y="8476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e o recordatorio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-13650" y="-577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0675" y="-260761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6135" y="164938"/>
            <a:ext cx="1091725" cy="4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700"/>
              <a:buFont typeface="Montserrat"/>
              <a:buNone/>
              <a:defRPr b="1" sz="3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0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>
            <p:ph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2" type="title"/>
          </p:nvPr>
        </p:nvSpPr>
        <p:spPr>
          <a:xfrm>
            <a:off x="6134350" y="2196275"/>
            <a:ext cx="2397900" cy="20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3" type="title"/>
          </p:nvPr>
        </p:nvSpPr>
        <p:spPr>
          <a:xfrm>
            <a:off x="4039950" y="116422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4" type="title"/>
          </p:nvPr>
        </p:nvSpPr>
        <p:spPr>
          <a:xfrm>
            <a:off x="6877450" y="116422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3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2 - 37">
  <p:cSld name="BLANK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5" name="Google Shape;115;p14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6" name="Google Shape;116;p14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7" name="Google Shape;117;p14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5" type="title"/>
          </p:nvPr>
        </p:nvSpPr>
        <p:spPr>
          <a:xfrm>
            <a:off x="6130475" y="2159925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14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 txBox="1"/>
          <p:nvPr>
            <p:ph idx="6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" name="Google Shape;124;p14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ltima clase">
  <p:cSld name="BLANK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212425" y="1172325"/>
            <a:ext cx="4818000" cy="436800"/>
          </a:xfrm>
          <a:prstGeom prst="chevron">
            <a:avLst>
              <a:gd fmla="val 45084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1" name="Google Shape;131;p15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2" name="Google Shape;132;p15"/>
          <p:cNvSpPr txBox="1"/>
          <p:nvPr>
            <p:ph idx="3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1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>
            <p:ph idx="4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w3schools.com/css/css_grid.asp" TargetMode="External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w3schools.com/css/tryit.asp?filename=trycss_grid_display_grid" TargetMode="External"/><Relationship Id="rId4" Type="http://schemas.openxmlformats.org/officeDocument/2006/relationships/hyperlink" Target="https://www.w3schools.com/css/tryit.asp?filename=trycss_grid_display_inline-gri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hyperlink" Target="https://www.w3schools.com/css/tryit.asp?filename=trycss_grid_grid-column-gap" TargetMode="External"/><Relationship Id="rId5" Type="http://schemas.openxmlformats.org/officeDocument/2006/relationships/hyperlink" Target="https://www.w3schools.com/css/tryit.asp?filename=trycss_grid_grid-column-gap" TargetMode="External"/><Relationship Id="rId6" Type="http://schemas.openxmlformats.org/officeDocument/2006/relationships/hyperlink" Target="https://www.w3schools.com/css/tryit.asp?filename=trycss_grid_grid-row-gap" TargetMode="External"/><Relationship Id="rId7" Type="http://schemas.openxmlformats.org/officeDocument/2006/relationships/hyperlink" Target="https://www.w3schools.com/css/tryit.asp?filename=trycss_grid_grid-gap2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hyperlink" Target="https://www.w3schools.com/css/tryit.asp?filename=trycss_grid_lines" TargetMode="External"/><Relationship Id="rId5" Type="http://schemas.openxmlformats.org/officeDocument/2006/relationships/hyperlink" Target="https://www.w3schools.com/css/tryit.asp?filename=trycss_grid_lines2" TargetMode="External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w3schools.com/cssref/pr_grid-auto-rows.asp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w3schools.com/cssref/css3_pr_column-gap.asp" TargetMode="External"/><Relationship Id="rId4" Type="http://schemas.openxmlformats.org/officeDocument/2006/relationships/hyperlink" Target="https://www.w3schools.com/cssref/css3_pr_column-gap.asp" TargetMode="External"/><Relationship Id="rId9" Type="http://schemas.openxmlformats.org/officeDocument/2006/relationships/hyperlink" Target="https://www.w3schools.com/cssref/pr_grid-auto-flow.asp" TargetMode="External"/><Relationship Id="rId5" Type="http://schemas.openxmlformats.org/officeDocument/2006/relationships/hyperlink" Target="https://www.w3schools.com/cssref/css3_pr_gap.asp" TargetMode="External"/><Relationship Id="rId6" Type="http://schemas.openxmlformats.org/officeDocument/2006/relationships/hyperlink" Target="https://www.w3schools.com/cssref/pr_grid.asp" TargetMode="External"/><Relationship Id="rId7" Type="http://schemas.openxmlformats.org/officeDocument/2006/relationships/hyperlink" Target="https://www.w3schools.com/cssref/pr_grid-area.asp" TargetMode="External"/><Relationship Id="rId8" Type="http://schemas.openxmlformats.org/officeDocument/2006/relationships/hyperlink" Target="https://www.w3schools.com/cssref/pr_grid-area.asp" TargetMode="External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w3schools.com/cssref/pr_grid-row-gap.asp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w3schools.com/cssref/pr_grid-column.asp" TargetMode="External"/><Relationship Id="rId4" Type="http://schemas.openxmlformats.org/officeDocument/2006/relationships/hyperlink" Target="https://www.w3schools.com/cssref/pr_grid-column-end.asp" TargetMode="External"/><Relationship Id="rId9" Type="http://schemas.openxmlformats.org/officeDocument/2006/relationships/hyperlink" Target="https://www.w3schools.com/cssref/pr_grid-row-end.asp" TargetMode="External"/><Relationship Id="rId5" Type="http://schemas.openxmlformats.org/officeDocument/2006/relationships/hyperlink" Target="https://www.w3schools.com/cssref/pr_grid-column-gap.asp" TargetMode="External"/><Relationship Id="rId6" Type="http://schemas.openxmlformats.org/officeDocument/2006/relationships/hyperlink" Target="https://www.w3schools.com/cssref/pr_grid-column-start.asp" TargetMode="External"/><Relationship Id="rId7" Type="http://schemas.openxmlformats.org/officeDocument/2006/relationships/hyperlink" Target="https://www.w3schools.com/cssref/pr_grid-column-start.asp" TargetMode="External"/><Relationship Id="rId8" Type="http://schemas.openxmlformats.org/officeDocument/2006/relationships/hyperlink" Target="https://www.w3schools.com/cssref/pr_grid-row.asp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w3schools.com/cssref/pr_grid-row-start.asp" TargetMode="External"/><Relationship Id="rId4" Type="http://schemas.openxmlformats.org/officeDocument/2006/relationships/hyperlink" Target="https://www.w3schools.com/cssref/pr_grid-template.asp" TargetMode="External"/><Relationship Id="rId5" Type="http://schemas.openxmlformats.org/officeDocument/2006/relationships/hyperlink" Target="https://www.w3schools.com/cssref/pr_grid-template-areas.asp" TargetMode="External"/><Relationship Id="rId6" Type="http://schemas.openxmlformats.org/officeDocument/2006/relationships/hyperlink" Target="https://www.w3schools.com/cssref/pr_grid-template-columns.asp" TargetMode="External"/><Relationship Id="rId7" Type="http://schemas.openxmlformats.org/officeDocument/2006/relationships/hyperlink" Target="https://www.w3schools.com/cssref/pr_grid-template-rows.asp" TargetMode="External"/><Relationship Id="rId8" Type="http://schemas.openxmlformats.org/officeDocument/2006/relationships/hyperlink" Target="https://www.w3schools.com/cssref/css3_pr_row-gap.asp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w3schools.com/cssref/pr_grid-area.asp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medium.com/sue%C3%B1os-graficos/css-grid-la-mejor-opci%C3%B3n-para-crear-dise%C3%B1os-web-b1b7b8735566" TargetMode="External"/><Relationship Id="rId4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0" Type="http://schemas.openxmlformats.org/officeDocument/2006/relationships/hyperlink" Target="https://youtu.be/9w3gy2dYN_E?t=1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lenguajecss.com/css/maquetacion-y-colocacion/grid-css/" TargetMode="External"/><Relationship Id="rId4" Type="http://schemas.openxmlformats.org/officeDocument/2006/relationships/hyperlink" Target="https://www.w3schools.com/css/css_grid.asp" TargetMode="External"/><Relationship Id="rId9" Type="http://schemas.openxmlformats.org/officeDocument/2006/relationships/hyperlink" Target="https://youtu.be/n1Lnar9mTF8" TargetMode="External"/><Relationship Id="rId5" Type="http://schemas.openxmlformats.org/officeDocument/2006/relationships/hyperlink" Target="https://www.w3schools.com/css/css_grid_container.asp" TargetMode="External"/><Relationship Id="rId6" Type="http://schemas.openxmlformats.org/officeDocument/2006/relationships/hyperlink" Target="https://www.w3schools.com/css/css_grid_item.asp" TargetMode="External"/><Relationship Id="rId7" Type="http://schemas.openxmlformats.org/officeDocument/2006/relationships/hyperlink" Target="https://www.w3schools.com/cssref/pr_grid-area.asp" TargetMode="External"/><Relationship Id="rId8" Type="http://schemas.openxmlformats.org/officeDocument/2006/relationships/hyperlink" Target="https://developer.mozilla.org/es/docs/Web/CSS/CSS_Grid_Layout/Conceptos_B%C3%A1sicos_del_Posicionamiento_con_Rejillas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mozilla.org/es-ES/firefox/developer/" TargetMode="External"/><Relationship Id="rId4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3335100" y="1617575"/>
            <a:ext cx="54972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 STACK PYTHON</a:t>
            </a:r>
            <a:endParaRPr b="1" sz="37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</a:t>
            </a:r>
            <a:r>
              <a:rPr b="1" lang="es" sz="3700"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37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3335025" y="2986525"/>
            <a:ext cx="553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CSS</a:t>
            </a:r>
            <a:r>
              <a:rPr lang="es" sz="25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" sz="25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</a:t>
            </a:r>
            <a:endParaRPr sz="2500">
              <a:solidFill>
                <a:srgbClr val="59595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/>
              <a:t>CSS Grid</a:t>
            </a:r>
            <a:endParaRPr b="0"/>
          </a:p>
        </p:txBody>
      </p:sp>
      <p:sp>
        <p:nvSpPr>
          <p:cNvPr id="150" name="Google Shape;150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713" y="2834124"/>
            <a:ext cx="768596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Les damos la bienvenida</a:t>
            </a:r>
            <a:endParaRPr/>
          </a:p>
        </p:txBody>
      </p:sp>
      <p:sp>
        <p:nvSpPr>
          <p:cNvPr id="157" name="Google Shape;15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a comenzar a grabar la clase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10</a:t>
            </a:r>
            <a:endParaRPr/>
          </a:p>
        </p:txBody>
      </p:sp>
      <p:sp>
        <p:nvSpPr>
          <p:cNvPr id="163" name="Google Shape;163;p19"/>
          <p:cNvSpPr txBox="1"/>
          <p:nvPr>
            <p:ph type="title"/>
          </p:nvPr>
        </p:nvSpPr>
        <p:spPr>
          <a:xfrm>
            <a:off x="1275675" y="115937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09</a:t>
            </a:r>
            <a:endParaRPr/>
          </a:p>
        </p:txBody>
      </p:sp>
      <p:sp>
        <p:nvSpPr>
          <p:cNvPr id="164" name="Google Shape;164;p19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"/>
              <a:t>Clase 11</a:t>
            </a:r>
            <a:endParaRPr/>
          </a:p>
        </p:txBody>
      </p:sp>
      <p:sp>
        <p:nvSpPr>
          <p:cNvPr id="165" name="Google Shape;165;p19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CSS 5 - Flexbox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Media Queries.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¿Qué es Flexbox?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Propiedades para el contenedor Flex, y los Flex items.</a:t>
            </a:r>
            <a:endParaRPr b="1"/>
          </a:p>
        </p:txBody>
      </p:sp>
      <p:sp>
        <p:nvSpPr>
          <p:cNvPr id="166" name="Google Shape;166;p19"/>
          <p:cNvSpPr txBox="1"/>
          <p:nvPr>
            <p:ph idx="5" type="title"/>
          </p:nvPr>
        </p:nvSpPr>
        <p:spPr>
          <a:xfrm>
            <a:off x="6130475" y="2159925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Bootstrap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¿Qué es un framework?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Frameworks CSS.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Conceptos básicos de Bootstrap.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Componentes y funcionalidades.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Grid Layout.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Bootstrap Themes.</a:t>
            </a:r>
            <a:endParaRPr/>
          </a:p>
        </p:txBody>
      </p:sp>
      <p:sp>
        <p:nvSpPr>
          <p:cNvPr id="167" name="Google Shape;167;p19"/>
          <p:cNvSpPr txBox="1"/>
          <p:nvPr>
            <p:ph idx="6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CSS 6 - Grid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Implementación de Grid.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Maquetado con Flex y Grid.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CSS Grid</a:t>
            </a:r>
            <a:endParaRPr/>
          </a:p>
        </p:txBody>
      </p:sp>
      <p:sp>
        <p:nvSpPr>
          <p:cNvPr id="173" name="Google Shape;173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ctrTitle"/>
          </p:nvPr>
        </p:nvSpPr>
        <p:spPr>
          <a:xfrm>
            <a:off x="550375" y="7600"/>
            <a:ext cx="80433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CSS Grid?</a:t>
            </a:r>
            <a:endParaRPr/>
          </a:p>
        </p:txBody>
      </p:sp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550375" y="1614925"/>
            <a:ext cx="8043300" cy="26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CSS Grid </a:t>
            </a:r>
            <a:r>
              <a:rPr lang="es"/>
              <a:t>es una muy buena opción para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estructurar</a:t>
            </a:r>
            <a:r>
              <a:rPr lang="es"/>
              <a:t>,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 organizar </a:t>
            </a:r>
            <a:r>
              <a:rPr lang="es"/>
              <a:t>y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diseñar </a:t>
            </a:r>
            <a:r>
              <a:rPr lang="es"/>
              <a:t>los elementos de nuestro sitio web, ofreciéndonos un sistema de disposición apropiado de forma nativa en el navegador.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CSS solemos utilizar múltiples propiedades para estructurar nuestros sitio web, utilizando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inline-block</a:t>
            </a:r>
            <a:r>
              <a:rPr lang="es"/>
              <a:t>,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float</a:t>
            </a:r>
            <a:r>
              <a:rPr lang="es"/>
              <a:t>,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relative</a:t>
            </a:r>
            <a:r>
              <a:rPr lang="es"/>
              <a:t> o hasta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flexbox</a:t>
            </a:r>
            <a:r>
              <a:rPr lang="es"/>
              <a:t> que sólo utiliza una dimensión.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módulo CSS Grid entra en acción ofreciéndonos un sistema de filas y columnas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en dos dimensiones</a:t>
            </a:r>
            <a:r>
              <a:rPr lang="es"/>
              <a:t>, y total libertad de los ítems para organizar nuestros contenido a gusto.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¿Y donde queda el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Responsive Design</a:t>
            </a:r>
            <a:r>
              <a:rPr lang="es"/>
              <a:t>? Con CSS Grid podemos definir filas y columnas como también redefinirlas a nuestro gusto dentro de un media query.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¿Flexbox vs CSS Grid?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CSS Grid puede convivir con Flexbox. No se trata de tecnologías excluyentes, sino complementarias.</a:t>
            </a:r>
            <a:endParaRPr sz="1650"/>
          </a:p>
        </p:txBody>
      </p:sp>
      <p:pic>
        <p:nvPicPr>
          <p:cNvPr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3100" y="2038250"/>
            <a:ext cx="4137850" cy="25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El módulo de diseño de CSS Grid ofrece un sistema de diseño basado en cuadrículas, con filas y columnas, lo que facilita el diseño de páginas web </a:t>
            </a:r>
            <a:r>
              <a:rPr b="1" lang="es" sz="1650"/>
              <a:t>sin tener que usar flotadores y posicionamiento</a:t>
            </a:r>
            <a:r>
              <a:rPr lang="es" sz="1650"/>
              <a:t>. </a:t>
            </a:r>
            <a:r>
              <a:rPr lang="es" sz="1650" u="sng">
                <a:solidFill>
                  <a:schemeClr val="hlink"/>
                </a:solidFill>
                <a:hlinkClick r:id="rId3"/>
              </a:rPr>
              <a:t>+info</a:t>
            </a:r>
            <a:endParaRPr b="1" sz="1650"/>
          </a:p>
        </p:txBody>
      </p:sp>
      <p:pic>
        <p:nvPicPr>
          <p:cNvPr id="193" name="Google Shape;1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38" y="2540249"/>
            <a:ext cx="3067175" cy="20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s" sz="1650"/>
              <a:t>Grid Container:</a:t>
            </a:r>
            <a:r>
              <a:rPr lang="es" sz="1650"/>
              <a:t> es nuestro elemento “padre”, donde se asigna un </a:t>
            </a:r>
            <a:r>
              <a:rPr i="1" lang="es" sz="1650"/>
              <a:t>{display:grid;}</a:t>
            </a:r>
            <a:r>
              <a:rPr lang="es" sz="1650"/>
              <a:t> y nos permitirá colocar otras propiedades para manipular nuestro diseño.</a:t>
            </a:r>
            <a:endParaRPr sz="1650"/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s" sz="1650"/>
              <a:t>Grid Item: </a:t>
            </a:r>
            <a:r>
              <a:rPr lang="es" sz="1650"/>
              <a:t>son los hijos directos de nuestro container. Estos los manejaremos a nuestra voluntad, nuestras filas y columnas que moveremos a nuestro gusto.</a:t>
            </a:r>
            <a:endParaRPr sz="1650"/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s" sz="1650"/>
              <a:t>Grid Line: </a:t>
            </a:r>
            <a:r>
              <a:rPr lang="es" sz="1650"/>
              <a:t>son las líneas divisorias horizontales y verticales.</a:t>
            </a:r>
            <a:endParaRPr sz="1650"/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s" sz="1650"/>
              <a:t>Grid Track:</a:t>
            </a:r>
            <a:r>
              <a:rPr lang="es" sz="1650"/>
              <a:t> es el espacio entre dos líneas adyacentes. Filas y columnas.</a:t>
            </a:r>
            <a:endParaRPr sz="1650"/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s" sz="1650"/>
              <a:t>Grid Cell:</a:t>
            </a:r>
            <a:r>
              <a:rPr lang="es" sz="1650"/>
              <a:t> nuestras celdas serán el espacio entre dos filas adyacentes y 2 columnas adyacentes.</a:t>
            </a:r>
            <a:endParaRPr sz="1650"/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s" sz="1650"/>
              <a:t>Grid Area:</a:t>
            </a:r>
            <a:r>
              <a:rPr lang="es" sz="1650"/>
              <a:t> espacio rodeado por 4 </a:t>
            </a:r>
            <a:r>
              <a:rPr i="1" lang="es" sz="1650"/>
              <a:t>grid lines</a:t>
            </a:r>
            <a:r>
              <a:rPr lang="es" sz="1650"/>
              <a:t>.</a:t>
            </a:r>
            <a:endParaRPr sz="1650"/>
          </a:p>
        </p:txBody>
      </p:sp>
      <p:sp>
        <p:nvSpPr>
          <p:cNvPr id="199" name="Google Shape;199;p24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Conceptos básicos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CSS Grid | Contenedor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563" y="3694724"/>
            <a:ext cx="4050924" cy="9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/>
          <p:nvPr/>
        </p:nvSpPr>
        <p:spPr>
          <a:xfrm>
            <a:off x="2695675" y="1272112"/>
            <a:ext cx="3752700" cy="23205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0" i="0" lang="es" sz="1300" u="none" cap="none" strike="noStrike">
                <a:solidFill>
                  <a:srgbClr val="5F6167"/>
                </a:solidFill>
                <a:latin typeface="Consolas"/>
                <a:ea typeface="Consolas"/>
                <a:cs typeface="Consolas"/>
                <a:sym typeface="Consolas"/>
              </a:rPr>
              <a:t>&lt;!-- Elemento padre -</a:t>
            </a:r>
            <a:r>
              <a:rPr lang="es" sz="1300">
                <a:solidFill>
                  <a:srgbClr val="5F616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s" sz="1300" u="none" cap="none" strike="noStrike">
                <a:solidFill>
                  <a:srgbClr val="5F616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5F61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3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"grid-item"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&gt;1&lt;/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3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"grid-item"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&gt;2&lt;/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3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"grid-item"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&gt;3&lt;/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3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"grid-item"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&gt;4&lt;/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3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"grid-item"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&gt;5&lt;/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3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"grid-item"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&gt;6&lt;/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3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"grid-item"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&gt;7&lt;/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3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"grid-item"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&gt;8&lt;/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&lt;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3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"grid-item"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&gt;9&lt;/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s" sz="13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CSS Grid | Display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432000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Un elemento HTML se transforma en un contenedor de grilla cuando tiene su propiedad </a:t>
            </a:r>
            <a:r>
              <a:rPr b="1" lang="es" sz="1650"/>
              <a:t>display</a:t>
            </a:r>
            <a:r>
              <a:rPr lang="es" sz="1650"/>
              <a:t> seteada en</a:t>
            </a:r>
            <a:r>
              <a:rPr b="1" lang="es" sz="1650"/>
              <a:t> grid</a:t>
            </a:r>
            <a:r>
              <a:rPr lang="es" sz="1650"/>
              <a:t> o </a:t>
            </a:r>
            <a:r>
              <a:rPr b="1" lang="es" sz="1650"/>
              <a:t>inline-grid</a:t>
            </a:r>
            <a:r>
              <a:rPr lang="es" sz="1650"/>
              <a:t>: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</p:txBody>
      </p:sp>
      <p:sp>
        <p:nvSpPr>
          <p:cNvPr id="214" name="Google Shape;214;p26"/>
          <p:cNvSpPr/>
          <p:nvPr/>
        </p:nvSpPr>
        <p:spPr>
          <a:xfrm>
            <a:off x="916550" y="2318274"/>
            <a:ext cx="3026100" cy="12912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6D"/>
              </a:buClr>
              <a:buSzPts val="1400"/>
              <a:buFont typeface="Consolas"/>
              <a:buNone/>
            </a:pPr>
            <a:r>
              <a:t/>
            </a:r>
            <a:endParaRPr>
              <a:solidFill>
                <a:srgbClr val="FFE66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6D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.grid-container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display: 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4931825" y="2318275"/>
            <a:ext cx="3026100" cy="12912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6D"/>
              </a:buClr>
              <a:buSzPts val="1400"/>
              <a:buFont typeface="Consolas"/>
              <a:buNone/>
            </a:pPr>
            <a:r>
              <a:t/>
            </a:r>
            <a:endParaRPr>
              <a:solidFill>
                <a:srgbClr val="FFE66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6D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.grid-container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display: 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inline-grid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916550" y="3609475"/>
            <a:ext cx="3026100" cy="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50" u="sng">
                <a:solidFill>
                  <a:schemeClr val="hlink"/>
                </a:solidFill>
                <a:hlinkClick r:id="rId3"/>
              </a:rPr>
              <a:t>Ejemplo</a:t>
            </a:r>
            <a:endParaRPr sz="1450"/>
          </a:p>
        </p:txBody>
      </p:sp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4931825" y="3609475"/>
            <a:ext cx="3026100" cy="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50" u="sng">
                <a:solidFill>
                  <a:schemeClr val="hlink"/>
                </a:solidFill>
                <a:hlinkClick r:id="rId4"/>
              </a:rPr>
              <a:t>Ejemplo</a:t>
            </a:r>
            <a:endParaRPr sz="14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</a:t>
            </a:r>
            <a:r>
              <a:rPr lang="es"/>
              <a:t>Grid Items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Se pueden referenciar por fila o por columna, aunque no es la única forma.</a:t>
            </a:r>
            <a:endParaRPr sz="1650"/>
          </a:p>
        </p:txBody>
      </p:sp>
      <p:pic>
        <p:nvPicPr>
          <p:cNvPr id="224" name="Google Shape;22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626" y="2024075"/>
            <a:ext cx="2051534" cy="204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6153" y="2024078"/>
            <a:ext cx="2627751" cy="20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Grid Gaps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Es el espacio entre los ítems. Se pueden ajustar los tamaños de gap con las siguientes propiedades: </a:t>
            </a:r>
            <a:r>
              <a:rPr b="1" lang="es" sz="1650"/>
              <a:t>grid-column-gap</a:t>
            </a:r>
            <a:r>
              <a:rPr lang="es" sz="1650"/>
              <a:t>; </a:t>
            </a:r>
            <a:r>
              <a:rPr b="1" lang="es" sz="1650"/>
              <a:t>grid-row-gap</a:t>
            </a:r>
            <a:r>
              <a:rPr lang="es" sz="1650"/>
              <a:t> y </a:t>
            </a:r>
            <a:r>
              <a:rPr b="1" lang="es" sz="1650"/>
              <a:t>grid-gap</a:t>
            </a:r>
            <a:r>
              <a:rPr lang="es" sz="1650"/>
              <a:t>.</a:t>
            </a:r>
            <a:endParaRPr sz="1650"/>
          </a:p>
        </p:txBody>
      </p:sp>
      <p:pic>
        <p:nvPicPr>
          <p:cNvPr id="232" name="Google Shape;2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7151" y="2094151"/>
            <a:ext cx="2789675" cy="22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5617225" y="2737075"/>
            <a:ext cx="3026100" cy="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50" u="sng">
                <a:solidFill>
                  <a:schemeClr val="hlink"/>
                </a:solidFill>
                <a:hlinkClick r:id="rId4"/>
              </a:rPr>
              <a:t>Ejemplo</a:t>
            </a:r>
            <a:r>
              <a:rPr lang="es" sz="1450" u="sng">
                <a:solidFill>
                  <a:schemeClr val="hlink"/>
                </a:solidFill>
                <a:hlinkClick r:id="rId5"/>
              </a:rPr>
              <a:t> column-gap</a:t>
            </a:r>
            <a:endParaRPr sz="1450"/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5617225" y="3190675"/>
            <a:ext cx="3026100" cy="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50" u="sng">
                <a:solidFill>
                  <a:schemeClr val="hlink"/>
                </a:solidFill>
                <a:hlinkClick r:id="rId6"/>
              </a:rPr>
              <a:t>Ejemplo row-gap</a:t>
            </a:r>
            <a:endParaRPr sz="1450"/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5617225" y="3644275"/>
            <a:ext cx="3026100" cy="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50" u="sng">
                <a:solidFill>
                  <a:schemeClr val="hlink"/>
                </a:solidFill>
                <a:hlinkClick r:id="rId7"/>
              </a:rPr>
              <a:t>Ejemplo grid-gap</a:t>
            </a:r>
            <a:endParaRPr sz="14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Grid 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9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Para colocar un </a:t>
            </a:r>
            <a:r>
              <a:rPr b="1" lang="es" sz="1650"/>
              <a:t>grid-ítem</a:t>
            </a:r>
            <a:r>
              <a:rPr lang="es" sz="1650"/>
              <a:t> en un contenedor se referencian </a:t>
            </a:r>
            <a:r>
              <a:rPr lang="es" sz="1650"/>
              <a:t>los números de línea</a:t>
            </a:r>
            <a:r>
              <a:rPr lang="es" sz="1650"/>
              <a:t>: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</p:txBody>
      </p:sp>
      <p:sp>
        <p:nvSpPr>
          <p:cNvPr id="242" name="Google Shape;242;p29"/>
          <p:cNvSpPr/>
          <p:nvPr/>
        </p:nvSpPr>
        <p:spPr>
          <a:xfrm>
            <a:off x="432025" y="2094901"/>
            <a:ext cx="2823000" cy="10689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6D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.item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grid-column-start: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grid-column-end: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3356750" y="2118300"/>
            <a:ext cx="2823000" cy="10221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6D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.item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grid-row-start: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grid-row-end: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475" y="2003230"/>
            <a:ext cx="2460959" cy="203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432025" y="3340575"/>
            <a:ext cx="2823000" cy="10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</a:pPr>
            <a:r>
              <a:rPr lang="es" sz="1400"/>
              <a:t>Pone un grid item en la línea de la columna 1, que finaliza en la línea de la columna 3.</a:t>
            </a:r>
            <a:endParaRPr sz="1950"/>
          </a:p>
        </p:txBody>
      </p:sp>
      <p:sp>
        <p:nvSpPr>
          <p:cNvPr id="246" name="Google Shape;246;p29"/>
          <p:cNvSpPr txBox="1"/>
          <p:nvPr>
            <p:ph idx="1" type="body"/>
          </p:nvPr>
        </p:nvSpPr>
        <p:spPr>
          <a:xfrm>
            <a:off x="3341525" y="3340575"/>
            <a:ext cx="2823000" cy="10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</a:pPr>
            <a:r>
              <a:rPr lang="es" sz="1400"/>
              <a:t>Pone un grid item en la línea de la fila 1, que finaliza en la línea de la fila 3.</a:t>
            </a:r>
            <a:endParaRPr sz="1950"/>
          </a:p>
        </p:txBody>
      </p:sp>
      <p:sp>
        <p:nvSpPr>
          <p:cNvPr id="247" name="Google Shape;247;p29"/>
          <p:cNvSpPr txBox="1"/>
          <p:nvPr>
            <p:ph idx="1" type="body"/>
          </p:nvPr>
        </p:nvSpPr>
        <p:spPr>
          <a:xfrm>
            <a:off x="432025" y="4088700"/>
            <a:ext cx="2823000" cy="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50" u="sng">
                <a:solidFill>
                  <a:schemeClr val="hlink"/>
                </a:solidFill>
                <a:hlinkClick r:id="rId4"/>
              </a:rPr>
              <a:t>Ejemplo</a:t>
            </a:r>
            <a:endParaRPr sz="1450"/>
          </a:p>
        </p:txBody>
      </p:sp>
      <p:sp>
        <p:nvSpPr>
          <p:cNvPr id="248" name="Google Shape;248;p29"/>
          <p:cNvSpPr txBox="1"/>
          <p:nvPr>
            <p:ph idx="1" type="body"/>
          </p:nvPr>
        </p:nvSpPr>
        <p:spPr>
          <a:xfrm>
            <a:off x="3341525" y="4088700"/>
            <a:ext cx="2823000" cy="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50" u="sng">
                <a:solidFill>
                  <a:schemeClr val="hlink"/>
                </a:solidFill>
                <a:hlinkClick r:id="rId5"/>
              </a:rPr>
              <a:t>Ejemplo</a:t>
            </a:r>
            <a:endParaRPr sz="14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CSS Grid | Propiedades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0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</p:txBody>
      </p:sp>
      <p:graphicFrame>
        <p:nvGraphicFramePr>
          <p:cNvPr id="255" name="Google Shape;255;p30"/>
          <p:cNvGraphicFramePr/>
          <p:nvPr/>
        </p:nvGraphicFramePr>
        <p:xfrm>
          <a:off x="432030" y="13048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{B7613D91-C19B-4788-A19F-AB26F923AD2A}</a:tableStyleId>
              </a:tblPr>
              <a:tblGrid>
                <a:gridCol w="1689675"/>
                <a:gridCol w="6590275"/>
              </a:tblGrid>
              <a:tr h="33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Propiedad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Descripción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column-gap</a:t>
                      </a:r>
                      <a:endParaRPr sz="1200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el espacio entre las columnas. </a:t>
                      </a:r>
                      <a:r>
                        <a:rPr lang="es" sz="1200" u="sng" cap="none" strike="noStrike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3"/>
                        </a:rPr>
                        <a:t>+in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4"/>
                        </a:rPr>
                        <a:t>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5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gap</a:t>
                      </a:r>
                      <a:endParaRPr sz="1200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ropiedad abreviada.  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spacio entre filas y entre columnas .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5"/>
                        </a:rPr>
                        <a:t>+info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2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</a:t>
                      </a:r>
                      <a:endParaRPr sz="1200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ropiedad 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abreviada.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Filas y columnas, 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cua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drícula, áreas de 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cuadrícula, filas y columnas automáticas y propiedades de flujo automático de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6"/>
                        </a:rPr>
                        <a:t>+info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6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grid-area</a:t>
                      </a:r>
                      <a:endParaRPr sz="1200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un nombre para el elemento de la cuadrícula. Es una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propiedad abreviada para grid-row-start, grid-column-start, grid-row-end y grid-column-end.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7"/>
                        </a:rPr>
                        <a:t>+info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grid-auto-columns</a:t>
                      </a:r>
                      <a:endParaRPr sz="1200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un tamaño de columna predeterminado.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8"/>
                        </a:rPr>
                        <a:t>+info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grid-auto-flow</a:t>
                      </a:r>
                      <a:endParaRPr sz="1200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Determina 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cómo se insertan los elementos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la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9"/>
                        </a:rPr>
                        <a:t>+info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grid-auto-rows</a:t>
                      </a:r>
                      <a:endParaRPr sz="1200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un tamaño de fila predeterminado.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10"/>
                        </a:rPr>
                        <a:t>+info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Propiedades (continuación)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1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</p:txBody>
      </p:sp>
      <p:graphicFrame>
        <p:nvGraphicFramePr>
          <p:cNvPr id="262" name="Google Shape;262;p31"/>
          <p:cNvGraphicFramePr/>
          <p:nvPr/>
        </p:nvGraphicFramePr>
        <p:xfrm>
          <a:off x="432030" y="13048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{B7613D91-C19B-4788-A19F-AB26F923AD2A}</a:tableStyleId>
              </a:tblPr>
              <a:tblGrid>
                <a:gridCol w="1679250"/>
                <a:gridCol w="6600700"/>
              </a:tblGrid>
              <a:tr h="33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Propiedad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Descripción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grid-column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Una propiedad abreviada para las propiedades grid-column-start y grid-column-end.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3"/>
                        </a:rPr>
                        <a:t>+info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5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grid-column-end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dónde 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termina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el elemento de la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4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grid-column-gap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el tamaño del espacio entre columnas.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5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grid-column-start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dónde 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comienza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el elemento de la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6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grid-gap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Una propiedad abreviada para las propiedades grid-row-gap y grid-column-gap.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7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grid-row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Una propiedad abreviada para las propiedades grid-row-start y grid-row-end.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8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grid-row-end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dónde 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termina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el elemento de la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9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grid-row-gap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el tamaño del espacio entre filas.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10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Propiedades (continuación)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2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</p:txBody>
      </p:sp>
      <p:graphicFrame>
        <p:nvGraphicFramePr>
          <p:cNvPr id="269" name="Google Shape;269;p32"/>
          <p:cNvGraphicFramePr/>
          <p:nvPr/>
        </p:nvGraphicFramePr>
        <p:xfrm>
          <a:off x="432055" y="13599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{B7613D91-C19B-4788-A19F-AB26F923AD2A}</a:tableStyleId>
              </a:tblPr>
              <a:tblGrid>
                <a:gridCol w="2044425"/>
                <a:gridCol w="6235525"/>
              </a:tblGrid>
              <a:tr h="369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Propiedad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Descripción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</a:tr>
              <a:tr h="3695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grid-row-start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dónde </a:t>
                      </a:r>
                      <a:r>
                        <a:rPr lang="es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comienza</a:t>
                      </a: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el elemento de la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3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grid-template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Una propiedad abreviada para las propiedades de las filas de plantilla de cuadrícula, columnas de plantilla de cuadrícula y áreas de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4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3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grid-template-areas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cómo mostrar columnas y filas, utilizando elementos de cuadrícula con nombre.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5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grid-template-columns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el tamaño de las columnas y cuántas columnas en un diseño de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6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5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grid-template-rows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el tamaño de las filas en un diseño de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7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row-gap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152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2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el espacio entre las filas de la cuadrícula. </a:t>
                      </a:r>
                      <a:r>
                        <a:rPr lang="es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8"/>
                        </a:rPr>
                        <a:t>+info</a:t>
                      </a:r>
                      <a:endParaRPr sz="12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75950" marL="759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CSS Grid | Grid Container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Para que un elemento HTML se comporte como un contenedor de cuadrícula, debemos establecer la propiedad </a:t>
            </a:r>
            <a:r>
              <a:rPr b="1" lang="es" sz="1650"/>
              <a:t>display</a:t>
            </a:r>
            <a:r>
              <a:rPr lang="es" sz="1650"/>
              <a:t> en </a:t>
            </a:r>
            <a:r>
              <a:rPr b="1" lang="es" sz="1650"/>
              <a:t>grid</a:t>
            </a:r>
            <a:r>
              <a:rPr lang="es" sz="1650"/>
              <a:t> (cuadrícula) o </a:t>
            </a:r>
            <a:r>
              <a:rPr b="1" lang="es" sz="1650"/>
              <a:t>inline-grid</a:t>
            </a:r>
            <a:r>
              <a:rPr lang="es" sz="1650"/>
              <a:t> (cuadrícula en línea). Los contenedores de cuadrícula consisten en elementos de cuadrícula, colocados dentro de columnas y filas.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</p:txBody>
      </p:sp>
      <p:pic>
        <p:nvPicPr>
          <p:cNvPr id="276" name="Google Shape;2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975" y="2950725"/>
            <a:ext cx="7934040" cy="11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Grid Container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4"/>
          <p:cNvSpPr txBox="1"/>
          <p:nvPr>
            <p:ph idx="1" type="body"/>
          </p:nvPr>
        </p:nvSpPr>
        <p:spPr>
          <a:xfrm>
            <a:off x="432000" y="131402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Este es el código que genera el cuadro de la diapositiva anterior: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EsEste</a:t>
            </a:r>
            <a:endParaRPr sz="1650"/>
          </a:p>
        </p:txBody>
      </p:sp>
      <p:sp>
        <p:nvSpPr>
          <p:cNvPr id="283" name="Google Shape;283;p34"/>
          <p:cNvSpPr/>
          <p:nvPr/>
        </p:nvSpPr>
        <p:spPr>
          <a:xfrm>
            <a:off x="432025" y="1895573"/>
            <a:ext cx="2181000" cy="19284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0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0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"grid-container"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&lt;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&gt;1&lt;/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&lt;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&gt;2&lt;/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&lt;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&gt;3&lt;/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  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&lt;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&gt;4&lt;/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&lt;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&gt;5&lt;/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&lt;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&gt;6&lt;/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&lt;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&gt;7&lt;/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&lt;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&gt;8&lt;/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2759275" y="1910250"/>
            <a:ext cx="3228600" cy="19284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6D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.grid-container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{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width: </a:t>
            </a:r>
            <a:r>
              <a:rPr b="0" i="0" lang="es" sz="10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800px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display: </a:t>
            </a:r>
            <a:r>
              <a:rPr b="0" i="0" lang="es" sz="10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grid-template-columns: </a:t>
            </a:r>
            <a:r>
              <a:rPr b="0" i="0" lang="es" sz="10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repeat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0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s" sz="10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grid-gap: </a:t>
            </a:r>
            <a:r>
              <a:rPr b="0" i="0" lang="es" sz="10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background-color: </a:t>
            </a:r>
            <a:r>
              <a:rPr b="0" i="0" lang="es" sz="10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blue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padding: </a:t>
            </a:r>
            <a:r>
              <a:rPr b="0" i="0" lang="es" sz="10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6134125" y="1910241"/>
            <a:ext cx="2422800" cy="19284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6D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.grid-container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0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0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{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background-color: </a:t>
            </a:r>
            <a:r>
              <a:rPr b="0" i="0" lang="es" sz="10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lightblue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text-align: </a:t>
            </a:r>
            <a:r>
              <a:rPr b="0" i="0" lang="es" sz="10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font-size: </a:t>
            </a:r>
            <a:r>
              <a:rPr b="0" i="0" lang="es" sz="10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height: </a:t>
            </a:r>
            <a:r>
              <a:rPr b="0" i="0" lang="es" sz="10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40px</a:t>
            </a: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grid-template-columns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"/>
          <p:cNvSpPr txBox="1"/>
          <p:nvPr>
            <p:ph idx="1" type="body"/>
          </p:nvPr>
        </p:nvSpPr>
        <p:spPr>
          <a:xfrm>
            <a:off x="432000" y="131402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La propiedad </a:t>
            </a:r>
            <a:r>
              <a:rPr b="1" lang="es" sz="1650"/>
              <a:t>grid-template-columns</a:t>
            </a:r>
            <a:r>
              <a:rPr lang="es" sz="1650"/>
              <a:t> define el número de columnas (y el ancho) de la cuadrícula. Se colocan los valores separados por espacios, y cada uno define el ancho de la columna respectiva. </a:t>
            </a:r>
            <a:r>
              <a:rPr lang="es" sz="1650"/>
              <a:t>Se pueden establecer anchos en </a:t>
            </a:r>
            <a:r>
              <a:rPr b="1" lang="es" sz="1650"/>
              <a:t>px</a:t>
            </a:r>
            <a:r>
              <a:rPr lang="es" sz="1650"/>
              <a:t>, unidades relativas o </a:t>
            </a:r>
            <a:r>
              <a:rPr b="1" lang="es" sz="1650"/>
              <a:t>%</a:t>
            </a:r>
            <a:r>
              <a:rPr lang="es" sz="1650"/>
              <a:t>, aunque es recomendable utilizar la medida </a:t>
            </a:r>
            <a:r>
              <a:rPr b="1" lang="es" sz="1650"/>
              <a:t>fr</a:t>
            </a:r>
            <a:r>
              <a:rPr lang="es" sz="1650"/>
              <a:t>.</a:t>
            </a:r>
            <a:endParaRPr sz="1650"/>
          </a:p>
        </p:txBody>
      </p:sp>
      <p:pic>
        <p:nvPicPr>
          <p:cNvPr id="292" name="Google Shape;29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238" y="3440995"/>
            <a:ext cx="7085521" cy="7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5"/>
          <p:cNvSpPr/>
          <p:nvPr/>
        </p:nvSpPr>
        <p:spPr>
          <a:xfrm>
            <a:off x="1060200" y="2728800"/>
            <a:ext cx="7023600" cy="5727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lang="es">
                <a:solidFill>
                  <a:srgbClr val="5F6167"/>
                </a:solidFill>
                <a:latin typeface="Consolas"/>
                <a:ea typeface="Consolas"/>
                <a:cs typeface="Consolas"/>
                <a:sym typeface="Consolas"/>
              </a:rPr>
              <a:t>/*Medidas en px:*/</a:t>
            </a:r>
            <a:endParaRPr>
              <a:solidFill>
                <a:srgbClr val="5F616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grid-template-columns: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300px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200px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400px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grid-template-columns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6"/>
          <p:cNvSpPr/>
          <p:nvPr/>
        </p:nvSpPr>
        <p:spPr>
          <a:xfrm>
            <a:off x="1060200" y="1308775"/>
            <a:ext cx="7023600" cy="5727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lang="es">
                <a:solidFill>
                  <a:srgbClr val="5F6167"/>
                </a:solidFill>
                <a:latin typeface="Consolas"/>
                <a:ea typeface="Consolas"/>
                <a:cs typeface="Consolas"/>
                <a:sym typeface="Consolas"/>
              </a:rPr>
              <a:t>/*Medidas en %:*/</a:t>
            </a:r>
            <a:endParaRPr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grid-template-columns: 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35%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15%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199" y="1928925"/>
            <a:ext cx="702360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6"/>
          <p:cNvSpPr/>
          <p:nvPr/>
        </p:nvSpPr>
        <p:spPr>
          <a:xfrm>
            <a:off x="1060200" y="2614750"/>
            <a:ext cx="7023600" cy="5727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lang="es">
                <a:solidFill>
                  <a:srgbClr val="5F6167"/>
                </a:solidFill>
                <a:latin typeface="Consolas"/>
                <a:ea typeface="Consolas"/>
                <a:cs typeface="Consolas"/>
                <a:sym typeface="Consolas"/>
              </a:rPr>
              <a:t>/*Medida automática:*/</a:t>
            </a:r>
            <a:endParaRPr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grid-template-columns: </a:t>
            </a:r>
            <a:r>
              <a:rPr lang="es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s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s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t/>
            </a:r>
            <a:endParaRPr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2" name="Google Shape;30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199" y="3251225"/>
            <a:ext cx="702360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/>
          <p:nvPr/>
        </p:nvSpPr>
        <p:spPr>
          <a:xfrm>
            <a:off x="486600" y="3850781"/>
            <a:ext cx="81708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 una cuadrícula de 4 columnas </a:t>
            </a:r>
            <a:r>
              <a:rPr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tiene más de 4 elementos, se </a:t>
            </a:r>
            <a:r>
              <a:rPr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agrega automáticamente una nueva fila para colocar los elementos extra.</a:t>
            </a:r>
            <a:endParaRPr sz="16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7AFA"/>
              </a:buClr>
              <a:buSzPts val="1400"/>
              <a:buFont typeface="Montserrat"/>
              <a:buNone/>
            </a:pPr>
            <a:r>
              <a:t/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grid-template-columns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432000" y="1803350"/>
            <a:ext cx="8280000" cy="28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La unidad especial de Grid </a:t>
            </a:r>
            <a:r>
              <a:rPr b="1" lang="es" sz="1650"/>
              <a:t>fr</a:t>
            </a:r>
            <a:r>
              <a:rPr lang="es" sz="1650"/>
              <a:t> (</a:t>
            </a:r>
            <a:r>
              <a:rPr i="1" lang="es" sz="1650"/>
              <a:t>fraction</a:t>
            </a:r>
            <a:r>
              <a:rPr lang="es" sz="1650"/>
              <a:t>) representa una fracción de espacio restante en el grid.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</p:txBody>
      </p:sp>
      <p:sp>
        <p:nvSpPr>
          <p:cNvPr id="310" name="Google Shape;310;p37"/>
          <p:cNvSpPr/>
          <p:nvPr/>
        </p:nvSpPr>
        <p:spPr>
          <a:xfrm>
            <a:off x="432010" y="1314020"/>
            <a:ext cx="8170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7AFA"/>
              </a:buClr>
              <a:buSzPts val="1400"/>
              <a:buFont typeface="Montserrat"/>
              <a:buNone/>
            </a:pPr>
            <a:r>
              <a:rPr b="1"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Unidad fracción restante (fr)</a:t>
            </a:r>
            <a:r>
              <a:rPr b="1" i="0" lang="es" sz="165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i="0" sz="165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37"/>
          <p:cNvSpPr/>
          <p:nvPr/>
        </p:nvSpPr>
        <p:spPr>
          <a:xfrm>
            <a:off x="1060200" y="2584150"/>
            <a:ext cx="7023600" cy="3075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grid-template-columns: 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0.5fr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2fr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t/>
            </a:r>
            <a:endParaRPr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12" name="Google Shape;31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200" y="3078325"/>
            <a:ext cx="7023598" cy="7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grid-template-columns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8"/>
          <p:cNvSpPr txBox="1"/>
          <p:nvPr>
            <p:ph idx="1" type="body"/>
          </p:nvPr>
        </p:nvSpPr>
        <p:spPr>
          <a:xfrm>
            <a:off x="432000" y="1803350"/>
            <a:ext cx="8280000" cy="28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Se puede utilizar la expresión </a:t>
            </a:r>
            <a:r>
              <a:rPr b="1" lang="es" sz="1650"/>
              <a:t>repeat()</a:t>
            </a:r>
            <a:r>
              <a:rPr lang="es" sz="1650"/>
              <a:t> para indicar repetición de valores, indicando el número de veces que se repiten y el tamaño en cuestión.</a:t>
            </a:r>
            <a:br>
              <a:rPr lang="es" sz="1650"/>
            </a:br>
            <a:r>
              <a:rPr lang="es" sz="1650"/>
              <a:t>La expresión a utilizar es la siguiente:</a:t>
            </a:r>
            <a:br>
              <a:rPr lang="es" sz="1650"/>
            </a:br>
            <a:r>
              <a:rPr b="1" lang="es" sz="1650"/>
              <a:t>repeat([núm de veces], [valor o valores])</a:t>
            </a:r>
            <a:r>
              <a:rPr lang="es" sz="1650"/>
              <a:t>:</a:t>
            </a:r>
            <a:endParaRPr sz="15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</p:txBody>
      </p:sp>
      <p:sp>
        <p:nvSpPr>
          <p:cNvPr id="319" name="Google Shape;319;p38"/>
          <p:cNvSpPr/>
          <p:nvPr/>
        </p:nvSpPr>
        <p:spPr>
          <a:xfrm>
            <a:off x="432010" y="1314020"/>
            <a:ext cx="8170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expresión repeat():</a:t>
            </a:r>
            <a:endParaRPr b="1" sz="16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38"/>
          <p:cNvSpPr/>
          <p:nvPr/>
        </p:nvSpPr>
        <p:spPr>
          <a:xfrm>
            <a:off x="1096875" y="3326775"/>
            <a:ext cx="7023600" cy="3075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grid-template-columns: </a:t>
            </a:r>
            <a:r>
              <a:rPr lang="es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repeat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t/>
            </a:r>
            <a:endParaRPr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21" name="Google Shape;3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875" y="3801525"/>
            <a:ext cx="7023598" cy="7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grid-template-rows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9"/>
          <p:cNvSpPr txBox="1"/>
          <p:nvPr>
            <p:ph idx="1" type="body"/>
          </p:nvPr>
        </p:nvSpPr>
        <p:spPr>
          <a:xfrm>
            <a:off x="432000" y="131402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La propiedad </a:t>
            </a:r>
            <a:r>
              <a:rPr b="1" lang="es" sz="1650"/>
              <a:t>grid-template-rows</a:t>
            </a:r>
            <a:r>
              <a:rPr lang="es" sz="1650"/>
              <a:t> define la altura de cada fila.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El valor es una lista separada por espacios, donde cada valor define el alto de la fila respectiva.</a:t>
            </a:r>
            <a:endParaRPr sz="1550"/>
          </a:p>
        </p:txBody>
      </p:sp>
      <p:sp>
        <p:nvSpPr>
          <p:cNvPr id="328" name="Google Shape;328;p39"/>
          <p:cNvSpPr/>
          <p:nvPr/>
        </p:nvSpPr>
        <p:spPr>
          <a:xfrm>
            <a:off x="1096875" y="2694150"/>
            <a:ext cx="7023600" cy="3075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grid-template-rows: 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80px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s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200px</a:t>
            </a:r>
            <a:r>
              <a:rPr lang="es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t/>
            </a:r>
            <a:endParaRPr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ED9"/>
              </a:buClr>
              <a:buSzPts val="1400"/>
              <a:buFont typeface="Consolas"/>
              <a:buNone/>
            </a:pPr>
            <a:r>
              <a:t/>
            </a:r>
            <a:endParaRPr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29" name="Google Shape;3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875" y="3116775"/>
            <a:ext cx="7023598" cy="15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Propiedad justify-content</a:t>
            </a:r>
            <a:endParaRPr/>
          </a:p>
        </p:txBody>
      </p:sp>
      <p:sp>
        <p:nvSpPr>
          <p:cNvPr id="335" name="Google Shape;335;p40"/>
          <p:cNvSpPr txBox="1"/>
          <p:nvPr>
            <p:ph idx="1" type="body"/>
          </p:nvPr>
        </p:nvSpPr>
        <p:spPr>
          <a:xfrm>
            <a:off x="432000" y="131402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La propiedad</a:t>
            </a:r>
            <a:r>
              <a:rPr b="1" lang="es" sz="1650"/>
              <a:t> justify-content </a:t>
            </a:r>
            <a:r>
              <a:rPr lang="es" sz="1650"/>
              <a:t>se utiliza para alinear toda la cuadrícula dentro del contenedor. El ancho total de la cuadrícula debe ser menor que el ancho del contenedor para que la propiedad</a:t>
            </a:r>
            <a:r>
              <a:rPr b="1" lang="es" sz="1650"/>
              <a:t> </a:t>
            </a:r>
            <a:r>
              <a:rPr lang="es" sz="1650"/>
              <a:t>tenga efecto.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50"/>
          </a:p>
        </p:txBody>
      </p:sp>
      <p:grpSp>
        <p:nvGrpSpPr>
          <p:cNvPr id="336" name="Google Shape;336;p40"/>
          <p:cNvGrpSpPr/>
          <p:nvPr/>
        </p:nvGrpSpPr>
        <p:grpSpPr>
          <a:xfrm>
            <a:off x="533515" y="2403050"/>
            <a:ext cx="4038480" cy="725820"/>
            <a:chOff x="417240" y="2008800"/>
            <a:chExt cx="4038480" cy="725820"/>
          </a:xfrm>
        </p:grpSpPr>
        <p:pic>
          <p:nvPicPr>
            <p:cNvPr id="337" name="Google Shape;337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7240" y="2008800"/>
              <a:ext cx="4038480" cy="434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40"/>
            <p:cNvSpPr/>
            <p:nvPr/>
          </p:nvSpPr>
          <p:spPr>
            <a:xfrm>
              <a:off x="434160" y="2427120"/>
              <a:ext cx="39639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nsolas"/>
                <a:buNone/>
              </a:pPr>
              <a:r>
                <a:rPr b="1" i="0" lang="e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space-evenly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40"/>
          <p:cNvGrpSpPr/>
          <p:nvPr/>
        </p:nvGrpSpPr>
        <p:grpSpPr>
          <a:xfrm>
            <a:off x="550440" y="3154268"/>
            <a:ext cx="4004640" cy="728700"/>
            <a:chOff x="483840" y="2845080"/>
            <a:chExt cx="4004640" cy="728700"/>
          </a:xfrm>
        </p:grpSpPr>
        <p:pic>
          <p:nvPicPr>
            <p:cNvPr id="340" name="Google Shape;34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3840" y="2845080"/>
              <a:ext cx="4004640" cy="458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40"/>
            <p:cNvSpPr/>
            <p:nvPr/>
          </p:nvSpPr>
          <p:spPr>
            <a:xfrm>
              <a:off x="483840" y="3266280"/>
              <a:ext cx="39714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nsolas"/>
                <a:buNone/>
              </a:pPr>
              <a:r>
                <a:rPr b="1" i="0" lang="e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space-around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" name="Google Shape;342;p40"/>
          <p:cNvGrpSpPr/>
          <p:nvPr/>
        </p:nvGrpSpPr>
        <p:grpSpPr>
          <a:xfrm>
            <a:off x="550450" y="3908360"/>
            <a:ext cx="4028760" cy="723660"/>
            <a:chOff x="426600" y="3699360"/>
            <a:chExt cx="4028760" cy="723660"/>
          </a:xfrm>
        </p:grpSpPr>
        <p:pic>
          <p:nvPicPr>
            <p:cNvPr id="343" name="Google Shape;343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6600" y="3699360"/>
              <a:ext cx="4028760" cy="4294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40"/>
            <p:cNvSpPr/>
            <p:nvPr/>
          </p:nvSpPr>
          <p:spPr>
            <a:xfrm>
              <a:off x="483840" y="4115520"/>
              <a:ext cx="39714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nsolas"/>
                <a:buNone/>
              </a:pPr>
              <a:r>
                <a:rPr b="1" i="0" lang="e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space-between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40"/>
          <p:cNvGrpSpPr/>
          <p:nvPr/>
        </p:nvGrpSpPr>
        <p:grpSpPr>
          <a:xfrm>
            <a:off x="4697615" y="2407013"/>
            <a:ext cx="4014360" cy="717900"/>
            <a:chOff x="4712040" y="2008800"/>
            <a:chExt cx="4014360" cy="717900"/>
          </a:xfrm>
        </p:grpSpPr>
        <p:pic>
          <p:nvPicPr>
            <p:cNvPr id="346" name="Google Shape;346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16720" y="2008800"/>
              <a:ext cx="4009680" cy="434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40"/>
            <p:cNvSpPr/>
            <p:nvPr/>
          </p:nvSpPr>
          <p:spPr>
            <a:xfrm>
              <a:off x="4712040" y="2419200"/>
              <a:ext cx="40143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nsolas"/>
                <a:buNone/>
              </a:pPr>
              <a:r>
                <a:rPr b="1" i="0" lang="e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center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40"/>
          <p:cNvGrpSpPr/>
          <p:nvPr/>
        </p:nvGrpSpPr>
        <p:grpSpPr>
          <a:xfrm>
            <a:off x="4692758" y="3153918"/>
            <a:ext cx="4024079" cy="729420"/>
            <a:chOff x="4702320" y="2845080"/>
            <a:chExt cx="4024079" cy="729420"/>
          </a:xfrm>
        </p:grpSpPr>
        <p:pic>
          <p:nvPicPr>
            <p:cNvPr id="349" name="Google Shape;349;p4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2320" y="2845080"/>
              <a:ext cx="4024079" cy="43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40"/>
            <p:cNvSpPr/>
            <p:nvPr/>
          </p:nvSpPr>
          <p:spPr>
            <a:xfrm>
              <a:off x="4712040" y="3267000"/>
              <a:ext cx="40143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nsolas"/>
                <a:buNone/>
              </a:pPr>
              <a:r>
                <a:rPr b="1" i="0" lang="e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start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40"/>
          <p:cNvGrpSpPr/>
          <p:nvPr/>
        </p:nvGrpSpPr>
        <p:grpSpPr>
          <a:xfrm>
            <a:off x="4697602" y="3912360"/>
            <a:ext cx="4014359" cy="737700"/>
            <a:chOff x="4712040" y="3699360"/>
            <a:chExt cx="4014359" cy="737700"/>
          </a:xfrm>
        </p:grpSpPr>
        <p:pic>
          <p:nvPicPr>
            <p:cNvPr id="352" name="Google Shape;352;p4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12040" y="3699360"/>
              <a:ext cx="4014359" cy="453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40"/>
            <p:cNvSpPr/>
            <p:nvPr/>
          </p:nvSpPr>
          <p:spPr>
            <a:xfrm>
              <a:off x="4712040" y="4129560"/>
              <a:ext cx="40143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onsolas"/>
                <a:buNone/>
              </a:pPr>
              <a:r>
                <a:rPr b="1" i="0" lang="e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end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Propiedad align-content</a:t>
            </a:r>
            <a:endParaRPr/>
          </a:p>
        </p:txBody>
      </p:sp>
      <p:sp>
        <p:nvSpPr>
          <p:cNvPr id="359" name="Google Shape;359;p41"/>
          <p:cNvSpPr txBox="1"/>
          <p:nvPr>
            <p:ph idx="1" type="body"/>
          </p:nvPr>
        </p:nvSpPr>
        <p:spPr>
          <a:xfrm>
            <a:off x="432025" y="131402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La propiedad </a:t>
            </a:r>
            <a:r>
              <a:rPr b="1" lang="es" sz="1650"/>
              <a:t>align-content</a:t>
            </a:r>
            <a:r>
              <a:rPr lang="es" sz="1650"/>
              <a:t> se usa para alinear verticalmente toda la cuadrícula dentro del contenedor. La altura total de la cuadrícula debe ser menor que la altura del contenedor para que  tenga efecto.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50"/>
          </a:p>
        </p:txBody>
      </p:sp>
      <p:sp>
        <p:nvSpPr>
          <p:cNvPr id="360" name="Google Shape;360;p41"/>
          <p:cNvSpPr/>
          <p:nvPr/>
        </p:nvSpPr>
        <p:spPr>
          <a:xfrm>
            <a:off x="558810" y="4121415"/>
            <a:ext cx="3406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center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810" y="2360655"/>
            <a:ext cx="3405960" cy="176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4055" y="2360655"/>
            <a:ext cx="3446280" cy="176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1"/>
          <p:cNvSpPr/>
          <p:nvPr/>
        </p:nvSpPr>
        <p:spPr>
          <a:xfrm>
            <a:off x="4894055" y="4145175"/>
            <a:ext cx="3446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space-evenly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2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Propiedad align-content</a:t>
            </a:r>
            <a:endParaRPr/>
          </a:p>
        </p:txBody>
      </p:sp>
      <p:sp>
        <p:nvSpPr>
          <p:cNvPr id="369" name="Google Shape;369;p42"/>
          <p:cNvSpPr txBox="1"/>
          <p:nvPr>
            <p:ph idx="1" type="body"/>
          </p:nvPr>
        </p:nvSpPr>
        <p:spPr>
          <a:xfrm>
            <a:off x="432025" y="131402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50"/>
          </a:p>
        </p:txBody>
      </p:sp>
      <p:sp>
        <p:nvSpPr>
          <p:cNvPr id="370" name="Google Shape;370;p42"/>
          <p:cNvSpPr/>
          <p:nvPr/>
        </p:nvSpPr>
        <p:spPr>
          <a:xfrm>
            <a:off x="432026" y="2732616"/>
            <a:ext cx="30213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space-around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26" y="1314024"/>
            <a:ext cx="3021499" cy="142105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2"/>
          <p:cNvSpPr/>
          <p:nvPr/>
        </p:nvSpPr>
        <p:spPr>
          <a:xfrm>
            <a:off x="5446775" y="2677744"/>
            <a:ext cx="3021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space-between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0650" y="1314025"/>
            <a:ext cx="2917350" cy="13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2"/>
          <p:cNvSpPr/>
          <p:nvPr/>
        </p:nvSpPr>
        <p:spPr>
          <a:xfrm>
            <a:off x="432026" y="4433359"/>
            <a:ext cx="2997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025" y="2995725"/>
            <a:ext cx="2997001" cy="141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2"/>
          <p:cNvSpPr/>
          <p:nvPr/>
        </p:nvSpPr>
        <p:spPr>
          <a:xfrm>
            <a:off x="5516150" y="4312864"/>
            <a:ext cx="29520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16150" y="3045699"/>
            <a:ext cx="2917354" cy="1280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Propiedad grid-area</a:t>
            </a:r>
            <a:endParaRPr/>
          </a:p>
        </p:txBody>
      </p:sp>
      <p:sp>
        <p:nvSpPr>
          <p:cNvPr id="383" name="Google Shape;383;p43"/>
          <p:cNvSpPr txBox="1"/>
          <p:nvPr>
            <p:ph idx="1" type="body"/>
          </p:nvPr>
        </p:nvSpPr>
        <p:spPr>
          <a:xfrm>
            <a:off x="432025" y="131402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La propiedad </a:t>
            </a:r>
            <a:r>
              <a:rPr b="1" lang="es" sz="1650"/>
              <a:t>grid-area</a:t>
            </a:r>
            <a:r>
              <a:rPr lang="es" sz="1650"/>
              <a:t> especifica el tamaño y la ubicación de un elemento de cuadrícula en el diseño, y es una propiedad abreviada para las siguientes propiedades: </a:t>
            </a:r>
            <a:r>
              <a:rPr b="1" lang="es" sz="1650"/>
              <a:t>grid-row-start</a:t>
            </a:r>
            <a:r>
              <a:rPr lang="es" sz="1650"/>
              <a:t>, </a:t>
            </a:r>
            <a:r>
              <a:rPr b="1" lang="es" sz="1650"/>
              <a:t>grid-column-start</a:t>
            </a:r>
            <a:r>
              <a:rPr lang="es" sz="1650"/>
              <a:t>, </a:t>
            </a:r>
            <a:r>
              <a:rPr b="1" lang="es" sz="1650"/>
              <a:t>grid-row-end</a:t>
            </a:r>
            <a:r>
              <a:rPr lang="es" sz="1650"/>
              <a:t> y </a:t>
            </a:r>
            <a:r>
              <a:rPr b="1" lang="es" sz="1650"/>
              <a:t>grid-column-end</a:t>
            </a:r>
            <a:r>
              <a:rPr lang="es" sz="1650"/>
              <a:t>.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La </a:t>
            </a:r>
            <a:r>
              <a:rPr b="1" lang="es" sz="1650"/>
              <a:t>grid-area</a:t>
            </a:r>
            <a:r>
              <a:rPr lang="es" sz="1650"/>
              <a:t> también se puede utilizar para asignar un nombre a un elemento de la cuadrícula. Y se puede hacer referencia a los elementos de cuadrícula con nombre mediante la propiedad </a:t>
            </a:r>
            <a:r>
              <a:rPr b="1" lang="es" sz="1650"/>
              <a:t>grid-template-areas</a:t>
            </a:r>
            <a:r>
              <a:rPr lang="es" sz="1650"/>
              <a:t> del contenedor de cuadrícula. </a:t>
            </a:r>
            <a:r>
              <a:rPr lang="es" sz="1650" u="sng">
                <a:solidFill>
                  <a:schemeClr val="hlink"/>
                </a:solidFill>
                <a:hlinkClick r:id="rId3"/>
              </a:rPr>
              <a:t>+info</a:t>
            </a:r>
            <a:endParaRPr sz="15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4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Ejemplos de grid-area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4"/>
          <p:cNvSpPr/>
          <p:nvPr/>
        </p:nvSpPr>
        <p:spPr>
          <a:xfrm>
            <a:off x="486610" y="1288095"/>
            <a:ext cx="8170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Caso 1:</a:t>
            </a:r>
            <a:r>
              <a:rPr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el área ocupa una columna.</a:t>
            </a:r>
            <a:endParaRPr b="1" i="0" sz="165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0" name="Google Shape;3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110" y="1712900"/>
            <a:ext cx="4739774" cy="10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2113" y="3216750"/>
            <a:ext cx="4739774" cy="127322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4"/>
          <p:cNvSpPr/>
          <p:nvPr/>
        </p:nvSpPr>
        <p:spPr>
          <a:xfrm>
            <a:off x="486610" y="2803420"/>
            <a:ext cx="8170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Caso 2:</a:t>
            </a:r>
            <a:r>
              <a:rPr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el área ocupa un grupo de celdas en horizontal.</a:t>
            </a:r>
            <a:endParaRPr i="0" sz="165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Ejemplos de grid-area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5"/>
          <p:cNvSpPr/>
          <p:nvPr/>
        </p:nvSpPr>
        <p:spPr>
          <a:xfrm>
            <a:off x="486610" y="1288095"/>
            <a:ext cx="8170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Caso 3: </a:t>
            </a:r>
            <a:r>
              <a:rPr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el área ocupa un grupo de celdas en vertical.</a:t>
            </a:r>
            <a:endParaRPr i="0" sz="165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45"/>
          <p:cNvSpPr/>
          <p:nvPr/>
        </p:nvSpPr>
        <p:spPr>
          <a:xfrm>
            <a:off x="486610" y="2879620"/>
            <a:ext cx="8170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Caso 4: </a:t>
            </a:r>
            <a:r>
              <a:rPr lang="es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esquema básico de página Web, con 6 columnas y 3 filas.</a:t>
            </a:r>
            <a:endParaRPr i="0" sz="165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0" name="Google Shape;40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513" y="1673225"/>
            <a:ext cx="3588976" cy="11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7513" y="3264723"/>
            <a:ext cx="3588976" cy="1231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Grid | Ejemplo</a:t>
            </a:r>
            <a:endParaRPr/>
          </a:p>
        </p:txBody>
      </p:sp>
      <p:sp>
        <p:nvSpPr>
          <p:cNvPr id="407" name="Google Shape;407;p46"/>
          <p:cNvSpPr txBox="1"/>
          <p:nvPr>
            <p:ph idx="1" type="body"/>
          </p:nvPr>
        </p:nvSpPr>
        <p:spPr>
          <a:xfrm>
            <a:off x="432025" y="131402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En </a:t>
            </a:r>
            <a:r>
              <a:rPr lang="es" sz="1650" u="sng">
                <a:solidFill>
                  <a:schemeClr val="hlink"/>
                </a:solidFill>
                <a:hlinkClick r:id="rId3"/>
              </a:rPr>
              <a:t>este enlace</a:t>
            </a:r>
            <a:r>
              <a:rPr lang="es" sz="1650"/>
              <a:t> se puede ver cómo crear un pequeño proyecto con CSS Grid.</a:t>
            </a:r>
            <a:endParaRPr sz="1650"/>
          </a:p>
        </p:txBody>
      </p:sp>
      <p:pic>
        <p:nvPicPr>
          <p:cNvPr id="408" name="Google Shape;40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2451" y="1853726"/>
            <a:ext cx="5099110" cy="277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Artículos de interés</a:t>
            </a:r>
            <a:endParaRPr/>
          </a:p>
        </p:txBody>
      </p:sp>
      <p:sp>
        <p:nvSpPr>
          <p:cNvPr id="414" name="Google Shape;414;p47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33"/>
              <a:t>Documentación sobre CSS Grid:</a:t>
            </a:r>
            <a:endParaRPr sz="133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33" u="sng">
                <a:solidFill>
                  <a:schemeClr val="hlink"/>
                </a:solidFill>
                <a:hlinkClick r:id="rId3"/>
              </a:rPr>
              <a:t>https://lenguajecss.com/css/maquetacion-y-colocacion/grid-css/</a:t>
            </a:r>
            <a:br>
              <a:rPr lang="es" sz="1333"/>
            </a:br>
            <a:r>
              <a:rPr lang="es" sz="1333" u="sng">
                <a:solidFill>
                  <a:schemeClr val="hlink"/>
                </a:solidFill>
                <a:hlinkClick r:id="rId4"/>
              </a:rPr>
              <a:t>https://www.w3schools.com/css/css_grid.asp</a:t>
            </a:r>
            <a:br>
              <a:rPr lang="es" sz="1333"/>
            </a:br>
            <a:r>
              <a:rPr lang="es" sz="1333" u="sng">
                <a:solidFill>
                  <a:schemeClr val="hlink"/>
                </a:solidFill>
                <a:hlinkClick r:id="rId5"/>
              </a:rPr>
              <a:t>https://www.w3schools.com/css/css_grid_container.asp</a:t>
            </a:r>
            <a:br>
              <a:rPr lang="es" sz="1333"/>
            </a:br>
            <a:r>
              <a:rPr lang="es" sz="1333" u="sng">
                <a:solidFill>
                  <a:schemeClr val="hlink"/>
                </a:solidFill>
                <a:hlinkClick r:id="rId6"/>
              </a:rPr>
              <a:t>https://www.w3schools.com/css/css_grid_item.asp</a:t>
            </a:r>
            <a:br>
              <a:rPr lang="es" sz="1333"/>
            </a:br>
            <a:r>
              <a:rPr lang="es" sz="1333" u="sng">
                <a:solidFill>
                  <a:schemeClr val="hlink"/>
                </a:solidFill>
                <a:hlinkClick r:id="rId7"/>
              </a:rPr>
              <a:t>https://www.w3schools.com/cssref/pr_grid-area.asp</a:t>
            </a:r>
            <a:br>
              <a:rPr lang="es" sz="1333"/>
            </a:br>
            <a:r>
              <a:rPr lang="es" sz="1333" u="sng">
                <a:solidFill>
                  <a:schemeClr val="hlink"/>
                </a:solidFill>
                <a:hlinkClick r:id="rId8"/>
              </a:rPr>
              <a:t>Principios básicos del diseño con Grid</a:t>
            </a:r>
            <a:endParaRPr sz="133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33"/>
              <a:t>Material multimedia:</a:t>
            </a:r>
            <a:endParaRPr sz="133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33" u="sng">
                <a:solidFill>
                  <a:schemeClr val="hlink"/>
                </a:solidFill>
                <a:hlinkClick r:id="rId9"/>
              </a:rPr>
              <a:t>CSS Grid desde cero</a:t>
            </a:r>
            <a:br>
              <a:rPr lang="es" sz="1333"/>
            </a:br>
            <a:r>
              <a:rPr lang="es" sz="1333" u="sng">
                <a:solidFill>
                  <a:schemeClr val="hlink"/>
                </a:solidFill>
                <a:hlinkClick r:id="rId10"/>
              </a:rPr>
              <a:t>CSS GRID Página Web Responsive  </a:t>
            </a:r>
            <a:endParaRPr sz="1333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8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Material extra</a:t>
            </a:r>
            <a:endParaRPr/>
          </a:p>
        </p:txBody>
      </p:sp>
      <p:sp>
        <p:nvSpPr>
          <p:cNvPr id="420" name="Google Shape;420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Herramientas</a:t>
            </a:r>
            <a:endParaRPr/>
          </a:p>
        </p:txBody>
      </p:sp>
      <p:sp>
        <p:nvSpPr>
          <p:cNvPr id="426" name="Google Shape;426;p49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33" u="sng">
                <a:solidFill>
                  <a:schemeClr val="hlink"/>
                </a:solidFill>
                <a:hlinkClick r:id="rId3"/>
              </a:rPr>
              <a:t>Firefox Browser Developer Edition</a:t>
            </a:r>
            <a:endParaRPr sz="1333"/>
          </a:p>
        </p:txBody>
      </p:sp>
      <p:pic>
        <p:nvPicPr>
          <p:cNvPr descr="https://www.mozilla.org/media/img/firefox/developer/hero-screenshot.baf6dd693658.png" id="427" name="Google Shape;427;p49"/>
          <p:cNvPicPr preferRelativeResize="0"/>
          <p:nvPr/>
        </p:nvPicPr>
        <p:blipFill rotWithShape="1">
          <a:blip r:embed="rId4">
            <a:alphaModFix/>
          </a:blip>
          <a:srcRect b="0" l="3430" r="3355" t="0"/>
          <a:stretch/>
        </p:blipFill>
        <p:spPr>
          <a:xfrm>
            <a:off x="432025" y="1753800"/>
            <a:ext cx="8280000" cy="24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0"/>
          <p:cNvSpPr txBox="1"/>
          <p:nvPr>
            <p:ph type="title"/>
          </p:nvPr>
        </p:nvSpPr>
        <p:spPr>
          <a:xfrm>
            <a:off x="432025" y="187325"/>
            <a:ext cx="79821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Tarea para el Proyecto:</a:t>
            </a:r>
            <a:endParaRPr/>
          </a:p>
        </p:txBody>
      </p:sp>
      <p:sp>
        <p:nvSpPr>
          <p:cNvPr id="433" name="Google Shape;433;p50"/>
          <p:cNvSpPr txBox="1"/>
          <p:nvPr>
            <p:ph idx="1" type="body"/>
          </p:nvPr>
        </p:nvSpPr>
        <p:spPr>
          <a:xfrm>
            <a:off x="432025" y="8476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función de la distribución (</a:t>
            </a:r>
            <a:r>
              <a:rPr i="1" lang="es"/>
              <a:t>layout</a:t>
            </a:r>
            <a:r>
              <a:rPr lang="es"/>
              <a:t>) elegida para el proyecto utilizar Grid para maquetar el contenido principal (</a:t>
            </a:r>
            <a:r>
              <a:rPr i="1" lang="es"/>
              <a:t>main</a:t>
            </a:r>
            <a:r>
              <a:rPr lang="es"/>
              <a:t>) de las páginas del sitio.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1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 te olvides de dar el presente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2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Recordá: 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Revisar la Cartelera de Novedades.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Hacer tus consultas en el Foro.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Realizar los Ejercicios obligatorios.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Todo en el Aula Virtual.</a:t>
            </a:r>
            <a:endParaRPr sz="3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Muchas gracias por tu atención.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Nos vemos pronto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