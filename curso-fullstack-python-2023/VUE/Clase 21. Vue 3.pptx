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Montserrat SemiBold"/>
      <p:regular r:id="rId47"/>
      <p:bold r:id="rId48"/>
      <p:italic r:id="rId49"/>
      <p:boldItalic r:id="rId50"/>
    </p:embeddedFont>
    <p:embeddedFont>
      <p:font typeface="Montserrat"/>
      <p:regular r:id="rId51"/>
      <p:bold r:id="rId52"/>
      <p:italic r:id="rId53"/>
      <p:boldItalic r:id="rId54"/>
    </p:embeddedFont>
    <p:embeddedFont>
      <p:font typeface="Montserrat Medium"/>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http://customooxmlschemas.google.com/">
      <go:slidesCustomData xmlns:go="http://customooxmlschemas.google.com/" r:id="rId59" roundtripDataSignature="AMtx7mhyw94ROjgyi6zC14W0DMd0DNo7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SemiBold-bold.fntdata"/><Relationship Id="rId47" Type="http://schemas.openxmlformats.org/officeDocument/2006/relationships/font" Target="fonts/MontserratSemiBold-regular.fntdata"/><Relationship Id="rId49" Type="http://schemas.openxmlformats.org/officeDocument/2006/relationships/font" Target="fonts/MontserratSemi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regular.fntdata"/><Relationship Id="rId50" Type="http://schemas.openxmlformats.org/officeDocument/2006/relationships/font" Target="fonts/MontserratSemiBold-boldItalic.fntdata"/><Relationship Id="rId53" Type="http://schemas.openxmlformats.org/officeDocument/2006/relationships/font" Target="fonts/Montserrat-italic.fntdata"/><Relationship Id="rId52" Type="http://schemas.openxmlformats.org/officeDocument/2006/relationships/font" Target="fonts/Montserrat-bold.fntdata"/><Relationship Id="rId11" Type="http://schemas.openxmlformats.org/officeDocument/2006/relationships/slide" Target="slides/slide6.xml"/><Relationship Id="rId55" Type="http://schemas.openxmlformats.org/officeDocument/2006/relationships/font" Target="fonts/MontserratMedium-regular.fntdata"/><Relationship Id="rId10" Type="http://schemas.openxmlformats.org/officeDocument/2006/relationships/slide" Target="slides/slide5.xml"/><Relationship Id="rId54" Type="http://schemas.openxmlformats.org/officeDocument/2006/relationships/font" Target="fonts/Montserrat-boldItalic.fntdata"/><Relationship Id="rId13" Type="http://schemas.openxmlformats.org/officeDocument/2006/relationships/slide" Target="slides/slide8.xml"/><Relationship Id="rId57" Type="http://schemas.openxmlformats.org/officeDocument/2006/relationships/font" Target="fonts/MontserratMedium-italic.fntdata"/><Relationship Id="rId12" Type="http://schemas.openxmlformats.org/officeDocument/2006/relationships/slide" Target="slides/slide7.xml"/><Relationship Id="rId56" Type="http://schemas.openxmlformats.org/officeDocument/2006/relationships/font" Target="fonts/MontserratMedium-bold.fntdata"/><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Montserrat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mozilla.org/es/docs/Web/HTTP/Status"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Fuente: </a:t>
            </a:r>
            <a:r>
              <a:rPr lang="es" u="sng">
                <a:solidFill>
                  <a:schemeClr val="hlink"/>
                </a:solidFill>
                <a:hlinkClick r:id="rId2"/>
              </a:rPr>
              <a:t>https://developer.mozilla.org/es/docs/Web/HTTP/Status</a:t>
            </a:r>
            <a:r>
              <a:rPr lang="es"/>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43"/>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43"/>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43"/>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43"/>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43"/>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4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43"/>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44"/>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4"/>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4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44"/>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4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44"/>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44"/>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45"/>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4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5"/>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45"/>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45"/>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45"/>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45"/>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45"/>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45"/>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4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45"/>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45"/>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4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45"/>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4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4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4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46" name="Google Shape;46;p46"/>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47" name="Google Shape;47;p4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 name="Google Shape;48;p46"/>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4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50" name="Shape 50"/>
        <p:cNvGrpSpPr/>
        <p:nvPr/>
      </p:nvGrpSpPr>
      <p:grpSpPr>
        <a:xfrm>
          <a:off x="0" y="0"/>
          <a:ext cx="0" cy="0"/>
          <a:chOff x="0" y="0"/>
          <a:chExt cx="0" cy="0"/>
        </a:xfrm>
      </p:grpSpPr>
      <p:sp>
        <p:nvSpPr>
          <p:cNvPr id="51" name="Google Shape;51;p47"/>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7"/>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3" name="Google Shape;53;p47"/>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54" name="Google Shape;54;p47"/>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55" name="Google Shape;55;p47"/>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47"/>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57" name="Shape 57"/>
        <p:cNvGrpSpPr/>
        <p:nvPr/>
      </p:nvGrpSpPr>
      <p:grpSpPr>
        <a:xfrm>
          <a:off x="0" y="0"/>
          <a:ext cx="0" cy="0"/>
          <a:chOff x="0" y="0"/>
          <a:chExt cx="0" cy="0"/>
        </a:xfrm>
      </p:grpSpPr>
      <p:sp>
        <p:nvSpPr>
          <p:cNvPr id="58" name="Google Shape;58;p48"/>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59" name="Google Shape;59;p4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0" name="Google Shape;60;p48"/>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61" name="Google Shape;61;p48"/>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49"/>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49"/>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6" name="Google Shape;66;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7" name="Google Shape;67;p49"/>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8" name="Google Shape;68;p49"/>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69" name="Google Shape;69;p4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0" name="Shape 70"/>
        <p:cNvGrpSpPr/>
        <p:nvPr/>
      </p:nvGrpSpPr>
      <p:grpSpPr>
        <a:xfrm>
          <a:off x="0" y="0"/>
          <a:ext cx="0" cy="0"/>
          <a:chOff x="0" y="0"/>
          <a:chExt cx="0" cy="0"/>
        </a:xfrm>
      </p:grpSpPr>
      <p:sp>
        <p:nvSpPr>
          <p:cNvPr id="71" name="Google Shape;71;p50"/>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73" name="Google Shape;73;p50"/>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74" name="Google Shape;74;p50"/>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75" name="Google Shape;75;p50"/>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76" name="Google Shape;76;p50"/>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p50"/>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78" name="Shape 78"/>
        <p:cNvGrpSpPr/>
        <p:nvPr/>
      </p:nvGrpSpPr>
      <p:grpSpPr>
        <a:xfrm>
          <a:off x="0" y="0"/>
          <a:ext cx="0" cy="0"/>
          <a:chOff x="0" y="0"/>
          <a:chExt cx="0" cy="0"/>
        </a:xfrm>
      </p:grpSpPr>
      <p:sp>
        <p:nvSpPr>
          <p:cNvPr id="79" name="Google Shape;79;p51"/>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 name="Google Shape;80;p51"/>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81" name="Google Shape;81;p51"/>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82" name="Google Shape;82;p51"/>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83" name="Google Shape;83;p51"/>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4" name="Shape 84"/>
        <p:cNvGrpSpPr/>
        <p:nvPr/>
      </p:nvGrpSpPr>
      <p:grpSpPr>
        <a:xfrm>
          <a:off x="0" y="0"/>
          <a:ext cx="0" cy="0"/>
          <a:chOff x="0" y="0"/>
          <a:chExt cx="0" cy="0"/>
        </a:xfrm>
      </p:grpSpPr>
      <p:sp>
        <p:nvSpPr>
          <p:cNvPr id="85" name="Google Shape;85;p52"/>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2"/>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8" name="Google Shape;88;p5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9" name="Google Shape;89;p52"/>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90" name="Google Shape;90;p52"/>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91" name="Shape 91"/>
        <p:cNvGrpSpPr/>
        <p:nvPr/>
      </p:nvGrpSpPr>
      <p:grpSpPr>
        <a:xfrm>
          <a:off x="0" y="0"/>
          <a:ext cx="0" cy="0"/>
          <a:chOff x="0" y="0"/>
          <a:chExt cx="0" cy="0"/>
        </a:xfrm>
      </p:grpSpPr>
      <p:sp>
        <p:nvSpPr>
          <p:cNvPr id="92" name="Google Shape;92;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3"/>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4" name="Google Shape;94;p53"/>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96" name="Google Shape;96;p53"/>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7" name="Google Shape;97;p5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8" name="Google Shape;98;p53"/>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9" name="Google Shape;99;p5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100" name="Shape 100"/>
        <p:cNvGrpSpPr/>
        <p:nvPr/>
      </p:nvGrpSpPr>
      <p:grpSpPr>
        <a:xfrm>
          <a:off x="0" y="0"/>
          <a:ext cx="0" cy="0"/>
          <a:chOff x="0" y="0"/>
          <a:chExt cx="0" cy="0"/>
        </a:xfrm>
      </p:grpSpPr>
      <p:sp>
        <p:nvSpPr>
          <p:cNvPr id="101" name="Google Shape;101;p5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4"/>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103" name="Google Shape;103;p54"/>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104" name="Google Shape;104;p54"/>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105" name="Google Shape;105;p54"/>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106" name="Google Shape;106;p54"/>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107" name="Google Shape;107;p54"/>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8" name="Google Shape;108;p54"/>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 name="Google Shape;109;p54"/>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10" name="Google Shape;110;p54"/>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55"/>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5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5"/>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55"/>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55"/>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55"/>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55"/>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55"/>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55"/>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55"/>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5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56"/>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56"/>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6"/>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6"/>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56"/>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56"/>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56"/>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5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5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56"/>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56"/>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56"/>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5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desarrolloweb.com/articulos/que-es-una-spa.html" TargetMode="External"/><Relationship Id="rId4" Type="http://schemas.openxmlformats.org/officeDocument/2006/relationships/hyperlink" Target="https://dreamy-pike-507001.netlify.ap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s://developer.mozilla.org/es/docs/Web/API/Fetch_API/Utilizando_Fetch"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jsonplaceholder.typicode.com/posts" TargetMode="External"/><Relationship Id="rId4" Type="http://schemas.openxmlformats.org/officeDocument/2006/relationships/hyperlink" Target="https://jsonplaceholder.typicode.com/posts/2" TargetMode="External"/><Relationship Id="rId5"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s://www.arsys.es/blog/programacion/axios/#:~:text=Axios%20es%20una%20librer%C3%ADa%20JavaScript,recibiremos%20respuestas%20f%C3%A1ciles%20de%20procesar." TargetMode="External"/><Relationship Id="rId4" Type="http://schemas.openxmlformats.org/officeDocument/2006/relationships/hyperlink" Target="https://cdnjs.com/libraries/axio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hyperlink" Target="https://dev.to/vikingcodeblog/4-maneras-de-llamar-a-una-api-rest-con-javascript-2nhm" TargetMode="External"/><Relationship Id="rId4" Type="http://schemas.openxmlformats.org/officeDocument/2006/relationships/hyperlink" Target="https://github.com/public-apis/public-apis" TargetMode="External"/><Relationship Id="rId5" Type="http://schemas.openxmlformats.org/officeDocument/2006/relationships/hyperlink" Target="https://mocki.io/fake-json-api" TargetMode="External"/><Relationship Id="rId6" Type="http://schemas.openxmlformats.org/officeDocument/2006/relationships/hyperlink" Target="https://beeceptor.com/" TargetMode="External"/></Relationships>
</file>

<file path=ppt/slides/_rels/slide37.xml.rels><?xml version="1.0" encoding="UTF-8" standalone="yes"?><Relationships xmlns="http://schemas.openxmlformats.org/package/2006/relationships"><Relationship Id="rId10" Type="http://schemas.openxmlformats.org/officeDocument/2006/relationships/hyperlink" Target="https://www.youtube.com/watch?v=Fr5QGdJZBVo" TargetMode="External"/><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s://developer.mozilla.org/es/docs/Web/HTTP" TargetMode="External"/><Relationship Id="rId4" Type="http://schemas.openxmlformats.org/officeDocument/2006/relationships/hyperlink" Target="https://www.ibm.com/ar-es/cloud/learn/rest-apis" TargetMode="External"/><Relationship Id="rId9" Type="http://schemas.openxmlformats.org/officeDocument/2006/relationships/hyperlink" Target="https://youtu.be/u2Ms34GE14U" TargetMode="External"/><Relationship Id="rId5" Type="http://schemas.openxmlformats.org/officeDocument/2006/relationships/hyperlink" Target="https://codigofacilito.com/articulos/js-programacion-asincrona" TargetMode="External"/><Relationship Id="rId6" Type="http://schemas.openxmlformats.org/officeDocument/2006/relationships/hyperlink" Target="https://developer.mozilla.org/es/docs/Web/JavaScript/Reference/Global_Objects/Promise#:~:text=Las%20promesas%20en%20JavaScript%20representan,una%20funci%C3%B3n%20sin%20argumentos%2C%20p." TargetMode="External"/><Relationship Id="rId7" Type="http://schemas.openxmlformats.org/officeDocument/2006/relationships/hyperlink" Target="https://www.freecodecamp.org/espanol/news/promesas-en-javascript-es6/" TargetMode="External"/><Relationship Id="rId8" Type="http://schemas.openxmlformats.org/officeDocument/2006/relationships/hyperlink" Target="https://desarrolloweb.com/articulos/que-es-una-spa.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21</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Vue 3</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SPA y asincronía</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157663" y="2868475"/>
            <a:ext cx="828675"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21</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20</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22</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DOM y Eventos</a:t>
            </a:r>
            <a:endParaRPr b="1"/>
          </a:p>
          <a:p>
            <a:pPr indent="0" lvl="0" marL="0" rtl="0" algn="l">
              <a:lnSpc>
                <a:spcPct val="100000"/>
              </a:lnSpc>
              <a:spcBef>
                <a:spcPts val="0"/>
              </a:spcBef>
              <a:spcAft>
                <a:spcPts val="0"/>
              </a:spcAft>
              <a:buClr>
                <a:schemeClr val="dk1"/>
              </a:buClr>
              <a:buSzPts val="1100"/>
              <a:buFont typeface="Arial"/>
              <a:buNone/>
            </a:pPr>
            <a:r>
              <a:t/>
            </a:r>
            <a:endParaRPr b="1"/>
          </a:p>
          <a:p>
            <a:pPr indent="-292100" lvl="0" marL="457200" rtl="0" algn="l">
              <a:lnSpc>
                <a:spcPct val="115000"/>
              </a:lnSpc>
              <a:spcBef>
                <a:spcPts val="0"/>
              </a:spcBef>
              <a:spcAft>
                <a:spcPts val="0"/>
              </a:spcAft>
              <a:buSzPts val="1000"/>
              <a:buChar char="●"/>
            </a:pPr>
            <a:r>
              <a:rPr lang="es"/>
              <a:t>Aplicaciones Reactivas. Reactividad en 2 sentidos.</a:t>
            </a:r>
            <a:endParaRPr/>
          </a:p>
          <a:p>
            <a:pPr indent="-292100" lvl="0" marL="457200" rtl="0" algn="l">
              <a:lnSpc>
                <a:spcPct val="115000"/>
              </a:lnSpc>
              <a:spcBef>
                <a:spcPts val="0"/>
              </a:spcBef>
              <a:spcAft>
                <a:spcPts val="0"/>
              </a:spcAft>
              <a:buSzPts val="1000"/>
              <a:buChar char="●"/>
            </a:pPr>
            <a:r>
              <a:rPr lang="es"/>
              <a:t>Propiedades computadas.</a:t>
            </a:r>
            <a:endParaRPr/>
          </a:p>
          <a:p>
            <a:pPr indent="-292100" lvl="0" marL="457200" rtl="0" algn="l">
              <a:lnSpc>
                <a:spcPct val="115000"/>
              </a:lnSpc>
              <a:spcBef>
                <a:spcPts val="0"/>
              </a:spcBef>
              <a:spcAft>
                <a:spcPts val="0"/>
              </a:spcAft>
              <a:buSzPts val="1000"/>
              <a:buChar char="●"/>
            </a:pPr>
            <a:r>
              <a:rPr lang="es"/>
              <a:t>Componentes.</a:t>
            </a:r>
            <a:endParaRPr/>
          </a:p>
          <a:p>
            <a:pPr indent="-292100" lvl="0" marL="457200" rtl="0" algn="l">
              <a:lnSpc>
                <a:spcPct val="115000"/>
              </a:lnSpc>
              <a:spcBef>
                <a:spcPts val="0"/>
              </a:spcBef>
              <a:spcAft>
                <a:spcPts val="0"/>
              </a:spcAft>
              <a:buSzPts val="1000"/>
              <a:buChar char="●"/>
            </a:pPr>
            <a:r>
              <a:rPr lang="es"/>
              <a:t>Watchers.</a:t>
            </a:r>
            <a:endParaRPr/>
          </a:p>
          <a:p>
            <a:pPr indent="-292100" lvl="0" marL="457200" rtl="0" algn="l">
              <a:lnSpc>
                <a:spcPct val="115000"/>
              </a:lnSpc>
              <a:spcBef>
                <a:spcPts val="0"/>
              </a:spcBef>
              <a:spcAft>
                <a:spcPts val="0"/>
              </a:spcAft>
              <a:buSzPts val="1000"/>
              <a:buChar char="●"/>
            </a:pPr>
            <a:r>
              <a:rPr lang="es"/>
              <a:t>Acceder a los elementos</a:t>
            </a:r>
            <a:endParaRPr/>
          </a:p>
          <a:p>
            <a:pPr indent="0" lvl="0" marL="457200" rtl="0" algn="l">
              <a:lnSpc>
                <a:spcPct val="115000"/>
              </a:lnSpc>
              <a:spcBef>
                <a:spcPts val="0"/>
              </a:spcBef>
              <a:spcAft>
                <a:spcPts val="0"/>
              </a:spcAft>
              <a:buClr>
                <a:schemeClr val="dk1"/>
              </a:buClr>
              <a:buSzPts val="1100"/>
              <a:buFont typeface="Arial"/>
              <a:buNone/>
            </a:pPr>
            <a:r>
              <a:rPr lang="es"/>
              <a:t>del DOM utilizando $refs</a:t>
            </a:r>
            <a:endParaRPr/>
          </a:p>
          <a:p>
            <a:pPr indent="-292100" lvl="0" marL="457200" rtl="0" algn="l">
              <a:lnSpc>
                <a:spcPct val="115000"/>
              </a:lnSpc>
              <a:spcBef>
                <a:spcPts val="0"/>
              </a:spcBef>
              <a:spcAft>
                <a:spcPts val="0"/>
              </a:spcAft>
              <a:buSzPts val="1000"/>
              <a:buChar char="●"/>
            </a:pPr>
            <a:r>
              <a:rPr lang="es"/>
              <a:t>Concepto MVC y MVVM.</a:t>
            </a:r>
            <a:endParaRPr/>
          </a:p>
          <a:p>
            <a:pPr indent="0" lvl="0" marL="0" rtl="0" algn="l">
              <a:lnSpc>
                <a:spcPct val="100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
              <a:t>Introducción a Base de Datos</a:t>
            </a:r>
            <a:endParaRPr b="1"/>
          </a:p>
          <a:p>
            <a:pPr indent="0" lvl="0" marL="0" rtl="0" algn="l">
              <a:lnSpc>
                <a:spcPct val="100000"/>
              </a:lnSpc>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¿Qué es una Base de datos?</a:t>
            </a:r>
            <a:endParaRPr sz="900"/>
          </a:p>
          <a:p>
            <a:pPr indent="-285750" lvl="0" marL="457200" rtl="0" algn="l">
              <a:lnSpc>
                <a:spcPct val="115000"/>
              </a:lnSpc>
              <a:spcBef>
                <a:spcPts val="0"/>
              </a:spcBef>
              <a:spcAft>
                <a:spcPts val="0"/>
              </a:spcAft>
              <a:buSzPts val="900"/>
              <a:buChar char="●"/>
            </a:pPr>
            <a:r>
              <a:rPr lang="es" sz="900"/>
              <a:t>BBDD relacionales y no relacionales.</a:t>
            </a:r>
            <a:endParaRPr sz="900"/>
          </a:p>
          <a:p>
            <a:pPr indent="-285750" lvl="0" marL="457200" rtl="0" algn="l">
              <a:lnSpc>
                <a:spcPct val="115000"/>
              </a:lnSpc>
              <a:spcBef>
                <a:spcPts val="0"/>
              </a:spcBef>
              <a:spcAft>
                <a:spcPts val="0"/>
              </a:spcAft>
              <a:buSzPts val="900"/>
              <a:buChar char="●"/>
            </a:pPr>
            <a:r>
              <a:rPr lang="es" sz="900"/>
              <a:t>Entorno MySQL. Instalación. Clientes MySQL.</a:t>
            </a:r>
            <a:endParaRPr sz="900"/>
          </a:p>
          <a:p>
            <a:pPr indent="-285750" lvl="0" marL="457200" rtl="0" algn="l">
              <a:lnSpc>
                <a:spcPct val="115000"/>
              </a:lnSpc>
              <a:spcBef>
                <a:spcPts val="0"/>
              </a:spcBef>
              <a:spcAft>
                <a:spcPts val="0"/>
              </a:spcAft>
              <a:buSzPts val="900"/>
              <a:buChar char="●"/>
            </a:pPr>
            <a:r>
              <a:rPr lang="es" sz="900"/>
              <a:t>DER. Entidad, atributo y tipo de datos. Primary key.</a:t>
            </a:r>
            <a:endParaRPr sz="900"/>
          </a:p>
          <a:p>
            <a:pPr indent="-285750" lvl="0" marL="457200" rtl="0" algn="l">
              <a:lnSpc>
                <a:spcPct val="115000"/>
              </a:lnSpc>
              <a:spcBef>
                <a:spcPts val="0"/>
              </a:spcBef>
              <a:spcAft>
                <a:spcPts val="0"/>
              </a:spcAft>
              <a:buSzPts val="900"/>
              <a:buChar char="●"/>
            </a:pPr>
            <a:r>
              <a:rPr lang="es" sz="900"/>
              <a:t>Lenguaje SQL y DDL.</a:t>
            </a:r>
            <a:endParaRPr sz="900"/>
          </a:p>
          <a:p>
            <a:pPr indent="-285750" lvl="0" marL="457200" rtl="0" algn="l">
              <a:lnSpc>
                <a:spcPct val="115000"/>
              </a:lnSpc>
              <a:spcBef>
                <a:spcPts val="0"/>
              </a:spcBef>
              <a:spcAft>
                <a:spcPts val="0"/>
              </a:spcAft>
              <a:buSzPts val="900"/>
              <a:buChar char="●"/>
            </a:pPr>
            <a:r>
              <a:rPr lang="es" sz="900"/>
              <a:t>Backup y restauración de bases de datos.</a:t>
            </a:r>
            <a:endParaRPr sz="900"/>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SPA y Asincronía</a:t>
            </a:r>
            <a:endParaRPr b="1"/>
          </a:p>
          <a:p>
            <a:pPr indent="0" lvl="0" marL="0" rtl="0" algn="l">
              <a:lnSpc>
                <a:spcPct val="100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Introducción a SPA.</a:t>
            </a:r>
            <a:endParaRPr sz="900"/>
          </a:p>
          <a:p>
            <a:pPr indent="-285750" lvl="0" marL="457200" rtl="0" algn="l">
              <a:lnSpc>
                <a:spcPct val="115000"/>
              </a:lnSpc>
              <a:spcBef>
                <a:spcPts val="0"/>
              </a:spcBef>
              <a:spcAft>
                <a:spcPts val="0"/>
              </a:spcAft>
              <a:buSzPts val="900"/>
              <a:buChar char="●"/>
            </a:pPr>
            <a:r>
              <a:rPr lang="es" sz="900"/>
              <a:t>SPA. ¿Qué es y qué beneficios tiene?</a:t>
            </a:r>
            <a:endParaRPr sz="900"/>
          </a:p>
          <a:p>
            <a:pPr indent="-285750" lvl="0" marL="457200" rtl="0" algn="l">
              <a:lnSpc>
                <a:spcPct val="115000"/>
              </a:lnSpc>
              <a:spcBef>
                <a:spcPts val="0"/>
              </a:spcBef>
              <a:spcAft>
                <a:spcPts val="0"/>
              </a:spcAft>
              <a:buSzPts val="900"/>
              <a:buChar char="●"/>
            </a:pPr>
            <a:r>
              <a:rPr lang="es" sz="900"/>
              <a:t>Ejemplo práctico de un SPA en Vue.</a:t>
            </a:r>
            <a:endParaRPr sz="900"/>
          </a:p>
          <a:p>
            <a:pPr indent="-285750" lvl="0" marL="457200" rtl="0" algn="l">
              <a:lnSpc>
                <a:spcPct val="115000"/>
              </a:lnSpc>
              <a:spcBef>
                <a:spcPts val="0"/>
              </a:spcBef>
              <a:spcAft>
                <a:spcPts val="0"/>
              </a:spcAft>
              <a:buSzPts val="900"/>
              <a:buChar char="●"/>
            </a:pPr>
            <a:r>
              <a:rPr lang="es" sz="900"/>
              <a:t>Enviar y pedir datos a un servidor</a:t>
            </a:r>
            <a:endParaRPr sz="900"/>
          </a:p>
          <a:p>
            <a:pPr indent="-285750" lvl="0" marL="457200" rtl="0" algn="l">
              <a:lnSpc>
                <a:spcPct val="115000"/>
              </a:lnSpc>
              <a:spcBef>
                <a:spcPts val="0"/>
              </a:spcBef>
              <a:spcAft>
                <a:spcPts val="0"/>
              </a:spcAft>
              <a:buSzPts val="900"/>
              <a:buChar char="●"/>
            </a:pPr>
            <a:r>
              <a:rPr lang="es" sz="900"/>
              <a:t>Asincronía.</a:t>
            </a:r>
            <a:endParaRPr sz="900"/>
          </a:p>
          <a:p>
            <a:pPr indent="-285750" lvl="0" marL="457200" rtl="0" algn="l">
              <a:lnSpc>
                <a:spcPct val="115000"/>
              </a:lnSpc>
              <a:spcBef>
                <a:spcPts val="0"/>
              </a:spcBef>
              <a:spcAft>
                <a:spcPts val="0"/>
              </a:spcAft>
              <a:buSzPts val="900"/>
              <a:buChar char="●"/>
            </a:pPr>
            <a:r>
              <a:rPr lang="es" sz="900"/>
              <a:t>Consumo de API REST a través de fetch y Axios.</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MPA: Multiple Page Application</a:t>
            </a:r>
            <a:endParaRPr/>
          </a:p>
        </p:txBody>
      </p:sp>
      <p:sp>
        <p:nvSpPr>
          <p:cNvPr id="173" name="Google Shape;173;p5"/>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Tradicionalmente, el sistema que se seguía para crear páginas o aplicaciones web se enmarcaba dentro de la categoría de páginas </a:t>
            </a:r>
            <a:r>
              <a:rPr b="1" lang="es"/>
              <a:t>MPA </a:t>
            </a:r>
            <a:r>
              <a:rPr lang="es"/>
              <a:t>(</a:t>
            </a:r>
            <a:r>
              <a:rPr i="1" lang="es"/>
              <a:t>Multiple Page Application</a:t>
            </a:r>
            <a:r>
              <a:rPr lang="es"/>
              <a:t>). Bajo este sistema, el navegador se descarga el fichero </a:t>
            </a:r>
            <a:r>
              <a:rPr b="1" lang="es"/>
              <a:t>.html</a:t>
            </a:r>
            <a:r>
              <a:rPr lang="es"/>
              <a:t>, lo lee y luego realiza las peticiones de los restantes archivos relacionados que encuentra en el documento HTML. Si el usuario pulsa en algún enlace, se descarga el </a:t>
            </a:r>
            <a:r>
              <a:rPr b="1" lang="es"/>
              <a:t>.html</a:t>
            </a:r>
            <a:r>
              <a:rPr lang="es"/>
              <a:t> de dicho enlace (recargando la página completa) y se repite el proceso. Generalmente, es el que se utiliza frecuentemente en sitios web más tradicionales, los que usan mayoritariamente backend.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SPA</a:t>
            </a:r>
            <a:endParaRPr/>
          </a:p>
        </p:txBody>
      </p:sp>
      <p:sp>
        <p:nvSpPr>
          <p:cNvPr id="179" name="Google Shape;179;p6"/>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00000"/>
              </a:lnSpc>
              <a:spcBef>
                <a:spcPts val="0"/>
              </a:spcBef>
              <a:spcAft>
                <a:spcPts val="0"/>
              </a:spcAft>
              <a:buSzPct val="117647"/>
              <a:buNone/>
            </a:pPr>
            <a:r>
              <a:rPr b="1" lang="es">
                <a:latin typeface="Montserrat"/>
                <a:ea typeface="Montserrat"/>
                <a:cs typeface="Montserrat"/>
                <a:sym typeface="Montserrat"/>
              </a:rPr>
              <a:t>SPA</a:t>
            </a:r>
            <a:r>
              <a:rPr lang="es"/>
              <a:t> (</a:t>
            </a:r>
            <a:r>
              <a:rPr i="1" lang="es"/>
              <a:t>Single Page Application</a:t>
            </a:r>
            <a:r>
              <a:rPr lang="es"/>
              <a:t>) es un tipo de aplicación web donde todas las pantallas las muestra en la misma página, sin recargar el navegador. Técnicamente, una SPA es un sitio donde existe un único punto de entrada, generalmente index.html. En la aplicación no hay ningún HTML al que se pueda acceder de manera separada, toda la acción se produce dentro del mismo documento HTML.</a:t>
            </a:r>
            <a:endParaRPr/>
          </a:p>
          <a:p>
            <a:pPr indent="0" lvl="0" marL="0" rtl="0" algn="l">
              <a:lnSpc>
                <a:spcPct val="100000"/>
              </a:lnSpc>
              <a:spcBef>
                <a:spcPts val="0"/>
              </a:spcBef>
              <a:spcAft>
                <a:spcPts val="0"/>
              </a:spcAft>
              <a:buSzPct val="117647"/>
              <a:buNone/>
            </a:pPr>
            <a:r>
              <a:rPr lang="es"/>
              <a:t>Pero disponer de una sola página no implica tener una sola vista. En la misma página SPA se van intercambiando vistas distintas a partir de los eventos producidos, obteniéndose un resultado similar al que tendríamos utilizando varias páginas. En realidad todo ocurre en la misma SPA, intercambiando vistas.</a:t>
            </a:r>
            <a:endParaRPr/>
          </a:p>
          <a:p>
            <a:pPr indent="0" lvl="0" marL="0" rtl="0" algn="l">
              <a:lnSpc>
                <a:spcPct val="100000"/>
              </a:lnSpc>
              <a:spcBef>
                <a:spcPts val="0"/>
              </a:spcBef>
              <a:spcAft>
                <a:spcPts val="0"/>
              </a:spcAft>
              <a:buSzPct val="117647"/>
              <a:buNone/>
            </a:pPr>
            <a:r>
              <a:rPr lang="es"/>
              <a:t>Por ejemplo, páginas como WhatsApp Web, Twitter o Google Drive podrían ser </a:t>
            </a:r>
            <a:r>
              <a:rPr b="1" lang="es">
                <a:latin typeface="Montserrat"/>
                <a:ea typeface="Montserrat"/>
                <a:cs typeface="Montserrat"/>
                <a:sym typeface="Montserrat"/>
              </a:rPr>
              <a:t>ejemplos de SPA</a:t>
            </a:r>
            <a:r>
              <a:rPr lang="es"/>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SPA: Single Page Application</a:t>
            </a:r>
            <a:endParaRPr/>
          </a:p>
        </p:txBody>
      </p:sp>
      <p:sp>
        <p:nvSpPr>
          <p:cNvPr id="185" name="Google Shape;185;p7"/>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17936"/>
              <a:buNone/>
            </a:pPr>
            <a:r>
              <a:rPr lang="es" sz="1650"/>
              <a:t>Una característica de las SPA es que cargan muy rápido sus vistas. Aunque parezcan páginas distintas, realmente es la misma página, por eso la respuesta, al pasar de una página a otra, es muchas veces prácticamente instantánea.</a:t>
            </a:r>
            <a:endParaRPr sz="1650"/>
          </a:p>
          <a:p>
            <a:pPr indent="0" lvl="0" marL="0" rtl="0" algn="l">
              <a:lnSpc>
                <a:spcPct val="115000"/>
              </a:lnSpc>
              <a:spcBef>
                <a:spcPts val="1200"/>
              </a:spcBef>
              <a:spcAft>
                <a:spcPts val="0"/>
              </a:spcAft>
              <a:buSzPct val="117936"/>
              <a:buNone/>
            </a:pPr>
            <a:r>
              <a:rPr lang="es" sz="1650"/>
              <a:t>Es normal que al interactuar con una SPA la URL que se muestra en la barra de direcciones del navegador vaya cambiando también. La clave es que, aunque cambie esta URL, la página no se recarga nunca. El hecho de cambiar esa URL es algo importante, ya que el propio navegador mantiene un historial de pantallas entre las que el usuario se podría mover, pulsando el botón de "atrás" o "adelante" en el navegador. </a:t>
            </a:r>
            <a:r>
              <a:rPr lang="es" sz="1650" u="sng">
                <a:solidFill>
                  <a:schemeClr val="hlink"/>
                </a:solidFill>
                <a:hlinkClick r:id="rId3"/>
              </a:rPr>
              <a:t>+info </a:t>
            </a:r>
            <a:endParaRPr b="1" sz="1650"/>
          </a:p>
          <a:p>
            <a:pPr indent="0" lvl="0" marL="0" rtl="0" algn="l">
              <a:lnSpc>
                <a:spcPct val="115000"/>
              </a:lnSpc>
              <a:spcBef>
                <a:spcPts val="1200"/>
              </a:spcBef>
              <a:spcAft>
                <a:spcPts val="1200"/>
              </a:spcAft>
              <a:buSzPct val="117936"/>
              <a:buNone/>
            </a:pPr>
            <a:r>
              <a:rPr lang="es" sz="1650"/>
              <a:t>Los sitios de tipo SPA son los que se desarrollan con frameworks de Javascript como, por ejemplo, React, Vue o Angular. </a:t>
            </a:r>
            <a:r>
              <a:rPr lang="es" sz="1650" u="sng">
                <a:solidFill>
                  <a:schemeClr val="hlink"/>
                </a:solidFill>
                <a:hlinkClick r:id="rId4"/>
              </a:rPr>
              <a:t>Ejemplo SPA</a:t>
            </a:r>
            <a:endParaRPr sz="16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SPA: Características importantes </a:t>
            </a:r>
            <a:endParaRPr/>
          </a:p>
        </p:txBody>
      </p:sp>
      <p:sp>
        <p:nvSpPr>
          <p:cNvPr id="191" name="Google Shape;191;p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1455"/>
              <a:buNone/>
            </a:pPr>
            <a:r>
              <a:rPr lang="es" sz="1900"/>
              <a:t>Las SPA poseen, entre otras, las siguientes características:</a:t>
            </a:r>
            <a:endParaRPr sz="1900"/>
          </a:p>
          <a:p>
            <a:pPr indent="-317689" lvl="0" marL="457200" rtl="0" algn="l">
              <a:lnSpc>
                <a:spcPct val="115000"/>
              </a:lnSpc>
              <a:spcBef>
                <a:spcPts val="1200"/>
              </a:spcBef>
              <a:spcAft>
                <a:spcPts val="0"/>
              </a:spcAft>
              <a:buSzPct val="100000"/>
              <a:buChar char="●"/>
            </a:pPr>
            <a:r>
              <a:rPr lang="es" sz="1650"/>
              <a:t>Aplican la lógica de tener separada la vista de los datos.</a:t>
            </a:r>
            <a:endParaRPr sz="1650"/>
          </a:p>
          <a:p>
            <a:pPr indent="-317689" lvl="0" marL="457200" rtl="0" algn="l">
              <a:lnSpc>
                <a:spcPct val="115000"/>
              </a:lnSpc>
              <a:spcBef>
                <a:spcPts val="0"/>
              </a:spcBef>
              <a:spcAft>
                <a:spcPts val="0"/>
              </a:spcAft>
              <a:buSzPct val="100000"/>
              <a:buChar char="●"/>
            </a:pPr>
            <a:r>
              <a:rPr lang="es" sz="1650"/>
              <a:t>Navegamos por la web como si fuera una aplicación de escritorio. La respuesta es muy rápida, no estamos cargando cada página cuando accedemos a otra parte del sitio.</a:t>
            </a:r>
            <a:endParaRPr sz="1650"/>
          </a:p>
          <a:p>
            <a:pPr indent="-317689" lvl="0" marL="457200" rtl="0" algn="l">
              <a:lnSpc>
                <a:spcPct val="115000"/>
              </a:lnSpc>
              <a:spcBef>
                <a:spcPts val="0"/>
              </a:spcBef>
              <a:spcAft>
                <a:spcPts val="0"/>
              </a:spcAft>
              <a:buSzPct val="100000"/>
              <a:buChar char="●"/>
            </a:pPr>
            <a:r>
              <a:rPr lang="es" sz="1650"/>
              <a:t>Las páginas se cargan de una vez, navegamos sobre contenido que ya está cargado.</a:t>
            </a:r>
            <a:endParaRPr sz="1650"/>
          </a:p>
          <a:p>
            <a:pPr indent="-317689" lvl="0" marL="457200" rtl="0" algn="l">
              <a:lnSpc>
                <a:spcPct val="115000"/>
              </a:lnSpc>
              <a:spcBef>
                <a:spcPts val="0"/>
              </a:spcBef>
              <a:spcAft>
                <a:spcPts val="0"/>
              </a:spcAft>
              <a:buSzPct val="100000"/>
              <a:buChar char="●"/>
            </a:pPr>
            <a:r>
              <a:rPr lang="es" sz="1650"/>
              <a:t>Podemos hacer que la URL cambie y que se conserve el historial de usuario, además poder  utilizar los botones adelante / atrás.</a:t>
            </a:r>
            <a:endParaRPr sz="1650"/>
          </a:p>
          <a:p>
            <a:pPr indent="-317689" lvl="0" marL="457200" rtl="0" algn="l">
              <a:lnSpc>
                <a:spcPct val="115000"/>
              </a:lnSpc>
              <a:spcBef>
                <a:spcPts val="0"/>
              </a:spcBef>
              <a:spcAft>
                <a:spcPts val="0"/>
              </a:spcAft>
              <a:buSzPct val="100000"/>
              <a:buChar char="●"/>
            </a:pPr>
            <a:r>
              <a:rPr lang="es" sz="1650"/>
              <a:t>Así funciona Gmail. No se cargan todos los mensajes, se cargan los primeros y el resto de la carga es </a:t>
            </a:r>
            <a:r>
              <a:rPr i="1" lang="es" sz="1650"/>
              <a:t>on demand</a:t>
            </a:r>
            <a:r>
              <a:rPr lang="es" sz="1650"/>
              <a:t>. Lo mismo sucede con las páginas de los bancos y los movimientos de la cuenta, por ejemplo.</a:t>
            </a:r>
            <a:endParaRPr sz="1650"/>
          </a:p>
          <a:p>
            <a:pPr indent="-317689" lvl="0" marL="457200" rtl="0" algn="l">
              <a:lnSpc>
                <a:spcPct val="115000"/>
              </a:lnSpc>
              <a:spcBef>
                <a:spcPts val="0"/>
              </a:spcBef>
              <a:spcAft>
                <a:spcPts val="0"/>
              </a:spcAft>
              <a:buSzPct val="100000"/>
              <a:buChar char="●"/>
            </a:pPr>
            <a:r>
              <a:rPr lang="es" sz="1650"/>
              <a:t>Quien se encarga de gestionar todo esto es JavaScript que le da comportamiento a la página.</a:t>
            </a:r>
            <a:endParaRPr sz="16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500"/>
              <a:buNone/>
            </a:pPr>
            <a:r>
              <a:t/>
            </a:r>
            <a:endParaRPr/>
          </a:p>
        </p:txBody>
      </p:sp>
      <p:pic>
        <p:nvPicPr>
          <p:cNvPr id="197" name="Google Shape;197;p9"/>
          <p:cNvPicPr preferRelativeResize="0"/>
          <p:nvPr/>
        </p:nvPicPr>
        <p:blipFill rotWithShape="1">
          <a:blip r:embed="rId3">
            <a:alphaModFix/>
          </a:blip>
          <a:srcRect b="0" l="0" r="0" t="0"/>
          <a:stretch/>
        </p:blipFill>
        <p:spPr>
          <a:xfrm>
            <a:off x="152400" y="712925"/>
            <a:ext cx="8839201" cy="366861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Asincronía</a:t>
            </a:r>
            <a:endParaRPr/>
          </a:p>
        </p:txBody>
      </p:sp>
      <p:sp>
        <p:nvSpPr>
          <p:cNvPr id="203" name="Google Shape;203;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Mensajes HTTP</a:t>
            </a:r>
            <a:endParaRPr/>
          </a:p>
        </p:txBody>
      </p:sp>
      <p:sp>
        <p:nvSpPr>
          <p:cNvPr id="209" name="Google Shape;209;p11"/>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i="1" lang="es" sz="1650"/>
              <a:t>Hypertext Transfer Protocol</a:t>
            </a:r>
            <a:r>
              <a:rPr lang="es" sz="1650"/>
              <a:t> (</a:t>
            </a:r>
            <a:r>
              <a:rPr b="1" lang="es" sz="1650"/>
              <a:t>HTTP</a:t>
            </a:r>
            <a:r>
              <a:rPr lang="es" sz="1650"/>
              <a:t>) (o </a:t>
            </a:r>
            <a:r>
              <a:rPr i="1" lang="es" sz="1650"/>
              <a:t>Protocolo de Transferencia de Hipertexto</a:t>
            </a:r>
            <a:r>
              <a:rPr lang="es" sz="1650"/>
              <a:t>) es un protocolo para la transmisión de documentos hipermedia, como HTML. Fue diseñado para la comunicación entre los navegadores y servidores web,  entre otros propósitos. Sigue el </a:t>
            </a:r>
            <a:r>
              <a:rPr b="1" lang="es" sz="1650"/>
              <a:t>modelo cliente-servidor</a:t>
            </a:r>
            <a:r>
              <a:rPr lang="es" sz="1650"/>
              <a:t>, en el que un cliente establece una conexión, realizando una petición a un servidor y espera una respuesta del mismo. </a:t>
            </a:r>
            <a:endParaRPr sz="1650"/>
          </a:p>
          <a:p>
            <a:pPr indent="0" lvl="0" marL="0" rtl="0" algn="l">
              <a:lnSpc>
                <a:spcPct val="115000"/>
              </a:lnSpc>
              <a:spcBef>
                <a:spcPts val="1200"/>
              </a:spcBef>
              <a:spcAft>
                <a:spcPts val="1200"/>
              </a:spcAft>
              <a:buSzPts val="1800"/>
              <a:buNone/>
            </a:pPr>
            <a:r>
              <a:rPr lang="es" sz="1650"/>
              <a:t>Los </a:t>
            </a:r>
            <a:r>
              <a:rPr b="1" lang="es" sz="1650"/>
              <a:t>mensajes HTTP</a:t>
            </a:r>
            <a:r>
              <a:rPr lang="es" sz="1650"/>
              <a:t> son los medios por los cuales se intercambian datos entre servidores y clientes. Hay dos tipos de mensajes: </a:t>
            </a:r>
            <a:r>
              <a:rPr b="1" lang="es" sz="1650"/>
              <a:t>peticiones</a:t>
            </a:r>
            <a:r>
              <a:rPr lang="es" sz="1650"/>
              <a:t>, enviadas por el cliente al servidor, para pedir el inicio de una acción; y </a:t>
            </a:r>
            <a:r>
              <a:rPr b="1" lang="es" sz="1650"/>
              <a:t>respuestas</a:t>
            </a:r>
            <a:r>
              <a:rPr lang="es" sz="1650"/>
              <a:t>, que son la respuesta del servidor.</a:t>
            </a:r>
            <a:endParaRPr sz="16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es una petición HTTP?</a:t>
            </a:r>
            <a:endParaRPr/>
          </a:p>
        </p:txBody>
      </p:sp>
      <p:sp>
        <p:nvSpPr>
          <p:cNvPr id="215" name="Google Shape;215;p1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s"/>
              <a:t>Un </a:t>
            </a:r>
            <a:r>
              <a:rPr b="1" lang="es"/>
              <a:t>navegador</a:t>
            </a:r>
            <a:r>
              <a:rPr lang="es"/>
              <a:t>, durante la carga de una página, suele realizar </a:t>
            </a:r>
            <a:r>
              <a:rPr b="1" lang="es"/>
              <a:t>múltiples peticiones HTTP</a:t>
            </a:r>
            <a:r>
              <a:rPr lang="es"/>
              <a:t> a un servidor para solicitar los archivos que necesita renderizar en la página. Es el caso de, en primer lugar, el documento .html de la página (donde se hace referencia a múltiples archivos) y luego todos esos archivos relacionados: los ficheros de estilos .css, las imágenes .jpg, .png, .webp u otras, los scripts .js, las tipografías .ttf, .woff o .woff2, etc.</a:t>
            </a:r>
            <a:endParaRPr/>
          </a:p>
          <a:p>
            <a:pPr indent="0" lvl="0" marL="0" rtl="0" algn="l">
              <a:lnSpc>
                <a:spcPct val="115000"/>
              </a:lnSpc>
              <a:spcBef>
                <a:spcPts val="1200"/>
              </a:spcBef>
              <a:spcAft>
                <a:spcPts val="1200"/>
              </a:spcAft>
              <a:buSzPct val="108108"/>
              <a:buNone/>
            </a:pPr>
            <a:r>
              <a:rPr lang="es"/>
              <a:t>Una </a:t>
            </a:r>
            <a:r>
              <a:rPr b="1" lang="es"/>
              <a:t>petición HTTP </a:t>
            </a:r>
            <a:r>
              <a:rPr lang="es"/>
              <a:t>es como suele denominarse a la acción por parte del navegador de solicitar a un servidor web un documento o archivo, ya sea un fichero .html, una imagen, una tipografía, un archivo .js, etc. Gracias a dicha petición, el navegador puede descargar ese archivo, almacenarlo en un caché temporal de archivos del navegador y, finalmente, mostrarlo en la página actual que lo ha solicitado.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Métodos HTTP</a:t>
            </a:r>
            <a:endParaRPr/>
          </a:p>
        </p:txBody>
      </p:sp>
      <p:sp>
        <p:nvSpPr>
          <p:cNvPr id="221" name="Google Shape;221;p13"/>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77500"/>
          </a:bodyPr>
          <a:lstStyle/>
          <a:p>
            <a:pPr indent="0" lvl="0" marL="0" rtl="0" algn="l">
              <a:lnSpc>
                <a:spcPct val="115000"/>
              </a:lnSpc>
              <a:spcBef>
                <a:spcPts val="0"/>
              </a:spcBef>
              <a:spcAft>
                <a:spcPts val="0"/>
              </a:spcAft>
              <a:buClr>
                <a:schemeClr val="dk1"/>
              </a:buClr>
              <a:buSzPct val="61110"/>
              <a:buFont typeface="Arial"/>
              <a:buNone/>
            </a:pPr>
            <a:r>
              <a:rPr lang="es"/>
              <a:t>HTTP define una gran cantidad de métodos:</a:t>
            </a:r>
            <a:endParaRPr/>
          </a:p>
          <a:p>
            <a:pPr indent="-317182" lvl="0" marL="457200" rtl="0" algn="l">
              <a:lnSpc>
                <a:spcPct val="115000"/>
              </a:lnSpc>
              <a:spcBef>
                <a:spcPts val="1200"/>
              </a:spcBef>
              <a:spcAft>
                <a:spcPts val="0"/>
              </a:spcAft>
              <a:buSzPct val="100000"/>
              <a:buChar char="●"/>
            </a:pPr>
            <a:r>
              <a:rPr lang="es"/>
              <a:t>GET: utilizado únicamente para consultar información al servidor (símil SELECT).</a:t>
            </a:r>
            <a:endParaRPr/>
          </a:p>
          <a:p>
            <a:pPr indent="-317182" lvl="0" marL="457200" rtl="0" algn="l">
              <a:lnSpc>
                <a:spcPct val="115000"/>
              </a:lnSpc>
              <a:spcBef>
                <a:spcPts val="0"/>
              </a:spcBef>
              <a:spcAft>
                <a:spcPts val="0"/>
              </a:spcAft>
              <a:buSzPct val="100000"/>
              <a:buChar char="●"/>
            </a:pPr>
            <a:r>
              <a:rPr lang="es"/>
              <a:t>POST: utilizado para solicitar la creación de un nuevo registro, es decir, algo que no existía previamente (símil INSERT).</a:t>
            </a:r>
            <a:endParaRPr/>
          </a:p>
          <a:p>
            <a:pPr indent="-317182" lvl="0" marL="457200" rtl="0" algn="l">
              <a:lnSpc>
                <a:spcPct val="115000"/>
              </a:lnSpc>
              <a:spcBef>
                <a:spcPts val="0"/>
              </a:spcBef>
              <a:spcAft>
                <a:spcPts val="0"/>
              </a:spcAft>
              <a:buSzPct val="100000"/>
              <a:buChar char="●"/>
            </a:pPr>
            <a:r>
              <a:rPr lang="es"/>
              <a:t>PUT: utilizado para actualizar por completo un registro existente (símil UPDATE).</a:t>
            </a:r>
            <a:endParaRPr/>
          </a:p>
          <a:p>
            <a:pPr indent="-317182" lvl="0" marL="457200" rtl="0" algn="l">
              <a:lnSpc>
                <a:spcPct val="115000"/>
              </a:lnSpc>
              <a:spcBef>
                <a:spcPts val="0"/>
              </a:spcBef>
              <a:spcAft>
                <a:spcPts val="0"/>
              </a:spcAft>
              <a:buSzPct val="100000"/>
              <a:buChar char="●"/>
            </a:pPr>
            <a:r>
              <a:rPr lang="es"/>
              <a:t>PATCH: similar al método PUT, pues permite actualizar un registro existente, sin embargo, este se utiliza cuando es necesario actualizar solo un fragmento del registro y no en su totalidad (símil UPDATE).</a:t>
            </a:r>
            <a:endParaRPr/>
          </a:p>
          <a:p>
            <a:pPr indent="-317182" lvl="0" marL="457200" rtl="0" algn="l">
              <a:lnSpc>
                <a:spcPct val="115000"/>
              </a:lnSpc>
              <a:spcBef>
                <a:spcPts val="0"/>
              </a:spcBef>
              <a:spcAft>
                <a:spcPts val="0"/>
              </a:spcAft>
              <a:buSzPct val="100000"/>
              <a:buChar char="●"/>
            </a:pPr>
            <a:r>
              <a:rPr lang="es"/>
              <a:t>DELETE: utilizado para eliminar un registro existente (símil DELETE).</a:t>
            </a:r>
            <a:endParaRPr/>
          </a:p>
          <a:p>
            <a:pPr indent="-317182" lvl="0" marL="457200" rtl="0" algn="l">
              <a:lnSpc>
                <a:spcPct val="115000"/>
              </a:lnSpc>
              <a:spcBef>
                <a:spcPts val="0"/>
              </a:spcBef>
              <a:spcAft>
                <a:spcPts val="0"/>
              </a:spcAft>
              <a:buSzPct val="100000"/>
              <a:buChar char="●"/>
            </a:pPr>
            <a:r>
              <a:rPr lang="es"/>
              <a:t>HEAD: utilizado para obtener información sobre un determinado recurso sin retornar el registro. Este método se utiliza a menudo para probar la validez de los enlaces de hipertexto, la accesibilidad y las modificaciones recientes.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Respuesta de la petición HTTP</a:t>
            </a:r>
            <a:endParaRPr/>
          </a:p>
        </p:txBody>
      </p:sp>
      <p:sp>
        <p:nvSpPr>
          <p:cNvPr id="227" name="Google Shape;227;p1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s"/>
              <a:t>Como mencionamos anteriormente, una </a:t>
            </a:r>
            <a:r>
              <a:rPr b="1" lang="es"/>
              <a:t>petición HTTP</a:t>
            </a:r>
            <a:r>
              <a:rPr lang="es"/>
              <a:t> es un mensaje que una computadora envía a otra utilizando el protocolo HTTP. La petición HTTP la hacen los clientes de nuestro API. Cuando nuestro API recibe esta petición, la procesa, y luego retorna una respuesta, llamada </a:t>
            </a:r>
            <a:r>
              <a:rPr b="1" lang="es"/>
              <a:t>respuesta HTTP</a:t>
            </a:r>
            <a:r>
              <a:rPr lang="es"/>
              <a:t>.</a:t>
            </a:r>
            <a:endParaRPr/>
          </a:p>
          <a:p>
            <a:pPr indent="0" lvl="0" marL="0" rtl="0" algn="l">
              <a:lnSpc>
                <a:spcPct val="115000"/>
              </a:lnSpc>
              <a:spcBef>
                <a:spcPts val="1200"/>
              </a:spcBef>
              <a:spcAft>
                <a:spcPts val="0"/>
              </a:spcAft>
              <a:buSzPct val="117647"/>
              <a:buNone/>
            </a:pPr>
            <a:r>
              <a:rPr lang="es"/>
              <a:t>Los </a:t>
            </a:r>
            <a:r>
              <a:rPr b="1" lang="es"/>
              <a:t>códigos de estado de respuesta HTTP</a:t>
            </a:r>
            <a:r>
              <a:rPr lang="es"/>
              <a:t> indican si se ha completado satisfactoriamente una solicitud HTTP específica. Las respuestas se agrupan en cinco clases:</a:t>
            </a:r>
            <a:endParaRPr/>
          </a:p>
          <a:p>
            <a:pPr indent="-325755" lvl="0" marL="457200" rtl="0" algn="l">
              <a:lnSpc>
                <a:spcPct val="115000"/>
              </a:lnSpc>
              <a:spcBef>
                <a:spcPts val="1200"/>
              </a:spcBef>
              <a:spcAft>
                <a:spcPts val="0"/>
              </a:spcAft>
              <a:buSzPct val="100000"/>
              <a:buAutoNum type="arabicPeriod"/>
            </a:pPr>
            <a:r>
              <a:rPr lang="es"/>
              <a:t>Respuestas informativas (100–199),</a:t>
            </a:r>
            <a:endParaRPr/>
          </a:p>
          <a:p>
            <a:pPr indent="-325755" lvl="0" marL="457200" rtl="0" algn="l">
              <a:lnSpc>
                <a:spcPct val="115000"/>
              </a:lnSpc>
              <a:spcBef>
                <a:spcPts val="0"/>
              </a:spcBef>
              <a:spcAft>
                <a:spcPts val="0"/>
              </a:spcAft>
              <a:buSzPct val="100000"/>
              <a:buAutoNum type="arabicPeriod"/>
            </a:pPr>
            <a:r>
              <a:rPr lang="es"/>
              <a:t>Respuestas satisfactorias (200–299),</a:t>
            </a:r>
            <a:endParaRPr/>
          </a:p>
          <a:p>
            <a:pPr indent="-325755" lvl="0" marL="457200" rtl="0" algn="l">
              <a:lnSpc>
                <a:spcPct val="115000"/>
              </a:lnSpc>
              <a:spcBef>
                <a:spcPts val="0"/>
              </a:spcBef>
              <a:spcAft>
                <a:spcPts val="0"/>
              </a:spcAft>
              <a:buSzPct val="100000"/>
              <a:buAutoNum type="arabicPeriod"/>
            </a:pPr>
            <a:r>
              <a:rPr lang="es"/>
              <a:t>Redirecciones (300–399),</a:t>
            </a:r>
            <a:endParaRPr/>
          </a:p>
          <a:p>
            <a:pPr indent="-325755" lvl="0" marL="457200" rtl="0" algn="l">
              <a:lnSpc>
                <a:spcPct val="115000"/>
              </a:lnSpc>
              <a:spcBef>
                <a:spcPts val="0"/>
              </a:spcBef>
              <a:spcAft>
                <a:spcPts val="0"/>
              </a:spcAft>
              <a:buSzPct val="100000"/>
              <a:buAutoNum type="arabicPeriod"/>
            </a:pPr>
            <a:r>
              <a:rPr lang="es"/>
              <a:t>Errores de los clientes (400–499),</a:t>
            </a:r>
            <a:endParaRPr/>
          </a:p>
          <a:p>
            <a:pPr indent="-325755" lvl="0" marL="457200" rtl="0" algn="l">
              <a:lnSpc>
                <a:spcPct val="115000"/>
              </a:lnSpc>
              <a:spcBef>
                <a:spcPts val="0"/>
              </a:spcBef>
              <a:spcAft>
                <a:spcPts val="0"/>
              </a:spcAft>
              <a:buSzPct val="100000"/>
              <a:buAutoNum type="arabicPeriod"/>
            </a:pPr>
            <a:r>
              <a:rPr lang="es"/>
              <a:t>y errores de los servidores (500–599).</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500"/>
              <a:buNone/>
            </a:pPr>
            <a:r>
              <a:t/>
            </a:r>
            <a:endParaRPr/>
          </a:p>
        </p:txBody>
      </p:sp>
      <p:pic>
        <p:nvPicPr>
          <p:cNvPr id="233" name="Google Shape;233;p15"/>
          <p:cNvPicPr preferRelativeResize="0"/>
          <p:nvPr/>
        </p:nvPicPr>
        <p:blipFill rotWithShape="1">
          <a:blip r:embed="rId3">
            <a:alphaModFix/>
          </a:blip>
          <a:srcRect b="0" l="0" r="0" t="0"/>
          <a:stretch/>
        </p:blipFill>
        <p:spPr>
          <a:xfrm>
            <a:off x="2728913" y="0"/>
            <a:ext cx="3686175"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6"/>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Asincronía</a:t>
            </a:r>
            <a:endParaRPr/>
          </a:p>
        </p:txBody>
      </p:sp>
      <p:sp>
        <p:nvSpPr>
          <p:cNvPr id="239" name="Google Shape;239;p16"/>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Clr>
                <a:schemeClr val="dk1"/>
              </a:buClr>
              <a:buSzPts val="1100"/>
              <a:buFont typeface="Arial"/>
              <a:buNone/>
            </a:pPr>
            <a:r>
              <a:rPr lang="es"/>
              <a:t>La </a:t>
            </a:r>
            <a:r>
              <a:rPr b="1" lang="es">
                <a:latin typeface="Montserrat"/>
                <a:ea typeface="Montserrat"/>
                <a:cs typeface="Montserrat"/>
                <a:sym typeface="Montserrat"/>
              </a:rPr>
              <a:t>asincronía </a:t>
            </a:r>
            <a:r>
              <a:rPr lang="es"/>
              <a:t>es uno de los conceptos principales que rige el mundo de JavaScript. Cuando comenzamos a programar, normalmente realizamos tareas de forma </a:t>
            </a:r>
            <a:r>
              <a:rPr b="1" lang="es">
                <a:latin typeface="Montserrat"/>
                <a:ea typeface="Montserrat"/>
                <a:cs typeface="Montserrat"/>
                <a:sym typeface="Montserrat"/>
              </a:rPr>
              <a:t>síncrona</a:t>
            </a:r>
            <a:r>
              <a:rPr lang="es"/>
              <a:t>, llevando a cabo tareas secuenciales que se ejecutan una detrás de otra.</a:t>
            </a:r>
            <a:endParaRPr/>
          </a:p>
          <a:p>
            <a:pPr indent="0" lvl="0" marL="0" rtl="0" algn="l">
              <a:lnSpc>
                <a:spcPct val="100000"/>
              </a:lnSpc>
              <a:spcBef>
                <a:spcPts val="0"/>
              </a:spcBef>
              <a:spcAft>
                <a:spcPts val="0"/>
              </a:spcAft>
              <a:buSzPts val="1700"/>
              <a:buNone/>
            </a:pPr>
            <a:r>
              <a:rPr lang="es"/>
              <a:t>Sin embargo, en el mundo de la programación, tarde o temprano necesitaremos realizar operaciones </a:t>
            </a:r>
            <a:r>
              <a:rPr b="1" lang="es">
                <a:latin typeface="Montserrat"/>
                <a:ea typeface="Montserrat"/>
                <a:cs typeface="Montserrat"/>
                <a:sym typeface="Montserrat"/>
              </a:rPr>
              <a:t>asíncronas</a:t>
            </a:r>
            <a:r>
              <a:rPr lang="es"/>
              <a:t>, especialmente en ciertos lenguajes como </a:t>
            </a:r>
            <a:r>
              <a:rPr b="1" lang="es">
                <a:latin typeface="Montserrat"/>
                <a:ea typeface="Montserrat"/>
                <a:cs typeface="Montserrat"/>
                <a:sym typeface="Montserrat"/>
              </a:rPr>
              <a:t>JavaScript</a:t>
            </a:r>
            <a:r>
              <a:rPr lang="es"/>
              <a:t>, donde tenemos que realizar tareas que tienen que esperar a que ocurra un determinado suceso que no depende de nosotros, y reaccionar realizando otra tarea sólo cuando dicho suceso ocurra.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7"/>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500"/>
              <a:buNone/>
            </a:pPr>
            <a:r>
              <a:t/>
            </a:r>
            <a:endParaRPr/>
          </a:p>
        </p:txBody>
      </p:sp>
      <p:pic>
        <p:nvPicPr>
          <p:cNvPr id="245" name="Google Shape;245;p17"/>
          <p:cNvPicPr preferRelativeResize="0"/>
          <p:nvPr/>
        </p:nvPicPr>
        <p:blipFill rotWithShape="1">
          <a:blip r:embed="rId3">
            <a:alphaModFix/>
          </a:blip>
          <a:srcRect b="0" l="0" r="0" t="0"/>
          <a:stretch/>
        </p:blipFill>
        <p:spPr>
          <a:xfrm>
            <a:off x="152400" y="712925"/>
            <a:ext cx="8839201" cy="366861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¿Cómo gestionar la asincronía?</a:t>
            </a:r>
            <a:endParaRPr/>
          </a:p>
        </p:txBody>
      </p:sp>
      <p:sp>
        <p:nvSpPr>
          <p:cNvPr id="251" name="Google Shape;251;p18"/>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a:t>Teniendo en cuenta lo anterior, debemos aprender a buscar mecanismos para dejar claro en nuestro código JavaScript, que ciertas tareas tienen que procesarse de forma asíncrona para quedarse a la espera, y otras deben ejecutarse de forma síncrona.</a:t>
            </a:r>
            <a:endParaRPr/>
          </a:p>
          <a:p>
            <a:pPr indent="0" lvl="0" marL="0" rtl="0" algn="l">
              <a:lnSpc>
                <a:spcPct val="115000"/>
              </a:lnSpc>
              <a:spcBef>
                <a:spcPts val="1200"/>
              </a:spcBef>
              <a:spcAft>
                <a:spcPts val="1200"/>
              </a:spcAft>
              <a:buSzPts val="1800"/>
              <a:buNone/>
            </a:pPr>
            <a:r>
              <a:rPr lang="es"/>
              <a:t>En JavaScript existen varias formas de gestionar la asincronía,  a continuación veremos algunas: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Fetch</a:t>
            </a:r>
            <a:endParaRPr/>
          </a:p>
        </p:txBody>
      </p:sp>
      <p:sp>
        <p:nvSpPr>
          <p:cNvPr id="257" name="Google Shape;257;p19"/>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La </a:t>
            </a:r>
            <a:r>
              <a:rPr b="1" lang="es" sz="1650"/>
              <a:t>API Fetch</a:t>
            </a:r>
            <a:r>
              <a:rPr lang="es" sz="1650"/>
              <a:t> proporciona una interfaz JavaScript para acceder y manipular partes del canal HTTP, tales como peticiones y respuestas. Además provee un </a:t>
            </a:r>
            <a:r>
              <a:rPr b="1" lang="es" sz="1650"/>
              <a:t>método</a:t>
            </a:r>
            <a:r>
              <a:rPr lang="es" sz="1650"/>
              <a:t> global </a:t>
            </a:r>
            <a:r>
              <a:rPr b="1" lang="es" sz="1650"/>
              <a:t>fetch()</a:t>
            </a:r>
            <a:r>
              <a:rPr lang="es" sz="1650"/>
              <a:t> que proporciona una forma </a:t>
            </a:r>
            <a:r>
              <a:rPr b="1" lang="es" sz="1650"/>
              <a:t>asíncrona </a:t>
            </a:r>
            <a:r>
              <a:rPr lang="es" sz="1650"/>
              <a:t>de obtener recursos desde la red. </a:t>
            </a:r>
            <a:r>
              <a:rPr lang="es" sz="1650" u="sng">
                <a:solidFill>
                  <a:schemeClr val="hlink"/>
                </a:solidFill>
                <a:hlinkClick r:id="rId3"/>
              </a:rPr>
              <a:t>+info</a:t>
            </a:r>
            <a:endParaRPr sz="1650"/>
          </a:p>
          <a:p>
            <a:pPr indent="0" lvl="0" marL="0" rtl="0" algn="l">
              <a:lnSpc>
                <a:spcPct val="115000"/>
              </a:lnSpc>
              <a:spcBef>
                <a:spcPts val="1200"/>
              </a:spcBef>
              <a:spcAft>
                <a:spcPts val="0"/>
              </a:spcAft>
              <a:buSzPts val="1800"/>
              <a:buNone/>
            </a:pPr>
            <a:r>
              <a:rPr lang="es" sz="1650"/>
              <a:t>El uso de </a:t>
            </a:r>
            <a:r>
              <a:rPr b="1" lang="es" sz="1650"/>
              <a:t>fetch()</a:t>
            </a:r>
            <a:r>
              <a:rPr lang="es" sz="1650"/>
              <a:t> más simple toma un argumento (la ruta del recurso a obtener) y devuelve un objeto </a:t>
            </a:r>
            <a:r>
              <a:rPr b="1" lang="es" sz="1650"/>
              <a:t>promise</a:t>
            </a:r>
            <a:r>
              <a:rPr lang="es" sz="1650"/>
              <a:t> pendiente, que más tarde puede proporcionar la respuesta en un objeto </a:t>
            </a:r>
            <a:r>
              <a:rPr b="1" lang="es" sz="1650"/>
              <a:t>response</a:t>
            </a:r>
            <a:r>
              <a:rPr lang="es" sz="1650"/>
              <a:t>. En otras palabras, </a:t>
            </a:r>
            <a:r>
              <a:rPr b="1" i="1" lang="es" sz="1650"/>
              <a:t>fetch() promete una respuesta</a:t>
            </a:r>
            <a:r>
              <a:rPr lang="es" sz="1650"/>
              <a:t>, que puede eventualmente cumplir, y coloca el recurso solicitado en </a:t>
            </a:r>
            <a:r>
              <a:rPr b="1" lang="es" sz="1650"/>
              <a:t>response</a:t>
            </a:r>
            <a:r>
              <a:rPr lang="es" sz="1650"/>
              <a:t>, o puede fallar, en cuyo caso provee un mecanismo para manejar el error.</a:t>
            </a:r>
            <a:endParaRPr sz="1650"/>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es una promesa?</a:t>
            </a:r>
            <a:endParaRPr/>
          </a:p>
        </p:txBody>
      </p:sp>
      <p:sp>
        <p:nvSpPr>
          <p:cNvPr id="263" name="Google Shape;263;p20"/>
          <p:cNvSpPr txBox="1"/>
          <p:nvPr>
            <p:ph idx="1" type="body"/>
          </p:nvPr>
        </p:nvSpPr>
        <p:spPr>
          <a:xfrm>
            <a:off x="432025" y="1170125"/>
            <a:ext cx="8280000" cy="345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Una </a:t>
            </a:r>
            <a:r>
              <a:rPr b="1" lang="es" sz="1650"/>
              <a:t>promesa</a:t>
            </a:r>
            <a:r>
              <a:rPr lang="es" sz="1650"/>
              <a:t> (</a:t>
            </a:r>
            <a:r>
              <a:rPr b="1" i="1" lang="es" sz="1650"/>
              <a:t>promise</a:t>
            </a:r>
            <a:r>
              <a:rPr lang="es" sz="1650"/>
              <a:t>)en JS es similar a una promesa en la vida real. Tiene 2 resultados posibles: se mantendrá cuando llegue el momento, o no. Cuando definimos una promesa en JavaScript, se resolverá cuando llegue el momento, o será rechazada.</a:t>
            </a:r>
            <a:endParaRPr sz="1650"/>
          </a:p>
          <a:p>
            <a:pPr indent="0" lvl="0" marL="0" rtl="0" algn="l">
              <a:lnSpc>
                <a:spcPct val="115000"/>
              </a:lnSpc>
              <a:spcBef>
                <a:spcPts val="1200"/>
              </a:spcBef>
              <a:spcAft>
                <a:spcPts val="0"/>
              </a:spcAft>
              <a:buClr>
                <a:schemeClr val="dk1"/>
              </a:buClr>
              <a:buSzPts val="1100"/>
              <a:buFont typeface="Arial"/>
              <a:buNone/>
            </a:pPr>
            <a:r>
              <a:rPr lang="es" sz="1650"/>
              <a:t> Hay 3 estados para un </a:t>
            </a:r>
            <a:r>
              <a:rPr b="1" lang="es" sz="1650"/>
              <a:t>objeto promise</a:t>
            </a:r>
            <a:r>
              <a:rPr lang="es" sz="1650"/>
              <a:t>:</a:t>
            </a:r>
            <a:endParaRPr sz="1650"/>
          </a:p>
          <a:p>
            <a:pPr indent="-333375" lvl="0" marL="457200" rtl="0" algn="l">
              <a:lnSpc>
                <a:spcPct val="115000"/>
              </a:lnSpc>
              <a:spcBef>
                <a:spcPts val="1200"/>
              </a:spcBef>
              <a:spcAft>
                <a:spcPts val="0"/>
              </a:spcAft>
              <a:buSzPts val="1650"/>
              <a:buChar char="●"/>
            </a:pPr>
            <a:r>
              <a:rPr b="1" lang="es" sz="1650"/>
              <a:t>Pendiente</a:t>
            </a:r>
            <a:r>
              <a:rPr lang="es" sz="1650"/>
              <a:t> (</a:t>
            </a:r>
            <a:r>
              <a:rPr i="1" lang="es" sz="1650"/>
              <a:t>pending</a:t>
            </a:r>
            <a:r>
              <a:rPr lang="es" sz="1650"/>
              <a:t>): estado inicial, antes de que la promesa tenga éxito o falle.</a:t>
            </a:r>
            <a:endParaRPr sz="1650"/>
          </a:p>
          <a:p>
            <a:pPr indent="-333375" lvl="0" marL="457200" rtl="0" algn="l">
              <a:lnSpc>
                <a:spcPct val="115000"/>
              </a:lnSpc>
              <a:spcBef>
                <a:spcPts val="0"/>
              </a:spcBef>
              <a:spcAft>
                <a:spcPts val="0"/>
              </a:spcAft>
              <a:buSzPts val="1650"/>
              <a:buChar char="●"/>
            </a:pPr>
            <a:r>
              <a:rPr b="1" lang="es" sz="1650"/>
              <a:t>Resuelto</a:t>
            </a:r>
            <a:r>
              <a:rPr lang="es" sz="1650"/>
              <a:t> (</a:t>
            </a:r>
            <a:r>
              <a:rPr i="1" lang="es" sz="1650"/>
              <a:t>resolved</a:t>
            </a:r>
            <a:r>
              <a:rPr lang="es" sz="1650"/>
              <a:t>): promesa completada.</a:t>
            </a:r>
            <a:endParaRPr sz="1650"/>
          </a:p>
          <a:p>
            <a:pPr indent="-333375" lvl="0" marL="457200" rtl="0" algn="l">
              <a:lnSpc>
                <a:spcPct val="115000"/>
              </a:lnSpc>
              <a:spcBef>
                <a:spcPts val="0"/>
              </a:spcBef>
              <a:spcAft>
                <a:spcPts val="0"/>
              </a:spcAft>
              <a:buSzPts val="1650"/>
              <a:buChar char="●"/>
            </a:pPr>
            <a:r>
              <a:rPr b="1" lang="es" sz="1650"/>
              <a:t>Rechazado</a:t>
            </a:r>
            <a:r>
              <a:rPr lang="es" sz="1650"/>
              <a:t> (</a:t>
            </a:r>
            <a:r>
              <a:rPr i="1" lang="es" sz="1650"/>
              <a:t>rejected</a:t>
            </a:r>
            <a:r>
              <a:rPr lang="es" sz="1650"/>
              <a:t>):  promesa fallida.</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es una promesa?</a:t>
            </a:r>
            <a:endParaRPr/>
          </a:p>
        </p:txBody>
      </p:sp>
      <p:sp>
        <p:nvSpPr>
          <p:cNvPr id="269" name="Google Shape;269;p21"/>
          <p:cNvSpPr txBox="1"/>
          <p:nvPr>
            <p:ph idx="1" type="body"/>
          </p:nvPr>
        </p:nvSpPr>
        <p:spPr>
          <a:xfrm>
            <a:off x="432000" y="3788275"/>
            <a:ext cx="8280000" cy="74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Se llama al método </a:t>
            </a:r>
            <a:r>
              <a:rPr b="1" lang="es" sz="1650"/>
              <a:t>then( ) </a:t>
            </a:r>
            <a:r>
              <a:rPr lang="es" sz="1650"/>
              <a:t>después de que se resuelva la promesa. Y se realiza una llamada al método </a:t>
            </a:r>
            <a:r>
              <a:rPr b="1" lang="es" sz="1650"/>
              <a:t>catch()</a:t>
            </a:r>
            <a:r>
              <a:rPr lang="es" sz="1650"/>
              <a:t> cuando es rechazada. </a:t>
            </a:r>
            <a:endParaRPr sz="1650"/>
          </a:p>
          <a:p>
            <a:pPr indent="0" lvl="0" marL="0" rtl="0" algn="l">
              <a:lnSpc>
                <a:spcPct val="115000"/>
              </a:lnSpc>
              <a:spcBef>
                <a:spcPts val="1200"/>
              </a:spcBef>
              <a:spcAft>
                <a:spcPts val="1200"/>
              </a:spcAft>
              <a:buSzPts val="1800"/>
              <a:buNone/>
            </a:pPr>
            <a:r>
              <a:t/>
            </a:r>
            <a:endParaRPr sz="1650"/>
          </a:p>
        </p:txBody>
      </p:sp>
      <p:pic>
        <p:nvPicPr>
          <p:cNvPr id="270" name="Google Shape;270;p21"/>
          <p:cNvPicPr preferRelativeResize="0"/>
          <p:nvPr/>
        </p:nvPicPr>
        <p:blipFill rotWithShape="1">
          <a:blip r:embed="rId3">
            <a:alphaModFix/>
          </a:blip>
          <a:srcRect b="12121" l="0" r="0" t="8544"/>
          <a:stretch/>
        </p:blipFill>
        <p:spPr>
          <a:xfrm>
            <a:off x="1673986" y="1170000"/>
            <a:ext cx="5796023" cy="2578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Fetch</a:t>
            </a:r>
            <a:endParaRPr/>
          </a:p>
        </p:txBody>
      </p:sp>
      <p:sp>
        <p:nvSpPr>
          <p:cNvPr id="276" name="Google Shape;276;p2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650"/>
              <a:t>Veamos cómo utilizar todo esto. El siguiente código recupera un archivo JSON a través de red y muestra su contenido en la consola.</a:t>
            </a:r>
            <a:endParaRPr sz="1650"/>
          </a:p>
          <a:p>
            <a:pPr indent="0" lvl="0" marL="0" rtl="0" algn="l">
              <a:lnSpc>
                <a:spcPct val="115000"/>
              </a:lnSpc>
              <a:spcBef>
                <a:spcPts val="1200"/>
              </a:spcBef>
              <a:spcAft>
                <a:spcPts val="1200"/>
              </a:spcAft>
              <a:buClr>
                <a:schemeClr val="dk1"/>
              </a:buClr>
              <a:buSzPts val="1100"/>
              <a:buFont typeface="Arial"/>
              <a:buNone/>
            </a:pPr>
            <a:r>
              <a:t/>
            </a:r>
            <a:endParaRPr/>
          </a:p>
        </p:txBody>
      </p:sp>
      <p:sp>
        <p:nvSpPr>
          <p:cNvPr id="277" name="Google Shape;277;p22"/>
          <p:cNvSpPr/>
          <p:nvPr/>
        </p:nvSpPr>
        <p:spPr>
          <a:xfrm>
            <a:off x="1313690" y="1998927"/>
            <a:ext cx="64992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FE66D"/>
                </a:solidFill>
                <a:latin typeface="Consolas"/>
                <a:ea typeface="Consolas"/>
                <a:cs typeface="Consolas"/>
                <a:sym typeface="Consolas"/>
              </a:rPr>
              <a:t>fetch</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'https://api.coindesk.com/v1/bpi/currentprice.json'</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then</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response</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C74DED"/>
                </a:solidFill>
                <a:latin typeface="Consolas"/>
                <a:ea typeface="Consolas"/>
                <a:cs typeface="Consolas"/>
                <a:sym typeface="Consolas"/>
              </a:rPr>
              <a:t>=&gt;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response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json</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then</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data</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C74DED"/>
                </a:solidFill>
                <a:latin typeface="Consolas"/>
                <a:ea typeface="Consolas"/>
                <a:cs typeface="Consolas"/>
                <a:sym typeface="Consolas"/>
              </a:rPr>
              <a:t>=&gt;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data</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78" name="Google Shape;278;p22"/>
          <p:cNvSpPr txBox="1"/>
          <p:nvPr>
            <p:ph idx="1" type="body"/>
          </p:nvPr>
        </p:nvSpPr>
        <p:spPr>
          <a:xfrm>
            <a:off x="432025" y="2857625"/>
            <a:ext cx="8280000" cy="17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b="1" lang="es" sz="1650"/>
              <a:t>response</a:t>
            </a:r>
            <a:r>
              <a:rPr lang="es" sz="1650"/>
              <a:t> es la respuesta HTTP. Posee un encabezado y otros datos propios del protocolo, por eso usamos el método json() para extraer el contenido JSON desde la respuesta. Y </a:t>
            </a:r>
            <a:r>
              <a:rPr b="1" lang="es" sz="1650"/>
              <a:t>luego</a:t>
            </a:r>
            <a:r>
              <a:rPr lang="es" sz="1650"/>
              <a:t> (</a:t>
            </a:r>
            <a:r>
              <a:rPr i="1" lang="es" sz="1650"/>
              <a:t>then</a:t>
            </a:r>
            <a:r>
              <a:rPr lang="es" sz="1650"/>
              <a:t>), lo mostramos en la consola.  Los dos métodos </a:t>
            </a:r>
            <a:r>
              <a:rPr b="1" lang="es" sz="1650"/>
              <a:t>.then()</a:t>
            </a:r>
            <a:r>
              <a:rPr lang="es" sz="1650"/>
              <a:t> se ejecutan en el momento que la “</a:t>
            </a:r>
            <a:r>
              <a:rPr i="1" lang="es" sz="1650"/>
              <a:t>promesa</a:t>
            </a:r>
            <a:r>
              <a:rPr lang="es" sz="1650"/>
              <a:t>” anterior se cumple, de manera </a:t>
            </a:r>
            <a:r>
              <a:rPr b="1" lang="es" sz="1650"/>
              <a:t>asincrónica</a:t>
            </a:r>
            <a:r>
              <a:rPr lang="es" sz="1650"/>
              <a:t>.</a:t>
            </a:r>
            <a:endParaRPr sz="165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Fetch</a:t>
            </a:r>
            <a:endParaRPr/>
          </a:p>
        </p:txBody>
      </p:sp>
      <p:sp>
        <p:nvSpPr>
          <p:cNvPr id="284" name="Google Shape;284;p23"/>
          <p:cNvSpPr/>
          <p:nvPr/>
        </p:nvSpPr>
        <p:spPr>
          <a:xfrm>
            <a:off x="520600" y="2338025"/>
            <a:ext cx="3898500" cy="1636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&lt;</a:t>
            </a:r>
            <a:r>
              <a:rPr b="0" i="0" lang="es" sz="1100" u="none" cap="none" strike="noStrike">
                <a:solidFill>
                  <a:srgbClr val="F92672"/>
                </a:solidFill>
                <a:latin typeface="Consolas"/>
                <a:ea typeface="Consolas"/>
                <a:cs typeface="Consolas"/>
                <a:sym typeface="Consolas"/>
              </a:rPr>
              <a:t>div</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class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"container my-5 text-center"</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&lt;</a:t>
            </a:r>
            <a:r>
              <a:rPr b="0" i="0" lang="es" sz="1100" u="none" cap="none" strike="noStrike">
                <a:solidFill>
                  <a:srgbClr val="F92672"/>
                </a:solidFill>
                <a:latin typeface="Consolas"/>
                <a:ea typeface="Consolas"/>
                <a:cs typeface="Consolas"/>
                <a:sym typeface="Consolas"/>
              </a:rPr>
              <a:t>h1</a:t>
            </a:r>
            <a:r>
              <a:rPr b="0" i="0" lang="es" sz="1100" u="none" cap="none" strike="noStrike">
                <a:solidFill>
                  <a:srgbClr val="D5CED9"/>
                </a:solidFill>
                <a:latin typeface="Consolas"/>
                <a:ea typeface="Consolas"/>
                <a:cs typeface="Consolas"/>
                <a:sym typeface="Consolas"/>
              </a:rPr>
              <a:t>&gt;Ejemplo Fetch&lt;/</a:t>
            </a:r>
            <a:r>
              <a:rPr b="0" i="0" lang="es" sz="1100" u="none" cap="none" strike="noStrike">
                <a:solidFill>
                  <a:srgbClr val="F92672"/>
                </a:solidFill>
                <a:latin typeface="Consolas"/>
                <a:ea typeface="Consolas"/>
                <a:cs typeface="Consolas"/>
                <a:sym typeface="Consolas"/>
              </a:rPr>
              <a:t>h1</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&lt;</a:t>
            </a:r>
            <a:r>
              <a:rPr b="0" i="0" lang="es" sz="1100" u="none" cap="none" strike="noStrike">
                <a:solidFill>
                  <a:srgbClr val="F92672"/>
                </a:solidFill>
                <a:latin typeface="Consolas"/>
                <a:ea typeface="Consolas"/>
                <a:cs typeface="Consolas"/>
                <a:sym typeface="Consolas"/>
              </a:rPr>
              <a:t>button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class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"btn-danger"</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FFE66D"/>
                </a:solidFill>
                <a:latin typeface="Consolas"/>
                <a:ea typeface="Consolas"/>
                <a:cs typeface="Consolas"/>
                <a:sym typeface="Consolas"/>
              </a:rPr>
              <a:t>     onclick</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traer</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&gt;Obtener&lt;/</a:t>
            </a:r>
            <a:r>
              <a:rPr b="0" i="0" lang="es" sz="1100" u="none" cap="none" strike="noStrike">
                <a:solidFill>
                  <a:srgbClr val="F92672"/>
                </a:solidFill>
                <a:latin typeface="Consolas"/>
                <a:ea typeface="Consolas"/>
                <a:cs typeface="Consolas"/>
                <a:sym typeface="Consolas"/>
              </a:rPr>
              <a:t>button</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&lt;/</a:t>
            </a:r>
            <a:r>
              <a:rPr b="0" i="0" lang="es" sz="1100" u="none" cap="none" strike="noStrike">
                <a:solidFill>
                  <a:srgbClr val="F92672"/>
                </a:solidFill>
                <a:latin typeface="Consolas"/>
                <a:ea typeface="Consolas"/>
                <a:cs typeface="Consolas"/>
                <a:sym typeface="Consolas"/>
              </a:rPr>
              <a:t>div</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&lt;</a:t>
            </a:r>
            <a:r>
              <a:rPr b="0" i="0" lang="es" sz="1100" u="none" cap="none" strike="noStrike">
                <a:solidFill>
                  <a:srgbClr val="F92672"/>
                </a:solidFill>
                <a:latin typeface="Consolas"/>
                <a:ea typeface="Consolas"/>
                <a:cs typeface="Consolas"/>
                <a:sym typeface="Consolas"/>
              </a:rPr>
              <a:t>div</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class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"mt-5"</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id</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"contenido"</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&lt;!--Contenido recuperado con Fetch --&gt;</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&lt;/</a:t>
            </a:r>
            <a:r>
              <a:rPr b="0" i="0" lang="es" sz="1100" u="none" cap="none" strike="noStrike">
                <a:solidFill>
                  <a:srgbClr val="F92672"/>
                </a:solidFill>
                <a:latin typeface="Consolas"/>
                <a:ea typeface="Consolas"/>
                <a:cs typeface="Consolas"/>
                <a:sym typeface="Consolas"/>
              </a:rPr>
              <a:t>div</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Consolas"/>
              <a:ea typeface="Consolas"/>
              <a:cs typeface="Consolas"/>
              <a:sym typeface="Consolas"/>
            </a:endParaRPr>
          </a:p>
        </p:txBody>
      </p:sp>
      <p:sp>
        <p:nvSpPr>
          <p:cNvPr id="285" name="Google Shape;285;p23"/>
          <p:cNvSpPr/>
          <p:nvPr/>
        </p:nvSpPr>
        <p:spPr>
          <a:xfrm>
            <a:off x="4644425" y="2338025"/>
            <a:ext cx="3935700" cy="1839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&lt;</a:t>
            </a:r>
            <a:r>
              <a:rPr b="0" i="0" lang="es" sz="1100" u="none" cap="none" strike="noStrike">
                <a:solidFill>
                  <a:srgbClr val="F92672"/>
                </a:solidFill>
                <a:latin typeface="Consolas"/>
                <a:ea typeface="Consolas"/>
                <a:cs typeface="Consolas"/>
                <a:sym typeface="Consolas"/>
              </a:rPr>
              <a:t>script</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var</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contenido</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document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querySelector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'#contenido'</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function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traer</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fetch</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'texto.txt'</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data</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data</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text</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data</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contenido</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innerHTML</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data</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&lt;/</a:t>
            </a:r>
            <a:r>
              <a:rPr b="0" i="0" lang="es" sz="1100" u="none" cap="none" strike="noStrike">
                <a:solidFill>
                  <a:srgbClr val="F92672"/>
                </a:solidFill>
                <a:latin typeface="Consolas"/>
                <a:ea typeface="Consolas"/>
                <a:cs typeface="Consolas"/>
                <a:sym typeface="Consolas"/>
              </a:rPr>
              <a:t>script</a:t>
            </a:r>
            <a:r>
              <a:rPr b="0" i="0" lang="es" sz="1100" u="none" cap="none" strike="noStrike">
                <a:solidFill>
                  <a:srgbClr val="D5CED9"/>
                </a:solidFill>
                <a:latin typeface="Consolas"/>
                <a:ea typeface="Consolas"/>
                <a:cs typeface="Consolas"/>
                <a:sym typeface="Consolas"/>
              </a:rPr>
              <a:t>&gt;</a:t>
            </a:r>
            <a:endParaRPr b="0" i="0" sz="1100" u="none" cap="none" strike="noStrike">
              <a:solidFill>
                <a:srgbClr val="000000"/>
              </a:solidFill>
              <a:latin typeface="Arial"/>
              <a:ea typeface="Arial"/>
              <a:cs typeface="Arial"/>
              <a:sym typeface="Arial"/>
            </a:endParaRPr>
          </a:p>
        </p:txBody>
      </p:sp>
      <p:pic>
        <p:nvPicPr>
          <p:cNvPr id="286" name="Google Shape;286;p23"/>
          <p:cNvPicPr preferRelativeResize="0"/>
          <p:nvPr/>
        </p:nvPicPr>
        <p:blipFill rotWithShape="1">
          <a:blip r:embed="rId3">
            <a:alphaModFix/>
          </a:blip>
          <a:srcRect b="0" l="0" r="0" t="0"/>
          <a:stretch/>
        </p:blipFill>
        <p:spPr>
          <a:xfrm>
            <a:off x="1825150" y="3625750"/>
            <a:ext cx="2746851" cy="1073350"/>
          </a:xfrm>
          <a:prstGeom prst="rect">
            <a:avLst/>
          </a:prstGeom>
          <a:noFill/>
          <a:ln>
            <a:noFill/>
          </a:ln>
        </p:spPr>
      </p:pic>
      <p:sp>
        <p:nvSpPr>
          <p:cNvPr id="287" name="Google Shape;287;p23"/>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En el siguiente ejemplo utilizamos Bootstrap y para obtener y mostrar en el documento HTML el contenido del archivo de texto </a:t>
            </a:r>
            <a:r>
              <a:rPr i="1" lang="es" sz="1650"/>
              <a:t>texto.txt</a:t>
            </a:r>
            <a:r>
              <a:rPr lang="es" sz="1650"/>
              <a:t>, obtenido con </a:t>
            </a:r>
            <a:r>
              <a:rPr b="1" lang="es" sz="1650"/>
              <a:t>fetch()</a:t>
            </a:r>
            <a:r>
              <a:rPr lang="es" sz="1650"/>
              <a:t>,</a:t>
            </a:r>
            <a:r>
              <a:rPr b="1" lang="es" sz="1650"/>
              <a:t> </a:t>
            </a:r>
            <a:r>
              <a:rPr lang="es" sz="1650"/>
              <a:t>que se encuentra en la misma carpeta que el index.html:</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Consumir API externa</a:t>
            </a:r>
            <a:endParaRPr/>
          </a:p>
        </p:txBody>
      </p:sp>
      <p:sp>
        <p:nvSpPr>
          <p:cNvPr id="293" name="Google Shape;293;p2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650"/>
              <a:t>fetch()</a:t>
            </a:r>
            <a:r>
              <a:rPr lang="es" sz="1650"/>
              <a:t> permite recuperar contenido que no se encuentra en el cliente. Para ello, el origen de los datos debe contar con un mecanismo denominado </a:t>
            </a:r>
            <a:r>
              <a:rPr b="1" lang="es" sz="1650"/>
              <a:t>API </a:t>
            </a:r>
            <a:r>
              <a:rPr lang="es" sz="1650"/>
              <a:t>(</a:t>
            </a:r>
            <a:r>
              <a:rPr i="1" lang="es" sz="1650"/>
              <a:t>application programming interface</a:t>
            </a:r>
            <a:r>
              <a:rPr lang="es" sz="1650"/>
              <a:t>). Las API permiten a dos componentes de software comunicarse entre sí mediante un conjunto de definiciones y protocolos.</a:t>
            </a:r>
            <a:endParaRPr sz="1650"/>
          </a:p>
          <a:p>
            <a:pPr indent="0" lvl="0" marL="0" rtl="0" algn="l">
              <a:lnSpc>
                <a:spcPct val="115000"/>
              </a:lnSpc>
              <a:spcBef>
                <a:spcPts val="1200"/>
              </a:spcBef>
              <a:spcAft>
                <a:spcPts val="1200"/>
              </a:spcAft>
              <a:buSzPts val="1800"/>
              <a:buNone/>
            </a:pPr>
            <a:r>
              <a:rPr lang="es" sz="1650"/>
              <a:t>RandomUser es un sitio que implementa una API que, ante una solicitud, regresa datos de usuarios (ficticios) en formato JSON. Podemos usar fetch() para recuperar esos datos y procesarlos en nuestra aplicación. El proceso es muy similar al utilizado para leer un archivo local, pero difiere en la ruta que proporcionamos para obtener el recurso.</a:t>
            </a:r>
            <a:endParaRPr sz="165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299" name="Google Shape;299;p25"/>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s"/>
              <a:t>Consumir API externa con fetch</a:t>
            </a:r>
            <a:endParaRPr/>
          </a:p>
        </p:txBody>
      </p:sp>
      <p:sp>
        <p:nvSpPr>
          <p:cNvPr id="300" name="Google Shape;300;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es" sz="1526"/>
              <a:t>La función </a:t>
            </a:r>
            <a:r>
              <a:rPr b="1" lang="es" sz="1526"/>
              <a:t>traer() </a:t>
            </a:r>
            <a:r>
              <a:rPr lang="es" sz="1526"/>
              <a:t>obtiene datos desde una API externa. </a:t>
            </a:r>
            <a:endParaRPr sz="1526"/>
          </a:p>
          <a:p>
            <a:pPr indent="0" lvl="0" marL="0" rtl="0" algn="l">
              <a:lnSpc>
                <a:spcPct val="105000"/>
              </a:lnSpc>
              <a:spcBef>
                <a:spcPts val="1200"/>
              </a:spcBef>
              <a:spcAft>
                <a:spcPts val="0"/>
              </a:spcAft>
              <a:buClr>
                <a:schemeClr val="dk1"/>
              </a:buClr>
              <a:buSzPts val="1100"/>
              <a:buFont typeface="Arial"/>
              <a:buNone/>
            </a:pPr>
            <a:r>
              <a:rPr lang="es" sz="1526"/>
              <a:t>Con</a:t>
            </a:r>
            <a:r>
              <a:rPr b="1" lang="es" sz="1526"/>
              <a:t> fetch(</a:t>
            </a:r>
            <a:r>
              <a:rPr lang="es" sz="1526"/>
              <a:t>‘https:..’</a:t>
            </a:r>
            <a:r>
              <a:rPr b="1" lang="es" sz="1526"/>
              <a:t>)</a:t>
            </a:r>
            <a:r>
              <a:rPr lang="es" sz="1526"/>
              <a:t> proporcionamos la ruta a la API.</a:t>
            </a:r>
            <a:endParaRPr sz="1526"/>
          </a:p>
          <a:p>
            <a:pPr indent="0" lvl="0" marL="0" rtl="0" algn="l">
              <a:lnSpc>
                <a:spcPct val="105000"/>
              </a:lnSpc>
              <a:spcBef>
                <a:spcPts val="1200"/>
              </a:spcBef>
              <a:spcAft>
                <a:spcPts val="0"/>
              </a:spcAft>
              <a:buClr>
                <a:schemeClr val="dk1"/>
              </a:buClr>
              <a:buSzPts val="1100"/>
              <a:buFont typeface="Arial"/>
              <a:buNone/>
            </a:pPr>
            <a:r>
              <a:rPr lang="es" sz="1526"/>
              <a:t>En </a:t>
            </a:r>
            <a:r>
              <a:rPr b="1" lang="es" sz="1526"/>
              <a:t>.then</a:t>
            </a:r>
            <a:r>
              <a:rPr lang="es" sz="1526"/>
              <a:t> guardamos en la variable </a:t>
            </a:r>
            <a:r>
              <a:rPr b="1" lang="es" sz="1526"/>
              <a:t>res</a:t>
            </a:r>
            <a:r>
              <a:rPr lang="es" sz="1526"/>
              <a:t> los datos formateados con el método </a:t>
            </a:r>
            <a:r>
              <a:rPr b="1" lang="es" sz="1526"/>
              <a:t>.json()</a:t>
            </a:r>
            <a:r>
              <a:rPr lang="es" sz="1526"/>
              <a:t> </a:t>
            </a:r>
            <a:endParaRPr sz="1526"/>
          </a:p>
          <a:p>
            <a:pPr indent="0" lvl="0" marL="0" rtl="0" algn="l">
              <a:lnSpc>
                <a:spcPct val="105000"/>
              </a:lnSpc>
              <a:spcBef>
                <a:spcPts val="1200"/>
              </a:spcBef>
              <a:spcAft>
                <a:spcPts val="0"/>
              </a:spcAft>
              <a:buClr>
                <a:schemeClr val="dk1"/>
              </a:buClr>
              <a:buSzPts val="1100"/>
              <a:buFont typeface="Arial"/>
              <a:buNone/>
            </a:pPr>
            <a:r>
              <a:rPr lang="es" sz="1526"/>
              <a:t>Y el siguiente</a:t>
            </a:r>
            <a:r>
              <a:rPr b="1" lang="es" sz="1526"/>
              <a:t> .then</a:t>
            </a:r>
            <a:r>
              <a:rPr lang="es" sz="1526"/>
              <a:t> muestra por consola todos los resultados y agrega al documento HTML los valores en la posición 0 correspondientes a la imagen, el nombre y el email.</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0"/>
              </a:spcAft>
              <a:buClr>
                <a:schemeClr val="dk1"/>
              </a:buClr>
              <a:buSzPts val="1100"/>
              <a:buFont typeface="Arial"/>
              <a:buNone/>
            </a:pPr>
            <a:r>
              <a:t/>
            </a:r>
            <a:endParaRPr sz="1526"/>
          </a:p>
          <a:p>
            <a:pPr indent="0" lvl="0" marL="0" rtl="0" algn="l">
              <a:lnSpc>
                <a:spcPct val="105000"/>
              </a:lnSpc>
              <a:spcBef>
                <a:spcPts val="1200"/>
              </a:spcBef>
              <a:spcAft>
                <a:spcPts val="1200"/>
              </a:spcAft>
              <a:buSzPts val="1018"/>
              <a:buNone/>
            </a:pPr>
            <a:r>
              <a:t/>
            </a:r>
            <a:endParaRPr sz="1526"/>
          </a:p>
        </p:txBody>
      </p:sp>
      <p:sp>
        <p:nvSpPr>
          <p:cNvPr id="301" name="Google Shape;301;p25"/>
          <p:cNvSpPr/>
          <p:nvPr/>
        </p:nvSpPr>
        <p:spPr>
          <a:xfrm>
            <a:off x="4723500" y="1152475"/>
            <a:ext cx="4108800" cy="27144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latin typeface="Consolas"/>
                <a:ea typeface="Consolas"/>
                <a:cs typeface="Consolas"/>
                <a:sym typeface="Consolas"/>
              </a:rPr>
              <a:t>function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traer</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fetch</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'https://randomuser.me/api'</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json</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results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0</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email</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contenido</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innerHTML</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96E072"/>
                </a:solidFill>
                <a:latin typeface="Consolas"/>
                <a:ea typeface="Consolas"/>
                <a:cs typeface="Consolas"/>
                <a:sym typeface="Consolas"/>
              </a:rPr>
              <a:t>`</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96E072"/>
                </a:solidFill>
                <a:latin typeface="Consolas"/>
                <a:ea typeface="Consolas"/>
                <a:cs typeface="Consolas"/>
                <a:sym typeface="Consolas"/>
              </a:rPr>
              <a:t>        &lt;img src="</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results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0</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picture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large</a:t>
            </a:r>
            <a:r>
              <a:rPr b="0" i="0" lang="es" sz="1100" u="none" cap="none" strike="noStrike">
                <a:solidFill>
                  <a:srgbClr val="F92672"/>
                </a:solidFill>
                <a:latin typeface="Consolas"/>
                <a:ea typeface="Consolas"/>
                <a:cs typeface="Consolas"/>
                <a:sym typeface="Consolas"/>
              </a:rPr>
              <a:t>}</a:t>
            </a:r>
            <a:endParaRPr b="0" i="0" sz="1100" u="none" cap="none" strike="noStrike">
              <a:solidFill>
                <a:srgbClr val="F92672"/>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96E072"/>
                </a:solidFill>
                <a:latin typeface="Consolas"/>
                <a:ea typeface="Consolas"/>
                <a:cs typeface="Consolas"/>
                <a:sym typeface="Consolas"/>
              </a:rPr>
              <a:t>          " width="100px" </a:t>
            </a:r>
            <a:endParaRPr b="0" i="0" sz="1100" u="none" cap="none" strike="noStrike">
              <a:solidFill>
                <a:srgbClr val="96E072"/>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96E072"/>
                </a:solidFill>
                <a:latin typeface="Consolas"/>
                <a:ea typeface="Consolas"/>
                <a:cs typeface="Consolas"/>
                <a:sym typeface="Consolas"/>
              </a:rPr>
              <a:t>          class="img-fluid rounded-circle"&gt;</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96E072"/>
                </a:solidFill>
                <a:latin typeface="Consolas"/>
                <a:ea typeface="Consolas"/>
                <a:cs typeface="Consolas"/>
                <a:sym typeface="Consolas"/>
              </a:rPr>
              <a:t>        &lt;p&gt;Nombre: </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results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0</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name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first</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&lt;/p&gt;</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96E072"/>
                </a:solidFill>
                <a:latin typeface="Consolas"/>
                <a:ea typeface="Consolas"/>
                <a:cs typeface="Consolas"/>
                <a:sym typeface="Consolas"/>
              </a:rPr>
              <a:t>        &lt;p&gt;Mail: </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results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0</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email</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&lt;/p&gt;`</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Consumir API externa</a:t>
            </a:r>
            <a:endParaRPr/>
          </a:p>
        </p:txBody>
      </p:sp>
      <p:sp>
        <p:nvSpPr>
          <p:cNvPr id="307" name="Google Shape;307;p26"/>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800"/>
              <a:buNone/>
            </a:pPr>
            <a:r>
              <a:rPr lang="es" sz="1650"/>
              <a:t>Este ejemplo es más completo, ya que consulta una API más de una vez. Se  envía un requerimiento  y en base a la respuesta se realiza una nueva solicitud.</a:t>
            </a:r>
            <a:endParaRPr sz="1650"/>
          </a:p>
        </p:txBody>
      </p:sp>
      <p:sp>
        <p:nvSpPr>
          <p:cNvPr id="308" name="Google Shape;308;p26"/>
          <p:cNvSpPr/>
          <p:nvPr/>
        </p:nvSpPr>
        <p:spPr>
          <a:xfrm>
            <a:off x="1453550" y="2416350"/>
            <a:ext cx="2061900" cy="894000"/>
          </a:xfrm>
          <a:prstGeom prst="roundRect">
            <a:avLst>
              <a:gd fmla="val 16667" name="adj"/>
            </a:avLst>
          </a:prstGeom>
          <a:solidFill>
            <a:srgbClr val="F8C823"/>
          </a:solidFill>
          <a:ln cap="flat" cmpd="sng" w="25400">
            <a:solidFill>
              <a:srgbClr val="F39C1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 sz="1600" u="none" cap="none" strike="noStrike">
                <a:solidFill>
                  <a:schemeClr val="dk2"/>
                </a:solidFill>
                <a:latin typeface="Montserrat"/>
                <a:ea typeface="Montserrat"/>
                <a:cs typeface="Montserrat"/>
                <a:sym typeface="Montserrat"/>
              </a:rPr>
              <a:t>APP</a:t>
            </a:r>
            <a:endParaRPr b="1" i="0" sz="1600" u="none" cap="none" strike="noStrike">
              <a:solidFill>
                <a:schemeClr val="dk2"/>
              </a:solidFill>
              <a:latin typeface="Montserrat"/>
              <a:ea typeface="Montserrat"/>
              <a:cs typeface="Montserrat"/>
              <a:sym typeface="Montserrat"/>
            </a:endParaRPr>
          </a:p>
        </p:txBody>
      </p:sp>
      <p:sp>
        <p:nvSpPr>
          <p:cNvPr id="309" name="Google Shape;309;p26"/>
          <p:cNvSpPr/>
          <p:nvPr/>
        </p:nvSpPr>
        <p:spPr>
          <a:xfrm>
            <a:off x="5628550" y="2366450"/>
            <a:ext cx="2061900" cy="894000"/>
          </a:xfrm>
          <a:prstGeom prst="roundRect">
            <a:avLst>
              <a:gd fmla="val 16667" name="adj"/>
            </a:avLst>
          </a:prstGeom>
          <a:solidFill>
            <a:srgbClr val="F8C823"/>
          </a:solidFill>
          <a:ln cap="flat" cmpd="sng" w="25400">
            <a:solidFill>
              <a:srgbClr val="F39C1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 sz="1600" u="none" cap="none" strike="noStrike">
                <a:solidFill>
                  <a:schemeClr val="dk2"/>
                </a:solidFill>
                <a:latin typeface="Montserrat"/>
                <a:ea typeface="Montserrat"/>
                <a:cs typeface="Montserrat"/>
                <a:sym typeface="Montserrat"/>
              </a:rPr>
              <a:t>API</a:t>
            </a:r>
            <a:endParaRPr b="1" i="0" sz="1600" u="none" cap="none" strike="noStrike">
              <a:solidFill>
                <a:schemeClr val="dk2"/>
              </a:solidFill>
              <a:latin typeface="Montserrat"/>
              <a:ea typeface="Montserrat"/>
              <a:cs typeface="Montserrat"/>
              <a:sym typeface="Montserrat"/>
            </a:endParaRPr>
          </a:p>
        </p:txBody>
      </p:sp>
      <p:cxnSp>
        <p:nvCxnSpPr>
          <p:cNvPr id="310" name="Google Shape;310;p26"/>
          <p:cNvCxnSpPr/>
          <p:nvPr/>
        </p:nvCxnSpPr>
        <p:spPr>
          <a:xfrm>
            <a:off x="3572402" y="2474173"/>
            <a:ext cx="1999200" cy="0"/>
          </a:xfrm>
          <a:prstGeom prst="straightConnector1">
            <a:avLst/>
          </a:prstGeom>
          <a:noFill/>
          <a:ln cap="flat" cmpd="sng" w="38100">
            <a:solidFill>
              <a:schemeClr val="dk2"/>
            </a:solidFill>
            <a:prstDash val="solid"/>
            <a:round/>
            <a:headEnd len="sm" w="sm" type="none"/>
            <a:tailEnd len="med" w="med" type="triangle"/>
          </a:ln>
        </p:spPr>
      </p:cxnSp>
      <p:cxnSp>
        <p:nvCxnSpPr>
          <p:cNvPr id="311" name="Google Shape;311;p26"/>
          <p:cNvCxnSpPr/>
          <p:nvPr/>
        </p:nvCxnSpPr>
        <p:spPr>
          <a:xfrm rot="10800000">
            <a:off x="3572407" y="2677354"/>
            <a:ext cx="1999200" cy="0"/>
          </a:xfrm>
          <a:prstGeom prst="straightConnector1">
            <a:avLst/>
          </a:prstGeom>
          <a:noFill/>
          <a:ln cap="flat" cmpd="sng" w="38100">
            <a:solidFill>
              <a:schemeClr val="dk2"/>
            </a:solidFill>
            <a:prstDash val="solid"/>
            <a:round/>
            <a:headEnd len="sm" w="sm" type="none"/>
            <a:tailEnd len="med" w="med" type="triangle"/>
          </a:ln>
        </p:spPr>
      </p:cxnSp>
      <p:cxnSp>
        <p:nvCxnSpPr>
          <p:cNvPr id="312" name="Google Shape;312;p26"/>
          <p:cNvCxnSpPr/>
          <p:nvPr/>
        </p:nvCxnSpPr>
        <p:spPr>
          <a:xfrm>
            <a:off x="3572477" y="2999085"/>
            <a:ext cx="1999200" cy="0"/>
          </a:xfrm>
          <a:prstGeom prst="straightConnector1">
            <a:avLst/>
          </a:prstGeom>
          <a:noFill/>
          <a:ln cap="flat" cmpd="sng" w="38100">
            <a:solidFill>
              <a:srgbClr val="EE5D43"/>
            </a:solidFill>
            <a:prstDash val="solid"/>
            <a:round/>
            <a:headEnd len="sm" w="sm" type="none"/>
            <a:tailEnd len="med" w="med" type="triangle"/>
          </a:ln>
        </p:spPr>
      </p:cxnSp>
      <p:cxnSp>
        <p:nvCxnSpPr>
          <p:cNvPr id="313" name="Google Shape;313;p26"/>
          <p:cNvCxnSpPr/>
          <p:nvPr/>
        </p:nvCxnSpPr>
        <p:spPr>
          <a:xfrm rot="10800000">
            <a:off x="3572407" y="3197854"/>
            <a:ext cx="1999200" cy="0"/>
          </a:xfrm>
          <a:prstGeom prst="straightConnector1">
            <a:avLst/>
          </a:prstGeom>
          <a:noFill/>
          <a:ln cap="flat" cmpd="sng" w="38100">
            <a:solidFill>
              <a:srgbClr val="EE5D43"/>
            </a:solidFill>
            <a:prstDash val="solid"/>
            <a:round/>
            <a:headEnd len="sm" w="sm" type="none"/>
            <a:tailEnd len="med" w="med" type="triangle"/>
          </a:ln>
        </p:spPr>
      </p:cxnSp>
      <p:sp>
        <p:nvSpPr>
          <p:cNvPr id="314" name="Google Shape;314;p26"/>
          <p:cNvSpPr txBox="1"/>
          <p:nvPr/>
        </p:nvSpPr>
        <p:spPr>
          <a:xfrm>
            <a:off x="3908088" y="2248507"/>
            <a:ext cx="250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1</a:t>
            </a:r>
            <a:endParaRPr b="0" i="1" sz="1200" u="none" cap="none" strike="noStrike">
              <a:solidFill>
                <a:schemeClr val="dk2"/>
              </a:solidFill>
              <a:latin typeface="Montserrat"/>
              <a:ea typeface="Montserrat"/>
              <a:cs typeface="Montserrat"/>
              <a:sym typeface="Montserrat"/>
            </a:endParaRPr>
          </a:p>
        </p:txBody>
      </p:sp>
      <p:sp>
        <p:nvSpPr>
          <p:cNvPr id="315" name="Google Shape;315;p26"/>
          <p:cNvSpPr txBox="1"/>
          <p:nvPr/>
        </p:nvSpPr>
        <p:spPr>
          <a:xfrm>
            <a:off x="3889654" y="2455194"/>
            <a:ext cx="28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2</a:t>
            </a:r>
            <a:endParaRPr b="0" i="1" sz="1200" u="none" cap="none" strike="noStrike">
              <a:solidFill>
                <a:schemeClr val="dk2"/>
              </a:solidFill>
              <a:latin typeface="Montserrat"/>
              <a:ea typeface="Montserrat"/>
              <a:cs typeface="Montserrat"/>
              <a:sym typeface="Montserrat"/>
            </a:endParaRPr>
          </a:p>
        </p:txBody>
      </p:sp>
      <p:sp>
        <p:nvSpPr>
          <p:cNvPr id="316" name="Google Shape;316;p26"/>
          <p:cNvSpPr txBox="1"/>
          <p:nvPr/>
        </p:nvSpPr>
        <p:spPr>
          <a:xfrm>
            <a:off x="3889654" y="2772463"/>
            <a:ext cx="287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3</a:t>
            </a:r>
            <a:endParaRPr b="0" i="1" sz="1200" u="none" cap="none" strike="noStrike">
              <a:solidFill>
                <a:schemeClr val="dk2"/>
              </a:solidFill>
              <a:latin typeface="Montserrat"/>
              <a:ea typeface="Montserrat"/>
              <a:cs typeface="Montserrat"/>
              <a:sym typeface="Montserrat"/>
            </a:endParaRPr>
          </a:p>
        </p:txBody>
      </p:sp>
      <p:sp>
        <p:nvSpPr>
          <p:cNvPr id="317" name="Google Shape;317;p26"/>
          <p:cNvSpPr txBox="1"/>
          <p:nvPr/>
        </p:nvSpPr>
        <p:spPr>
          <a:xfrm>
            <a:off x="3880956" y="2987624"/>
            <a:ext cx="304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s" sz="1200" u="none" cap="none" strike="noStrike">
                <a:solidFill>
                  <a:schemeClr val="dk2"/>
                </a:solidFill>
                <a:latin typeface="Montserrat"/>
                <a:ea typeface="Montserrat"/>
                <a:cs typeface="Montserrat"/>
                <a:sym typeface="Montserrat"/>
              </a:rPr>
              <a:t>4</a:t>
            </a:r>
            <a:endParaRPr b="0" i="1" sz="1200" u="none" cap="none" strike="noStrike">
              <a:solidFill>
                <a:schemeClr val="dk2"/>
              </a:solidFill>
              <a:latin typeface="Montserrat"/>
              <a:ea typeface="Montserrat"/>
              <a:cs typeface="Montserrat"/>
              <a:sym typeface="Montserrat"/>
            </a:endParaRPr>
          </a:p>
        </p:txBody>
      </p:sp>
      <p:sp>
        <p:nvSpPr>
          <p:cNvPr id="318" name="Google Shape;318;p26"/>
          <p:cNvSpPr txBox="1"/>
          <p:nvPr>
            <p:ph idx="1" type="body"/>
          </p:nvPr>
        </p:nvSpPr>
        <p:spPr>
          <a:xfrm>
            <a:off x="432025" y="3472750"/>
            <a:ext cx="8280000" cy="115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Con este esquema podríamos pedir información de un post en una red social, y luego solicitar datos sobre el usuario que hizo ese posteo, utilizando el id contenido en el post para identificar al usuario.</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7"/>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Consumir API externa</a:t>
            </a:r>
            <a:endParaRPr/>
          </a:p>
        </p:txBody>
      </p:sp>
      <p:sp>
        <p:nvSpPr>
          <p:cNvPr id="324" name="Google Shape;324;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rPr lang="es"/>
              <a:t>Utilizaremos datos que devuelve </a:t>
            </a:r>
            <a:r>
              <a:rPr lang="es" u="sng">
                <a:solidFill>
                  <a:schemeClr val="hlink"/>
                </a:solidFill>
                <a:hlinkClick r:id="rId3"/>
              </a:rPr>
              <a:t>jsonplaceholder.typicode.com/post</a:t>
            </a:r>
            <a:r>
              <a:rPr lang="es"/>
              <a:t> desde su API, con la siguiente estructura:</a:t>
            </a:r>
            <a:endParaRPr/>
          </a:p>
        </p:txBody>
      </p:sp>
      <p:sp>
        <p:nvSpPr>
          <p:cNvPr id="325" name="Google Shape;325;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0"/>
              </a:spcAft>
              <a:buClr>
                <a:schemeClr val="dk1"/>
              </a:buClr>
              <a:buSzPct val="78571"/>
              <a:buFont typeface="Arial"/>
              <a:buNone/>
            </a:pPr>
            <a:r>
              <a:rPr lang="es"/>
              <a:t>Las APIs públicas contienen la documentación necesaria para poder utilizarla.</a:t>
            </a:r>
            <a:endParaRPr/>
          </a:p>
          <a:p>
            <a:pPr indent="0" lvl="0" marL="0" rtl="0" algn="l">
              <a:lnSpc>
                <a:spcPct val="115000"/>
              </a:lnSpc>
              <a:spcBef>
                <a:spcPts val="1200"/>
              </a:spcBef>
              <a:spcAft>
                <a:spcPts val="0"/>
              </a:spcAft>
              <a:buClr>
                <a:schemeClr val="dk1"/>
              </a:buClr>
              <a:buSzPct val="78571"/>
              <a:buFont typeface="Arial"/>
              <a:buNone/>
            </a:pPr>
            <a:r>
              <a:rPr lang="es"/>
              <a:t>En el caso de este sitio en particular, se proporciona un archivo JSON con el contenido de los posteos realizados. Entre los datos vemos un </a:t>
            </a:r>
            <a:r>
              <a:rPr b="1" lang="es"/>
              <a:t>userId </a:t>
            </a:r>
            <a:r>
              <a:rPr lang="es"/>
              <a:t>y un </a:t>
            </a:r>
            <a:r>
              <a:rPr b="1" lang="es"/>
              <a:t>id</a:t>
            </a:r>
            <a:r>
              <a:rPr lang="es"/>
              <a:t>, que identifican de forma unívoca a los posteos y a los usuarios.</a:t>
            </a:r>
            <a:endParaRPr/>
          </a:p>
          <a:p>
            <a:pPr indent="0" lvl="0" marL="0" rtl="0" algn="l">
              <a:lnSpc>
                <a:spcPct val="115000"/>
              </a:lnSpc>
              <a:spcBef>
                <a:spcPts val="1200"/>
              </a:spcBef>
              <a:spcAft>
                <a:spcPts val="1200"/>
              </a:spcAft>
              <a:buSzPct val="117647"/>
              <a:buNone/>
            </a:pPr>
            <a:r>
              <a:rPr lang="es"/>
              <a:t>Para acceder a un posteo determinado podemos apuntar fetch() ha la misma dirección, pero agregando el numero de posteo al final: </a:t>
            </a:r>
            <a:r>
              <a:rPr lang="es" u="sng">
                <a:solidFill>
                  <a:schemeClr val="hlink"/>
                </a:solidFill>
                <a:hlinkClick r:id="rId4"/>
              </a:rPr>
              <a:t>https://jsonplaceholder.typicode.com/posts/2</a:t>
            </a:r>
            <a:r>
              <a:rPr lang="es"/>
              <a:t> regresa un objeto que contiene los datos del post con id = 2.</a:t>
            </a:r>
            <a:endParaRPr/>
          </a:p>
        </p:txBody>
      </p:sp>
      <p:pic>
        <p:nvPicPr>
          <p:cNvPr id="326" name="Google Shape;326;p27"/>
          <p:cNvPicPr preferRelativeResize="0"/>
          <p:nvPr/>
        </p:nvPicPr>
        <p:blipFill rotWithShape="1">
          <a:blip r:embed="rId5">
            <a:alphaModFix/>
          </a:blip>
          <a:srcRect b="16378" l="0" r="18207" t="7690"/>
          <a:stretch/>
        </p:blipFill>
        <p:spPr>
          <a:xfrm>
            <a:off x="311700" y="2116200"/>
            <a:ext cx="2824050" cy="24526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Consumir API externa con fetch</a:t>
            </a:r>
            <a:endParaRPr/>
          </a:p>
        </p:txBody>
      </p:sp>
      <p:sp>
        <p:nvSpPr>
          <p:cNvPr id="332" name="Google Shape;332;p28"/>
          <p:cNvSpPr txBox="1"/>
          <p:nvPr>
            <p:ph idx="1" type="body"/>
          </p:nvPr>
        </p:nvSpPr>
        <p:spPr>
          <a:xfrm>
            <a:off x="432025" y="1242600"/>
            <a:ext cx="8280000" cy="7011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200"/>
              </a:spcAft>
              <a:buClr>
                <a:schemeClr val="dk1"/>
              </a:buClr>
              <a:buSzPts val="1100"/>
              <a:buFont typeface="Arial"/>
              <a:buNone/>
            </a:pPr>
            <a:r>
              <a:rPr lang="es" sz="1650"/>
              <a:t>La función </a:t>
            </a:r>
            <a:r>
              <a:rPr b="1" lang="es" sz="1650"/>
              <a:t>getNombre(post) </a:t>
            </a:r>
            <a:r>
              <a:rPr lang="es" sz="1650"/>
              <a:t>obtiene datos del posteo con el </a:t>
            </a:r>
            <a:r>
              <a:rPr b="1" lang="es" sz="1650"/>
              <a:t>id</a:t>
            </a:r>
            <a:r>
              <a:rPr lang="es" sz="1650"/>
              <a:t> = </a:t>
            </a:r>
            <a:r>
              <a:rPr b="1" lang="es" sz="1650"/>
              <a:t>post</a:t>
            </a:r>
            <a:r>
              <a:rPr lang="es" sz="1650"/>
              <a:t> y muestra en la consola el </a:t>
            </a:r>
            <a:r>
              <a:rPr b="1" lang="es" sz="1650"/>
              <a:t>userId</a:t>
            </a:r>
            <a:r>
              <a:rPr lang="es" sz="1650"/>
              <a:t> del mismo:</a:t>
            </a:r>
            <a:endParaRPr sz="1650"/>
          </a:p>
        </p:txBody>
      </p:sp>
      <p:sp>
        <p:nvSpPr>
          <p:cNvPr id="333" name="Google Shape;333;p28"/>
          <p:cNvSpPr/>
          <p:nvPr/>
        </p:nvSpPr>
        <p:spPr>
          <a:xfrm>
            <a:off x="432025" y="2002100"/>
            <a:ext cx="5306400" cy="2604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hacemos la solicitud a la API...</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fetch</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`https://jsonplaceholder.typicode.com/posts/</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la API responde, y convertimos los datos al ormato JSON</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return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json</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Mostramos el userID de ese posteo</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userId</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99</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llamada a la función</a:t>
            </a:r>
            <a:endParaRPr b="0" i="0" sz="1100" u="none" cap="none" strike="noStrike">
              <a:solidFill>
                <a:srgbClr val="C74DED"/>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p:txBody>
      </p:sp>
      <p:pic>
        <p:nvPicPr>
          <p:cNvPr id="334" name="Google Shape;334;p28"/>
          <p:cNvPicPr preferRelativeResize="0"/>
          <p:nvPr/>
        </p:nvPicPr>
        <p:blipFill rotWithShape="1">
          <a:blip r:embed="rId3">
            <a:alphaModFix/>
          </a:blip>
          <a:srcRect b="0" l="0" r="21389" t="0"/>
          <a:stretch/>
        </p:blipFill>
        <p:spPr>
          <a:xfrm>
            <a:off x="5738425" y="2002100"/>
            <a:ext cx="2905224" cy="1353650"/>
          </a:xfrm>
          <a:prstGeom prst="rect">
            <a:avLst/>
          </a:prstGeom>
          <a:noFill/>
          <a:ln>
            <a:noFill/>
          </a:ln>
        </p:spPr>
      </p:pic>
      <p:pic>
        <p:nvPicPr>
          <p:cNvPr id="335" name="Google Shape;335;p28"/>
          <p:cNvPicPr preferRelativeResize="0"/>
          <p:nvPr/>
        </p:nvPicPr>
        <p:blipFill rotWithShape="1">
          <a:blip r:embed="rId4">
            <a:alphaModFix/>
          </a:blip>
          <a:srcRect b="0" l="0" r="0" t="0"/>
          <a:stretch/>
        </p:blipFill>
        <p:spPr>
          <a:xfrm>
            <a:off x="4485637" y="3702617"/>
            <a:ext cx="3814763" cy="597557"/>
          </a:xfrm>
          <a:prstGeom prst="rect">
            <a:avLst/>
          </a:prstGeom>
          <a:noFill/>
          <a:ln>
            <a:noFill/>
          </a:ln>
        </p:spPr>
      </p:pic>
      <p:cxnSp>
        <p:nvCxnSpPr>
          <p:cNvPr id="336" name="Google Shape;336;p28"/>
          <p:cNvCxnSpPr/>
          <p:nvPr/>
        </p:nvCxnSpPr>
        <p:spPr>
          <a:xfrm flipH="1" rot="10800000">
            <a:off x="2487975" y="2906850"/>
            <a:ext cx="3208500" cy="100500"/>
          </a:xfrm>
          <a:prstGeom prst="straightConnector1">
            <a:avLst/>
          </a:prstGeom>
          <a:noFill/>
          <a:ln cap="flat" cmpd="sng" w="19050">
            <a:solidFill>
              <a:schemeClr val="accent4"/>
            </a:solidFill>
            <a:prstDash val="solid"/>
            <a:round/>
            <a:headEnd len="sm" w="sm" type="none"/>
            <a:tailEnd len="med" w="med" type="triangle"/>
          </a:ln>
        </p:spPr>
      </p:cxnSp>
      <p:cxnSp>
        <p:nvCxnSpPr>
          <p:cNvPr id="337" name="Google Shape;337;p28"/>
          <p:cNvCxnSpPr/>
          <p:nvPr/>
        </p:nvCxnSpPr>
        <p:spPr>
          <a:xfrm>
            <a:off x="2998975" y="3669150"/>
            <a:ext cx="2630400" cy="486000"/>
          </a:xfrm>
          <a:prstGeom prst="straightConnector1">
            <a:avLst/>
          </a:prstGeom>
          <a:noFill/>
          <a:ln cap="flat" cmpd="sng" w="19050">
            <a:solidFill>
              <a:schemeClr val="accent4"/>
            </a:solidFill>
            <a:prstDash val="solid"/>
            <a:round/>
            <a:headEnd len="sm" w="sm"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Consumir API externa con fetch</a:t>
            </a:r>
            <a:endParaRPr/>
          </a:p>
        </p:txBody>
      </p:sp>
      <p:sp>
        <p:nvSpPr>
          <p:cNvPr id="343" name="Google Shape;343;p29"/>
          <p:cNvSpPr txBox="1"/>
          <p:nvPr>
            <p:ph idx="1" type="body"/>
          </p:nvPr>
        </p:nvSpPr>
        <p:spPr>
          <a:xfrm>
            <a:off x="432025" y="1304875"/>
            <a:ext cx="8280000" cy="797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200"/>
              </a:spcAft>
              <a:buClr>
                <a:schemeClr val="dk1"/>
              </a:buClr>
              <a:buSzPts val="1100"/>
              <a:buFont typeface="Arial"/>
              <a:buNone/>
            </a:pPr>
            <a:r>
              <a:rPr lang="es" sz="1650"/>
              <a:t>Esta nueva versión de </a:t>
            </a:r>
            <a:r>
              <a:rPr b="1" lang="es" sz="1650"/>
              <a:t>getNombre(post)</a:t>
            </a:r>
            <a:r>
              <a:rPr b="1" i="1" lang="es" sz="1650"/>
              <a:t>,</a:t>
            </a:r>
            <a:r>
              <a:rPr b="1" lang="es" sz="1650"/>
              <a:t> </a:t>
            </a:r>
            <a:r>
              <a:rPr lang="es" sz="1650"/>
              <a:t>obtiene del posteo, pero luego realiza un segundo </a:t>
            </a:r>
            <a:r>
              <a:rPr b="1" lang="es" sz="1650"/>
              <a:t>fetch()</a:t>
            </a:r>
            <a:r>
              <a:rPr lang="es" sz="1650"/>
              <a:t> para conseguir los datos del usuario:</a:t>
            </a:r>
            <a:endParaRPr sz="1650"/>
          </a:p>
        </p:txBody>
      </p:sp>
      <p:sp>
        <p:nvSpPr>
          <p:cNvPr id="344" name="Google Shape;344;p29"/>
          <p:cNvSpPr/>
          <p:nvPr/>
        </p:nvSpPr>
        <p:spPr>
          <a:xfrm>
            <a:off x="432025" y="2152900"/>
            <a:ext cx="5993100" cy="2454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fetch</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`https://jsonplaceholder.typicode.com/posts/</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 </a:t>
            </a:r>
            <a:r>
              <a:rPr b="0" i="0" lang="es" sz="1100" u="none" cap="none" strike="noStrike">
                <a:solidFill>
                  <a:srgbClr val="C74DED"/>
                </a:solidFill>
                <a:latin typeface="Consolas"/>
                <a:ea typeface="Consolas"/>
                <a:cs typeface="Consolas"/>
                <a:sym typeface="Consolas"/>
              </a:rPr>
              <a:t>return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json</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Solicitamos con otro fetch() los datos del autor del posteo</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userId</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fetch</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`https://jsonplaceholder.typicode.com/users/</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userId</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 </a:t>
            </a:r>
            <a:r>
              <a:rPr b="0" i="0" lang="es" sz="1100" u="none" cap="none" strike="noStrike">
                <a:solidFill>
                  <a:srgbClr val="C74DED"/>
                </a:solidFill>
                <a:latin typeface="Consolas"/>
                <a:ea typeface="Consolas"/>
                <a:cs typeface="Consolas"/>
                <a:sym typeface="Consolas"/>
              </a:rPr>
              <a:t>return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res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json</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then</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user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name</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99</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llamada a la función</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latin typeface="Consolas"/>
              <a:ea typeface="Consolas"/>
              <a:cs typeface="Consolas"/>
              <a:sym typeface="Consolas"/>
            </a:endParaRPr>
          </a:p>
        </p:txBody>
      </p:sp>
      <p:pic>
        <p:nvPicPr>
          <p:cNvPr id="345" name="Google Shape;345;p29"/>
          <p:cNvPicPr preferRelativeResize="0"/>
          <p:nvPr/>
        </p:nvPicPr>
        <p:blipFill rotWithShape="1">
          <a:blip r:embed="rId3">
            <a:alphaModFix/>
          </a:blip>
          <a:srcRect b="0" l="0" r="43274" t="0"/>
          <a:stretch/>
        </p:blipFill>
        <p:spPr>
          <a:xfrm>
            <a:off x="6106300" y="2035550"/>
            <a:ext cx="2463624" cy="1231475"/>
          </a:xfrm>
          <a:prstGeom prst="rect">
            <a:avLst/>
          </a:prstGeom>
          <a:noFill/>
          <a:ln>
            <a:noFill/>
          </a:ln>
        </p:spPr>
      </p:pic>
      <p:pic>
        <p:nvPicPr>
          <p:cNvPr id="346" name="Google Shape;346;p29"/>
          <p:cNvPicPr preferRelativeResize="0"/>
          <p:nvPr/>
        </p:nvPicPr>
        <p:blipFill rotWithShape="1">
          <a:blip r:embed="rId4">
            <a:alphaModFix/>
          </a:blip>
          <a:srcRect b="0" l="0" r="26480" t="0"/>
          <a:stretch/>
        </p:blipFill>
        <p:spPr>
          <a:xfrm>
            <a:off x="4470899" y="3869400"/>
            <a:ext cx="4030349" cy="670950"/>
          </a:xfrm>
          <a:prstGeom prst="rect">
            <a:avLst/>
          </a:prstGeom>
          <a:noFill/>
          <a:ln>
            <a:noFill/>
          </a:ln>
        </p:spPr>
      </p:pic>
      <p:cxnSp>
        <p:nvCxnSpPr>
          <p:cNvPr id="347" name="Google Shape;347;p29"/>
          <p:cNvCxnSpPr/>
          <p:nvPr/>
        </p:nvCxnSpPr>
        <p:spPr>
          <a:xfrm>
            <a:off x="4347675" y="3685900"/>
            <a:ext cx="1893000" cy="695400"/>
          </a:xfrm>
          <a:prstGeom prst="straightConnector1">
            <a:avLst/>
          </a:prstGeom>
          <a:noFill/>
          <a:ln cap="flat" cmpd="sng" w="19050">
            <a:solidFill>
              <a:schemeClr val="accent4"/>
            </a:solidFill>
            <a:prstDash val="solid"/>
            <a:round/>
            <a:headEnd len="sm" w="sm" type="none"/>
            <a:tailEnd len="med" w="med" type="triangle"/>
          </a:ln>
        </p:spPr>
      </p:cxnSp>
      <p:cxnSp>
        <p:nvCxnSpPr>
          <p:cNvPr id="348" name="Google Shape;348;p29"/>
          <p:cNvCxnSpPr/>
          <p:nvPr/>
        </p:nvCxnSpPr>
        <p:spPr>
          <a:xfrm>
            <a:off x="2898450" y="3158150"/>
            <a:ext cx="3317400" cy="1022100"/>
          </a:xfrm>
          <a:prstGeom prst="straightConnector1">
            <a:avLst/>
          </a:prstGeom>
          <a:noFill/>
          <a:ln cap="flat" cmpd="sng" w="19050">
            <a:solidFill>
              <a:schemeClr val="accent4"/>
            </a:solidFill>
            <a:prstDash val="solid"/>
            <a:round/>
            <a:headEnd len="sm" w="sm" type="none"/>
            <a:tailEnd len="med" w="med" type="triangle"/>
          </a:ln>
          <a:effectLst>
            <a:reflection blurRad="0" dir="5400000" dist="38100" endA="0" endPos="30000" fadeDir="5400012" kx="0" rotWithShape="0" algn="bl" stA="13000" stPos="0" sy="-100000" ky="0"/>
          </a:effectLst>
        </p:spPr>
      </p:cxnSp>
      <p:cxnSp>
        <p:nvCxnSpPr>
          <p:cNvPr id="349" name="Google Shape;349;p29"/>
          <p:cNvCxnSpPr/>
          <p:nvPr/>
        </p:nvCxnSpPr>
        <p:spPr>
          <a:xfrm>
            <a:off x="3593800" y="2624075"/>
            <a:ext cx="2512500" cy="12600"/>
          </a:xfrm>
          <a:prstGeom prst="straightConnector1">
            <a:avLst/>
          </a:prstGeom>
          <a:noFill/>
          <a:ln cap="flat" cmpd="sng" w="19050">
            <a:solidFill>
              <a:schemeClr val="accent4"/>
            </a:solidFill>
            <a:prstDash val="solid"/>
            <a:round/>
            <a:headEnd len="sm" w="sm" type="none"/>
            <a:tailEnd len="med" w="med" type="triangle"/>
          </a:ln>
          <a:effectLst>
            <a:reflection blurRad="0" dir="5400000" dist="38100" endA="0" endPos="30000" fadeDir="5400012" kx="0" rotWithShape="0" algn="bl" stA="13000" stPos="0" sy="-100000" ky="0"/>
          </a:effectLst>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Fetch | Async, Await y manejo de errores</a:t>
            </a:r>
            <a:endParaRPr/>
          </a:p>
        </p:txBody>
      </p:sp>
      <p:sp>
        <p:nvSpPr>
          <p:cNvPr id="355" name="Google Shape;355;p30"/>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s" sz="1650"/>
              <a:t>fetch() </a:t>
            </a:r>
            <a:r>
              <a:rPr lang="es" sz="1650"/>
              <a:t>proporciona un mecanismo para gestionar el error que ocurre cuando los datos solicitados a la API no pueden ser recuperados. Dado que se trata de una comunicación asincrónica, utilizamos la palabra reservada </a:t>
            </a:r>
            <a:r>
              <a:rPr b="1" lang="es" sz="1650"/>
              <a:t>async</a:t>
            </a:r>
            <a:r>
              <a:rPr lang="es" sz="1650"/>
              <a:t> para indicar que la solicitud no es sincrónica.</a:t>
            </a:r>
            <a:endParaRPr sz="1650"/>
          </a:p>
          <a:p>
            <a:pPr indent="0" lvl="0" marL="0" rtl="0" algn="l">
              <a:lnSpc>
                <a:spcPct val="115000"/>
              </a:lnSpc>
              <a:spcBef>
                <a:spcPts val="1200"/>
              </a:spcBef>
              <a:spcAft>
                <a:spcPts val="0"/>
              </a:spcAft>
              <a:buSzPts val="1800"/>
              <a:buNone/>
            </a:pPr>
            <a:r>
              <a:rPr lang="es" sz="1650"/>
              <a:t>Con palabra reservada </a:t>
            </a:r>
            <a:r>
              <a:rPr b="1" lang="es" sz="1650"/>
              <a:t>await</a:t>
            </a:r>
            <a:r>
              <a:rPr lang="es" sz="1650"/>
              <a:t> indicamos que alguna acción debe esperar a que se produzca una respuesta para ser ejecutada.</a:t>
            </a:r>
            <a:endParaRPr sz="1650"/>
          </a:p>
          <a:p>
            <a:pPr indent="0" lvl="0" marL="0" rtl="0" algn="l">
              <a:lnSpc>
                <a:spcPct val="115000"/>
              </a:lnSpc>
              <a:spcBef>
                <a:spcPts val="1200"/>
              </a:spcBef>
              <a:spcAft>
                <a:spcPts val="0"/>
              </a:spcAft>
              <a:buSzPts val="1800"/>
              <a:buNone/>
            </a:pPr>
            <a:r>
              <a:rPr lang="es" sz="1650"/>
              <a:t>Y por último, mediante la estructura </a:t>
            </a:r>
            <a:r>
              <a:rPr b="1" lang="es" sz="1650"/>
              <a:t>try…catch</a:t>
            </a:r>
            <a:r>
              <a:rPr lang="es" sz="1650"/>
              <a:t> podemos ejecutar un bloque de código en caso de que la promesa se cumpla, u otro en caso de que la comunicación falle por algún motivo y la promesa sea rechazada.</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Fetch | Async, Await y manejo de errores</a:t>
            </a:r>
            <a:endParaRPr/>
          </a:p>
        </p:txBody>
      </p:sp>
      <p:sp>
        <p:nvSpPr>
          <p:cNvPr id="361" name="Google Shape;361;p31"/>
          <p:cNvSpPr/>
          <p:nvPr/>
        </p:nvSpPr>
        <p:spPr>
          <a:xfrm>
            <a:off x="441450" y="1706550"/>
            <a:ext cx="8261100" cy="2951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5F6167"/>
                </a:solidFill>
                <a:latin typeface="Consolas"/>
                <a:ea typeface="Consolas"/>
                <a:cs typeface="Consolas"/>
                <a:sym typeface="Consolas"/>
              </a:rPr>
              <a:t>// async indica que la función es asincrónica</a:t>
            </a:r>
            <a:endParaRPr b="0" i="0" sz="11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async</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 </a:t>
            </a:r>
            <a:r>
              <a:rPr b="0" i="0" lang="es" sz="1100" u="none" cap="none" strike="noStrike">
                <a:solidFill>
                  <a:srgbClr val="5F6167"/>
                </a:solidFill>
                <a:latin typeface="Consolas"/>
                <a:ea typeface="Consolas"/>
                <a:cs typeface="Consolas"/>
                <a:sym typeface="Consolas"/>
              </a:rPr>
              <a:t> </a:t>
            </a:r>
            <a:endParaRPr b="0" i="0" sz="11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5F6167"/>
                </a:solidFill>
                <a:latin typeface="Consolas"/>
                <a:ea typeface="Consolas"/>
                <a:cs typeface="Consolas"/>
                <a:sym typeface="Consolas"/>
              </a:rPr>
              <a:t>    // El bloque try se intenta ejecutar. En caso de error, se pasa a la sección catch(error)	</a:t>
            </a:r>
            <a:endParaRPr b="0" i="0" sz="11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try</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D5CED9"/>
              </a:solidFill>
              <a:latin typeface="Consolas"/>
              <a:ea typeface="Consolas"/>
              <a:cs typeface="Consolas"/>
              <a:sym typeface="Consolas"/>
            </a:endParaRPr>
          </a:p>
          <a:p>
            <a:pPr indent="0" lvl="0" marL="45720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latin typeface="Consolas"/>
                <a:ea typeface="Consolas"/>
                <a:cs typeface="Consolas"/>
                <a:sym typeface="Consolas"/>
              </a:rPr>
              <a:t>  // await hace que el fetch NO SE PRODUZCA hasta que no esté disponible la respuesta</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resPost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await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fetch</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`https://jsonplaceholder.typicode.com/posts/</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await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resPost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json</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userId</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br>
              <a:rPr b="0" i="0" lang="es" sz="1100" u="none" cap="none" strike="noStrike">
                <a:solidFill>
                  <a:srgbClr val="D5CED9"/>
                </a:solidFill>
                <a:latin typeface="Consolas"/>
                <a:ea typeface="Consolas"/>
                <a:cs typeface="Consolas"/>
                <a:sym typeface="Consolas"/>
              </a:rPr>
            </a:b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resUser</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await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fetch</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`https://jsonplaceholder.typicode.com/users/</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userId</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user</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await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resUser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json</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user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name</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5F6167"/>
                </a:solidFill>
                <a:latin typeface="Consolas"/>
                <a:ea typeface="Consolas"/>
                <a:cs typeface="Consolas"/>
                <a:sym typeface="Consolas"/>
              </a:rPr>
              <a:t>    // Este bloque solo se ejecuta si no se pudo ejecutar el bloque try. Error contiene el</a:t>
            </a:r>
            <a:endParaRPr b="0" i="0" sz="11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latin typeface="Consolas"/>
                <a:ea typeface="Consolas"/>
                <a:cs typeface="Consolas"/>
                <a:sym typeface="Consolas"/>
              </a:rPr>
              <a:t>    // código del error que se ha producido, para que podamos procesarlo.</a:t>
            </a:r>
            <a:endParaRPr b="0" i="0" sz="11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 </a:t>
            </a:r>
            <a:r>
              <a:rPr b="0" i="0" lang="es" sz="1100" u="none" cap="none" strike="noStrike">
                <a:solidFill>
                  <a:srgbClr val="C74DED"/>
                </a:solidFill>
                <a:latin typeface="Consolas"/>
                <a:ea typeface="Consolas"/>
                <a:cs typeface="Consolas"/>
                <a:sym typeface="Consolas"/>
              </a:rPr>
              <a:t>catch</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error</a:t>
            </a:r>
            <a:r>
              <a:rPr b="0" i="0" lang="es" sz="1100" u="none" cap="none" strike="noStrike">
                <a:solidFill>
                  <a:srgbClr val="D5CED9"/>
                </a:solidFill>
                <a:latin typeface="Consolas"/>
                <a:ea typeface="Consolas"/>
                <a:cs typeface="Consolas"/>
                <a:sym typeface="Consolas"/>
              </a:rPr>
              <a:t>) {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'Ocurrió un error grave'</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error</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99</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El llamado a la función se hace de la forma habitual.</a:t>
            </a:r>
            <a:endParaRPr b="0" i="0" sz="1100" u="none" cap="none" strike="noStrike">
              <a:solidFill>
                <a:srgbClr val="D5CED9"/>
              </a:solidFill>
              <a:latin typeface="Consolas"/>
              <a:ea typeface="Consolas"/>
              <a:cs typeface="Consolas"/>
              <a:sym typeface="Consolas"/>
            </a:endParaRPr>
          </a:p>
        </p:txBody>
      </p:sp>
      <p:sp>
        <p:nvSpPr>
          <p:cNvPr id="362" name="Google Shape;362;p31"/>
          <p:cNvSpPr txBox="1"/>
          <p:nvPr>
            <p:ph idx="1" type="body"/>
          </p:nvPr>
        </p:nvSpPr>
        <p:spPr>
          <a:xfrm>
            <a:off x="432000" y="1304875"/>
            <a:ext cx="8280000" cy="343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200"/>
              </a:spcAft>
              <a:buClr>
                <a:schemeClr val="dk1"/>
              </a:buClr>
              <a:buSzPts val="1100"/>
              <a:buFont typeface="Arial"/>
              <a:buNone/>
            </a:pPr>
            <a:r>
              <a:rPr lang="es" sz="1650"/>
              <a:t>Código con </a:t>
            </a:r>
            <a:r>
              <a:rPr b="1" lang="es" sz="1650"/>
              <a:t>fetch()</a:t>
            </a:r>
            <a:r>
              <a:rPr lang="es" sz="1650"/>
              <a:t>, </a:t>
            </a:r>
            <a:r>
              <a:rPr b="1" lang="es" sz="1650"/>
              <a:t>async</a:t>
            </a:r>
            <a:r>
              <a:rPr lang="es" sz="1650"/>
              <a:t>, </a:t>
            </a:r>
            <a:r>
              <a:rPr b="1" lang="es" sz="1650"/>
              <a:t>await</a:t>
            </a:r>
            <a:r>
              <a:rPr lang="es" sz="1650"/>
              <a:t> y </a:t>
            </a:r>
            <a:r>
              <a:rPr b="1" lang="es" sz="1650"/>
              <a:t>manejo de errores</a:t>
            </a:r>
            <a:r>
              <a:rPr lang="es" sz="1650"/>
              <a:t>:</a:t>
            </a:r>
            <a:endParaRPr sz="165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Librería Axios</a:t>
            </a:r>
            <a:endParaRPr/>
          </a:p>
        </p:txBody>
      </p:sp>
      <p:sp>
        <p:nvSpPr>
          <p:cNvPr id="368" name="Google Shape;368;p32"/>
          <p:cNvSpPr txBox="1"/>
          <p:nvPr>
            <p:ph idx="1" type="body"/>
          </p:nvPr>
        </p:nvSpPr>
        <p:spPr>
          <a:xfrm>
            <a:off x="432000" y="1304875"/>
            <a:ext cx="8280000" cy="33243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b="1" lang="es" sz="1650"/>
              <a:t>Axios</a:t>
            </a:r>
            <a:r>
              <a:rPr lang="es" sz="1650"/>
              <a:t> es una librería JavaScript que permite hacer las operaciones como cliente HTTP de manera simple. Podemos configurar y realizar solicitudes a un servidor, y recibir respuestas en un formato más fácil de procesar. </a:t>
            </a:r>
            <a:r>
              <a:rPr lang="es" sz="1650" u="sng">
                <a:solidFill>
                  <a:schemeClr val="hlink"/>
                </a:solidFill>
                <a:hlinkClick r:id="rId3"/>
              </a:rPr>
              <a:t>+info</a:t>
            </a:r>
            <a:endParaRPr sz="1650"/>
          </a:p>
          <a:p>
            <a:pPr indent="0" lvl="0" marL="0" rtl="0" algn="l">
              <a:lnSpc>
                <a:spcPct val="105000"/>
              </a:lnSpc>
              <a:spcBef>
                <a:spcPts val="1200"/>
              </a:spcBef>
              <a:spcAft>
                <a:spcPts val="0"/>
              </a:spcAft>
              <a:buClr>
                <a:schemeClr val="dk1"/>
              </a:buClr>
              <a:buSzPts val="1100"/>
              <a:buFont typeface="Arial"/>
              <a:buNone/>
            </a:pPr>
            <a:r>
              <a:rPr lang="es" sz="1650"/>
              <a:t>Al igual que otras librerías y frameworks, para utilizar Axios en nuestros proyectos debemos incluir un enlace a su CDN y otro a un script JS. Las rutas actualizadas pueden obtenerse desde </a:t>
            </a:r>
            <a:r>
              <a:rPr lang="es" sz="1650" u="sng">
                <a:solidFill>
                  <a:schemeClr val="hlink"/>
                </a:solidFill>
                <a:hlinkClick r:id="rId4"/>
              </a:rPr>
              <a:t>la web del desarrollador</a:t>
            </a:r>
            <a:r>
              <a:rPr lang="es" sz="1650"/>
              <a:t>, y se ven así en nuestro código:</a:t>
            </a:r>
            <a:endParaRPr sz="1650"/>
          </a:p>
          <a:p>
            <a:pPr indent="0" lvl="0" marL="0" rtl="0" algn="l">
              <a:lnSpc>
                <a:spcPct val="105000"/>
              </a:lnSpc>
              <a:spcBef>
                <a:spcPts val="1200"/>
              </a:spcBef>
              <a:spcAft>
                <a:spcPts val="0"/>
              </a:spcAft>
              <a:buClr>
                <a:schemeClr val="dk1"/>
              </a:buClr>
              <a:buSzPts val="1100"/>
              <a:buFont typeface="Arial"/>
              <a:buNone/>
            </a:pPr>
            <a:r>
              <a:t/>
            </a:r>
            <a:endParaRPr sz="1650"/>
          </a:p>
          <a:p>
            <a:pPr indent="0" lvl="0" marL="0" rtl="0" algn="l">
              <a:lnSpc>
                <a:spcPct val="105000"/>
              </a:lnSpc>
              <a:spcBef>
                <a:spcPts val="1200"/>
              </a:spcBef>
              <a:spcAft>
                <a:spcPts val="1200"/>
              </a:spcAft>
              <a:buClr>
                <a:schemeClr val="dk1"/>
              </a:buClr>
              <a:buSzPts val="1100"/>
              <a:buFont typeface="Arial"/>
              <a:buNone/>
            </a:pPr>
            <a:r>
              <a:t/>
            </a:r>
            <a:endParaRPr sz="1650"/>
          </a:p>
        </p:txBody>
      </p:sp>
      <p:sp>
        <p:nvSpPr>
          <p:cNvPr id="369" name="Google Shape;369;p32"/>
          <p:cNvSpPr/>
          <p:nvPr/>
        </p:nvSpPr>
        <p:spPr>
          <a:xfrm>
            <a:off x="514350" y="3550675"/>
            <a:ext cx="8030400" cy="572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src</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"https://cdnjs.cloudflare.com/ajax/libs/axios/0.21.1/axios.min.js"</a:t>
            </a:r>
            <a:r>
              <a:rPr b="0" i="0" lang="es" sz="1200" u="none" cap="none" strike="noStrike">
                <a:solidFill>
                  <a:srgbClr val="D5CED9"/>
                </a:solidFill>
                <a:latin typeface="Consolas"/>
                <a:ea typeface="Consolas"/>
                <a:cs typeface="Consolas"/>
                <a:sym typeface="Consolas"/>
              </a:rPr>
              <a:t>&gt;&lt;/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src</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"async-await-axios.js"</a:t>
            </a:r>
            <a:r>
              <a:rPr b="0" i="0" lang="es" sz="1200" u="none" cap="none" strike="noStrike">
                <a:solidFill>
                  <a:srgbClr val="D5CED9"/>
                </a:solidFill>
                <a:latin typeface="Consolas"/>
                <a:ea typeface="Consolas"/>
                <a:cs typeface="Consolas"/>
                <a:sym typeface="Consolas"/>
              </a:rPr>
              <a:t>&gt;&lt;/</a:t>
            </a:r>
            <a:r>
              <a:rPr b="0" i="0" lang="es" sz="1200" u="none" cap="none" strike="noStrike">
                <a:solidFill>
                  <a:srgbClr val="F92672"/>
                </a:solidFill>
                <a:latin typeface="Consolas"/>
                <a:ea typeface="Consolas"/>
                <a:cs typeface="Consolas"/>
                <a:sym typeface="Consolas"/>
              </a:rPr>
              <a:t>script</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Librería Axios</a:t>
            </a:r>
            <a:endParaRPr/>
          </a:p>
        </p:txBody>
      </p:sp>
      <p:sp>
        <p:nvSpPr>
          <p:cNvPr id="375" name="Google Shape;375;p33"/>
          <p:cNvSpPr txBox="1"/>
          <p:nvPr>
            <p:ph idx="1" type="body"/>
          </p:nvPr>
        </p:nvSpPr>
        <p:spPr>
          <a:xfrm>
            <a:off x="432000" y="1304875"/>
            <a:ext cx="8280000" cy="33243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b="1" lang="es" sz="1650"/>
              <a:t>Axios</a:t>
            </a:r>
            <a:r>
              <a:rPr lang="es" sz="1650"/>
              <a:t> reemplaza a </a:t>
            </a:r>
            <a:r>
              <a:rPr b="1" lang="es" sz="1650"/>
              <a:t>fetch()</a:t>
            </a:r>
            <a:r>
              <a:rPr lang="es" sz="1650"/>
              <a:t> por una función propia. A pesar de que el código parece cambiar poco, utilizando </a:t>
            </a:r>
            <a:r>
              <a:rPr b="1" lang="es" sz="1650"/>
              <a:t>Axios</a:t>
            </a:r>
            <a:r>
              <a:rPr lang="es" sz="1650"/>
              <a:t> ya no necesitamos convertir a JSON los datos recibidos, porque la librería se encarga de ello.</a:t>
            </a:r>
            <a:endParaRPr sz="1650"/>
          </a:p>
          <a:p>
            <a:pPr indent="0" lvl="0" marL="0" rtl="0" algn="l">
              <a:lnSpc>
                <a:spcPct val="105000"/>
              </a:lnSpc>
              <a:spcBef>
                <a:spcPts val="1200"/>
              </a:spcBef>
              <a:spcAft>
                <a:spcPts val="0"/>
              </a:spcAft>
              <a:buClr>
                <a:schemeClr val="dk1"/>
              </a:buClr>
              <a:buSzPts val="1100"/>
              <a:buFont typeface="Arial"/>
              <a:buNone/>
            </a:pPr>
            <a:r>
              <a:rPr lang="es" sz="1650"/>
              <a:t>Entre otras cosas, Axios separa los encabezados y todo lo que normalmente no utilizamos del paquete recibido, y convierte los datos a JSON.  </a:t>
            </a:r>
            <a:endParaRPr sz="1650"/>
          </a:p>
          <a:p>
            <a:pPr indent="0" lvl="0" marL="0" rtl="0" algn="l">
              <a:lnSpc>
                <a:spcPct val="105000"/>
              </a:lnSpc>
              <a:spcBef>
                <a:spcPts val="1200"/>
              </a:spcBef>
              <a:spcAft>
                <a:spcPts val="1200"/>
              </a:spcAft>
              <a:buClr>
                <a:schemeClr val="dk1"/>
              </a:buClr>
              <a:buSzPts val="1100"/>
              <a:buFont typeface="Arial"/>
              <a:buNone/>
            </a:pPr>
            <a:r>
              <a:rPr lang="es" sz="1650"/>
              <a:t>A modo de ejemplo, vamos a reescribir el código anterior, pero en lugar de usar  </a:t>
            </a:r>
            <a:r>
              <a:rPr b="1" lang="es" sz="1650"/>
              <a:t>fetch()</a:t>
            </a:r>
            <a:r>
              <a:rPr lang="es" sz="1650"/>
              <a:t>, </a:t>
            </a:r>
            <a:r>
              <a:rPr b="1" lang="es" sz="1650"/>
              <a:t>async</a:t>
            </a:r>
            <a:r>
              <a:rPr lang="es" sz="1650"/>
              <a:t>, </a:t>
            </a:r>
            <a:r>
              <a:rPr b="1" lang="es" sz="1650"/>
              <a:t>await</a:t>
            </a:r>
            <a:r>
              <a:rPr lang="es" sz="1650"/>
              <a:t> y manejo de errores mediante </a:t>
            </a:r>
            <a:r>
              <a:rPr b="1" lang="es" sz="1650"/>
              <a:t>try</a:t>
            </a:r>
            <a:r>
              <a:rPr lang="es" sz="1650"/>
              <a:t> / </a:t>
            </a:r>
            <a:r>
              <a:rPr b="1" lang="es" sz="1650"/>
              <a:t>catch</a:t>
            </a:r>
            <a:r>
              <a:rPr lang="es" sz="1650"/>
              <a:t>, reemplazamos </a:t>
            </a:r>
            <a:r>
              <a:rPr b="1" lang="es" sz="1650"/>
              <a:t>fetch()</a:t>
            </a:r>
            <a:r>
              <a:rPr lang="es" sz="1650"/>
              <a:t> por </a:t>
            </a:r>
            <a:r>
              <a:rPr b="1" lang="es" sz="1650"/>
              <a:t>axios()</a:t>
            </a:r>
            <a:r>
              <a:rPr lang="es" sz="1650"/>
              <a:t>, la función de la librería que se encarga de solicitar los datos a una AP, dando lugar a un código algo más corto y legible.</a:t>
            </a:r>
            <a:endParaRPr sz="165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Fetch | Async, Await y manejo de errores</a:t>
            </a:r>
            <a:endParaRPr/>
          </a:p>
        </p:txBody>
      </p:sp>
      <p:sp>
        <p:nvSpPr>
          <p:cNvPr id="381" name="Google Shape;381;p34"/>
          <p:cNvSpPr/>
          <p:nvPr/>
        </p:nvSpPr>
        <p:spPr>
          <a:xfrm>
            <a:off x="441450" y="1706550"/>
            <a:ext cx="8261100" cy="2951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5F6167"/>
                </a:solidFill>
                <a:latin typeface="Consolas"/>
                <a:ea typeface="Consolas"/>
                <a:cs typeface="Consolas"/>
                <a:sym typeface="Consolas"/>
              </a:rPr>
              <a:t>// async indica que la función es asincrónica</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async</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=&gt;</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latin typeface="Consolas"/>
                <a:ea typeface="Consolas"/>
                <a:cs typeface="Consolas"/>
                <a:sym typeface="Consolas"/>
              </a:rPr>
              <a:t>    // El bloque try se intenta ejecutar. En caso de error, se pasa a la sección catch(error)</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try</a:t>
            </a:r>
            <a:r>
              <a:rPr b="0" i="0" lang="es" sz="1100" u="none" cap="none" strike="noStrike">
                <a:solidFill>
                  <a:srgbClr val="D5CED9"/>
                </a:solidFill>
                <a:latin typeface="Consolas"/>
                <a:ea typeface="Consolas"/>
                <a:cs typeface="Consolas"/>
                <a:sym typeface="Consolas"/>
              </a:rPr>
              <a:t> { </a:t>
            </a:r>
            <a:endParaRPr b="0" i="0" sz="1100" u="none" cap="none" strike="noStrike">
              <a:solidFill>
                <a:srgbClr val="D5CED9"/>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1100"/>
              <a:buFont typeface="Arial"/>
              <a:buNone/>
            </a:pPr>
            <a:r>
              <a:rPr b="0" i="0" lang="es" sz="1100" u="none" cap="none" strike="noStrike">
                <a:solidFill>
                  <a:srgbClr val="5F6167"/>
                </a:solidFill>
                <a:latin typeface="Consolas"/>
                <a:ea typeface="Consolas"/>
                <a:cs typeface="Consolas"/>
                <a:sym typeface="Consolas"/>
              </a:rPr>
              <a:t>  // await hace que axios espere por la respuesta</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resPost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await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axios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`https://jsonplaceholder.typicode.com/posts/</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idPost</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resPost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//Mostramos el objeto (el post) completo</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resPost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data</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userId</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//Mostramos el userID, contenido en data.userId</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br>
              <a:rPr b="0" i="0" lang="es" sz="1100" u="none" cap="none" strike="noStrike">
                <a:solidFill>
                  <a:srgbClr val="D5CED9"/>
                </a:solidFill>
                <a:latin typeface="Consolas"/>
                <a:ea typeface="Consolas"/>
                <a:cs typeface="Consolas"/>
                <a:sym typeface="Consolas"/>
              </a:rPr>
            </a:b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const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resUser</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await</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axios</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`https://jsonplaceholder.typicode.com/users/</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resPost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data</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userId</a:t>
            </a:r>
            <a:r>
              <a:rPr b="0" i="0" lang="es" sz="1100" u="none" cap="none" strike="noStrike">
                <a:solidFill>
                  <a:srgbClr val="F92672"/>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resUser</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//Mostramos el objeto (el usuario) completo</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resUser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data</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name</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//Mostramos el nombre del usuario, que está en data.name</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 </a:t>
            </a:r>
            <a:r>
              <a:rPr b="0" i="0" lang="es" sz="1100" u="none" cap="none" strike="noStrike">
                <a:solidFill>
                  <a:srgbClr val="C74DED"/>
                </a:solidFill>
                <a:latin typeface="Consolas"/>
                <a:ea typeface="Consolas"/>
                <a:cs typeface="Consolas"/>
                <a:sym typeface="Consolas"/>
              </a:rPr>
              <a:t>catch</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error</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39C12"/>
                </a:solidFill>
                <a:latin typeface="Consolas"/>
                <a:ea typeface="Consolas"/>
                <a:cs typeface="Consolas"/>
                <a:sym typeface="Consolas"/>
              </a:rPr>
              <a:t>console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FE66D"/>
                </a:solidFill>
                <a:latin typeface="Consolas"/>
                <a:ea typeface="Consolas"/>
                <a:cs typeface="Consolas"/>
                <a:sym typeface="Consolas"/>
              </a:rPr>
              <a:t>log</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'Ocurrió un error grave'</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error</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200"/>
              <a:buFont typeface="Arial"/>
              <a:buNone/>
            </a:pP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FFE66D"/>
                </a:solidFill>
                <a:latin typeface="Consolas"/>
                <a:ea typeface="Consolas"/>
                <a:cs typeface="Consolas"/>
                <a:sym typeface="Consolas"/>
              </a:rPr>
              <a:t>getNombre</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99</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El llamado a la función se hace de la forma habitual.</a:t>
            </a:r>
            <a:endParaRPr b="0" i="0" sz="1100" u="none" cap="none" strike="noStrike">
              <a:solidFill>
                <a:srgbClr val="D5CED9"/>
              </a:solidFill>
              <a:latin typeface="Consolas"/>
              <a:ea typeface="Consolas"/>
              <a:cs typeface="Consolas"/>
              <a:sym typeface="Consolas"/>
            </a:endParaRPr>
          </a:p>
        </p:txBody>
      </p:sp>
      <p:sp>
        <p:nvSpPr>
          <p:cNvPr id="382" name="Google Shape;382;p34"/>
          <p:cNvSpPr txBox="1"/>
          <p:nvPr>
            <p:ph idx="1" type="body"/>
          </p:nvPr>
        </p:nvSpPr>
        <p:spPr>
          <a:xfrm>
            <a:off x="432000" y="1304875"/>
            <a:ext cx="8280000" cy="343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200"/>
              </a:spcAft>
              <a:buClr>
                <a:schemeClr val="dk1"/>
              </a:buClr>
              <a:buSzPts val="1100"/>
              <a:buFont typeface="Arial"/>
              <a:buNone/>
            </a:pPr>
            <a:r>
              <a:rPr lang="es" sz="1650"/>
              <a:t>Código con </a:t>
            </a:r>
            <a:r>
              <a:rPr b="1" lang="es" sz="1650"/>
              <a:t>axios()</a:t>
            </a:r>
            <a:r>
              <a:rPr lang="es" sz="1650"/>
              <a:t>, </a:t>
            </a:r>
            <a:r>
              <a:rPr b="1" lang="es" sz="1650"/>
              <a:t>async</a:t>
            </a:r>
            <a:r>
              <a:rPr lang="es" sz="1650"/>
              <a:t>, </a:t>
            </a:r>
            <a:r>
              <a:rPr b="1" lang="es" sz="1650"/>
              <a:t>await</a:t>
            </a:r>
            <a:r>
              <a:rPr lang="es" sz="1650"/>
              <a:t> y </a:t>
            </a:r>
            <a:r>
              <a:rPr b="1" lang="es" sz="1650"/>
              <a:t>manejo de errores</a:t>
            </a:r>
            <a:r>
              <a:rPr lang="es" sz="1650"/>
              <a:t>:</a:t>
            </a:r>
            <a:endParaRPr sz="165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5"/>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388" name="Google Shape;388;p3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6"/>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Material complementario</a:t>
            </a:r>
            <a:endParaRPr b="0" i="0" sz="2700" u="none" cap="none" strike="noStrike">
              <a:solidFill>
                <a:srgbClr val="000000"/>
              </a:solidFill>
              <a:latin typeface="Montserrat Medium"/>
              <a:ea typeface="Montserrat Medium"/>
              <a:cs typeface="Montserrat Medium"/>
              <a:sym typeface="Montserrat Medium"/>
            </a:endParaRPr>
          </a:p>
        </p:txBody>
      </p:sp>
      <p:sp>
        <p:nvSpPr>
          <p:cNvPr id="394" name="Google Shape;394;p36"/>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API Rest con JavaScript:</a:t>
            </a:r>
            <a:endParaRPr b="0" i="0" sz="16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1200"/>
              </a:spcBef>
              <a:spcAft>
                <a:spcPts val="0"/>
              </a:spcAft>
              <a:buClr>
                <a:srgbClr val="595959"/>
              </a:buClr>
              <a:buSzPts val="1450"/>
              <a:buFont typeface="Montserrat"/>
              <a:buChar char="●"/>
            </a:pPr>
            <a:r>
              <a:rPr b="0" i="0" lang="es" sz="1450" u="none" cap="none" strike="noStrike">
                <a:solidFill>
                  <a:srgbClr val="595959"/>
                </a:solidFill>
                <a:latin typeface="Montserrat"/>
                <a:ea typeface="Montserrat"/>
                <a:cs typeface="Montserrat"/>
                <a:sym typeface="Montserrat"/>
              </a:rPr>
              <a:t>4 Maneras de llamar a una API Rest con JavaScript: </a:t>
            </a:r>
            <a:r>
              <a:rPr b="0" i="0" lang="es" sz="1450" u="sng" cap="none" strike="noStrike">
                <a:solidFill>
                  <a:schemeClr val="hlink"/>
                </a:solidFill>
                <a:latin typeface="Montserrat"/>
                <a:ea typeface="Montserrat"/>
                <a:cs typeface="Montserrat"/>
                <a:sym typeface="Montserrat"/>
                <a:hlinkClick r:id="rId3"/>
              </a:rPr>
              <a:t>https://dev.to/vikingcodeblog/4-maneras-de-llamar-a-una-api-rest-con-javascript-2nhm</a:t>
            </a:r>
            <a:r>
              <a:rPr b="0" i="0" lang="es" sz="1450" u="none" cap="none" strike="noStrike">
                <a:solidFill>
                  <a:srgbClr val="595959"/>
                </a:solidFill>
                <a:latin typeface="Montserrat"/>
                <a:ea typeface="Montserrat"/>
                <a:cs typeface="Montserrat"/>
                <a:sym typeface="Montserrat"/>
              </a:rPr>
              <a:t> </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none" cap="none" strike="noStrike">
                <a:solidFill>
                  <a:srgbClr val="595959"/>
                </a:solidFill>
                <a:latin typeface="Montserrat"/>
                <a:ea typeface="Montserrat"/>
                <a:cs typeface="Montserrat"/>
                <a:sym typeface="Montserrat"/>
              </a:rPr>
              <a:t>APIs gratuitas para programar tus proyectos: </a:t>
            </a:r>
            <a:r>
              <a:rPr b="0" i="0" lang="es" sz="1450" u="sng" cap="none" strike="noStrike">
                <a:solidFill>
                  <a:schemeClr val="hlink"/>
                </a:solidFill>
                <a:latin typeface="Montserrat"/>
                <a:ea typeface="Montserrat"/>
                <a:cs typeface="Montserrat"/>
                <a:sym typeface="Montserrat"/>
                <a:hlinkClick r:id="rId4"/>
              </a:rPr>
              <a:t>https://github.com/public-apis/public-apis</a:t>
            </a:r>
            <a:r>
              <a:rPr b="0" i="0" lang="es" sz="1450" u="none" cap="none" strike="noStrike">
                <a:solidFill>
                  <a:srgbClr val="595959"/>
                </a:solidFill>
                <a:latin typeface="Montserrat"/>
                <a:ea typeface="Montserrat"/>
                <a:cs typeface="Montserrat"/>
                <a:sym typeface="Montserrat"/>
              </a:rPr>
              <a:t> Más de 1.500 APIs gratuitas para utilizar en tus apps (tiempo, películas, libros, eventos, cotizaciones, etc.)</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none" cap="none" strike="noStrike">
                <a:solidFill>
                  <a:srgbClr val="595959"/>
                </a:solidFill>
                <a:latin typeface="Montserrat"/>
                <a:ea typeface="Montserrat"/>
                <a:cs typeface="Montserrat"/>
                <a:sym typeface="Montserrat"/>
              </a:rPr>
              <a:t>Create Your Own Fake JSON API: </a:t>
            </a:r>
            <a:r>
              <a:rPr b="0" i="0" lang="es" sz="1450" u="sng" cap="none" strike="noStrike">
                <a:solidFill>
                  <a:schemeClr val="hlink"/>
                </a:solidFill>
                <a:latin typeface="Montserrat"/>
                <a:ea typeface="Montserrat"/>
                <a:cs typeface="Montserrat"/>
                <a:sym typeface="Montserrat"/>
                <a:hlinkClick r:id="rId5"/>
              </a:rPr>
              <a:t>https://mocki.io/fake-json-api</a:t>
            </a:r>
            <a:r>
              <a:rPr b="0" i="0" lang="es" sz="1450" u="none" cap="none" strike="noStrike">
                <a:solidFill>
                  <a:srgbClr val="595959"/>
                </a:solidFill>
                <a:latin typeface="Montserrat"/>
                <a:ea typeface="Montserrat"/>
                <a:cs typeface="Montserrat"/>
                <a:sym typeface="Montserrat"/>
              </a:rPr>
              <a:t> (allows you to create a fake JSON API with your own fake data). Otro servicio similar: </a:t>
            </a:r>
            <a:r>
              <a:rPr b="0" i="0" lang="es" sz="1450" u="sng" cap="none" strike="noStrike">
                <a:solidFill>
                  <a:schemeClr val="hlink"/>
                </a:solidFill>
                <a:latin typeface="Montserrat"/>
                <a:ea typeface="Montserrat"/>
                <a:cs typeface="Montserrat"/>
                <a:sym typeface="Montserrat"/>
                <a:hlinkClick r:id="rId6"/>
              </a:rPr>
              <a:t>https://beeceptor.com/</a:t>
            </a:r>
            <a:r>
              <a:rPr b="0" i="0" lang="es" sz="1450" u="none" cap="none" strike="noStrike">
                <a:solidFill>
                  <a:srgbClr val="595959"/>
                </a:solidFill>
                <a:latin typeface="Montserrat"/>
                <a:ea typeface="Montserrat"/>
                <a:cs typeface="Montserrat"/>
                <a:sym typeface="Montserrat"/>
              </a:rPr>
              <a:t> </a:t>
            </a:r>
            <a:endParaRPr b="0" i="0" sz="14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7"/>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400" name="Google Shape;400;p37"/>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Material extra:</a:t>
            </a:r>
            <a:endParaRPr b="0" i="0" sz="16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1200"/>
              </a:spcBef>
              <a:spcAft>
                <a:spcPts val="0"/>
              </a:spcAft>
              <a:buClr>
                <a:srgbClr val="000000"/>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3"/>
              </a:rPr>
              <a:t>Todo sobre el protocolo HTTP</a:t>
            </a:r>
            <a:r>
              <a:rPr b="0" i="0" lang="es" sz="1450" u="none" cap="none" strike="noStrike">
                <a:solidFill>
                  <a:srgbClr val="595959"/>
                </a:solidFill>
                <a:latin typeface="Montserrat"/>
                <a:ea typeface="Montserrat"/>
                <a:cs typeface="Montserrat"/>
                <a:sym typeface="Montserrat"/>
              </a:rPr>
              <a:t>, en MDN</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4"/>
              </a:rPr>
              <a:t>¿Qué es una API REST?</a:t>
            </a:r>
            <a:r>
              <a:rPr b="0" i="0" lang="es" sz="1450" u="none" cap="none" strike="noStrike">
                <a:solidFill>
                  <a:srgbClr val="595959"/>
                </a:solidFill>
                <a:latin typeface="Montserrat"/>
                <a:ea typeface="Montserrat"/>
                <a:cs typeface="Montserrat"/>
                <a:sym typeface="Montserrat"/>
              </a:rPr>
              <a:t>, en IBM</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5"/>
              </a:rPr>
              <a:t>¿Qué es la programación asíncrona?</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6"/>
              </a:rPr>
              <a:t>El objeto promise</a:t>
            </a:r>
            <a:r>
              <a:rPr b="0" i="0" lang="es" sz="1450" u="none" cap="none" strike="noStrike">
                <a:solidFill>
                  <a:srgbClr val="595959"/>
                </a:solidFill>
                <a:latin typeface="Montserrat"/>
                <a:ea typeface="Montserrat"/>
                <a:cs typeface="Montserrat"/>
                <a:sym typeface="Montserrat"/>
              </a:rPr>
              <a:t>, en MDN</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7"/>
              </a:rPr>
              <a:t>Curso de promesas en JavaScript</a:t>
            </a:r>
            <a:r>
              <a:rPr b="0" i="0" lang="es" sz="1450" u="none" cap="none" strike="noStrike">
                <a:solidFill>
                  <a:srgbClr val="595959"/>
                </a:solidFill>
                <a:latin typeface="Montserrat"/>
                <a:ea typeface="Montserrat"/>
                <a:cs typeface="Montserrat"/>
                <a:sym typeface="Montserrat"/>
              </a:rPr>
              <a:t>, en freecodecamp.org</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8"/>
              </a:rPr>
              <a:t>¿Qué es una SPA?</a:t>
            </a:r>
            <a:endParaRPr b="0" i="0" sz="145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Videos:</a:t>
            </a:r>
            <a:endParaRPr b="0" i="0" sz="16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1200"/>
              </a:spcBef>
              <a:spcAft>
                <a:spcPts val="0"/>
              </a:spcAft>
              <a:buClr>
                <a:schemeClr val="dk2"/>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9"/>
              </a:rPr>
              <a:t>¿Qué son las APIs y para qué sirven?</a:t>
            </a:r>
            <a:endParaRPr b="0" i="0" sz="1450" u="none" cap="none" strike="noStrike">
              <a:solidFill>
                <a:srgbClr val="595959"/>
              </a:solidFill>
              <a:latin typeface="Montserrat"/>
              <a:ea typeface="Montserrat"/>
              <a:cs typeface="Montserrat"/>
              <a:sym typeface="Montserrat"/>
            </a:endParaRPr>
          </a:p>
          <a:p>
            <a:pPr indent="-320675" lvl="0" marL="457200" marR="0" rtl="0" algn="l">
              <a:lnSpc>
                <a:spcPct val="115000"/>
              </a:lnSpc>
              <a:spcBef>
                <a:spcPts val="0"/>
              </a:spcBef>
              <a:spcAft>
                <a:spcPts val="0"/>
              </a:spcAft>
              <a:buClr>
                <a:srgbClr val="595959"/>
              </a:buClr>
              <a:buSzPts val="1450"/>
              <a:buFont typeface="Montserrat"/>
              <a:buChar char="●"/>
            </a:pPr>
            <a:r>
              <a:rPr b="0" i="0" lang="es" sz="1450" u="sng" cap="none" strike="noStrike">
                <a:solidFill>
                  <a:schemeClr val="hlink"/>
                </a:solidFill>
                <a:latin typeface="Montserrat"/>
                <a:ea typeface="Montserrat"/>
                <a:cs typeface="Montserrat"/>
                <a:sym typeface="Montserrat"/>
                <a:hlinkClick r:id="rId10"/>
              </a:rPr>
              <a:t>¿Qué es una SPA?</a:t>
            </a:r>
            <a:endParaRPr b="0" i="0" sz="14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8"/>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Actividades prácticas</a:t>
            </a:r>
            <a:endParaRPr/>
          </a:p>
        </p:txBody>
      </p:sp>
      <p:sp>
        <p:nvSpPr>
          <p:cNvPr id="406" name="Google Shape;406;p38"/>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Para el TPO deberá poder consumir una API Rest desde JavaScript. Recuerde que deberá informar la API utilizada al momento de entregar el trabajo práctico.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9"/>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0"/>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1"/>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1200"/>
              </a:spcBef>
              <a:spcAft>
                <a:spcPts val="0"/>
              </a:spcAft>
              <a:buSzPts val="3700"/>
              <a:buNone/>
            </a:pPr>
            <a:r>
              <a:rPr lang="es"/>
              <a:t>Muchas gracias por tu atención.</a:t>
            </a:r>
            <a:endParaRPr/>
          </a:p>
          <a:p>
            <a:pPr indent="0" lvl="0" marL="0" rtl="0" algn="l">
              <a:lnSpc>
                <a:spcPct val="115000"/>
              </a:lnSpc>
              <a:spcBef>
                <a:spcPts val="1200"/>
              </a:spcBef>
              <a:spcAft>
                <a:spcPts val="1200"/>
              </a:spcAft>
              <a:buSzPts val="3700"/>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