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embeddedFontLst>
    <p:embeddedFont>
      <p:font typeface="Montserrat SemiBold"/>
      <p:regular r:id="rId55"/>
      <p:bold r:id="rId56"/>
      <p:italic r:id="rId57"/>
      <p:boldItalic r:id="rId58"/>
    </p:embeddedFont>
    <p:embeddedFont>
      <p:font typeface="Montserrat"/>
      <p:regular r:id="rId59"/>
      <p:bold r:id="rId60"/>
      <p:italic r:id="rId61"/>
      <p:boldItalic r:id="rId62"/>
    </p:embeddedFont>
    <p:embeddedFont>
      <p:font typeface="Montserrat Medium"/>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67" roundtripDataSignature="AMtx7mhMbFja2PpMiTCFrkeX8aqY+Wzx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8BFCB5-DC95-4238-AE9F-A01DB9431078}">
  <a:tblStyle styleId="{408BFCB5-DC95-4238-AE9F-A01DB943107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boldItalic.fntdata"/><Relationship Id="rId61" Type="http://schemas.openxmlformats.org/officeDocument/2006/relationships/font" Target="fonts/Montserrat-italic.fntdata"/><Relationship Id="rId20" Type="http://schemas.openxmlformats.org/officeDocument/2006/relationships/slide" Target="slides/slide14.xml"/><Relationship Id="rId64" Type="http://schemas.openxmlformats.org/officeDocument/2006/relationships/font" Target="fonts/MontserratMedium-bold.fntdata"/><Relationship Id="rId63" Type="http://schemas.openxmlformats.org/officeDocument/2006/relationships/font" Target="fonts/MontserratMedium-regular.fntdata"/><Relationship Id="rId22" Type="http://schemas.openxmlformats.org/officeDocument/2006/relationships/slide" Target="slides/slide16.xml"/><Relationship Id="rId66" Type="http://schemas.openxmlformats.org/officeDocument/2006/relationships/font" Target="fonts/MontserratMedium-boldItalic.fntdata"/><Relationship Id="rId21" Type="http://schemas.openxmlformats.org/officeDocument/2006/relationships/slide" Target="slides/slide15.xml"/><Relationship Id="rId65" Type="http://schemas.openxmlformats.org/officeDocument/2006/relationships/font" Target="fonts/MontserratMedium-italic.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font" Target="fonts/Montserrat-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MontserratSemiBold-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MontserratSemiBold-italic.fntdata"/><Relationship Id="rId12" Type="http://schemas.openxmlformats.org/officeDocument/2006/relationships/slide" Target="slides/slide6.xml"/><Relationship Id="rId56" Type="http://schemas.openxmlformats.org/officeDocument/2006/relationships/font" Target="fonts/MontserratSemiBold-bold.fntdata"/><Relationship Id="rId15" Type="http://schemas.openxmlformats.org/officeDocument/2006/relationships/slide" Target="slides/slide9.xml"/><Relationship Id="rId59" Type="http://schemas.openxmlformats.org/officeDocument/2006/relationships/font" Target="fonts/Montserrat-regular.fntdata"/><Relationship Id="rId14" Type="http://schemas.openxmlformats.org/officeDocument/2006/relationships/slide" Target="slides/slide8.xml"/><Relationship Id="rId58" Type="http://schemas.openxmlformats.org/officeDocument/2006/relationships/font" Target="fonts/MontserratSemiBold-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50"/>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50"/>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50"/>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50"/>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50"/>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5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5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5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51"/>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5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5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5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5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5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5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2"/>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52"/>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5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52"/>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52"/>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52"/>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52"/>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52"/>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5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5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5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5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52"/>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5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5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3"/>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53"/>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53"/>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53"/>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53"/>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5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54"/>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5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54"/>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5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57" name="Shape 57"/>
        <p:cNvGrpSpPr/>
        <p:nvPr/>
      </p:nvGrpSpPr>
      <p:grpSpPr>
        <a:xfrm>
          <a:off x="0" y="0"/>
          <a:ext cx="0" cy="0"/>
          <a:chOff x="0" y="0"/>
          <a:chExt cx="0" cy="0"/>
        </a:xfrm>
      </p:grpSpPr>
      <p:sp>
        <p:nvSpPr>
          <p:cNvPr id="58" name="Google Shape;58;p55"/>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 name="Google Shape;59;p55"/>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0" name="Google Shape;60;p55"/>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1" name="Google Shape;61;p55"/>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62" name="Google Shape;62;p5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5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6"/>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5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7" name="Google Shape;67;p5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8" name="Google Shape;68;p5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9" name="Google Shape;69;p56"/>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0" name="Google Shape;70;p5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57"/>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5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57"/>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5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5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58"/>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5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58"/>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58"/>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5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59"/>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59"/>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5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5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59"/>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5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6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0"/>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60"/>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60"/>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6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6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60"/>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60"/>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60"/>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6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6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61"/>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61"/>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61"/>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61"/>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61"/>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6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6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6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6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62"/>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62"/>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62"/>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62"/>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6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6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6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6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63"/>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6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63"/>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63"/>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63"/>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63"/>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63"/>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6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6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6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6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63"/>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6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hyperlink" Target="https://uniwebsidad.com/libros/algoritmos-python/capitulo-9/utilizando-diccionarios-en-pyth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1" Type="http://schemas.openxmlformats.org/officeDocument/2006/relationships/hyperlink" Target="https://www.youtube.com/watch?v=UKD3CMINxik&amp;list=PLWtYZ2ejMVJnh0KVllw24XklzJ62WNFsj&amp;index=29" TargetMode="External"/><Relationship Id="rId10" Type="http://schemas.openxmlformats.org/officeDocument/2006/relationships/hyperlink" Target="https://www.youtube.com/watch?v=rmRrvol4XcM&amp;list=PLWtYZ2ejMVJnh0KVllw24XklzJ62WNFsj&amp;index=28" TargetMode="External"/><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hyperlink" Target="https://www.w3schools.com/python/python_lists.asp" TargetMode="External"/><Relationship Id="rId4" Type="http://schemas.openxmlformats.org/officeDocument/2006/relationships/hyperlink" Target="https://www.w3schools.com/python/python_dictionaries.asp" TargetMode="External"/><Relationship Id="rId9" Type="http://schemas.openxmlformats.org/officeDocument/2006/relationships/hyperlink" Target="https://www.youtube.com/watch?v=2OmgHl8lp0I&amp;list=PLU8oAlHdN5BlvPxziopYZRd55pdqFwkeS&amp;index=9" TargetMode="External"/><Relationship Id="rId5" Type="http://schemas.openxmlformats.org/officeDocument/2006/relationships/hyperlink" Target="https://www.w3schools.com/python/python_tuples.asp" TargetMode="External"/><Relationship Id="rId6" Type="http://schemas.openxmlformats.org/officeDocument/2006/relationships/hyperlink" Target="https://www.w3schools.com/python/python_sets.asp" TargetMode="External"/><Relationship Id="rId7" Type="http://schemas.openxmlformats.org/officeDocument/2006/relationships/hyperlink" Target="https://www.youtube.com/watch?v=Q8hugySbLQQ&amp;list=PLU8oAlHdN5BlvPxziopYZRd55pdqFwkeS&amp;index=7" TargetMode="External"/><Relationship Id="rId8" Type="http://schemas.openxmlformats.org/officeDocument/2006/relationships/hyperlink" Target="https://www.youtube.com/watch?v=Ufqh8aoR9hE&amp;list=PLU8oAlHdN5BlvPxziopYZRd55pdqFwkeS&amp;index=8"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27</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PYTHON 3</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Cadenas y Listas</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9575" y="2868475"/>
            <a:ext cx="70485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27</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26</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28</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Controladores de flujo</a:t>
            </a:r>
            <a:endParaRPr b="1"/>
          </a:p>
          <a:p>
            <a:pPr indent="0" lvl="0" marL="0" rtl="0" algn="l">
              <a:lnSpc>
                <a:spcPct val="100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Estructuras control.</a:t>
            </a:r>
            <a:endParaRPr sz="900"/>
          </a:p>
          <a:p>
            <a:pPr indent="-285750" lvl="0" marL="457200" rtl="0" algn="l">
              <a:lnSpc>
                <a:spcPct val="115000"/>
              </a:lnSpc>
              <a:spcBef>
                <a:spcPts val="0"/>
              </a:spcBef>
              <a:spcAft>
                <a:spcPts val="0"/>
              </a:spcAft>
              <a:buSzPts val="900"/>
              <a:buChar char="●"/>
            </a:pPr>
            <a:r>
              <a:rPr lang="es" sz="900"/>
              <a:t>Condicionales: sentencia if.</a:t>
            </a:r>
            <a:endParaRPr sz="900"/>
          </a:p>
          <a:p>
            <a:pPr indent="-285750" lvl="0" marL="457200" rtl="0" algn="l">
              <a:lnSpc>
                <a:spcPct val="115000"/>
              </a:lnSpc>
              <a:spcBef>
                <a:spcPts val="0"/>
              </a:spcBef>
              <a:spcAft>
                <a:spcPts val="0"/>
              </a:spcAft>
              <a:buSzPts val="900"/>
              <a:buChar char="●"/>
            </a:pPr>
            <a:r>
              <a:rPr lang="es" sz="900"/>
              <a:t>Iterativas: sentencia while y for.</a:t>
            </a:r>
            <a:endParaRPr sz="900"/>
          </a:p>
          <a:p>
            <a:pPr indent="-285750" lvl="0" marL="457200" rtl="0" algn="l">
              <a:lnSpc>
                <a:spcPct val="115000"/>
              </a:lnSpc>
              <a:spcBef>
                <a:spcPts val="0"/>
              </a:spcBef>
              <a:spcAft>
                <a:spcPts val="0"/>
              </a:spcAft>
              <a:buSzPts val="900"/>
              <a:buChar char="●"/>
            </a:pPr>
            <a:r>
              <a:rPr lang="es" sz="900"/>
              <a:t>Operadores lógicos y relacionales.</a:t>
            </a:r>
            <a:endParaRPr b="1"/>
          </a:p>
          <a:p>
            <a:pPr indent="0" lvl="0" marL="457200" rtl="0" algn="l">
              <a:lnSpc>
                <a:spcPct val="115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454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Funciones</a:t>
            </a:r>
            <a:endParaRPr b="1"/>
          </a:p>
          <a:p>
            <a:pPr indent="0" lvl="0" marL="457200" rtl="0" algn="l">
              <a:lnSpc>
                <a:spcPct val="115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Funciones. Concepto.</a:t>
            </a:r>
            <a:endParaRPr sz="900"/>
          </a:p>
          <a:p>
            <a:pPr indent="-285750" lvl="0" marL="457200" rtl="0" algn="l">
              <a:lnSpc>
                <a:spcPct val="115000"/>
              </a:lnSpc>
              <a:spcBef>
                <a:spcPts val="0"/>
              </a:spcBef>
              <a:spcAft>
                <a:spcPts val="0"/>
              </a:spcAft>
              <a:buSzPts val="900"/>
              <a:buChar char="●"/>
            </a:pPr>
            <a:r>
              <a:rPr lang="es" sz="900"/>
              <a:t>Llamada a función.</a:t>
            </a:r>
            <a:endParaRPr sz="900"/>
          </a:p>
          <a:p>
            <a:pPr indent="-285750" lvl="0" marL="457200" rtl="0" algn="l">
              <a:lnSpc>
                <a:spcPct val="115000"/>
              </a:lnSpc>
              <a:spcBef>
                <a:spcPts val="0"/>
              </a:spcBef>
              <a:spcAft>
                <a:spcPts val="0"/>
              </a:spcAft>
              <a:buSzPts val="900"/>
              <a:buChar char="●"/>
            </a:pPr>
            <a:r>
              <a:rPr lang="es" sz="900"/>
              <a:t>Retorno y envío de valores.</a:t>
            </a:r>
            <a:endParaRPr sz="900"/>
          </a:p>
          <a:p>
            <a:pPr indent="-285750" lvl="0" marL="457200" rtl="0" algn="l">
              <a:lnSpc>
                <a:spcPct val="115000"/>
              </a:lnSpc>
              <a:spcBef>
                <a:spcPts val="0"/>
              </a:spcBef>
              <a:spcAft>
                <a:spcPts val="0"/>
              </a:spcAft>
              <a:buSzPts val="900"/>
              <a:buChar char="●"/>
            </a:pPr>
            <a:r>
              <a:rPr lang="es" sz="900"/>
              <a:t>Parámetros, argumentos, valor y referencia.</a:t>
            </a:r>
            <a:endParaRPr sz="900"/>
          </a:p>
          <a:p>
            <a:pPr indent="-285750" lvl="0" marL="457200" rtl="0" algn="l">
              <a:lnSpc>
                <a:spcPct val="115000"/>
              </a:lnSpc>
              <a:spcBef>
                <a:spcPts val="0"/>
              </a:spcBef>
              <a:spcAft>
                <a:spcPts val="0"/>
              </a:spcAft>
              <a:buSzPts val="900"/>
              <a:buChar char="●"/>
            </a:pPr>
            <a:r>
              <a:rPr lang="es" sz="900"/>
              <a:t>Parámetros mutables e inmutables.</a:t>
            </a:r>
            <a:endParaRPr sz="900"/>
          </a:p>
          <a:p>
            <a:pPr indent="-285750" lvl="0" marL="457200" rtl="0" algn="l">
              <a:lnSpc>
                <a:spcPct val="115000"/>
              </a:lnSpc>
              <a:spcBef>
                <a:spcPts val="0"/>
              </a:spcBef>
              <a:spcAft>
                <a:spcPts val="0"/>
              </a:spcAft>
              <a:buSzPts val="900"/>
              <a:buChar char="●"/>
            </a:pPr>
            <a:r>
              <a:rPr lang="es" sz="900"/>
              <a:t>Parámetros por defecto</a:t>
            </a:r>
            <a:endParaRPr sz="900"/>
          </a:p>
          <a:p>
            <a:pPr indent="-285750" lvl="0" marL="457200" rtl="0" algn="l">
              <a:lnSpc>
                <a:spcPct val="115000"/>
              </a:lnSpc>
              <a:spcBef>
                <a:spcPts val="0"/>
              </a:spcBef>
              <a:spcAft>
                <a:spcPts val="0"/>
              </a:spcAft>
              <a:buSzPts val="900"/>
              <a:buChar char="●"/>
            </a:pPr>
            <a:r>
              <a:rPr lang="es" sz="900"/>
              <a:t>Docstring.</a:t>
            </a:r>
            <a:endParaRPr sz="900"/>
          </a:p>
          <a:p>
            <a:pPr indent="-285750" lvl="0" marL="457200" rtl="0" algn="l">
              <a:lnSpc>
                <a:spcPct val="115000"/>
              </a:lnSpc>
              <a:spcBef>
                <a:spcPts val="0"/>
              </a:spcBef>
              <a:spcAft>
                <a:spcPts val="0"/>
              </a:spcAft>
              <a:buSzPts val="900"/>
              <a:buChar char="●"/>
            </a:pPr>
            <a:r>
              <a:rPr lang="es" sz="900"/>
              <a:t>Funciones Lambda/Anónima.</a:t>
            </a:r>
            <a:endParaRPr sz="900"/>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Cadenas y Listas</a:t>
            </a:r>
            <a:endParaRPr b="1"/>
          </a:p>
          <a:p>
            <a:pPr indent="0" lvl="0" marL="457200" rtl="0" algn="l">
              <a:lnSpc>
                <a:spcPct val="115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Cadenas de caracteres.</a:t>
            </a:r>
            <a:endParaRPr sz="900"/>
          </a:p>
          <a:p>
            <a:pPr indent="-285750" lvl="0" marL="457200" rtl="0" algn="l">
              <a:lnSpc>
                <a:spcPct val="115000"/>
              </a:lnSpc>
              <a:spcBef>
                <a:spcPts val="0"/>
              </a:spcBef>
              <a:spcAft>
                <a:spcPts val="0"/>
              </a:spcAft>
              <a:buSzPts val="900"/>
              <a:buChar char="●"/>
            </a:pPr>
            <a:r>
              <a:rPr lang="es" sz="900"/>
              <a:t>Métodos de cadenas.</a:t>
            </a:r>
            <a:endParaRPr sz="900"/>
          </a:p>
          <a:p>
            <a:pPr indent="-285750" lvl="0" marL="457200" rtl="0" algn="l">
              <a:lnSpc>
                <a:spcPct val="115000"/>
              </a:lnSpc>
              <a:spcBef>
                <a:spcPts val="0"/>
              </a:spcBef>
              <a:spcAft>
                <a:spcPts val="0"/>
              </a:spcAft>
              <a:buSzPts val="900"/>
              <a:buChar char="●"/>
            </a:pPr>
            <a:r>
              <a:rPr lang="es" sz="900"/>
              <a:t>f-strings</a:t>
            </a:r>
            <a:endParaRPr sz="900"/>
          </a:p>
          <a:p>
            <a:pPr indent="-285750" lvl="0" marL="457200" rtl="0" algn="l">
              <a:lnSpc>
                <a:spcPct val="115000"/>
              </a:lnSpc>
              <a:spcBef>
                <a:spcPts val="0"/>
              </a:spcBef>
              <a:spcAft>
                <a:spcPts val="0"/>
              </a:spcAft>
              <a:buSzPts val="900"/>
              <a:buChar char="●"/>
            </a:pPr>
            <a:r>
              <a:rPr lang="es" sz="900"/>
              <a:t>Índices y slicing (rebanadas).</a:t>
            </a:r>
            <a:endParaRPr sz="900"/>
          </a:p>
          <a:p>
            <a:pPr indent="-285750" lvl="0" marL="457200" rtl="0" algn="l">
              <a:lnSpc>
                <a:spcPct val="115000"/>
              </a:lnSpc>
              <a:spcBef>
                <a:spcPts val="0"/>
              </a:spcBef>
              <a:spcAft>
                <a:spcPts val="0"/>
              </a:spcAft>
              <a:buSzPts val="900"/>
              <a:buChar char="●"/>
            </a:pPr>
            <a:r>
              <a:rPr lang="es" sz="900"/>
              <a:t>Tipo de datos compuestos.</a:t>
            </a:r>
            <a:endParaRPr sz="900"/>
          </a:p>
          <a:p>
            <a:pPr indent="-285750" lvl="0" marL="457200" rtl="0" algn="l">
              <a:lnSpc>
                <a:spcPct val="115000"/>
              </a:lnSpc>
              <a:spcBef>
                <a:spcPts val="0"/>
              </a:spcBef>
              <a:spcAft>
                <a:spcPts val="0"/>
              </a:spcAft>
              <a:buSzPts val="900"/>
              <a:buChar char="●"/>
            </a:pPr>
            <a:r>
              <a:rPr lang="es" sz="900"/>
              <a:t>Listas. Métodos.</a:t>
            </a:r>
            <a:endParaRPr sz="900"/>
          </a:p>
          <a:p>
            <a:pPr indent="-285750" lvl="0" marL="457200" rtl="0" algn="l">
              <a:lnSpc>
                <a:spcPct val="115000"/>
              </a:lnSpc>
              <a:spcBef>
                <a:spcPts val="0"/>
              </a:spcBef>
              <a:spcAft>
                <a:spcPts val="0"/>
              </a:spcAft>
              <a:buSzPts val="900"/>
              <a:buChar char="●"/>
            </a:pPr>
            <a:r>
              <a:rPr lang="es" sz="900"/>
              <a:t>Tipos de datos mutables e inmutables.</a:t>
            </a:r>
            <a:endParaRPr sz="900"/>
          </a:p>
          <a:p>
            <a:pPr indent="-285750" lvl="0" marL="457200" rtl="0" algn="l">
              <a:lnSpc>
                <a:spcPct val="115000"/>
              </a:lnSpc>
              <a:spcBef>
                <a:spcPts val="0"/>
              </a:spcBef>
              <a:spcAft>
                <a:spcPts val="0"/>
              </a:spcAft>
              <a:buSzPts val="900"/>
              <a:buChar char="●"/>
            </a:pPr>
            <a:r>
              <a:rPr lang="es" sz="900"/>
              <a:t>Tuplas, diccionarios, conjuntos</a:t>
            </a:r>
            <a:endParaRPr sz="900"/>
          </a:p>
          <a:p>
            <a:pPr indent="0" lvl="0" marL="457200" rtl="0" algn="l">
              <a:lnSpc>
                <a:spcPct val="115000"/>
              </a:lnSpc>
              <a:spcBef>
                <a:spcPts val="0"/>
              </a:spcBef>
              <a:spcAft>
                <a:spcPts val="0"/>
              </a:spcAft>
              <a:buSzPts val="1000"/>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Cadenas de caracteres</a:t>
            </a:r>
            <a:endParaRPr/>
          </a:p>
        </p:txBody>
      </p:sp>
      <p:sp>
        <p:nvSpPr>
          <p:cNvPr id="173" name="Google Shape;173;p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Python, al igual que la mayoría de los lenguajes de programación actuales, provee un tipo de datos específico para tratar las cadenas de caracteres (strings).</a:t>
            </a:r>
            <a:endParaRPr/>
          </a:p>
          <a:p>
            <a:pPr indent="0" lvl="0" marL="0" rtl="0" algn="l">
              <a:lnSpc>
                <a:spcPct val="100000"/>
              </a:lnSpc>
              <a:spcBef>
                <a:spcPts val="0"/>
              </a:spcBef>
              <a:spcAft>
                <a:spcPts val="0"/>
              </a:spcAft>
              <a:buSzPts val="1700"/>
              <a:buNone/>
            </a:pPr>
            <a:r>
              <a:rPr lang="es"/>
              <a:t>Se trata de un tipo de dato con longitud variable, ya que deben adecuarse a la cantidad de caracteres que albergue la cadena. </a:t>
            </a:r>
            <a:endParaRPr/>
          </a:p>
          <a:p>
            <a:pPr indent="0" lvl="0" marL="0" rtl="0" algn="l">
              <a:lnSpc>
                <a:spcPct val="100000"/>
              </a:lnSpc>
              <a:spcBef>
                <a:spcPts val="0"/>
              </a:spcBef>
              <a:spcAft>
                <a:spcPts val="0"/>
              </a:spcAft>
              <a:buSzPts val="1700"/>
              <a:buNone/>
            </a:pPr>
            <a:r>
              <a:rPr lang="es"/>
              <a:t>Este tipo de datos posee una buena cantidad de métodos y propiedades que facilita su uso.</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a:t>
            </a:r>
            <a:endParaRPr/>
          </a:p>
        </p:txBody>
      </p:sp>
      <p:sp>
        <p:nvSpPr>
          <p:cNvPr id="179" name="Google Shape;179;p6"/>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Una </a:t>
            </a:r>
            <a:r>
              <a:rPr b="1" i="0" lang="es" sz="1682" u="none" cap="none" strike="noStrike">
                <a:solidFill>
                  <a:srgbClr val="595959"/>
                </a:solidFill>
                <a:latin typeface="Montserrat"/>
                <a:ea typeface="Montserrat"/>
                <a:cs typeface="Montserrat"/>
                <a:sym typeface="Montserrat"/>
              </a:rPr>
              <a:t>cadena de caracteres</a:t>
            </a:r>
            <a:r>
              <a:rPr b="0" i="0" lang="es" sz="1682" u="none" cap="none" strike="noStrike">
                <a:solidFill>
                  <a:srgbClr val="595959"/>
                </a:solidFill>
                <a:latin typeface="Montserrat"/>
                <a:ea typeface="Montserrat"/>
                <a:cs typeface="Montserrat"/>
                <a:sym typeface="Montserrat"/>
              </a:rPr>
              <a:t> está compuesta por cero o  más caracteres. Las cadenas</a:t>
            </a:r>
            <a:r>
              <a:rPr b="0" i="0" lang="es" sz="1650" u="none" cap="none" strike="noStrike">
                <a:solidFill>
                  <a:schemeClr val="dk2"/>
                </a:solidFill>
                <a:latin typeface="Montserrat"/>
                <a:ea typeface="Montserrat"/>
                <a:cs typeface="Montserrat"/>
                <a:sym typeface="Montserrat"/>
              </a:rPr>
              <a:t> pueden delimitarse con comillas simples o dobles.</a:t>
            </a:r>
            <a:r>
              <a:rPr b="0" i="0" lang="es" sz="1682" u="none" cap="none" strike="noStrike">
                <a:solidFill>
                  <a:srgbClr val="595959"/>
                </a:solidFill>
                <a:latin typeface="Montserrat"/>
                <a:ea typeface="Montserrat"/>
                <a:cs typeface="Montserrat"/>
                <a:sym typeface="Montserrat"/>
              </a:rPr>
              <a:t> </a:t>
            </a:r>
            <a:endParaRPr b="0" i="0" sz="1682" u="none" cap="none" strike="noStrike">
              <a:solidFill>
                <a:srgbClr val="595959"/>
              </a:solidFill>
              <a:latin typeface="Montserrat"/>
              <a:ea typeface="Montserrat"/>
              <a:cs typeface="Montserrat"/>
              <a:sym typeface="Montserrat"/>
            </a:endParaRPr>
          </a:p>
        </p:txBody>
      </p:sp>
      <p:sp>
        <p:nvSpPr>
          <p:cNvPr id="180" name="Google Shape;180;p6"/>
          <p:cNvSpPr/>
          <p:nvPr/>
        </p:nvSpPr>
        <p:spPr>
          <a:xfrm>
            <a:off x="1157250" y="2287689"/>
            <a:ext cx="6829500" cy="1755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5F6167"/>
                </a:solidFill>
                <a:highlight>
                  <a:srgbClr val="23262E"/>
                </a:highlight>
                <a:latin typeface="Consolas"/>
                <a:ea typeface="Consolas"/>
                <a:cs typeface="Consolas"/>
                <a:sym typeface="Consolas"/>
              </a:rPr>
              <a:t># Definición de cadenas usando comillas dobles</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dia1 </a:t>
            </a:r>
            <a:r>
              <a:rPr b="0" i="0" lang="es" sz="1400" u="none" cap="none" strike="noStrike">
                <a:solidFill>
                  <a:srgbClr val="EE5D43"/>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"Lunes"</a:t>
            </a:r>
            <a:r>
              <a:rPr b="0" i="0" lang="es" sz="1400" u="none" cap="none" strike="noStrike">
                <a:solidFill>
                  <a:srgbClr val="D5CED9"/>
                </a:solidFill>
                <a:highlight>
                  <a:srgbClr val="23262E"/>
                </a:highlight>
                <a:latin typeface="Consolas"/>
                <a:ea typeface="Consolas"/>
                <a:cs typeface="Consolas"/>
                <a:sym typeface="Consolas"/>
              </a:rPr>
              <a:t>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x </a:t>
            </a:r>
            <a:r>
              <a:rPr b="0" i="0" lang="es" sz="1400" u="none" cap="none" strike="noStrike">
                <a:solidFill>
                  <a:srgbClr val="EE5D43"/>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5F6167"/>
                </a:solidFill>
                <a:highlight>
                  <a:srgbClr val="23262E"/>
                </a:highlight>
                <a:latin typeface="Consolas"/>
                <a:ea typeface="Consolas"/>
                <a:cs typeface="Consolas"/>
                <a:sym typeface="Consolas"/>
              </a:rPr>
              <a:t># x es un string de longitud cero</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5F6167"/>
                </a:solidFill>
                <a:highlight>
                  <a:srgbClr val="23262E"/>
                </a:highlight>
                <a:latin typeface="Consolas"/>
                <a:ea typeface="Consolas"/>
                <a:cs typeface="Consolas"/>
                <a:sym typeface="Consolas"/>
              </a:rPr>
              <a:t># Definición de cadenas usando comillas simples</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dia2 </a:t>
            </a:r>
            <a:r>
              <a:rPr b="0" i="0" lang="es" sz="1400" u="none" cap="none" strike="noStrike">
                <a:solidFill>
                  <a:srgbClr val="EE5D43"/>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'Martes'</a:t>
            </a:r>
            <a:r>
              <a:rPr b="0" i="0" lang="es" sz="1400" u="none" cap="none" strike="noStrike">
                <a:solidFill>
                  <a:srgbClr val="D5CED9"/>
                </a:solidFill>
                <a:highlight>
                  <a:srgbClr val="23262E"/>
                </a:highlight>
                <a:latin typeface="Consolas"/>
                <a:ea typeface="Consolas"/>
                <a:cs typeface="Consolas"/>
                <a:sym typeface="Consolas"/>
              </a:rPr>
              <a:t>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z </a:t>
            </a:r>
            <a:r>
              <a:rPr b="0" i="0" lang="es" sz="1400" u="none" cap="none" strike="noStrike">
                <a:solidFill>
                  <a:srgbClr val="EE5D43"/>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"121"</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5F6167"/>
                </a:solidFill>
                <a:highlight>
                  <a:srgbClr val="23262E"/>
                </a:highlight>
                <a:latin typeface="Consolas"/>
                <a:ea typeface="Consolas"/>
                <a:cs typeface="Consolas"/>
                <a:sym typeface="Consolas"/>
              </a:rPr>
              <a:t># z contiene dígitos, pero es un string</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181" name="Google Shape;181;p6"/>
          <p:cNvSpPr/>
          <p:nvPr/>
        </p:nvSpPr>
        <p:spPr>
          <a:xfrm>
            <a:off x="1157250" y="2058788"/>
            <a:ext cx="6829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Inicialización de una cadena por asignación:</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a:t>
            </a:r>
            <a:endParaRPr/>
          </a:p>
        </p:txBody>
      </p:sp>
      <p:sp>
        <p:nvSpPr>
          <p:cNvPr id="187" name="Google Shape;187;p7"/>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Una ventaja del hecho de poder delimitar cadenas con comillas simples o dobles es que si usamos comillas de una clase, las de otra clase puede utilizarse como parte de la cadena:</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188" name="Google Shape;188;p7"/>
          <p:cNvSpPr txBox="1"/>
          <p:nvPr/>
        </p:nvSpPr>
        <p:spPr>
          <a:xfrm>
            <a:off x="436425" y="2978675"/>
            <a:ext cx="8279700" cy="5727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Una cadena puede replicarse con el operador *:</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189" name="Google Shape;189;p7"/>
          <p:cNvSpPr/>
          <p:nvPr/>
        </p:nvSpPr>
        <p:spPr>
          <a:xfrm>
            <a:off x="2476050" y="3705975"/>
            <a:ext cx="4191900" cy="754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risa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'ja'</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carcajada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risa</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  </a:t>
            </a:r>
            <a:r>
              <a:rPr b="0" i="0" lang="es" sz="1400" u="none" cap="none" strike="noStrike">
                <a:solidFill>
                  <a:srgbClr val="5F6167"/>
                </a:solidFill>
                <a:latin typeface="Consolas"/>
                <a:ea typeface="Consolas"/>
                <a:cs typeface="Consolas"/>
                <a:sym typeface="Consolas"/>
              </a:rPr>
              <a:t># jajajajaja</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asteriscos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10 </a:t>
            </a:r>
            <a:r>
              <a:rPr b="0" i="0" lang="es" sz="1200" u="none" cap="none" strike="noStrike">
                <a:solidFill>
                  <a:srgbClr val="5F6167"/>
                </a:solidFill>
                <a:latin typeface="Consolas"/>
                <a:ea typeface="Consolas"/>
                <a:cs typeface="Consolas"/>
                <a:sym typeface="Consolas"/>
              </a:rPr>
              <a:t># **********</a:t>
            </a:r>
            <a:endParaRPr b="0" i="0" sz="1000" u="none" cap="none" strike="noStrike">
              <a:solidFill>
                <a:srgbClr val="FFE66D"/>
              </a:solidFill>
              <a:highlight>
                <a:srgbClr val="23262E"/>
              </a:highlight>
              <a:latin typeface="Consolas"/>
              <a:ea typeface="Consolas"/>
              <a:cs typeface="Consolas"/>
              <a:sym typeface="Consolas"/>
            </a:endParaRPr>
          </a:p>
        </p:txBody>
      </p:sp>
      <p:sp>
        <p:nvSpPr>
          <p:cNvPr id="190" name="Google Shape;190;p7"/>
          <p:cNvSpPr/>
          <p:nvPr/>
        </p:nvSpPr>
        <p:spPr>
          <a:xfrm>
            <a:off x="2480325" y="3477075"/>
            <a:ext cx="4191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Replicación</a:t>
            </a:r>
            <a:endParaRPr b="0" i="0" sz="1400" u="none" cap="none" strike="noStrike">
              <a:solidFill>
                <a:schemeClr val="dk2"/>
              </a:solidFill>
              <a:latin typeface="Montserrat"/>
              <a:ea typeface="Montserrat"/>
              <a:cs typeface="Montserrat"/>
              <a:sym typeface="Montserrat"/>
            </a:endParaRPr>
          </a:p>
        </p:txBody>
      </p:sp>
      <p:sp>
        <p:nvSpPr>
          <p:cNvPr id="191" name="Google Shape;191;p7"/>
          <p:cNvSpPr/>
          <p:nvPr/>
        </p:nvSpPr>
        <p:spPr>
          <a:xfrm>
            <a:off x="2467350" y="2504725"/>
            <a:ext cx="4191900" cy="455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"Mi perro 'Toby'"</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Mi perro 'Toby'</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'Mi perro "Toby"'</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Mi perro "Toby"</a:t>
            </a:r>
            <a:endParaRPr b="0" i="0" sz="1200" u="none" cap="none" strike="noStrike">
              <a:solidFill>
                <a:srgbClr val="D5CED9"/>
              </a:solidFill>
              <a:latin typeface="Consolas"/>
              <a:ea typeface="Consolas"/>
              <a:cs typeface="Consolas"/>
              <a:sym typeface="Consolas"/>
            </a:endParaRPr>
          </a:p>
        </p:txBody>
      </p:sp>
      <p:sp>
        <p:nvSpPr>
          <p:cNvPr id="192" name="Google Shape;192;p7"/>
          <p:cNvSpPr/>
          <p:nvPr/>
        </p:nvSpPr>
        <p:spPr>
          <a:xfrm>
            <a:off x="2467350" y="2275825"/>
            <a:ext cx="4191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Uso de comillas simples y dobles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a:t>
            </a:r>
            <a:endParaRPr/>
          </a:p>
        </p:txBody>
      </p:sp>
      <p:sp>
        <p:nvSpPr>
          <p:cNvPr id="198" name="Google Shape;198;p8"/>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También pueden usarse triples comillas simples o dobles, que proveen un método sencillo para crear cadenas usando más de una línea de código: </a:t>
            </a:r>
            <a:endParaRPr b="0" i="0" sz="1682" u="none" cap="none" strike="noStrike">
              <a:solidFill>
                <a:srgbClr val="595959"/>
              </a:solidFill>
              <a:latin typeface="Montserrat"/>
              <a:ea typeface="Montserrat"/>
              <a:cs typeface="Montserrat"/>
              <a:sym typeface="Montserrat"/>
            </a:endParaRPr>
          </a:p>
        </p:txBody>
      </p:sp>
      <p:sp>
        <p:nvSpPr>
          <p:cNvPr id="199" name="Google Shape;199;p8"/>
          <p:cNvSpPr/>
          <p:nvPr/>
        </p:nvSpPr>
        <p:spPr>
          <a:xfrm>
            <a:off x="1157250" y="2287750"/>
            <a:ext cx="6829500" cy="191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5F6167"/>
                </a:solidFill>
                <a:highlight>
                  <a:srgbClr val="23262E"/>
                </a:highlight>
                <a:latin typeface="Consolas"/>
                <a:ea typeface="Consolas"/>
                <a:cs typeface="Consolas"/>
                <a:sym typeface="Consolas"/>
              </a:rPr>
              <a:t># Definición de cadenas usando comillas dobles triples:</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cadena1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"""En Python es posible definir</a:t>
            </a:r>
            <a:endParaRPr b="0" i="0" sz="14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96E072"/>
                </a:solidFill>
                <a:highlight>
                  <a:srgbClr val="23262E"/>
                </a:highlight>
                <a:latin typeface="Consolas"/>
                <a:ea typeface="Consolas"/>
                <a:cs typeface="Consolas"/>
                <a:sym typeface="Consolas"/>
              </a:rPr>
              <a:t>cadenas de caracteres utilizando más de una</a:t>
            </a:r>
            <a:endParaRPr b="0" i="0" sz="14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96E072"/>
                </a:solidFill>
                <a:highlight>
                  <a:srgbClr val="23262E"/>
                </a:highlight>
                <a:latin typeface="Consolas"/>
                <a:ea typeface="Consolas"/>
                <a:cs typeface="Consolas"/>
                <a:sym typeface="Consolas"/>
              </a:rPr>
              <a:t>línea de código"""</a:t>
            </a:r>
            <a:endParaRPr b="0" i="0" sz="14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5F6167"/>
                </a:solidFill>
                <a:highlight>
                  <a:srgbClr val="23262E"/>
                </a:highlight>
                <a:latin typeface="Consolas"/>
                <a:ea typeface="Consolas"/>
                <a:cs typeface="Consolas"/>
                <a:sym typeface="Consolas"/>
              </a:rPr>
              <a:t># Definición de cadenas usando comillas simples triples:</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cadena2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'''Por supuesto, se puede hacer</a:t>
            </a:r>
            <a:endParaRPr b="0" i="0" sz="14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96E072"/>
                </a:solidFill>
                <a:highlight>
                  <a:srgbClr val="23262E"/>
                </a:highlight>
                <a:latin typeface="Consolas"/>
                <a:ea typeface="Consolas"/>
                <a:cs typeface="Consolas"/>
                <a:sym typeface="Consolas"/>
              </a:rPr>
              <a:t>lo mismo utilizando comillas simples'''</a:t>
            </a:r>
            <a:endParaRPr b="0" i="0" sz="14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00" name="Google Shape;200;p8"/>
          <p:cNvSpPr/>
          <p:nvPr/>
        </p:nvSpPr>
        <p:spPr>
          <a:xfrm>
            <a:off x="1157250" y="2058788"/>
            <a:ext cx="6829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Cadenas delimitadas por comillas dobles o triples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Concatenación</a:t>
            </a:r>
            <a:endParaRPr/>
          </a:p>
        </p:txBody>
      </p:sp>
      <p:sp>
        <p:nvSpPr>
          <p:cNvPr id="206" name="Google Shape;206;p9"/>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Para </a:t>
            </a:r>
            <a:r>
              <a:rPr b="1" i="0" lang="es" sz="1682" u="none" cap="none" strike="noStrike">
                <a:solidFill>
                  <a:srgbClr val="595959"/>
                </a:solidFill>
                <a:latin typeface="Montserrat"/>
                <a:ea typeface="Montserrat"/>
                <a:cs typeface="Montserrat"/>
                <a:sym typeface="Montserrat"/>
              </a:rPr>
              <a:t>concatenar</a:t>
            </a:r>
            <a:r>
              <a:rPr b="0" i="0" lang="es" sz="1682" u="none" cap="none" strike="noStrike">
                <a:solidFill>
                  <a:srgbClr val="595959"/>
                </a:solidFill>
                <a:latin typeface="Montserrat"/>
                <a:ea typeface="Montserrat"/>
                <a:cs typeface="Montserrat"/>
                <a:sym typeface="Montserrat"/>
              </a:rPr>
              <a:t> dos o más cadenas se utiliza el </a:t>
            </a:r>
            <a:r>
              <a:rPr b="1" i="0" lang="es" sz="1682" u="none" cap="none" strike="noStrike">
                <a:solidFill>
                  <a:srgbClr val="595959"/>
                </a:solidFill>
                <a:latin typeface="Montserrat"/>
                <a:ea typeface="Montserrat"/>
                <a:cs typeface="Montserrat"/>
                <a:sym typeface="Montserrat"/>
              </a:rPr>
              <a:t>operador +</a:t>
            </a:r>
            <a:r>
              <a:rPr b="0" i="0" lang="es" sz="1682" u="none" cap="none" strike="noStrike">
                <a:solidFill>
                  <a:srgbClr val="595959"/>
                </a:solidFill>
                <a:latin typeface="Montserrat"/>
                <a:ea typeface="Montserrat"/>
                <a:cs typeface="Montserrat"/>
                <a:sym typeface="Montserrat"/>
              </a:rPr>
              <a:t> (más):</a:t>
            </a:r>
            <a:endParaRPr b="0" i="0" sz="1682" u="none" cap="none" strike="noStrike">
              <a:solidFill>
                <a:srgbClr val="595959"/>
              </a:solidFill>
              <a:latin typeface="Montserrat"/>
              <a:ea typeface="Montserrat"/>
              <a:cs typeface="Montserrat"/>
              <a:sym typeface="Montserrat"/>
            </a:endParaRPr>
          </a:p>
        </p:txBody>
      </p:sp>
      <p:sp>
        <p:nvSpPr>
          <p:cNvPr id="207" name="Google Shape;207;p9"/>
          <p:cNvSpPr/>
          <p:nvPr/>
        </p:nvSpPr>
        <p:spPr>
          <a:xfrm>
            <a:off x="760875" y="1889725"/>
            <a:ext cx="4265100" cy="635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input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"Ingrese su nombre: "</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saludo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nombre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(saludo)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08" name="Google Shape;208;p9"/>
          <p:cNvSpPr/>
          <p:nvPr/>
        </p:nvSpPr>
        <p:spPr>
          <a:xfrm>
            <a:off x="760875" y="1660775"/>
            <a:ext cx="4265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Concatenación de cadenas</a:t>
            </a:r>
            <a:endParaRPr b="0" i="0" sz="1400" u="none" cap="none" strike="noStrike">
              <a:solidFill>
                <a:schemeClr val="dk2"/>
              </a:solidFill>
              <a:latin typeface="Montserrat"/>
              <a:ea typeface="Montserrat"/>
              <a:cs typeface="Montserrat"/>
              <a:sym typeface="Montserrat"/>
            </a:endParaRPr>
          </a:p>
        </p:txBody>
      </p:sp>
      <p:sp>
        <p:nvSpPr>
          <p:cNvPr id="209" name="Google Shape;209;p9"/>
          <p:cNvSpPr/>
          <p:nvPr/>
        </p:nvSpPr>
        <p:spPr>
          <a:xfrm>
            <a:off x="5607500" y="1891075"/>
            <a:ext cx="2749500" cy="635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Ingrese su nombre: Pedro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Hola Pedro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10" name="Google Shape;210;p9"/>
          <p:cNvSpPr/>
          <p:nvPr/>
        </p:nvSpPr>
        <p:spPr>
          <a:xfrm>
            <a:off x="5607500" y="1659425"/>
            <a:ext cx="2749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cxnSp>
        <p:nvCxnSpPr>
          <p:cNvPr id="211" name="Google Shape;211;p9"/>
          <p:cNvCxnSpPr/>
          <p:nvPr/>
        </p:nvCxnSpPr>
        <p:spPr>
          <a:xfrm flipH="1" rot="10800000">
            <a:off x="4353375" y="2056550"/>
            <a:ext cx="1254300" cy="11700"/>
          </a:xfrm>
          <a:prstGeom prst="straightConnector1">
            <a:avLst/>
          </a:prstGeom>
          <a:noFill/>
          <a:ln cap="flat" cmpd="sng" w="28575">
            <a:solidFill>
              <a:srgbClr val="595959"/>
            </a:solidFill>
            <a:prstDash val="solid"/>
            <a:round/>
            <a:headEnd len="sm" w="sm" type="none"/>
            <a:tailEnd len="med" w="med" type="triangle"/>
          </a:ln>
        </p:spPr>
      </p:cxnSp>
      <p:cxnSp>
        <p:nvCxnSpPr>
          <p:cNvPr id="212" name="Google Shape;212;p9"/>
          <p:cNvCxnSpPr>
            <a:endCxn id="209" idx="1"/>
          </p:cNvCxnSpPr>
          <p:nvPr/>
        </p:nvCxnSpPr>
        <p:spPr>
          <a:xfrm flipH="1" rot="10800000">
            <a:off x="2285000" y="2208925"/>
            <a:ext cx="3322500" cy="223500"/>
          </a:xfrm>
          <a:prstGeom prst="straightConnector1">
            <a:avLst/>
          </a:prstGeom>
          <a:noFill/>
          <a:ln cap="flat" cmpd="sng" w="28575">
            <a:solidFill>
              <a:srgbClr val="595959"/>
            </a:solidFill>
            <a:prstDash val="solid"/>
            <a:round/>
            <a:headEnd len="sm" w="sm" type="none"/>
            <a:tailEnd len="med" w="med" type="triangle"/>
          </a:ln>
        </p:spPr>
      </p:cxnSp>
      <p:sp>
        <p:nvSpPr>
          <p:cNvPr id="213" name="Google Shape;213;p9"/>
          <p:cNvSpPr txBox="1"/>
          <p:nvPr/>
        </p:nvSpPr>
        <p:spPr>
          <a:xfrm>
            <a:off x="427800" y="2572900"/>
            <a:ext cx="8279700" cy="9030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El mismo operador se usa para sumar números o concatenar cadenas. Pero no podemos utilizarlo con datos </a:t>
            </a:r>
            <a:r>
              <a:rPr b="0" i="1" lang="es" sz="1650" u="none" cap="none" strike="noStrike">
                <a:solidFill>
                  <a:schemeClr val="dk2"/>
                </a:solidFill>
                <a:latin typeface="Montserrat"/>
                <a:ea typeface="Montserrat"/>
                <a:cs typeface="Montserrat"/>
                <a:sym typeface="Montserrat"/>
              </a:rPr>
              <a:t>mixtos</a:t>
            </a:r>
            <a:r>
              <a:rPr b="0" i="0" lang="es" sz="1650" u="none" cap="none" strike="noStrike">
                <a:solidFill>
                  <a:schemeClr val="dk2"/>
                </a:solidFill>
                <a:latin typeface="Montserrat"/>
                <a:ea typeface="Montserrat"/>
                <a:cs typeface="Montserrat"/>
                <a:sym typeface="Montserrat"/>
              </a:rPr>
              <a:t>, porque se obtiene un error. Este error se puede evitar mediante las funciones de conversión de tipos.:</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214" name="Google Shape;214;p9"/>
          <p:cNvSpPr/>
          <p:nvPr/>
        </p:nvSpPr>
        <p:spPr>
          <a:xfrm>
            <a:off x="2251725" y="3704676"/>
            <a:ext cx="4657800" cy="994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8 (entero)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"5"     </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35 (cadena)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var3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TypeError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var4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str(</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35 (cadena)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35714"/>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var5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int(</a:t>
            </a:r>
            <a:r>
              <a:rPr b="0" i="0" lang="es" sz="1200" u="none" cap="none" strike="noStrike">
                <a:solidFill>
                  <a:srgbClr val="96E07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8 (entero)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15" name="Google Shape;215;p9"/>
          <p:cNvSpPr/>
          <p:nvPr/>
        </p:nvSpPr>
        <p:spPr>
          <a:xfrm>
            <a:off x="2251725" y="3475763"/>
            <a:ext cx="465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Concatenación de cadenas: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Comparación</a:t>
            </a:r>
            <a:endParaRPr/>
          </a:p>
        </p:txBody>
      </p:sp>
      <p:sp>
        <p:nvSpPr>
          <p:cNvPr id="221" name="Google Shape;221;p10"/>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Dos cadenas se pueden comparar mediante los operadores relacionales.</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22" name="Google Shape;222;p10"/>
          <p:cNvSpPr/>
          <p:nvPr/>
        </p:nvSpPr>
        <p:spPr>
          <a:xfrm>
            <a:off x="2198663" y="1958025"/>
            <a:ext cx="2810100" cy="1070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(cadena1 </a:t>
            </a:r>
            <a:r>
              <a:rPr b="0" i="0" lang="es" sz="1200" u="none" cap="none" strike="noStrike">
                <a:solidFill>
                  <a:srgbClr val="EE5D43"/>
                </a:solidFill>
                <a:highlight>
                  <a:srgbClr val="23262E"/>
                </a:highlight>
                <a:latin typeface="Consolas"/>
                <a:ea typeface="Consolas"/>
                <a:cs typeface="Consolas"/>
                <a:sym typeface="Consolas"/>
              </a:rPr>
              <a:t>&gt;</a:t>
            </a:r>
            <a:r>
              <a:rPr b="0" i="0" lang="es" sz="1200" u="none" cap="none" strike="noStrike">
                <a:solidFill>
                  <a:srgbClr val="D5CED9"/>
                </a:solidFill>
                <a:highlight>
                  <a:srgbClr val="23262E"/>
                </a:highlight>
                <a:latin typeface="Consolas"/>
                <a:ea typeface="Consolas"/>
                <a:cs typeface="Consolas"/>
                <a:sym typeface="Consolas"/>
              </a:rPr>
              <a:t> cadena2)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cadena2)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(cadena1 </a:t>
            </a:r>
            <a:r>
              <a:rPr b="0" i="0" lang="es" sz="1200" u="none" cap="none" strike="noStrike">
                <a:solidFill>
                  <a:srgbClr val="EE5D43"/>
                </a:solidFill>
                <a:highlight>
                  <a:srgbClr val="23262E"/>
                </a:highlight>
                <a:latin typeface="Consolas"/>
                <a:ea typeface="Consolas"/>
                <a:cs typeface="Consolas"/>
                <a:sym typeface="Consolas"/>
              </a:rPr>
              <a:t>&lt;</a:t>
            </a:r>
            <a:r>
              <a:rPr b="0" i="0" lang="es" sz="1200" u="none" cap="none" strike="noStrike">
                <a:solidFill>
                  <a:srgbClr val="D5CED9"/>
                </a:solidFill>
                <a:highlight>
                  <a:srgbClr val="23262E"/>
                </a:highlight>
                <a:latin typeface="Consolas"/>
                <a:ea typeface="Consolas"/>
                <a:cs typeface="Consolas"/>
                <a:sym typeface="Consolas"/>
              </a:rPr>
              <a:t> cadena2)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23" name="Google Shape;223;p10"/>
          <p:cNvSpPr/>
          <p:nvPr/>
        </p:nvSpPr>
        <p:spPr>
          <a:xfrm>
            <a:off x="2203033" y="1730475"/>
            <a:ext cx="2810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Comparación de cadenas</a:t>
            </a:r>
            <a:endParaRPr b="0" i="0" sz="1400" u="none" cap="none" strike="noStrike">
              <a:solidFill>
                <a:schemeClr val="dk2"/>
              </a:solidFill>
              <a:latin typeface="Montserrat"/>
              <a:ea typeface="Montserrat"/>
              <a:cs typeface="Montserrat"/>
              <a:sym typeface="Montserrat"/>
            </a:endParaRPr>
          </a:p>
        </p:txBody>
      </p:sp>
      <p:sp>
        <p:nvSpPr>
          <p:cNvPr id="224" name="Google Shape;224;p10"/>
          <p:cNvSpPr/>
          <p:nvPr/>
        </p:nvSpPr>
        <p:spPr>
          <a:xfrm>
            <a:off x="5570138" y="1962125"/>
            <a:ext cx="1375200" cy="1068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True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False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False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25" name="Google Shape;225;p10"/>
          <p:cNvSpPr/>
          <p:nvPr/>
        </p:nvSpPr>
        <p:spPr>
          <a:xfrm>
            <a:off x="5570131" y="1730475"/>
            <a:ext cx="1375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cxnSp>
        <p:nvCxnSpPr>
          <p:cNvPr id="226" name="Google Shape;226;p10"/>
          <p:cNvCxnSpPr/>
          <p:nvPr/>
        </p:nvCxnSpPr>
        <p:spPr>
          <a:xfrm>
            <a:off x="4474313" y="2835125"/>
            <a:ext cx="1138800" cy="0"/>
          </a:xfrm>
          <a:prstGeom prst="straightConnector1">
            <a:avLst/>
          </a:prstGeom>
          <a:noFill/>
          <a:ln cap="flat" cmpd="sng" w="28575">
            <a:solidFill>
              <a:srgbClr val="595959"/>
            </a:solidFill>
            <a:prstDash val="solid"/>
            <a:round/>
            <a:headEnd len="sm" w="sm" type="none"/>
            <a:tailEnd len="med" w="med" type="triangle"/>
          </a:ln>
        </p:spPr>
      </p:cxnSp>
      <p:cxnSp>
        <p:nvCxnSpPr>
          <p:cNvPr id="227" name="Google Shape;227;p10"/>
          <p:cNvCxnSpPr/>
          <p:nvPr/>
        </p:nvCxnSpPr>
        <p:spPr>
          <a:xfrm>
            <a:off x="4474313" y="2493375"/>
            <a:ext cx="1138800" cy="0"/>
          </a:xfrm>
          <a:prstGeom prst="straightConnector1">
            <a:avLst/>
          </a:prstGeom>
          <a:noFill/>
          <a:ln cap="flat" cmpd="sng" w="28575">
            <a:solidFill>
              <a:srgbClr val="595959"/>
            </a:solidFill>
            <a:prstDash val="solid"/>
            <a:round/>
            <a:headEnd len="sm" w="sm" type="none"/>
            <a:tailEnd len="med" w="med" type="triangle"/>
          </a:ln>
        </p:spPr>
      </p:cxnSp>
      <p:cxnSp>
        <p:nvCxnSpPr>
          <p:cNvPr id="228" name="Google Shape;228;p10"/>
          <p:cNvCxnSpPr/>
          <p:nvPr/>
        </p:nvCxnSpPr>
        <p:spPr>
          <a:xfrm>
            <a:off x="4613738" y="2664700"/>
            <a:ext cx="999600" cy="3000"/>
          </a:xfrm>
          <a:prstGeom prst="straightConnector1">
            <a:avLst/>
          </a:prstGeom>
          <a:noFill/>
          <a:ln cap="flat" cmpd="sng" w="28575">
            <a:solidFill>
              <a:srgbClr val="595959"/>
            </a:solidFill>
            <a:prstDash val="solid"/>
            <a:round/>
            <a:headEnd len="sm" w="sm" type="none"/>
            <a:tailEnd len="med" w="med" type="triangle"/>
          </a:ln>
        </p:spPr>
      </p:cxnSp>
      <p:sp>
        <p:nvSpPr>
          <p:cNvPr id="229" name="Google Shape;229;p10"/>
          <p:cNvSpPr txBox="1"/>
          <p:nvPr/>
        </p:nvSpPr>
        <p:spPr>
          <a:xfrm>
            <a:off x="423450" y="3084150"/>
            <a:ext cx="8279700" cy="6729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La comparación es </a:t>
            </a:r>
            <a:r>
              <a:rPr b="0" i="1" lang="es" sz="1650" u="none" cap="none" strike="noStrike">
                <a:solidFill>
                  <a:schemeClr val="dk2"/>
                </a:solidFill>
                <a:latin typeface="Montserrat"/>
                <a:ea typeface="Montserrat"/>
                <a:cs typeface="Montserrat"/>
                <a:sym typeface="Montserrat"/>
              </a:rPr>
              <a:t>case sensitive</a:t>
            </a:r>
            <a:r>
              <a:rPr b="0" i="0" lang="es" sz="1650" u="none" cap="none" strike="noStrike">
                <a:solidFill>
                  <a:schemeClr val="dk2"/>
                </a:solidFill>
                <a:latin typeface="Montserrat"/>
                <a:ea typeface="Montserrat"/>
                <a:cs typeface="Montserrat"/>
                <a:sym typeface="Montserrat"/>
              </a:rPr>
              <a:t>, es decir, se distingue entre mayúsculas y minúsculas.</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230" name="Google Shape;230;p10"/>
          <p:cNvSpPr/>
          <p:nvPr/>
        </p:nvSpPr>
        <p:spPr>
          <a:xfrm>
            <a:off x="2203025" y="3843950"/>
            <a:ext cx="2810100" cy="732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cadena2)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31" name="Google Shape;231;p10"/>
          <p:cNvSpPr/>
          <p:nvPr/>
        </p:nvSpPr>
        <p:spPr>
          <a:xfrm>
            <a:off x="2200850" y="3615050"/>
            <a:ext cx="2810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Comparación de cadenas</a:t>
            </a:r>
            <a:endParaRPr b="0" i="0" sz="1400" u="none" cap="none" strike="noStrike">
              <a:solidFill>
                <a:schemeClr val="dk2"/>
              </a:solidFill>
              <a:latin typeface="Montserrat"/>
              <a:ea typeface="Montserrat"/>
              <a:cs typeface="Montserrat"/>
              <a:sym typeface="Montserrat"/>
            </a:endParaRPr>
          </a:p>
        </p:txBody>
      </p:sp>
      <p:sp>
        <p:nvSpPr>
          <p:cNvPr id="232" name="Google Shape;232;p10"/>
          <p:cNvSpPr/>
          <p:nvPr/>
        </p:nvSpPr>
        <p:spPr>
          <a:xfrm>
            <a:off x="5567963" y="3846700"/>
            <a:ext cx="1375200" cy="710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False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33" name="Google Shape;233;p10"/>
          <p:cNvSpPr/>
          <p:nvPr/>
        </p:nvSpPr>
        <p:spPr>
          <a:xfrm>
            <a:off x="5567944" y="3615050"/>
            <a:ext cx="1375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cxnSp>
        <p:nvCxnSpPr>
          <p:cNvPr id="234" name="Google Shape;234;p10"/>
          <p:cNvCxnSpPr/>
          <p:nvPr/>
        </p:nvCxnSpPr>
        <p:spPr>
          <a:xfrm>
            <a:off x="4472125" y="4377950"/>
            <a:ext cx="1138800" cy="0"/>
          </a:xfrm>
          <a:prstGeom prst="straightConnector1">
            <a:avLst/>
          </a:prstGeom>
          <a:noFill/>
          <a:ln cap="flat" cmpd="sng" w="28575">
            <a:solidFill>
              <a:srgbClr val="595959"/>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a:t>
            </a:r>
            <a:endParaRPr/>
          </a:p>
        </p:txBody>
      </p:sp>
      <p:sp>
        <p:nvSpPr>
          <p:cNvPr id="240" name="Google Shape;240;p11"/>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En Python disponemos de la función </a:t>
            </a:r>
            <a:r>
              <a:rPr b="1" i="0" lang="es" sz="1682" u="none" cap="none" strike="noStrike">
                <a:solidFill>
                  <a:srgbClr val="595959"/>
                </a:solidFill>
                <a:latin typeface="Montserrat"/>
                <a:ea typeface="Montserrat"/>
                <a:cs typeface="Montserrat"/>
                <a:sym typeface="Montserrat"/>
              </a:rPr>
              <a:t>len()</a:t>
            </a:r>
            <a:r>
              <a:rPr b="0" i="0" lang="es" sz="1682" u="none" cap="none" strike="noStrike">
                <a:solidFill>
                  <a:srgbClr val="595959"/>
                </a:solidFill>
                <a:latin typeface="Montserrat"/>
                <a:ea typeface="Montserrat"/>
                <a:cs typeface="Montserrat"/>
                <a:sym typeface="Montserrat"/>
              </a:rPr>
              <a:t>, que retorna la cantidad de caracteres que contiene un string:</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41" name="Google Shape;241;p11"/>
          <p:cNvSpPr/>
          <p:nvPr/>
        </p:nvSpPr>
        <p:spPr>
          <a:xfrm>
            <a:off x="1161524" y="2336025"/>
            <a:ext cx="6829500" cy="455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nombre</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'Codo a Codo'</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400"/>
              <a:buFont typeface="Consolas"/>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len</a:t>
            </a:r>
            <a:r>
              <a:rPr b="0" i="0" lang="es" sz="1200" u="none" cap="none" strike="noStrike">
                <a:solidFill>
                  <a:srgbClr val="D5CED9"/>
                </a:solidFill>
                <a:latin typeface="Consolas"/>
                <a:ea typeface="Consolas"/>
                <a:cs typeface="Consolas"/>
                <a:sym typeface="Consolas"/>
              </a:rPr>
              <a:t>(nombre)) </a:t>
            </a:r>
            <a:r>
              <a:rPr b="0" i="0" lang="es" sz="1200" u="none" cap="none" strike="noStrike">
                <a:solidFill>
                  <a:srgbClr val="5F6167"/>
                </a:solidFill>
                <a:latin typeface="Consolas"/>
                <a:ea typeface="Consolas"/>
                <a:cs typeface="Consolas"/>
                <a:sym typeface="Consolas"/>
              </a:rPr>
              <a:t>#se imprime 11</a:t>
            </a:r>
            <a:endParaRPr b="0" i="0" sz="1200" u="none" cap="none" strike="noStrike">
              <a:solidFill>
                <a:srgbClr val="D5CED9"/>
              </a:solidFill>
              <a:latin typeface="Consolas"/>
              <a:ea typeface="Consolas"/>
              <a:cs typeface="Consolas"/>
              <a:sym typeface="Consolas"/>
            </a:endParaRPr>
          </a:p>
        </p:txBody>
      </p:sp>
      <p:sp>
        <p:nvSpPr>
          <p:cNvPr id="242" name="Google Shape;242;p11"/>
          <p:cNvSpPr/>
          <p:nvPr/>
        </p:nvSpPr>
        <p:spPr>
          <a:xfrm>
            <a:off x="1161525" y="2107125"/>
            <a:ext cx="6829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len()</a:t>
            </a:r>
            <a:endParaRPr b="0" i="0" sz="1400" u="none" cap="none" strike="noStrike">
              <a:solidFill>
                <a:schemeClr val="dk2"/>
              </a:solidFill>
              <a:latin typeface="Montserrat"/>
              <a:ea typeface="Montserrat"/>
              <a:cs typeface="Montserrat"/>
              <a:sym typeface="Montserrat"/>
            </a:endParaRPr>
          </a:p>
        </p:txBody>
      </p:sp>
      <p:sp>
        <p:nvSpPr>
          <p:cNvPr id="243" name="Google Shape;243;p11"/>
          <p:cNvSpPr txBox="1"/>
          <p:nvPr/>
        </p:nvSpPr>
        <p:spPr>
          <a:xfrm>
            <a:off x="436425" y="2840325"/>
            <a:ext cx="8279700" cy="8667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Se accede a los elementos de la cadena utilizando subíndices:</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244" name="Google Shape;244;p11"/>
          <p:cNvSpPr/>
          <p:nvPr/>
        </p:nvSpPr>
        <p:spPr>
          <a:xfrm>
            <a:off x="1401675" y="3501775"/>
            <a:ext cx="2592300" cy="1055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 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a:t>
            </a:r>
            <a:r>
              <a:rPr b="0" i="0" lang="es" sz="1200" u="none" cap="none" strike="noStrike">
                <a:solidFill>
                  <a:srgbClr val="F39C12"/>
                </a:solidFill>
                <a:highlight>
                  <a:srgbClr val="23262E"/>
                </a:highlight>
                <a:latin typeface="Consolas"/>
                <a:ea typeface="Consolas"/>
                <a:cs typeface="Consolas"/>
                <a:sym typeface="Consolas"/>
              </a:rPr>
              <a:t>0</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FFE66D"/>
              </a:solidFill>
              <a:highlight>
                <a:srgbClr val="23262E"/>
              </a:highlight>
              <a:latin typeface="Consolas"/>
              <a:ea typeface="Consolas"/>
              <a:cs typeface="Consolas"/>
              <a:sym typeface="Consolas"/>
            </a:endParaRPr>
          </a:p>
        </p:txBody>
      </p:sp>
      <p:sp>
        <p:nvSpPr>
          <p:cNvPr id="245" name="Google Shape;245;p11"/>
          <p:cNvSpPr/>
          <p:nvPr/>
        </p:nvSpPr>
        <p:spPr>
          <a:xfrm>
            <a:off x="1401675" y="3273025"/>
            <a:ext cx="2592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Uso de subíndices</a:t>
            </a:r>
            <a:endParaRPr b="0" i="0" sz="1400" u="none" cap="none" strike="noStrike">
              <a:solidFill>
                <a:schemeClr val="dk2"/>
              </a:solidFill>
              <a:latin typeface="Montserrat"/>
              <a:ea typeface="Montserrat"/>
              <a:cs typeface="Montserrat"/>
              <a:sym typeface="Montserrat"/>
            </a:endParaRPr>
          </a:p>
        </p:txBody>
      </p:sp>
      <p:sp>
        <p:nvSpPr>
          <p:cNvPr id="246" name="Google Shape;246;p11"/>
          <p:cNvSpPr/>
          <p:nvPr/>
        </p:nvSpPr>
        <p:spPr>
          <a:xfrm>
            <a:off x="4171425" y="3504675"/>
            <a:ext cx="1254300" cy="1055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47" name="Google Shape;247;p11"/>
          <p:cNvSpPr/>
          <p:nvPr/>
        </p:nvSpPr>
        <p:spPr>
          <a:xfrm>
            <a:off x="4171425" y="3273025"/>
            <a:ext cx="1254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48" name="Google Shape;248;p11"/>
          <p:cNvSpPr txBox="1"/>
          <p:nvPr/>
        </p:nvSpPr>
        <p:spPr>
          <a:xfrm>
            <a:off x="5603175" y="3338625"/>
            <a:ext cx="2147700" cy="11853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s" sz="1150" u="none" cap="none" strike="noStrike">
                <a:solidFill>
                  <a:schemeClr val="dk2"/>
                </a:solidFill>
                <a:latin typeface="Montserrat"/>
                <a:ea typeface="Montserrat"/>
                <a:cs typeface="Montserrat"/>
                <a:sym typeface="Montserrat"/>
              </a:rPr>
              <a:t>El primer caracter tiene subíndice cero. Si usamos subíndices negativos, se cuentan desde el final de la cadena.</a:t>
            </a:r>
            <a:endParaRPr b="0" i="0" sz="11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2"/>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Las cadenas tienen una serie de </a:t>
            </a:r>
            <a:r>
              <a:rPr b="1" i="0" lang="es" sz="1682" u="none" cap="none" strike="noStrike">
                <a:solidFill>
                  <a:srgbClr val="595959"/>
                </a:solidFill>
                <a:latin typeface="Montserrat"/>
                <a:ea typeface="Montserrat"/>
                <a:cs typeface="Montserrat"/>
                <a:sym typeface="Montserrat"/>
              </a:rPr>
              <a:t>métodos</a:t>
            </a:r>
            <a:r>
              <a:rPr b="0" i="0" lang="es" sz="1682" u="none" cap="none" strike="noStrike">
                <a:solidFill>
                  <a:srgbClr val="595959"/>
                </a:solidFill>
                <a:latin typeface="Montserrat"/>
                <a:ea typeface="Montserrat"/>
                <a:cs typeface="Montserrat"/>
                <a:sym typeface="Montserrat"/>
              </a:rPr>
              <a:t> (funciones) que simplifican el desarrollo de código. Tres de estos métodos son: </a:t>
            </a:r>
            <a:endParaRPr b="1" i="0" sz="1682" u="none" cap="none" strike="noStrike">
              <a:solidFill>
                <a:srgbClr val="595959"/>
              </a:solidFill>
              <a:latin typeface="Montserrat"/>
              <a:ea typeface="Montserrat"/>
              <a:cs typeface="Montserrat"/>
              <a:sym typeface="Montserrat"/>
            </a:endParaRPr>
          </a:p>
          <a:p>
            <a:pPr indent="-322729" lvl="0" marL="457200" marR="0" rtl="0" algn="l">
              <a:lnSpc>
                <a:spcPct val="115000"/>
              </a:lnSpc>
              <a:spcBef>
                <a:spcPts val="1199"/>
              </a:spcBef>
              <a:spcAft>
                <a:spcPts val="0"/>
              </a:spcAft>
              <a:buClr>
                <a:srgbClr val="595959"/>
              </a:buClr>
              <a:buSzPts val="1482"/>
              <a:buFont typeface="Montserrat"/>
              <a:buChar char="●"/>
            </a:pPr>
            <a:r>
              <a:rPr b="1" i="0" lang="es" sz="1482" u="none" cap="none" strike="noStrike">
                <a:solidFill>
                  <a:srgbClr val="595959"/>
                </a:solidFill>
                <a:latin typeface="Montserrat"/>
                <a:ea typeface="Montserrat"/>
                <a:cs typeface="Montserrat"/>
                <a:sym typeface="Montserrat"/>
              </a:rPr>
              <a:t>.upper(): </a:t>
            </a:r>
            <a:r>
              <a:rPr b="0" i="0" lang="es" sz="1482" u="none" cap="none" strike="noStrike">
                <a:solidFill>
                  <a:srgbClr val="595959"/>
                </a:solidFill>
                <a:latin typeface="Montserrat"/>
                <a:ea typeface="Montserrat"/>
                <a:cs typeface="Montserrat"/>
                <a:sym typeface="Montserrat"/>
              </a:rPr>
              <a:t>devuelve la cadena con todos sus caracteres en mayúsculas.</a:t>
            </a:r>
            <a:endParaRPr b="0" i="0" sz="1482" u="none" cap="none" strike="noStrike">
              <a:solidFill>
                <a:srgbClr val="595959"/>
              </a:solidFill>
              <a:latin typeface="Montserrat"/>
              <a:ea typeface="Montserrat"/>
              <a:cs typeface="Montserrat"/>
              <a:sym typeface="Montserrat"/>
            </a:endParaRPr>
          </a:p>
          <a:p>
            <a:pPr indent="-322729" lvl="0" marL="457200" marR="0" rtl="0" algn="l">
              <a:lnSpc>
                <a:spcPct val="115000"/>
              </a:lnSpc>
              <a:spcBef>
                <a:spcPts val="0"/>
              </a:spcBef>
              <a:spcAft>
                <a:spcPts val="0"/>
              </a:spcAft>
              <a:buClr>
                <a:srgbClr val="595959"/>
              </a:buClr>
              <a:buSzPts val="1482"/>
              <a:buFont typeface="Montserrat"/>
              <a:buChar char="●"/>
            </a:pPr>
            <a:r>
              <a:rPr b="1" i="0" lang="es" sz="1482" u="none" cap="none" strike="noStrike">
                <a:solidFill>
                  <a:srgbClr val="595959"/>
                </a:solidFill>
                <a:latin typeface="Montserrat"/>
                <a:ea typeface="Montserrat"/>
                <a:cs typeface="Montserrat"/>
                <a:sym typeface="Montserrat"/>
              </a:rPr>
              <a:t>.lower(): </a:t>
            </a:r>
            <a:r>
              <a:rPr b="0" i="0" lang="es" sz="1482" u="none" cap="none" strike="noStrike">
                <a:solidFill>
                  <a:srgbClr val="595959"/>
                </a:solidFill>
                <a:latin typeface="Montserrat"/>
                <a:ea typeface="Montserrat"/>
                <a:cs typeface="Montserrat"/>
                <a:sym typeface="Montserrat"/>
              </a:rPr>
              <a:t>devuelve </a:t>
            </a:r>
            <a:r>
              <a:rPr b="0" i="0" lang="es" sz="1482" u="none" cap="none" strike="noStrike">
                <a:solidFill>
                  <a:schemeClr val="dk2"/>
                </a:solidFill>
                <a:latin typeface="Montserrat"/>
                <a:ea typeface="Montserrat"/>
                <a:cs typeface="Montserrat"/>
                <a:sym typeface="Montserrat"/>
              </a:rPr>
              <a:t>la cadena con todos sus caracteres en </a:t>
            </a:r>
            <a:r>
              <a:rPr b="0" i="0" lang="es" sz="1482" u="none" cap="none" strike="noStrike">
                <a:solidFill>
                  <a:srgbClr val="595959"/>
                </a:solidFill>
                <a:latin typeface="Montserrat"/>
                <a:ea typeface="Montserrat"/>
                <a:cs typeface="Montserrat"/>
                <a:sym typeface="Montserrat"/>
              </a:rPr>
              <a:t>minúsculas.</a:t>
            </a:r>
            <a:endParaRPr b="0" i="0" sz="1482" u="none" cap="none" strike="noStrike">
              <a:solidFill>
                <a:srgbClr val="595959"/>
              </a:solidFill>
              <a:latin typeface="Montserrat"/>
              <a:ea typeface="Montserrat"/>
              <a:cs typeface="Montserrat"/>
              <a:sym typeface="Montserrat"/>
            </a:endParaRPr>
          </a:p>
          <a:p>
            <a:pPr indent="-322729" lvl="0" marL="457200" marR="0" rtl="0" algn="l">
              <a:lnSpc>
                <a:spcPct val="115000"/>
              </a:lnSpc>
              <a:spcBef>
                <a:spcPts val="0"/>
              </a:spcBef>
              <a:spcAft>
                <a:spcPts val="0"/>
              </a:spcAft>
              <a:buClr>
                <a:srgbClr val="595959"/>
              </a:buClr>
              <a:buSzPts val="1482"/>
              <a:buFont typeface="Montserrat"/>
              <a:buChar char="●"/>
            </a:pPr>
            <a:r>
              <a:rPr b="0" i="0" lang="es" sz="1482" u="none" cap="none" strike="noStrike">
                <a:solidFill>
                  <a:srgbClr val="595959"/>
                </a:solidFill>
                <a:latin typeface="Montserrat"/>
                <a:ea typeface="Montserrat"/>
                <a:cs typeface="Montserrat"/>
                <a:sym typeface="Montserrat"/>
              </a:rPr>
              <a:t>.</a:t>
            </a:r>
            <a:r>
              <a:rPr b="1" i="0" lang="es" sz="1482" u="none" cap="none" strike="noStrike">
                <a:solidFill>
                  <a:srgbClr val="595959"/>
                </a:solidFill>
                <a:latin typeface="Montserrat"/>
                <a:ea typeface="Montserrat"/>
                <a:cs typeface="Montserrat"/>
                <a:sym typeface="Montserrat"/>
              </a:rPr>
              <a:t>capitalize():</a:t>
            </a:r>
            <a:r>
              <a:rPr b="0" i="0" lang="es" sz="1482" u="none" cap="none" strike="noStrike">
                <a:solidFill>
                  <a:srgbClr val="595959"/>
                </a:solidFill>
                <a:latin typeface="Montserrat"/>
                <a:ea typeface="Montserrat"/>
                <a:cs typeface="Montserrat"/>
                <a:sym typeface="Montserrat"/>
              </a:rPr>
              <a:t> </a:t>
            </a:r>
            <a:r>
              <a:rPr b="0" i="0" lang="es" sz="1482" u="none" cap="none" strike="noStrike">
                <a:solidFill>
                  <a:schemeClr val="dk2"/>
                </a:solidFill>
                <a:latin typeface="Montserrat"/>
                <a:ea typeface="Montserrat"/>
                <a:cs typeface="Montserrat"/>
                <a:sym typeface="Montserrat"/>
              </a:rPr>
              <a:t>devuelve la cadena con </a:t>
            </a:r>
            <a:r>
              <a:rPr b="0" i="0" lang="es" sz="1482" u="none" cap="none" strike="noStrike">
                <a:solidFill>
                  <a:srgbClr val="595959"/>
                </a:solidFill>
                <a:latin typeface="Montserrat"/>
                <a:ea typeface="Montserrat"/>
                <a:cs typeface="Montserrat"/>
                <a:sym typeface="Montserrat"/>
              </a:rPr>
              <a:t>su primer caracter en mayúscula y todos los demás en minúsculas.</a:t>
            </a:r>
            <a:endParaRPr b="0" i="0" sz="14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54" name="Google Shape;254;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Métodos</a:t>
            </a:r>
            <a:endParaRPr/>
          </a:p>
        </p:txBody>
      </p:sp>
      <p:sp>
        <p:nvSpPr>
          <p:cNvPr id="255" name="Google Shape;255;p12"/>
          <p:cNvSpPr/>
          <p:nvPr/>
        </p:nvSpPr>
        <p:spPr>
          <a:xfrm>
            <a:off x="1075950" y="3531700"/>
            <a:ext cx="4657800" cy="1025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cadena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96E072"/>
                </a:solidFill>
                <a:highlight>
                  <a:srgbClr val="23262E"/>
                </a:highlight>
                <a:latin typeface="Consolas"/>
                <a:ea typeface="Consolas"/>
                <a:cs typeface="Consolas"/>
                <a:sym typeface="Consolas"/>
              </a:rPr>
              <a:t>"Codo a Codo"</a:t>
            </a:r>
            <a:endParaRPr b="0" i="0" sz="14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(cadena.</a:t>
            </a:r>
            <a:r>
              <a:rPr b="0" i="0" lang="es" sz="1400" u="none" cap="none" strike="noStrike">
                <a:solidFill>
                  <a:srgbClr val="FFE66D"/>
                </a:solidFill>
                <a:highlight>
                  <a:srgbClr val="23262E"/>
                </a:highlight>
                <a:latin typeface="Consolas"/>
                <a:ea typeface="Consolas"/>
                <a:cs typeface="Consolas"/>
                <a:sym typeface="Consolas"/>
              </a:rPr>
              <a:t>upper</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5F6167"/>
                </a:solidFill>
                <a:highlight>
                  <a:srgbClr val="23262E"/>
                </a:highlight>
                <a:latin typeface="Consolas"/>
                <a:ea typeface="Consolas"/>
                <a:cs typeface="Consolas"/>
                <a:sym typeface="Consolas"/>
              </a:rPr>
              <a:t># CODO A CODO</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(cadena.</a:t>
            </a:r>
            <a:r>
              <a:rPr b="0" i="0" lang="es" sz="1400" u="none" cap="none" strike="noStrike">
                <a:solidFill>
                  <a:srgbClr val="FFE66D"/>
                </a:solidFill>
                <a:highlight>
                  <a:srgbClr val="23262E"/>
                </a:highlight>
                <a:latin typeface="Consolas"/>
                <a:ea typeface="Consolas"/>
                <a:cs typeface="Consolas"/>
                <a:sym typeface="Consolas"/>
              </a:rPr>
              <a:t>lower</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5F6167"/>
                </a:solidFill>
                <a:highlight>
                  <a:srgbClr val="23262E"/>
                </a:highlight>
                <a:latin typeface="Consolas"/>
                <a:ea typeface="Consolas"/>
                <a:cs typeface="Consolas"/>
                <a:sym typeface="Consolas"/>
              </a:rPr>
              <a:t># codo a codo</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(cadena.</a:t>
            </a:r>
            <a:r>
              <a:rPr b="0" i="0" lang="es" sz="1400" u="none" cap="none" strike="noStrike">
                <a:solidFill>
                  <a:srgbClr val="FFE66D"/>
                </a:solidFill>
                <a:highlight>
                  <a:srgbClr val="23262E"/>
                </a:highlight>
                <a:latin typeface="Consolas"/>
                <a:ea typeface="Consolas"/>
                <a:cs typeface="Consolas"/>
                <a:sym typeface="Consolas"/>
              </a:rPr>
              <a:t>capitalize</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5F6167"/>
                </a:solidFill>
                <a:highlight>
                  <a:srgbClr val="23262E"/>
                </a:highlight>
                <a:latin typeface="Consolas"/>
                <a:ea typeface="Consolas"/>
                <a:cs typeface="Consolas"/>
                <a:sym typeface="Consolas"/>
              </a:rPr>
              <a:t># Codo a codo</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56" name="Google Shape;256;p12"/>
          <p:cNvSpPr/>
          <p:nvPr/>
        </p:nvSpPr>
        <p:spPr>
          <a:xfrm>
            <a:off x="1075950" y="3302725"/>
            <a:ext cx="465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Métodos propios de las cadenas:</a:t>
            </a:r>
            <a:endParaRPr b="0" i="0" sz="1400" u="none" cap="none" strike="noStrike">
              <a:solidFill>
                <a:schemeClr val="dk2"/>
              </a:solidFill>
              <a:latin typeface="Montserrat"/>
              <a:ea typeface="Montserrat"/>
              <a:cs typeface="Montserrat"/>
              <a:sym typeface="Montserrat"/>
            </a:endParaRPr>
          </a:p>
        </p:txBody>
      </p:sp>
      <p:sp>
        <p:nvSpPr>
          <p:cNvPr id="257" name="Google Shape;257;p12"/>
          <p:cNvSpPr txBox="1"/>
          <p:nvPr/>
        </p:nvSpPr>
        <p:spPr>
          <a:xfrm>
            <a:off x="5854025" y="3266825"/>
            <a:ext cx="2814900" cy="14061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150"/>
              <a:buFont typeface="Arial"/>
              <a:buNone/>
            </a:pPr>
            <a:r>
              <a:rPr b="0" i="0" lang="es" sz="1150" u="none" cap="none" strike="noStrike">
                <a:solidFill>
                  <a:schemeClr val="dk2"/>
                </a:solidFill>
                <a:latin typeface="Montserrat"/>
                <a:ea typeface="Montserrat"/>
                <a:cs typeface="Montserrat"/>
                <a:sym typeface="Montserrat"/>
              </a:rPr>
              <a:t>Existen los métodos </a:t>
            </a:r>
            <a:r>
              <a:rPr b="1" i="0" lang="es" sz="1150" u="none" cap="none" strike="noStrike">
                <a:solidFill>
                  <a:schemeClr val="dk2"/>
                </a:solidFill>
                <a:latin typeface="Montserrat"/>
                <a:ea typeface="Montserrat"/>
                <a:cs typeface="Montserrat"/>
                <a:sym typeface="Montserrat"/>
              </a:rPr>
              <a:t>.isupper()</a:t>
            </a:r>
            <a:r>
              <a:rPr b="0" i="0" lang="es" sz="1150" u="none" cap="none" strike="noStrike">
                <a:solidFill>
                  <a:schemeClr val="dk2"/>
                </a:solidFill>
                <a:latin typeface="Montserrat"/>
                <a:ea typeface="Montserrat"/>
                <a:cs typeface="Montserrat"/>
                <a:sym typeface="Montserrat"/>
              </a:rPr>
              <a:t> e </a:t>
            </a:r>
            <a:r>
              <a:rPr b="1" i="0" lang="es" sz="1150" u="none" cap="none" strike="noStrike">
                <a:solidFill>
                  <a:schemeClr val="dk2"/>
                </a:solidFill>
                <a:latin typeface="Montserrat"/>
                <a:ea typeface="Montserrat"/>
                <a:cs typeface="Montserrat"/>
                <a:sym typeface="Montserrat"/>
              </a:rPr>
              <a:t>.islower()</a:t>
            </a:r>
            <a:r>
              <a:rPr b="0" i="0" lang="es" sz="1150" u="none" cap="none" strike="noStrike">
                <a:solidFill>
                  <a:schemeClr val="dk2"/>
                </a:solidFill>
                <a:latin typeface="Montserrat"/>
                <a:ea typeface="Montserrat"/>
                <a:cs typeface="Montserrat"/>
                <a:sym typeface="Montserrat"/>
              </a:rPr>
              <a:t> que  devuelven True si todos los caracteres alfabéticos de una cadena están en mayúsculas o minúsculas respectivamente. </a:t>
            </a:r>
            <a:endParaRPr b="0" i="0" sz="11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3"/>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Una "</a:t>
            </a:r>
            <a:r>
              <a:rPr b="1" i="0" lang="es" sz="1682" u="none" cap="none" strike="noStrike">
                <a:solidFill>
                  <a:srgbClr val="595959"/>
                </a:solidFill>
                <a:latin typeface="Montserrat"/>
                <a:ea typeface="Montserrat"/>
                <a:cs typeface="Montserrat"/>
                <a:sym typeface="Montserrat"/>
              </a:rPr>
              <a:t>rebanada</a:t>
            </a:r>
            <a:r>
              <a:rPr b="0" i="0" lang="es" sz="1682" u="none" cap="none" strike="noStrike">
                <a:solidFill>
                  <a:srgbClr val="595959"/>
                </a:solidFill>
                <a:latin typeface="Montserrat"/>
                <a:ea typeface="Montserrat"/>
                <a:cs typeface="Montserrat"/>
                <a:sym typeface="Montserrat"/>
              </a:rPr>
              <a:t>" es un subconjunto de una cadena que se obtiene mediante la definición de un índice </a:t>
            </a:r>
            <a:r>
              <a:rPr b="1" i="0" lang="es" sz="1682" u="none" cap="none" strike="noStrike">
                <a:solidFill>
                  <a:srgbClr val="595959"/>
                </a:solidFill>
                <a:latin typeface="Montserrat"/>
                <a:ea typeface="Montserrat"/>
                <a:cs typeface="Montserrat"/>
                <a:sym typeface="Montserrat"/>
              </a:rPr>
              <a:t>inicio</a:t>
            </a:r>
            <a:r>
              <a:rPr b="0" i="0" lang="es" sz="1682" u="none" cap="none" strike="noStrike">
                <a:solidFill>
                  <a:srgbClr val="595959"/>
                </a:solidFill>
                <a:latin typeface="Montserrat"/>
                <a:ea typeface="Montserrat"/>
                <a:cs typeface="Montserrat"/>
                <a:sym typeface="Montserrat"/>
              </a:rPr>
              <a:t> y/o </a:t>
            </a:r>
            <a:r>
              <a:rPr b="1" i="0" lang="es" sz="1682" u="none" cap="none" strike="noStrike">
                <a:solidFill>
                  <a:srgbClr val="595959"/>
                </a:solidFill>
                <a:latin typeface="Montserrat"/>
                <a:ea typeface="Montserrat"/>
                <a:cs typeface="Montserrat"/>
                <a:sym typeface="Montserrat"/>
              </a:rPr>
              <a:t>fin</a:t>
            </a:r>
            <a:r>
              <a:rPr b="0" i="0" lang="es" sz="1682" u="none" cap="none" strike="noStrike">
                <a:solidFill>
                  <a:srgbClr val="595959"/>
                </a:solidFill>
                <a:latin typeface="Montserrat"/>
                <a:ea typeface="Montserrat"/>
                <a:cs typeface="Montserrat"/>
                <a:sym typeface="Montserrat"/>
              </a:rPr>
              <a:t>. El subconjunto devuelto incluye el valor del índice de inicio, pero no el valor final. Un tercer valor permite determinar un paso, que incluso puede ser negativo:</a:t>
            </a:r>
            <a:endParaRPr b="0" i="0" sz="1682" u="none" cap="none" strike="noStrike">
              <a:solidFill>
                <a:srgbClr val="595959"/>
              </a:solidFill>
              <a:latin typeface="Montserrat"/>
              <a:ea typeface="Montserrat"/>
              <a:cs typeface="Montserrat"/>
              <a:sym typeface="Montserrat"/>
            </a:endParaRPr>
          </a:p>
        </p:txBody>
      </p:sp>
      <p:sp>
        <p:nvSpPr>
          <p:cNvPr id="263" name="Google Shape;263;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Métodos</a:t>
            </a:r>
            <a:endParaRPr/>
          </a:p>
        </p:txBody>
      </p:sp>
      <p:sp>
        <p:nvSpPr>
          <p:cNvPr id="264" name="Google Shape;264;p13"/>
          <p:cNvSpPr/>
          <p:nvPr/>
        </p:nvSpPr>
        <p:spPr>
          <a:xfrm>
            <a:off x="2635350" y="2859175"/>
            <a:ext cx="3873300" cy="1698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D5CED9"/>
                </a:solidFill>
                <a:highlight>
                  <a:srgbClr val="23262E"/>
                </a:highlight>
                <a:latin typeface="Consolas"/>
                <a:ea typeface="Consolas"/>
                <a:cs typeface="Consolas"/>
                <a:sym typeface="Consolas"/>
              </a:rPr>
              <a:t>cadena </a:t>
            </a:r>
            <a:r>
              <a:rPr b="0" i="0" lang="es" sz="1300" u="none" cap="none" strike="noStrike">
                <a:solidFill>
                  <a:srgbClr val="EE5D43"/>
                </a:solidFill>
                <a:highlight>
                  <a:srgbClr val="23262E"/>
                </a:highlight>
                <a:latin typeface="Consolas"/>
                <a:ea typeface="Consolas"/>
                <a:cs typeface="Consolas"/>
                <a:sym typeface="Consolas"/>
              </a:rPr>
              <a:t>=</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96E072"/>
                </a:solidFill>
                <a:highlight>
                  <a:srgbClr val="23262E"/>
                </a:highlight>
                <a:latin typeface="Consolas"/>
                <a:ea typeface="Consolas"/>
                <a:cs typeface="Consolas"/>
                <a:sym typeface="Consolas"/>
              </a:rPr>
              <a:t>"¡Hola mundo!"</a:t>
            </a:r>
            <a:endParaRPr b="0" i="0" sz="13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a:t>
            </a:r>
            <a:r>
              <a:rPr b="0" i="0" lang="es" sz="1300" u="none" cap="none" strike="noStrike">
                <a:solidFill>
                  <a:srgbClr val="F39C12"/>
                </a:solidFill>
                <a:highlight>
                  <a:srgbClr val="23262E"/>
                </a:highlight>
                <a:latin typeface="Consolas"/>
                <a:ea typeface="Consolas"/>
                <a:cs typeface="Consolas"/>
                <a:sym typeface="Consolas"/>
              </a:rPr>
              <a:t>6</a:t>
            </a:r>
            <a:r>
              <a:rPr b="0" i="0" lang="es" sz="1300" u="none" cap="none" strike="noStrike">
                <a:solidFill>
                  <a:srgbClr val="D5CED9"/>
                </a:solidFill>
                <a:highlight>
                  <a:srgbClr val="23262E"/>
                </a:highlight>
                <a:latin typeface="Consolas"/>
                <a:ea typeface="Consolas"/>
                <a:cs typeface="Consolas"/>
                <a:sym typeface="Consolas"/>
              </a:rPr>
              <a:t>:</a:t>
            </a:r>
            <a:r>
              <a:rPr b="0" i="0" lang="es" sz="1300" u="none" cap="none" strike="noStrike">
                <a:solidFill>
                  <a:srgbClr val="F39C12"/>
                </a:solidFill>
                <a:highlight>
                  <a:srgbClr val="23262E"/>
                </a:highlight>
                <a:latin typeface="Consolas"/>
                <a:ea typeface="Consolas"/>
                <a:cs typeface="Consolas"/>
                <a:sym typeface="Consolas"/>
              </a:rPr>
              <a:t>11</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5F6167"/>
                </a:solidFill>
                <a:highlight>
                  <a:srgbClr val="23262E"/>
                </a:highlight>
                <a:latin typeface="Consolas"/>
                <a:ea typeface="Consolas"/>
                <a:cs typeface="Consolas"/>
                <a:sym typeface="Consolas"/>
              </a:rPr>
              <a:t># mundo</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a:t>
            </a:r>
            <a:r>
              <a:rPr b="0" i="0" lang="es" sz="1300" u="none" cap="none" strike="noStrike">
                <a:solidFill>
                  <a:srgbClr val="F39C12"/>
                </a:solidFill>
                <a:highlight>
                  <a:srgbClr val="23262E"/>
                </a:highlight>
                <a:latin typeface="Consolas"/>
                <a:ea typeface="Consolas"/>
                <a:cs typeface="Consolas"/>
                <a:sym typeface="Consolas"/>
              </a:rPr>
              <a:t>2</a:t>
            </a:r>
            <a:r>
              <a:rPr b="0" i="0" lang="es" sz="1300" u="none" cap="none" strike="noStrike">
                <a:solidFill>
                  <a:srgbClr val="D5CED9"/>
                </a:solidFill>
                <a:highlight>
                  <a:srgbClr val="23262E"/>
                </a:highlight>
                <a:latin typeface="Consolas"/>
                <a:ea typeface="Consolas"/>
                <a:cs typeface="Consolas"/>
                <a:sym typeface="Consolas"/>
              </a:rPr>
              <a:t>:</a:t>
            </a:r>
            <a:r>
              <a:rPr b="0" i="0" lang="es" sz="1300" u="none" cap="none" strike="noStrike">
                <a:solidFill>
                  <a:srgbClr val="F39C12"/>
                </a:solidFill>
                <a:highlight>
                  <a:srgbClr val="23262E"/>
                </a:highlight>
                <a:latin typeface="Consolas"/>
                <a:ea typeface="Consolas"/>
                <a:cs typeface="Consolas"/>
                <a:sym typeface="Consolas"/>
              </a:rPr>
              <a:t>12</a:t>
            </a:r>
            <a:r>
              <a:rPr b="0" i="0" lang="es" sz="1300" u="none" cap="none" strike="noStrike">
                <a:solidFill>
                  <a:srgbClr val="D5CED9"/>
                </a:solidFill>
                <a:highlight>
                  <a:srgbClr val="23262E"/>
                </a:highlight>
                <a:latin typeface="Consolas"/>
                <a:ea typeface="Consolas"/>
                <a:cs typeface="Consolas"/>
                <a:sym typeface="Consolas"/>
              </a:rPr>
              <a:t>:</a:t>
            </a:r>
            <a:r>
              <a:rPr b="0" i="0" lang="es" sz="1300" u="none" cap="none" strike="noStrike">
                <a:solidFill>
                  <a:srgbClr val="F39C12"/>
                </a:solidFill>
                <a:highlight>
                  <a:srgbClr val="23262E"/>
                </a:highlight>
                <a:latin typeface="Consolas"/>
                <a:ea typeface="Consolas"/>
                <a:cs typeface="Consolas"/>
                <a:sym typeface="Consolas"/>
              </a:rPr>
              <a:t>2</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5F6167"/>
                </a:solidFill>
                <a:highlight>
                  <a:srgbClr val="23262E"/>
                </a:highlight>
                <a:latin typeface="Consolas"/>
                <a:ea typeface="Consolas"/>
                <a:cs typeface="Consolas"/>
                <a:sym typeface="Consolas"/>
              </a:rPr>
              <a:t># oamno</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a:t>
            </a:r>
            <a:r>
              <a:rPr b="0" i="0" lang="es" sz="1300" u="none" cap="none" strike="noStrike">
                <a:solidFill>
                  <a:srgbClr val="F39C12"/>
                </a:solidFill>
                <a:highlight>
                  <a:srgbClr val="23262E"/>
                </a:highlight>
                <a:latin typeface="Consolas"/>
                <a:ea typeface="Consolas"/>
                <a:cs typeface="Consolas"/>
                <a:sym typeface="Consolas"/>
              </a:rPr>
              <a:t>6</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5F6167"/>
                </a:solidFill>
                <a:highlight>
                  <a:srgbClr val="23262E"/>
                </a:highlight>
                <a:latin typeface="Consolas"/>
                <a:ea typeface="Consolas"/>
                <a:cs typeface="Consolas"/>
                <a:sym typeface="Consolas"/>
              </a:rPr>
              <a:t># mundo!</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a:t>
            </a:r>
            <a:r>
              <a:rPr b="0" i="0" lang="es" sz="1300" u="none" cap="none" strike="noStrike">
                <a:solidFill>
                  <a:srgbClr val="F39C12"/>
                </a:solidFill>
                <a:highlight>
                  <a:srgbClr val="23262E"/>
                </a:highlight>
                <a:latin typeface="Consolas"/>
                <a:ea typeface="Consolas"/>
                <a:cs typeface="Consolas"/>
                <a:sym typeface="Consolas"/>
              </a:rPr>
              <a:t>5</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5F6167"/>
                </a:solidFill>
                <a:highlight>
                  <a:srgbClr val="23262E"/>
                </a:highlight>
                <a:latin typeface="Consolas"/>
                <a:ea typeface="Consolas"/>
                <a:cs typeface="Consolas"/>
                <a:sym typeface="Consolas"/>
              </a:rPr>
              <a:t># ¡Hola</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      </a:t>
            </a:r>
            <a:r>
              <a:rPr b="0" i="0" lang="es" sz="1300" u="none" cap="none" strike="noStrike">
                <a:solidFill>
                  <a:srgbClr val="5F6167"/>
                </a:solidFill>
                <a:highlight>
                  <a:srgbClr val="23262E"/>
                </a:highlight>
                <a:latin typeface="Consolas"/>
                <a:ea typeface="Consolas"/>
                <a:cs typeface="Consolas"/>
                <a:sym typeface="Consolas"/>
              </a:rPr>
              <a:t># ¡Hola mundo!</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a:t>
            </a:r>
            <a:r>
              <a:rPr b="0" i="0" lang="es" sz="1300" u="none" cap="none" strike="noStrike">
                <a:solidFill>
                  <a:srgbClr val="F39C12"/>
                </a:solidFill>
                <a:highlight>
                  <a:srgbClr val="23262E"/>
                </a:highlight>
                <a:latin typeface="Consolas"/>
                <a:ea typeface="Consolas"/>
                <a:cs typeface="Consolas"/>
                <a:sym typeface="Consolas"/>
              </a:rPr>
              <a:t>2</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5F6167"/>
                </a:solidFill>
                <a:highlight>
                  <a:srgbClr val="23262E"/>
                </a:highlight>
                <a:latin typeface="Consolas"/>
                <a:ea typeface="Consolas"/>
                <a:cs typeface="Consolas"/>
                <a:sym typeface="Consolas"/>
              </a:rPr>
              <a:t># ¡oamno</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rgbClr val="FFE66D"/>
                </a:solidFill>
                <a:highlight>
                  <a:srgbClr val="23262E"/>
                </a:highlight>
                <a:latin typeface="Consolas"/>
                <a:ea typeface="Consolas"/>
                <a:cs typeface="Consolas"/>
                <a:sym typeface="Consolas"/>
              </a:rPr>
              <a:t>print</a:t>
            </a:r>
            <a:r>
              <a:rPr b="0" i="0" lang="es" sz="1300" u="none" cap="none" strike="noStrike">
                <a:solidFill>
                  <a:srgbClr val="D5CED9"/>
                </a:solidFill>
                <a:highlight>
                  <a:srgbClr val="23262E"/>
                </a:highlight>
                <a:latin typeface="Consolas"/>
                <a:ea typeface="Consolas"/>
                <a:cs typeface="Consolas"/>
                <a:sym typeface="Consolas"/>
              </a:rPr>
              <a:t>(cadena[::</a:t>
            </a:r>
            <a:r>
              <a:rPr b="0" i="0" lang="es" sz="1300" u="none" cap="none" strike="noStrike">
                <a:solidFill>
                  <a:srgbClr val="EE5D43"/>
                </a:solidFill>
                <a:highlight>
                  <a:srgbClr val="23262E"/>
                </a:highlight>
                <a:latin typeface="Consolas"/>
                <a:ea typeface="Consolas"/>
                <a:cs typeface="Consolas"/>
                <a:sym typeface="Consolas"/>
              </a:rPr>
              <a:t>-</a:t>
            </a:r>
            <a:r>
              <a:rPr b="0" i="0" lang="es" sz="1300" u="none" cap="none" strike="noStrike">
                <a:solidFill>
                  <a:srgbClr val="F39C12"/>
                </a:solidFill>
                <a:highlight>
                  <a:srgbClr val="23262E"/>
                </a:highlight>
                <a:latin typeface="Consolas"/>
                <a:ea typeface="Consolas"/>
                <a:cs typeface="Consolas"/>
                <a:sym typeface="Consolas"/>
              </a:rPr>
              <a:t>1</a:t>
            </a:r>
            <a:r>
              <a:rPr b="0" i="0" lang="es" sz="1300" u="none" cap="none" strike="noStrike">
                <a:solidFill>
                  <a:srgbClr val="D5CED9"/>
                </a:solidFill>
                <a:highlight>
                  <a:srgbClr val="23262E"/>
                </a:highlight>
                <a:latin typeface="Consolas"/>
                <a:ea typeface="Consolas"/>
                <a:cs typeface="Consolas"/>
                <a:sym typeface="Consolas"/>
              </a:rPr>
              <a:t>])   </a:t>
            </a:r>
            <a:r>
              <a:rPr b="0" i="0" lang="es" sz="1300" u="none" cap="none" strike="noStrike">
                <a:solidFill>
                  <a:srgbClr val="5F6167"/>
                </a:solidFill>
                <a:highlight>
                  <a:srgbClr val="23262E"/>
                </a:highlight>
                <a:latin typeface="Consolas"/>
                <a:ea typeface="Consolas"/>
                <a:cs typeface="Consolas"/>
                <a:sym typeface="Consolas"/>
              </a:rPr>
              <a:t># !odnum aloH¡</a:t>
            </a:r>
            <a:endParaRPr b="0" i="0" sz="13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65" name="Google Shape;265;p13"/>
          <p:cNvSpPr/>
          <p:nvPr/>
        </p:nvSpPr>
        <p:spPr>
          <a:xfrm>
            <a:off x="2635349" y="2630275"/>
            <a:ext cx="3873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Rebanadas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in / not in</a:t>
            </a:r>
            <a:endParaRPr/>
          </a:p>
        </p:txBody>
      </p:sp>
      <p:sp>
        <p:nvSpPr>
          <p:cNvPr id="271" name="Google Shape;271;p14"/>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Los operadores de pertenencia se utilizan para comprobar si un caracter o cadena se encuentran dentro de otra.</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aphicFrame>
        <p:nvGraphicFramePr>
          <p:cNvPr id="272" name="Google Shape;272;p14"/>
          <p:cNvGraphicFramePr/>
          <p:nvPr/>
        </p:nvGraphicFramePr>
        <p:xfrm>
          <a:off x="471113" y="2033900"/>
          <a:ext cx="3000000" cy="3000000"/>
        </p:xfrm>
        <a:graphic>
          <a:graphicData uri="http://schemas.openxmlformats.org/drawingml/2006/table">
            <a:tbl>
              <a:tblPr>
                <a:solidFill>
                  <a:srgbClr val="FFFFFF"/>
                </a:solidFill>
                <a:tableStyleId>{408BFCB5-DC95-4238-AE9F-A01DB9431078}</a:tableStyleId>
              </a:tblPr>
              <a:tblGrid>
                <a:gridCol w="1363950"/>
                <a:gridCol w="6632200"/>
              </a:tblGrid>
              <a:tr h="373600">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OPERADOR</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DESCRIPCION</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E66D"/>
                    </a:solidFill>
                  </a:tcPr>
                </a:tc>
              </a:tr>
              <a:tr h="29527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in</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2"/>
                          </a:solidFill>
                          <a:latin typeface="Montserrat"/>
                          <a:ea typeface="Montserrat"/>
                          <a:cs typeface="Montserrat"/>
                          <a:sym typeface="Montserrat"/>
                        </a:rPr>
                        <a:t>Devuelve </a:t>
                      </a:r>
                      <a:r>
                        <a:rPr b="1" lang="es" sz="1100" u="none" cap="none" strike="noStrike">
                          <a:solidFill>
                            <a:schemeClr val="dk2"/>
                          </a:solidFill>
                          <a:latin typeface="Montserrat"/>
                          <a:ea typeface="Montserrat"/>
                          <a:cs typeface="Montserrat"/>
                          <a:sym typeface="Montserrat"/>
                        </a:rPr>
                        <a:t>True</a:t>
                      </a:r>
                      <a:r>
                        <a:rPr lang="es" sz="1100" u="none" cap="none" strike="noStrike">
                          <a:solidFill>
                            <a:schemeClr val="dk2"/>
                          </a:solidFill>
                          <a:latin typeface="Montserrat"/>
                          <a:ea typeface="Montserrat"/>
                          <a:cs typeface="Montserrat"/>
                          <a:sym typeface="Montserrat"/>
                        </a:rPr>
                        <a:t> si el valor se encuentra en una secuencia; </a:t>
                      </a:r>
                      <a:r>
                        <a:rPr b="1" lang="es" sz="1100" u="none" cap="none" strike="noStrike">
                          <a:solidFill>
                            <a:schemeClr val="dk2"/>
                          </a:solidFill>
                          <a:latin typeface="Montserrat"/>
                          <a:ea typeface="Montserrat"/>
                          <a:cs typeface="Montserrat"/>
                          <a:sym typeface="Montserrat"/>
                        </a:rPr>
                        <a:t>False</a:t>
                      </a:r>
                      <a:r>
                        <a:rPr lang="es" sz="1100" u="none" cap="none" strike="noStrike">
                          <a:solidFill>
                            <a:schemeClr val="dk2"/>
                          </a:solidFill>
                          <a:latin typeface="Montserrat"/>
                          <a:ea typeface="Montserrat"/>
                          <a:cs typeface="Montserrat"/>
                          <a:sym typeface="Montserrat"/>
                        </a:rPr>
                        <a:t> en caso contrario.</a:t>
                      </a:r>
                      <a:endParaRPr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29527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not in</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2"/>
                          </a:solidFill>
                          <a:latin typeface="Montserrat"/>
                          <a:ea typeface="Montserrat"/>
                          <a:cs typeface="Montserrat"/>
                          <a:sym typeface="Montserrat"/>
                        </a:rPr>
                        <a:t>Devuelve </a:t>
                      </a:r>
                      <a:r>
                        <a:rPr b="1" lang="es" sz="1100" u="none" cap="none" strike="noStrike">
                          <a:solidFill>
                            <a:schemeClr val="dk2"/>
                          </a:solidFill>
                          <a:latin typeface="Montserrat"/>
                          <a:ea typeface="Montserrat"/>
                          <a:cs typeface="Montserrat"/>
                          <a:sym typeface="Montserrat"/>
                        </a:rPr>
                        <a:t>True</a:t>
                      </a:r>
                      <a:r>
                        <a:rPr lang="es" sz="1100" u="none" cap="none" strike="noStrike">
                          <a:solidFill>
                            <a:schemeClr val="dk2"/>
                          </a:solidFill>
                          <a:latin typeface="Montserrat"/>
                          <a:ea typeface="Montserrat"/>
                          <a:cs typeface="Montserrat"/>
                          <a:sym typeface="Montserrat"/>
                        </a:rPr>
                        <a:t> si el valor no se encuentra en una secuencia; </a:t>
                      </a:r>
                      <a:r>
                        <a:rPr b="1" lang="es" sz="1100" u="none" cap="none" strike="noStrike">
                          <a:solidFill>
                            <a:schemeClr val="dk2"/>
                          </a:solidFill>
                          <a:latin typeface="Montserrat"/>
                          <a:ea typeface="Montserrat"/>
                          <a:cs typeface="Montserrat"/>
                          <a:sym typeface="Montserrat"/>
                        </a:rPr>
                        <a:t>False</a:t>
                      </a:r>
                      <a:r>
                        <a:rPr lang="es" sz="1100" u="none" cap="none" strike="noStrike">
                          <a:solidFill>
                            <a:schemeClr val="dk2"/>
                          </a:solidFill>
                          <a:latin typeface="Montserrat"/>
                          <a:ea typeface="Montserrat"/>
                          <a:cs typeface="Montserrat"/>
                          <a:sym typeface="Montserrat"/>
                        </a:rPr>
                        <a:t> en caso contrario.</a:t>
                      </a:r>
                      <a:endParaRPr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
        <p:nvSpPr>
          <p:cNvPr id="273" name="Google Shape;273;p14"/>
          <p:cNvSpPr/>
          <p:nvPr/>
        </p:nvSpPr>
        <p:spPr>
          <a:xfrm>
            <a:off x="2140300" y="3488849"/>
            <a:ext cx="4657800" cy="121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"Codo"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not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not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D5CED9"/>
              </a:solidFill>
              <a:latin typeface="Consolas"/>
              <a:ea typeface="Consolas"/>
              <a:cs typeface="Consolas"/>
              <a:sym typeface="Consolas"/>
            </a:endParaRPr>
          </a:p>
        </p:txBody>
      </p:sp>
      <p:sp>
        <p:nvSpPr>
          <p:cNvPr id="274" name="Google Shape;274;p14"/>
          <p:cNvSpPr/>
          <p:nvPr/>
        </p:nvSpPr>
        <p:spPr>
          <a:xfrm>
            <a:off x="2140300" y="3200775"/>
            <a:ext cx="4657800" cy="2880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5"/>
          <p:cNvSpPr txBox="1"/>
          <p:nvPr/>
        </p:nvSpPr>
        <p:spPr>
          <a:xfrm>
            <a:off x="432150" y="1281775"/>
            <a:ext cx="40008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Un </a:t>
            </a:r>
            <a:r>
              <a:rPr b="1" i="0" lang="es" sz="1682" u="none" cap="none" strike="noStrike">
                <a:solidFill>
                  <a:srgbClr val="595959"/>
                </a:solidFill>
                <a:latin typeface="Montserrat"/>
                <a:ea typeface="Montserrat"/>
                <a:cs typeface="Montserrat"/>
                <a:sym typeface="Montserrat"/>
              </a:rPr>
              <a:t>bucle for</a:t>
            </a:r>
            <a:r>
              <a:rPr b="0" i="0" lang="es" sz="1682" u="none" cap="none" strike="noStrike">
                <a:solidFill>
                  <a:srgbClr val="595959"/>
                </a:solidFill>
                <a:latin typeface="Montserrat"/>
                <a:ea typeface="Montserrat"/>
                <a:cs typeface="Montserrat"/>
                <a:sym typeface="Montserrat"/>
              </a:rPr>
              <a:t> puede iterar sobre una cadena, y la variable recibe en cada iteración uno de los caracteres de la misma:</a:t>
            </a:r>
            <a:endParaRPr b="0" i="0" sz="1682" u="none" cap="none" strike="noStrike">
              <a:solidFill>
                <a:srgbClr val="595959"/>
              </a:solidFill>
              <a:latin typeface="Montserrat"/>
              <a:ea typeface="Montserrat"/>
              <a:cs typeface="Montserrat"/>
              <a:sym typeface="Montserrat"/>
            </a:endParaRPr>
          </a:p>
        </p:txBody>
      </p:sp>
      <p:sp>
        <p:nvSpPr>
          <p:cNvPr id="280" name="Google Shape;280;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for , min() y max()</a:t>
            </a:r>
            <a:endParaRPr/>
          </a:p>
        </p:txBody>
      </p:sp>
      <p:sp>
        <p:nvSpPr>
          <p:cNvPr id="281" name="Google Shape;281;p15"/>
          <p:cNvSpPr/>
          <p:nvPr/>
        </p:nvSpPr>
        <p:spPr>
          <a:xfrm>
            <a:off x="587675" y="2980275"/>
            <a:ext cx="2292000" cy="120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"Python"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letra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(letra)</a:t>
            </a:r>
            <a:endParaRPr b="0" i="0" sz="1200" u="none" cap="none" strike="noStrike">
              <a:solidFill>
                <a:srgbClr val="D5CED9"/>
              </a:solidFill>
              <a:latin typeface="Consolas"/>
              <a:ea typeface="Consolas"/>
              <a:cs typeface="Consolas"/>
              <a:sym typeface="Consolas"/>
            </a:endParaRPr>
          </a:p>
        </p:txBody>
      </p:sp>
      <p:sp>
        <p:nvSpPr>
          <p:cNvPr id="282" name="Google Shape;282;p15"/>
          <p:cNvSpPr/>
          <p:nvPr/>
        </p:nvSpPr>
        <p:spPr>
          <a:xfrm>
            <a:off x="587675" y="2751375"/>
            <a:ext cx="2292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For con cadenas</a:t>
            </a:r>
            <a:endParaRPr b="0" i="0" sz="1400" u="none" cap="none" strike="noStrike">
              <a:solidFill>
                <a:schemeClr val="dk2"/>
              </a:solidFill>
              <a:latin typeface="Montserrat"/>
              <a:ea typeface="Montserrat"/>
              <a:cs typeface="Montserrat"/>
              <a:sym typeface="Montserrat"/>
            </a:endParaRPr>
          </a:p>
        </p:txBody>
      </p:sp>
      <p:sp>
        <p:nvSpPr>
          <p:cNvPr id="283" name="Google Shape;283;p15"/>
          <p:cNvSpPr txBox="1"/>
          <p:nvPr/>
        </p:nvSpPr>
        <p:spPr>
          <a:xfrm>
            <a:off x="4572000" y="1281775"/>
            <a:ext cx="41532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min()</a:t>
            </a:r>
            <a:r>
              <a:rPr b="0" i="0" lang="es" sz="1682" u="none" cap="none" strike="noStrike">
                <a:solidFill>
                  <a:srgbClr val="595959"/>
                </a:solidFill>
                <a:latin typeface="Montserrat"/>
                <a:ea typeface="Montserrat"/>
                <a:cs typeface="Montserrat"/>
                <a:sym typeface="Montserrat"/>
              </a:rPr>
              <a:t> y </a:t>
            </a:r>
            <a:r>
              <a:rPr b="1" i="0" lang="es" sz="1682" u="none" cap="none" strike="noStrike">
                <a:solidFill>
                  <a:srgbClr val="595959"/>
                </a:solidFill>
                <a:latin typeface="Montserrat"/>
                <a:ea typeface="Montserrat"/>
                <a:cs typeface="Montserrat"/>
                <a:sym typeface="Montserrat"/>
              </a:rPr>
              <a:t>max()</a:t>
            </a:r>
            <a:r>
              <a:rPr b="0" i="0" lang="es" sz="1682" u="none" cap="none" strike="noStrike">
                <a:solidFill>
                  <a:srgbClr val="595959"/>
                </a:solidFill>
                <a:latin typeface="Montserrat"/>
                <a:ea typeface="Montserrat"/>
                <a:cs typeface="Montserrat"/>
                <a:sym typeface="Montserrat"/>
              </a:rPr>
              <a:t> devuelven el elemento con el código ASCII más pequeño o más grande respectivamente:</a:t>
            </a:r>
            <a:endParaRPr b="0" i="0" sz="1682" u="none" cap="none" strike="noStrike">
              <a:solidFill>
                <a:srgbClr val="595959"/>
              </a:solidFill>
              <a:latin typeface="Montserrat"/>
              <a:ea typeface="Montserrat"/>
              <a:cs typeface="Montserrat"/>
              <a:sym typeface="Montserrat"/>
            </a:endParaRPr>
          </a:p>
        </p:txBody>
      </p:sp>
      <p:sp>
        <p:nvSpPr>
          <p:cNvPr id="284" name="Google Shape;284;p15"/>
          <p:cNvSpPr/>
          <p:nvPr/>
        </p:nvSpPr>
        <p:spPr>
          <a:xfrm>
            <a:off x="3023125" y="2983025"/>
            <a:ext cx="1254300" cy="120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y</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n</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85" name="Google Shape;285;p15"/>
          <p:cNvSpPr/>
          <p:nvPr/>
        </p:nvSpPr>
        <p:spPr>
          <a:xfrm>
            <a:off x="3023125" y="2751375"/>
            <a:ext cx="1254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86" name="Google Shape;286;p15"/>
          <p:cNvSpPr/>
          <p:nvPr/>
        </p:nvSpPr>
        <p:spPr>
          <a:xfrm>
            <a:off x="4803725" y="2980275"/>
            <a:ext cx="2292000" cy="120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"Programador"</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max</a:t>
            </a:r>
            <a:r>
              <a:rPr b="0" i="0" lang="es" sz="1200" u="none" cap="none" strike="noStrike">
                <a:solidFill>
                  <a:srgbClr val="D5CED9"/>
                </a:solidFill>
                <a:highlight>
                  <a:srgbClr val="23262E"/>
                </a:highlight>
                <a:latin typeface="Consolas"/>
                <a:ea typeface="Consolas"/>
                <a:cs typeface="Consolas"/>
                <a:sym typeface="Consolas"/>
              </a:rPr>
              <a:t>(cadena))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min</a:t>
            </a:r>
            <a:r>
              <a:rPr b="0" i="0" lang="es" sz="1200" u="none" cap="none" strike="noStrike">
                <a:solidFill>
                  <a:srgbClr val="D5CED9"/>
                </a:solidFill>
                <a:highlight>
                  <a:srgbClr val="23262E"/>
                </a:highlight>
                <a:latin typeface="Consolas"/>
                <a:ea typeface="Consolas"/>
                <a:cs typeface="Consolas"/>
                <a:sym typeface="Consolas"/>
              </a:rPr>
              <a:t>(cadena))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87" name="Google Shape;287;p15"/>
          <p:cNvSpPr/>
          <p:nvPr/>
        </p:nvSpPr>
        <p:spPr>
          <a:xfrm>
            <a:off x="4803725" y="2751375"/>
            <a:ext cx="2292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min() y max()</a:t>
            </a:r>
            <a:endParaRPr b="0" i="0" sz="1400" u="none" cap="none" strike="noStrike">
              <a:solidFill>
                <a:schemeClr val="dk2"/>
              </a:solidFill>
              <a:latin typeface="Montserrat"/>
              <a:ea typeface="Montserrat"/>
              <a:cs typeface="Montserrat"/>
              <a:sym typeface="Montserrat"/>
            </a:endParaRPr>
          </a:p>
        </p:txBody>
      </p:sp>
      <p:sp>
        <p:nvSpPr>
          <p:cNvPr id="288" name="Google Shape;288;p15"/>
          <p:cNvSpPr/>
          <p:nvPr/>
        </p:nvSpPr>
        <p:spPr>
          <a:xfrm>
            <a:off x="7239175" y="2983025"/>
            <a:ext cx="1254300" cy="120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r</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89" name="Google Shape;289;p15"/>
          <p:cNvSpPr/>
          <p:nvPr/>
        </p:nvSpPr>
        <p:spPr>
          <a:xfrm>
            <a:off x="7239175" y="2751375"/>
            <a:ext cx="1254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6"/>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cadena.join(separador) </a:t>
            </a:r>
            <a:r>
              <a:rPr b="0" i="0" lang="es" sz="1682" u="none" cap="none" strike="noStrike">
                <a:solidFill>
                  <a:srgbClr val="595959"/>
                </a:solidFill>
                <a:latin typeface="Montserrat"/>
                <a:ea typeface="Montserrat"/>
                <a:cs typeface="Montserrat"/>
                <a:sym typeface="Montserrat"/>
              </a:rPr>
              <a:t>devuelve una cadena con el separador entre cada carácter. </a:t>
            </a:r>
            <a:r>
              <a:rPr b="1" i="0" lang="es" sz="1682" u="none" cap="none" strike="noStrike">
                <a:solidFill>
                  <a:srgbClr val="595959"/>
                </a:solidFill>
                <a:latin typeface="Montserrat"/>
                <a:ea typeface="Montserrat"/>
                <a:cs typeface="Montserrat"/>
                <a:sym typeface="Montserrat"/>
              </a:rPr>
              <a:t>cadena.split(separador)</a:t>
            </a:r>
            <a:r>
              <a:rPr b="0" i="0" lang="es" sz="1682" u="none" cap="none" strike="noStrike">
                <a:solidFill>
                  <a:srgbClr val="595959"/>
                </a:solidFill>
                <a:latin typeface="Montserrat"/>
                <a:ea typeface="Montserrat"/>
                <a:cs typeface="Montserrat"/>
                <a:sym typeface="Montserrat"/>
              </a:rPr>
              <a:t> convierte una cadena en una lista, y </a:t>
            </a:r>
            <a:r>
              <a:rPr b="1" i="0" lang="es" sz="1682" u="none" cap="none" strike="noStrike">
                <a:solidFill>
                  <a:srgbClr val="595959"/>
                </a:solidFill>
                <a:latin typeface="Montserrat"/>
                <a:ea typeface="Montserrat"/>
                <a:cs typeface="Montserrat"/>
                <a:sym typeface="Montserrat"/>
              </a:rPr>
              <a:t>cadena.replace(viejo, nuevo,max)</a:t>
            </a:r>
            <a:r>
              <a:rPr b="0" i="0" lang="es" sz="1682" u="none" cap="none" strike="noStrike">
                <a:solidFill>
                  <a:srgbClr val="595959"/>
                </a:solidFill>
                <a:latin typeface="Montserrat"/>
                <a:ea typeface="Montserrat"/>
                <a:cs typeface="Montserrat"/>
                <a:sym typeface="Montserrat"/>
              </a:rPr>
              <a:t> reemplaza una cadena por otra hasta un máximo. Si se omite max reemplaza todas las apariciones.</a:t>
            </a:r>
            <a:endParaRPr b="0" i="0" sz="1682" u="none" cap="none" strike="noStrike">
              <a:solidFill>
                <a:srgbClr val="595959"/>
              </a:solidFill>
              <a:latin typeface="Montserrat"/>
              <a:ea typeface="Montserrat"/>
              <a:cs typeface="Montserrat"/>
              <a:sym typeface="Montserrat"/>
            </a:endParaRPr>
          </a:p>
        </p:txBody>
      </p:sp>
      <p:sp>
        <p:nvSpPr>
          <p:cNvPr id="295" name="Google Shape;295;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.join(),  .split() y .replace()</a:t>
            </a:r>
            <a:endParaRPr/>
          </a:p>
        </p:txBody>
      </p:sp>
      <p:sp>
        <p:nvSpPr>
          <p:cNvPr id="296" name="Google Shape;296;p16"/>
          <p:cNvSpPr/>
          <p:nvPr/>
        </p:nvSpPr>
        <p:spPr>
          <a:xfrm>
            <a:off x="482425" y="2981075"/>
            <a:ext cx="26181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"12345"</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join</a:t>
            </a:r>
            <a:r>
              <a:rPr b="0" i="0" lang="es" sz="1200" u="none" cap="none" strike="noStrike">
                <a:solidFill>
                  <a:srgbClr val="D5CED9"/>
                </a:solidFill>
                <a:highlight>
                  <a:srgbClr val="23262E"/>
                </a:highlight>
                <a:latin typeface="Consolas"/>
                <a:ea typeface="Consolas"/>
                <a:cs typeface="Consolas"/>
                <a:sym typeface="Consolas"/>
              </a:rPr>
              <a:t>(cadena)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#1-2-3-4-5</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97" name="Google Shape;297;p16"/>
          <p:cNvSpPr/>
          <p:nvPr/>
        </p:nvSpPr>
        <p:spPr>
          <a:xfrm>
            <a:off x="482425" y="27521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.join()</a:t>
            </a:r>
            <a:endParaRPr b="0" i="0" sz="1400" u="none" cap="none" strike="noStrike">
              <a:solidFill>
                <a:schemeClr val="dk2"/>
              </a:solidFill>
              <a:latin typeface="Montserrat"/>
              <a:ea typeface="Montserrat"/>
              <a:cs typeface="Montserrat"/>
              <a:sym typeface="Montserrat"/>
            </a:endParaRPr>
          </a:p>
        </p:txBody>
      </p:sp>
      <p:sp>
        <p:nvSpPr>
          <p:cNvPr id="298" name="Google Shape;298;p16"/>
          <p:cNvSpPr/>
          <p:nvPr/>
        </p:nvSpPr>
        <p:spPr>
          <a:xfrm>
            <a:off x="3254250" y="2981125"/>
            <a:ext cx="26181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cadena.</a:t>
            </a:r>
            <a:r>
              <a:rPr b="0" i="0" lang="es" sz="1200" u="none" cap="none" strike="noStrike">
                <a:solidFill>
                  <a:srgbClr val="FFE66D"/>
                </a:solidFill>
                <a:highlight>
                  <a:srgbClr val="23262E"/>
                </a:highlight>
                <a:latin typeface="Consolas"/>
                <a:ea typeface="Consolas"/>
                <a:cs typeface="Consolas"/>
                <a:sym typeface="Consolas"/>
              </a:rPr>
              <a:t>split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(lista)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#['Codo', 'a', 'Codo']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299" name="Google Shape;299;p16"/>
          <p:cNvSpPr/>
          <p:nvPr/>
        </p:nvSpPr>
        <p:spPr>
          <a:xfrm>
            <a:off x="3254250" y="27521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split()</a:t>
            </a:r>
            <a:endParaRPr b="0" i="0" sz="1400" u="none" cap="none" strike="noStrike">
              <a:solidFill>
                <a:schemeClr val="dk2"/>
              </a:solidFill>
              <a:latin typeface="Montserrat"/>
              <a:ea typeface="Montserrat"/>
              <a:cs typeface="Montserrat"/>
              <a:sym typeface="Montserrat"/>
            </a:endParaRPr>
          </a:p>
        </p:txBody>
      </p:sp>
      <p:sp>
        <p:nvSpPr>
          <p:cNvPr id="300" name="Google Shape;300;p16"/>
          <p:cNvSpPr/>
          <p:nvPr/>
        </p:nvSpPr>
        <p:spPr>
          <a:xfrm>
            <a:off x="6026075" y="2981075"/>
            <a:ext cx="26181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cadena.</a:t>
            </a:r>
            <a:r>
              <a:rPr b="0" i="0" lang="es" sz="1200" u="none" cap="none" strike="noStrike">
                <a:solidFill>
                  <a:srgbClr val="FFE66D"/>
                </a:solidFill>
                <a:highlight>
                  <a:srgbClr val="23262E"/>
                </a:highlight>
                <a:latin typeface="Consolas"/>
                <a:ea typeface="Consolas"/>
                <a:cs typeface="Consolas"/>
                <a:sym typeface="Consolas"/>
              </a:rPr>
              <a:t>replace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'Codo'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'Mano'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Mano a Mano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01" name="Google Shape;301;p16"/>
          <p:cNvSpPr/>
          <p:nvPr/>
        </p:nvSpPr>
        <p:spPr>
          <a:xfrm>
            <a:off x="6026075" y="27521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.replace()</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cadena.isalpha() </a:t>
            </a:r>
            <a:r>
              <a:rPr b="0" i="0" lang="es" sz="1682" u="none" cap="none" strike="noStrike">
                <a:solidFill>
                  <a:srgbClr val="595959"/>
                </a:solidFill>
                <a:latin typeface="Montserrat"/>
                <a:ea typeface="Montserrat"/>
                <a:cs typeface="Montserrat"/>
                <a:sym typeface="Montserrat"/>
              </a:rPr>
              <a:t>devuelve True si todos los caracteres de una cadena son alfabéticos.  </a:t>
            </a:r>
            <a:r>
              <a:rPr b="1" i="0" lang="es" sz="1682" u="none" cap="none" strike="noStrike">
                <a:solidFill>
                  <a:srgbClr val="595959"/>
                </a:solidFill>
                <a:latin typeface="Montserrat"/>
                <a:ea typeface="Montserrat"/>
                <a:cs typeface="Montserrat"/>
                <a:sym typeface="Montserrat"/>
              </a:rPr>
              <a:t>cadena.isdigit()</a:t>
            </a:r>
            <a:r>
              <a:rPr b="0" i="0" lang="es" sz="1682" u="none" cap="none" strike="noStrike">
                <a:solidFill>
                  <a:srgbClr val="595959"/>
                </a:solidFill>
                <a:latin typeface="Montserrat"/>
                <a:ea typeface="Montserrat"/>
                <a:cs typeface="Montserrat"/>
                <a:sym typeface="Montserrat"/>
              </a:rPr>
              <a:t> devuelve True si todos los caracteres de una cadena son dígitos.  </a:t>
            </a:r>
            <a:r>
              <a:rPr b="1" i="0" lang="es" sz="1682" u="none" cap="none" strike="noStrike">
                <a:solidFill>
                  <a:srgbClr val="595959"/>
                </a:solidFill>
                <a:latin typeface="Montserrat"/>
                <a:ea typeface="Montserrat"/>
                <a:cs typeface="Montserrat"/>
                <a:sym typeface="Montserrat"/>
              </a:rPr>
              <a:t>cadena.isalnum()</a:t>
            </a:r>
            <a:r>
              <a:rPr b="0" i="0" lang="es" sz="1682" u="none" cap="none" strike="noStrike">
                <a:solidFill>
                  <a:srgbClr val="595959"/>
                </a:solidFill>
                <a:latin typeface="Montserrat"/>
                <a:ea typeface="Montserrat"/>
                <a:cs typeface="Montserrat"/>
                <a:sym typeface="Montserrat"/>
              </a:rPr>
              <a:t> devuelve True si todos los caracteres de una cadena son alfabéticos o numéricos.</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
        <p:nvSpPr>
          <p:cNvPr id="307" name="Google Shape;307;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Detección de tipos</a:t>
            </a:r>
            <a:endParaRPr/>
          </a:p>
        </p:txBody>
      </p:sp>
      <p:sp>
        <p:nvSpPr>
          <p:cNvPr id="308" name="Google Shape;308;p17"/>
          <p:cNvSpPr/>
          <p:nvPr/>
        </p:nvSpPr>
        <p:spPr>
          <a:xfrm>
            <a:off x="482425" y="2981075"/>
            <a:ext cx="26181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"Python"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"Python3"</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r>
              <a:rPr b="0" i="0" lang="es" sz="1200" u="none" cap="none" strike="noStrike">
                <a:solidFill>
                  <a:srgbClr val="FFE66D"/>
                </a:solidFill>
                <a:highlight>
                  <a:srgbClr val="23262E"/>
                </a:highlight>
                <a:latin typeface="Consolas"/>
                <a:ea typeface="Consolas"/>
                <a:cs typeface="Consolas"/>
                <a:sym typeface="Consolas"/>
              </a:rPr>
              <a:t>isalpha</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(cad2.</a:t>
            </a:r>
            <a:r>
              <a:rPr b="0" i="0" lang="es" sz="1200" u="none" cap="none" strike="noStrike">
                <a:solidFill>
                  <a:srgbClr val="FFE66D"/>
                </a:solidFill>
                <a:highlight>
                  <a:srgbClr val="23262E"/>
                </a:highlight>
                <a:latin typeface="Consolas"/>
                <a:ea typeface="Consolas"/>
                <a:cs typeface="Consolas"/>
                <a:sym typeface="Consolas"/>
              </a:rPr>
              <a:t>isalpha</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09" name="Google Shape;309;p17"/>
          <p:cNvSpPr/>
          <p:nvPr/>
        </p:nvSpPr>
        <p:spPr>
          <a:xfrm>
            <a:off x="482425" y="27521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.isalpha()</a:t>
            </a:r>
            <a:endParaRPr b="0" i="0" sz="1400" u="none" cap="none" strike="noStrike">
              <a:solidFill>
                <a:schemeClr val="dk2"/>
              </a:solidFill>
              <a:latin typeface="Montserrat"/>
              <a:ea typeface="Montserrat"/>
              <a:cs typeface="Montserrat"/>
              <a:sym typeface="Montserrat"/>
            </a:endParaRPr>
          </a:p>
        </p:txBody>
      </p:sp>
      <p:sp>
        <p:nvSpPr>
          <p:cNvPr id="310" name="Google Shape;310;p17"/>
          <p:cNvSpPr/>
          <p:nvPr/>
        </p:nvSpPr>
        <p:spPr>
          <a:xfrm>
            <a:off x="3254250" y="2981125"/>
            <a:ext cx="26181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"1234"</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"1234a"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r>
              <a:rPr b="0" i="0" lang="es" sz="1200" u="none" cap="none" strike="noStrike">
                <a:solidFill>
                  <a:srgbClr val="FFE66D"/>
                </a:solidFill>
                <a:highlight>
                  <a:srgbClr val="23262E"/>
                </a:highlight>
                <a:latin typeface="Consolas"/>
                <a:ea typeface="Consolas"/>
                <a:cs typeface="Consolas"/>
                <a:sym typeface="Consolas"/>
              </a:rPr>
              <a:t>isdigit</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(cad2.</a:t>
            </a:r>
            <a:r>
              <a:rPr b="0" i="0" lang="es" sz="1200" u="none" cap="none" strike="noStrike">
                <a:solidFill>
                  <a:srgbClr val="FFE66D"/>
                </a:solidFill>
                <a:highlight>
                  <a:srgbClr val="23262E"/>
                </a:highlight>
                <a:latin typeface="Consolas"/>
                <a:ea typeface="Consolas"/>
                <a:cs typeface="Consolas"/>
                <a:sym typeface="Consolas"/>
              </a:rPr>
              <a:t>isdigit</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11" name="Google Shape;311;p17"/>
          <p:cNvSpPr/>
          <p:nvPr/>
        </p:nvSpPr>
        <p:spPr>
          <a:xfrm>
            <a:off x="3254250" y="27521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.isdigit()</a:t>
            </a:r>
            <a:endParaRPr b="0" i="0" sz="1400" u="none" cap="none" strike="noStrike">
              <a:solidFill>
                <a:schemeClr val="dk2"/>
              </a:solidFill>
              <a:latin typeface="Montserrat"/>
              <a:ea typeface="Montserrat"/>
              <a:cs typeface="Montserrat"/>
              <a:sym typeface="Montserrat"/>
            </a:endParaRPr>
          </a:p>
        </p:txBody>
      </p:sp>
      <p:sp>
        <p:nvSpPr>
          <p:cNvPr id="312" name="Google Shape;312;p17"/>
          <p:cNvSpPr/>
          <p:nvPr/>
        </p:nvSpPr>
        <p:spPr>
          <a:xfrm>
            <a:off x="6026075" y="2981075"/>
            <a:ext cx="26181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"12Ab"</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"12Ab%"</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r>
              <a:rPr b="0" i="0" lang="es" sz="1200" u="none" cap="none" strike="noStrike">
                <a:solidFill>
                  <a:srgbClr val="FFE66D"/>
                </a:solidFill>
                <a:highlight>
                  <a:srgbClr val="23262E"/>
                </a:highlight>
                <a:latin typeface="Consolas"/>
                <a:ea typeface="Consolas"/>
                <a:cs typeface="Consolas"/>
                <a:sym typeface="Consolas"/>
              </a:rPr>
              <a:t>isalnum</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(cad2.</a:t>
            </a:r>
            <a:r>
              <a:rPr b="0" i="0" lang="es" sz="1200" u="none" cap="none" strike="noStrike">
                <a:solidFill>
                  <a:srgbClr val="FFE66D"/>
                </a:solidFill>
                <a:highlight>
                  <a:srgbClr val="23262E"/>
                </a:highlight>
                <a:latin typeface="Consolas"/>
                <a:ea typeface="Consolas"/>
                <a:cs typeface="Consolas"/>
                <a:sym typeface="Consolas"/>
              </a:rPr>
              <a:t>isalnum</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13" name="Google Shape;313;p17"/>
          <p:cNvSpPr/>
          <p:nvPr/>
        </p:nvSpPr>
        <p:spPr>
          <a:xfrm>
            <a:off x="6026075" y="27521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.isalnum()</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p18"/>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cadena.title() </a:t>
            </a:r>
            <a:r>
              <a:rPr b="0" i="0" lang="es" sz="1682" u="none" cap="none" strike="noStrike">
                <a:solidFill>
                  <a:srgbClr val="595959"/>
                </a:solidFill>
                <a:latin typeface="Montserrat"/>
                <a:ea typeface="Montserrat"/>
                <a:cs typeface="Montserrat"/>
                <a:sym typeface="Montserrat"/>
              </a:rPr>
              <a:t>devuelve una cadena </a:t>
            </a:r>
            <a:r>
              <a:rPr b="0" i="0" lang="es" sz="1682" u="none" cap="none" strike="noStrike">
                <a:solidFill>
                  <a:schemeClr val="dk2"/>
                </a:solidFill>
                <a:latin typeface="Montserrat"/>
                <a:ea typeface="Montserrat"/>
                <a:cs typeface="Montserrat"/>
                <a:sym typeface="Montserrat"/>
              </a:rPr>
              <a:t>en minúsculas</a:t>
            </a:r>
            <a:r>
              <a:rPr b="0" i="0" lang="es" sz="1682" u="none" cap="none" strike="noStrike">
                <a:solidFill>
                  <a:srgbClr val="595959"/>
                </a:solidFill>
                <a:latin typeface="Montserrat"/>
                <a:ea typeface="Montserrat"/>
                <a:cs typeface="Montserrat"/>
                <a:sym typeface="Montserrat"/>
              </a:rPr>
              <a:t> con el primer caracter de cada palabra en</a:t>
            </a:r>
            <a:r>
              <a:rPr b="0" i="0" lang="es" sz="1682" u="none" cap="none" strike="noStrike">
                <a:solidFill>
                  <a:schemeClr val="dk2"/>
                </a:solidFill>
                <a:latin typeface="Montserrat"/>
                <a:ea typeface="Montserrat"/>
                <a:cs typeface="Montserrat"/>
                <a:sym typeface="Montserrat"/>
              </a:rPr>
              <a:t> mayúscula</a:t>
            </a:r>
            <a:r>
              <a:rPr b="0" i="0" lang="es" sz="1682" u="none" cap="none" strike="noStrike">
                <a:solidFill>
                  <a:srgbClr val="595959"/>
                </a:solidFill>
                <a:latin typeface="Montserrat"/>
                <a:ea typeface="Montserrat"/>
                <a:cs typeface="Montserrat"/>
                <a:sym typeface="Montserrat"/>
              </a:rPr>
              <a:t>s. </a:t>
            </a:r>
            <a:r>
              <a:rPr b="1" i="0" lang="es" sz="1682" u="none" cap="none" strike="noStrike">
                <a:solidFill>
                  <a:schemeClr val="dk2"/>
                </a:solidFill>
                <a:latin typeface="Montserrat"/>
                <a:ea typeface="Montserrat"/>
                <a:cs typeface="Montserrat"/>
                <a:sym typeface="Montserrat"/>
              </a:rPr>
              <a:t>cadena.center(ancho, relleno) </a:t>
            </a:r>
            <a:r>
              <a:rPr b="0" i="0" lang="es" sz="1682" u="none" cap="none" strike="noStrike">
                <a:solidFill>
                  <a:schemeClr val="dk2"/>
                </a:solidFill>
                <a:latin typeface="Montserrat"/>
                <a:ea typeface="Montserrat"/>
                <a:cs typeface="Montserrat"/>
                <a:sym typeface="Montserrat"/>
              </a:rPr>
              <a:t>devuelve una cadena en el </a:t>
            </a:r>
            <a:r>
              <a:rPr b="0" i="1" lang="es" sz="1682" u="none" cap="none" strike="noStrike">
                <a:solidFill>
                  <a:schemeClr val="dk2"/>
                </a:solidFill>
                <a:latin typeface="Montserrat"/>
                <a:ea typeface="Montserrat"/>
                <a:cs typeface="Montserrat"/>
                <a:sym typeface="Montserrat"/>
              </a:rPr>
              <a:t>ancho</a:t>
            </a:r>
            <a:r>
              <a:rPr b="0" i="0" lang="es" sz="1682" u="none" cap="none" strike="noStrike">
                <a:solidFill>
                  <a:schemeClr val="dk2"/>
                </a:solidFill>
                <a:latin typeface="Montserrat"/>
                <a:ea typeface="Montserrat"/>
                <a:cs typeface="Montserrat"/>
                <a:sym typeface="Montserrat"/>
              </a:rPr>
              <a:t> especificado. El resto de la cadena se rellena con espacios o con el caracter opcional </a:t>
            </a:r>
            <a:r>
              <a:rPr b="0" i="1" lang="es" sz="1682" u="none" cap="none" strike="noStrike">
                <a:solidFill>
                  <a:schemeClr val="dk2"/>
                </a:solidFill>
                <a:latin typeface="Montserrat"/>
                <a:ea typeface="Montserrat"/>
                <a:cs typeface="Montserrat"/>
                <a:sym typeface="Montserrat"/>
              </a:rPr>
              <a:t>relleno</a:t>
            </a:r>
            <a:r>
              <a:rPr b="0" i="0" lang="es" sz="1682" u="none" cap="none" strike="noStrike">
                <a:solidFill>
                  <a:schemeClr val="dk2"/>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
        <p:nvSpPr>
          <p:cNvPr id="319" name="Google Shape;319;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title() y center()</a:t>
            </a:r>
            <a:endParaRPr/>
          </a:p>
        </p:txBody>
      </p:sp>
      <p:sp>
        <p:nvSpPr>
          <p:cNvPr id="320" name="Google Shape;320;p18"/>
          <p:cNvSpPr/>
          <p:nvPr/>
        </p:nvSpPr>
        <p:spPr>
          <a:xfrm>
            <a:off x="482425" y="2981075"/>
            <a:ext cx="37653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"aprendiendo programación"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r>
              <a:rPr b="0" i="0" lang="es" sz="1200" u="none" cap="none" strike="noStrike">
                <a:solidFill>
                  <a:srgbClr val="FFE66D"/>
                </a:solidFill>
                <a:highlight>
                  <a:srgbClr val="23262E"/>
                </a:highlight>
                <a:latin typeface="Consolas"/>
                <a:ea typeface="Consolas"/>
                <a:cs typeface="Consolas"/>
                <a:sym typeface="Consolas"/>
              </a:rPr>
              <a:t>title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Aprendiendo Programación</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"Este es un TEXTO"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r>
              <a:rPr b="0" i="0" lang="es" sz="1200" u="none" cap="none" strike="noStrike">
                <a:solidFill>
                  <a:srgbClr val="FFE66D"/>
                </a:solidFill>
                <a:highlight>
                  <a:srgbClr val="23262E"/>
                </a:highlight>
                <a:latin typeface="Consolas"/>
                <a:ea typeface="Consolas"/>
                <a:cs typeface="Consolas"/>
                <a:sym typeface="Consolas"/>
              </a:rPr>
              <a:t>title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Este Es Un Texto</a:t>
            </a:r>
            <a:endParaRPr b="0" i="0" sz="1200" u="none" cap="none" strike="noStrike">
              <a:solidFill>
                <a:srgbClr val="D5CED9"/>
              </a:solidFill>
              <a:highlight>
                <a:srgbClr val="23262E"/>
              </a:highlight>
              <a:latin typeface="Consolas"/>
              <a:ea typeface="Consolas"/>
              <a:cs typeface="Consolas"/>
              <a:sym typeface="Consolas"/>
            </a:endParaRPr>
          </a:p>
        </p:txBody>
      </p:sp>
      <p:sp>
        <p:nvSpPr>
          <p:cNvPr id="321" name="Google Shape;321;p18"/>
          <p:cNvSpPr/>
          <p:nvPr/>
        </p:nvSpPr>
        <p:spPr>
          <a:xfrm>
            <a:off x="482425" y="2752175"/>
            <a:ext cx="3765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.title()</a:t>
            </a:r>
            <a:endParaRPr b="0" i="0" sz="1400" u="none" cap="none" strike="noStrike">
              <a:solidFill>
                <a:schemeClr val="dk2"/>
              </a:solidFill>
              <a:latin typeface="Montserrat"/>
              <a:ea typeface="Montserrat"/>
              <a:cs typeface="Montserrat"/>
              <a:sym typeface="Montserrat"/>
            </a:endParaRPr>
          </a:p>
        </p:txBody>
      </p:sp>
      <p:sp>
        <p:nvSpPr>
          <p:cNvPr id="322" name="Google Shape;322;p18"/>
          <p:cNvSpPr/>
          <p:nvPr/>
        </p:nvSpPr>
        <p:spPr>
          <a:xfrm>
            <a:off x="4878875" y="2981075"/>
            <a:ext cx="3765300" cy="143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center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10</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***Hola***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23" name="Google Shape;323;p18"/>
          <p:cNvSpPr/>
          <p:nvPr/>
        </p:nvSpPr>
        <p:spPr>
          <a:xfrm>
            <a:off x="4878875" y="2752175"/>
            <a:ext cx="3765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.center()</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 name="Shape 327"/>
        <p:cNvGrpSpPr/>
        <p:nvPr/>
      </p:nvGrpSpPr>
      <p:grpSpPr>
        <a:xfrm>
          <a:off x="0" y="0"/>
          <a:ext cx="0" cy="0"/>
          <a:chOff x="0" y="0"/>
          <a:chExt cx="0" cy="0"/>
        </a:xfrm>
      </p:grpSpPr>
      <p:sp>
        <p:nvSpPr>
          <p:cNvPr id="328" name="Google Shape;328;p19"/>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cadena.ljust</a:t>
            </a:r>
            <a:r>
              <a:rPr b="1" i="0" lang="es" sz="1682" u="none" cap="none" strike="noStrike">
                <a:solidFill>
                  <a:schemeClr val="dk2"/>
                </a:solidFill>
                <a:latin typeface="Montserrat"/>
                <a:ea typeface="Montserrat"/>
                <a:cs typeface="Montserrat"/>
                <a:sym typeface="Montserrat"/>
              </a:rPr>
              <a:t>(ancho, [relleno])</a:t>
            </a:r>
            <a:r>
              <a:rPr b="1" i="0" lang="es" sz="1682" u="none" cap="none" strike="noStrike">
                <a:solidFill>
                  <a:srgbClr val="595959"/>
                </a:solidFill>
                <a:latin typeface="Montserrat"/>
                <a:ea typeface="Montserrat"/>
                <a:cs typeface="Montserrat"/>
                <a:sym typeface="Montserrat"/>
              </a:rPr>
              <a:t> </a:t>
            </a:r>
            <a:r>
              <a:rPr b="0" i="0" lang="es" sz="1682" u="none" cap="none" strike="noStrike">
                <a:solidFill>
                  <a:srgbClr val="595959"/>
                </a:solidFill>
                <a:latin typeface="Montserrat"/>
                <a:ea typeface="Montserrat"/>
                <a:cs typeface="Montserrat"/>
                <a:sym typeface="Montserrat"/>
              </a:rPr>
              <a:t>y</a:t>
            </a:r>
            <a:r>
              <a:rPr b="1" i="0" lang="es" sz="1682" u="none" cap="none" strike="noStrike">
                <a:solidFill>
                  <a:srgbClr val="595959"/>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cadena.rjust(ancho, [relleno]) </a:t>
            </a:r>
            <a:r>
              <a:rPr b="0" i="0" lang="es" sz="1682" u="none" cap="none" strike="noStrike">
                <a:solidFill>
                  <a:srgbClr val="595959"/>
                </a:solidFill>
                <a:latin typeface="Montserrat"/>
                <a:ea typeface="Montserrat"/>
                <a:cs typeface="Montserrat"/>
                <a:sym typeface="Montserrat"/>
              </a:rPr>
              <a:t>devuelven cadenas alineadas a izquierda o derecha, respectivamente. El resto de la cadena se rellena con espacios o con el caracter opcional relleno. </a:t>
            </a:r>
            <a:r>
              <a:rPr b="1" i="0" lang="es" sz="1682" u="none" cap="none" strike="noStrike">
                <a:solidFill>
                  <a:schemeClr val="dk2"/>
                </a:solidFill>
                <a:latin typeface="Montserrat"/>
                <a:ea typeface="Montserrat"/>
                <a:cs typeface="Montserrat"/>
                <a:sym typeface="Montserrat"/>
              </a:rPr>
              <a:t>cadena.zfill(ancho) </a:t>
            </a:r>
            <a:r>
              <a:rPr b="0" i="0" lang="es" sz="1682" u="none" cap="none" strike="noStrike">
                <a:solidFill>
                  <a:schemeClr val="dk2"/>
                </a:solidFill>
                <a:latin typeface="Montserrat"/>
                <a:ea typeface="Montserrat"/>
                <a:cs typeface="Montserrat"/>
                <a:sym typeface="Montserrat"/>
              </a:rPr>
              <a:t>devuelve una cadena alineada a la derecha en el ancho especificado. El comienzo de la cadena se rellena con ceros.</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sp>
        <p:nvSpPr>
          <p:cNvPr id="329" name="Google Shape;329;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Alineación</a:t>
            </a:r>
            <a:endParaRPr/>
          </a:p>
        </p:txBody>
      </p:sp>
      <p:sp>
        <p:nvSpPr>
          <p:cNvPr id="330" name="Google Shape;330;p19"/>
          <p:cNvSpPr/>
          <p:nvPr/>
        </p:nvSpPr>
        <p:spPr>
          <a:xfrm>
            <a:off x="482425" y="321002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"Python"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ljust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10</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Python----</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31" name="Google Shape;331;p19"/>
          <p:cNvSpPr/>
          <p:nvPr/>
        </p:nvSpPr>
        <p:spPr>
          <a:xfrm>
            <a:off x="482425" y="298112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.ljust()</a:t>
            </a:r>
            <a:endParaRPr b="0" i="0" sz="1400" u="none" cap="none" strike="noStrike">
              <a:solidFill>
                <a:schemeClr val="dk2"/>
              </a:solidFill>
              <a:latin typeface="Montserrat"/>
              <a:ea typeface="Montserrat"/>
              <a:cs typeface="Montserrat"/>
              <a:sym typeface="Montserrat"/>
            </a:endParaRPr>
          </a:p>
        </p:txBody>
      </p:sp>
      <p:sp>
        <p:nvSpPr>
          <p:cNvPr id="332" name="Google Shape;332;p19"/>
          <p:cNvSpPr/>
          <p:nvPr/>
        </p:nvSpPr>
        <p:spPr>
          <a:xfrm>
            <a:off x="3254250" y="321002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"Python"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rjust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10</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----Python</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33" name="Google Shape;333;p19"/>
          <p:cNvSpPr/>
          <p:nvPr/>
        </p:nvSpPr>
        <p:spPr>
          <a:xfrm>
            <a:off x="3254250" y="298112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.rjust()</a:t>
            </a:r>
            <a:endParaRPr b="0" i="0" sz="1400" u="none" cap="none" strike="noStrike">
              <a:solidFill>
                <a:schemeClr val="dk2"/>
              </a:solidFill>
              <a:latin typeface="Montserrat"/>
              <a:ea typeface="Montserrat"/>
              <a:cs typeface="Montserrat"/>
              <a:sym typeface="Montserrat"/>
            </a:endParaRPr>
          </a:p>
        </p:txBody>
      </p:sp>
      <p:sp>
        <p:nvSpPr>
          <p:cNvPr id="334" name="Google Shape;334;p19"/>
          <p:cNvSpPr/>
          <p:nvPr/>
        </p:nvSpPr>
        <p:spPr>
          <a:xfrm>
            <a:off x="6026075" y="320997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"120"</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zfill</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8</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00000120</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35" name="Google Shape;335;p19"/>
          <p:cNvSpPr/>
          <p:nvPr/>
        </p:nvSpPr>
        <p:spPr>
          <a:xfrm>
            <a:off x="6026075" y="298112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.zfill()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0"/>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cadena.lstrip</a:t>
            </a:r>
            <a:r>
              <a:rPr b="1" i="0" lang="es" sz="1682" u="none" cap="none" strike="noStrike">
                <a:solidFill>
                  <a:schemeClr val="dk2"/>
                </a:solidFill>
                <a:latin typeface="Montserrat"/>
                <a:ea typeface="Montserrat"/>
                <a:cs typeface="Montserrat"/>
                <a:sym typeface="Montserrat"/>
              </a:rPr>
              <a:t>(str)</a:t>
            </a:r>
            <a:r>
              <a:rPr b="1" i="0" lang="es" sz="1682" u="none" cap="none" strike="noStrike">
                <a:solidFill>
                  <a:srgbClr val="595959"/>
                </a:solidFill>
                <a:latin typeface="Montserrat"/>
                <a:ea typeface="Montserrat"/>
                <a:cs typeface="Montserrat"/>
                <a:sym typeface="Montserrat"/>
              </a:rPr>
              <a:t> </a:t>
            </a:r>
            <a:r>
              <a:rPr b="0" i="0" lang="es" sz="1682" u="none" cap="none" strike="noStrike">
                <a:solidFill>
                  <a:srgbClr val="595959"/>
                </a:solidFill>
                <a:latin typeface="Montserrat"/>
                <a:ea typeface="Montserrat"/>
                <a:cs typeface="Montserrat"/>
                <a:sym typeface="Montserrat"/>
              </a:rPr>
              <a:t>y</a:t>
            </a:r>
            <a:r>
              <a:rPr b="1" i="0" lang="es" sz="1682" u="none" cap="none" strike="noStrike">
                <a:solidFill>
                  <a:srgbClr val="595959"/>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cadena.rstrip(str) </a:t>
            </a:r>
            <a:r>
              <a:rPr b="0" i="0" lang="es" sz="1682" u="none" cap="none" strike="noStrike">
                <a:solidFill>
                  <a:srgbClr val="595959"/>
                </a:solidFill>
                <a:latin typeface="Montserrat"/>
                <a:ea typeface="Montserrat"/>
                <a:cs typeface="Montserrat"/>
                <a:sym typeface="Montserrat"/>
              </a:rPr>
              <a:t>devuelven cadenas a las que se les han quitado los caracteres indicados por </a:t>
            </a:r>
            <a:r>
              <a:rPr b="0" i="1" lang="es" sz="1682" u="none" cap="none" strike="noStrike">
                <a:solidFill>
                  <a:srgbClr val="595959"/>
                </a:solidFill>
                <a:latin typeface="Montserrat"/>
                <a:ea typeface="Montserrat"/>
                <a:cs typeface="Montserrat"/>
                <a:sym typeface="Montserrat"/>
              </a:rPr>
              <a:t>str</a:t>
            </a:r>
            <a:r>
              <a:rPr b="0" i="0" lang="es" sz="1682" u="none" cap="none" strike="noStrike">
                <a:solidFill>
                  <a:srgbClr val="595959"/>
                </a:solidFill>
                <a:latin typeface="Montserrat"/>
                <a:ea typeface="Montserrat"/>
                <a:cs typeface="Montserrat"/>
                <a:sym typeface="Montserrat"/>
              </a:rPr>
              <a:t> a la izquierda o a la derecha, respectivamente. </a:t>
            </a:r>
            <a:r>
              <a:rPr b="1" i="0" lang="es" sz="1682" u="none" cap="none" strike="noStrike">
                <a:solidFill>
                  <a:schemeClr val="dk2"/>
                </a:solidFill>
                <a:latin typeface="Montserrat"/>
                <a:ea typeface="Montserrat"/>
                <a:cs typeface="Montserrat"/>
                <a:sym typeface="Montserrat"/>
              </a:rPr>
              <a:t>cadena.strip(str) </a:t>
            </a:r>
            <a:r>
              <a:rPr b="0" i="0" lang="es" sz="1682" u="none" cap="none" strike="noStrike">
                <a:solidFill>
                  <a:schemeClr val="dk2"/>
                </a:solidFill>
                <a:latin typeface="Montserrat"/>
                <a:ea typeface="Montserrat"/>
                <a:cs typeface="Montserrat"/>
                <a:sym typeface="Montserrat"/>
              </a:rPr>
              <a:t>devuelve una cadena sin los caracteres indicados en </a:t>
            </a:r>
            <a:r>
              <a:rPr b="0" i="1" lang="es" sz="1682" u="none" cap="none" strike="noStrike">
                <a:solidFill>
                  <a:schemeClr val="dk2"/>
                </a:solidFill>
                <a:latin typeface="Montserrat"/>
                <a:ea typeface="Montserrat"/>
                <a:cs typeface="Montserrat"/>
                <a:sym typeface="Montserrat"/>
              </a:rPr>
              <a:t>str</a:t>
            </a:r>
            <a:r>
              <a:rPr b="0" i="0" lang="es" sz="1682" u="none" cap="none" strike="noStrike">
                <a:solidFill>
                  <a:schemeClr val="dk2"/>
                </a:solidFill>
                <a:latin typeface="Montserrat"/>
                <a:ea typeface="Montserrat"/>
                <a:cs typeface="Montserrat"/>
                <a:sym typeface="Montserrat"/>
              </a:rPr>
              <a:t> al inicio y al final de la cadena.</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sp>
        <p:nvSpPr>
          <p:cNvPr id="341" name="Google Shape;341;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Recorte</a:t>
            </a:r>
            <a:endParaRPr/>
          </a:p>
        </p:txBody>
      </p:sp>
      <p:sp>
        <p:nvSpPr>
          <p:cNvPr id="342" name="Google Shape;342;p20"/>
          <p:cNvSpPr/>
          <p:nvPr/>
        </p:nvSpPr>
        <p:spPr>
          <a:xfrm>
            <a:off x="482425" y="321002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"---Hola-Mundo----"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lstrip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Hola-Mundo----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43" name="Google Shape;343;p20"/>
          <p:cNvSpPr/>
          <p:nvPr/>
        </p:nvSpPr>
        <p:spPr>
          <a:xfrm>
            <a:off x="482425" y="298112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.lstrip()</a:t>
            </a:r>
            <a:endParaRPr b="0" i="0" sz="1400" u="none" cap="none" strike="noStrike">
              <a:solidFill>
                <a:schemeClr val="dk2"/>
              </a:solidFill>
              <a:latin typeface="Montserrat"/>
              <a:ea typeface="Montserrat"/>
              <a:cs typeface="Montserrat"/>
              <a:sym typeface="Montserrat"/>
            </a:endParaRPr>
          </a:p>
        </p:txBody>
      </p:sp>
      <p:sp>
        <p:nvSpPr>
          <p:cNvPr id="344" name="Google Shape;344;p20"/>
          <p:cNvSpPr/>
          <p:nvPr/>
        </p:nvSpPr>
        <p:spPr>
          <a:xfrm>
            <a:off x="3254250" y="321002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"---Hola-Mundo----"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rstrip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---Hola-Mundo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45" name="Google Shape;345;p20"/>
          <p:cNvSpPr/>
          <p:nvPr/>
        </p:nvSpPr>
        <p:spPr>
          <a:xfrm>
            <a:off x="3254250" y="298112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.rstrip()</a:t>
            </a:r>
            <a:endParaRPr b="0" i="0" sz="1400" u="none" cap="none" strike="noStrike">
              <a:solidFill>
                <a:schemeClr val="dk2"/>
              </a:solidFill>
              <a:latin typeface="Montserrat"/>
              <a:ea typeface="Montserrat"/>
              <a:cs typeface="Montserrat"/>
              <a:sym typeface="Montserrat"/>
            </a:endParaRPr>
          </a:p>
        </p:txBody>
      </p:sp>
      <p:sp>
        <p:nvSpPr>
          <p:cNvPr id="346" name="Google Shape;346;p20"/>
          <p:cNvSpPr/>
          <p:nvPr/>
        </p:nvSpPr>
        <p:spPr>
          <a:xfrm>
            <a:off x="6026075" y="320997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"---Hola-Mundo----"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cad1.</a:t>
            </a:r>
            <a:r>
              <a:rPr b="0" i="0" lang="es" sz="1200" u="none" cap="none" strike="noStrike">
                <a:solidFill>
                  <a:srgbClr val="FFE66D"/>
                </a:solidFill>
                <a:highlight>
                  <a:srgbClr val="23262E"/>
                </a:highlight>
                <a:latin typeface="Consolas"/>
                <a:ea typeface="Consolas"/>
                <a:cs typeface="Consolas"/>
                <a:sym typeface="Consolas"/>
              </a:rPr>
              <a:t>strip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(cad1)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Hola-Mundo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47" name="Google Shape;347;p20"/>
          <p:cNvSpPr/>
          <p:nvPr/>
        </p:nvSpPr>
        <p:spPr>
          <a:xfrm>
            <a:off x="6026075" y="298112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.strip()</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1"/>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cadena.find(&lt;str&gt;,[[inicio],[fin]])</a:t>
            </a:r>
            <a:r>
              <a:rPr b="0" i="0" lang="es" sz="1682" u="none" cap="none" strike="noStrike">
                <a:solidFill>
                  <a:srgbClr val="595959"/>
                </a:solidFill>
                <a:latin typeface="Montserrat"/>
                <a:ea typeface="Montserrat"/>
                <a:cs typeface="Montserrat"/>
                <a:sym typeface="Montserrat"/>
              </a:rPr>
              <a:t> devuelve la posición donde encuentra </a:t>
            </a:r>
            <a:r>
              <a:rPr b="0" i="1" lang="es" sz="1682" u="none" cap="none" strike="noStrike">
                <a:solidFill>
                  <a:srgbClr val="595959"/>
                </a:solidFill>
                <a:latin typeface="Montserrat"/>
                <a:ea typeface="Montserrat"/>
                <a:cs typeface="Montserrat"/>
                <a:sym typeface="Montserrat"/>
              </a:rPr>
              <a:t>str</a:t>
            </a:r>
            <a:r>
              <a:rPr b="0" i="0" lang="es" sz="1682" u="none" cap="none" strike="noStrike">
                <a:solidFill>
                  <a:srgbClr val="595959"/>
                </a:solidFill>
                <a:latin typeface="Montserrat"/>
                <a:ea typeface="Montserrat"/>
                <a:cs typeface="Montserrat"/>
                <a:sym typeface="Montserrat"/>
              </a:rPr>
              <a:t> en la cadena. Si no lo encuentra devuelve -1. Se puede indicar los subíndices desde (</a:t>
            </a:r>
            <a:r>
              <a:rPr b="0" i="1" lang="es" sz="1682" u="none" cap="none" strike="noStrike">
                <a:solidFill>
                  <a:srgbClr val="595959"/>
                </a:solidFill>
                <a:latin typeface="Montserrat"/>
                <a:ea typeface="Montserrat"/>
                <a:cs typeface="Montserrat"/>
                <a:sym typeface="Montserrat"/>
              </a:rPr>
              <a:t>inicio</a:t>
            </a:r>
            <a:r>
              <a:rPr b="0" i="0" lang="es" sz="1682" u="none" cap="none" strike="noStrike">
                <a:solidFill>
                  <a:srgbClr val="595959"/>
                </a:solidFill>
                <a:latin typeface="Montserrat"/>
                <a:ea typeface="Montserrat"/>
                <a:cs typeface="Montserrat"/>
                <a:sym typeface="Montserrat"/>
              </a:rPr>
              <a:t>) y hasta (</a:t>
            </a:r>
            <a:r>
              <a:rPr b="0" i="1" lang="es" sz="1682" u="none" cap="none" strike="noStrike">
                <a:solidFill>
                  <a:srgbClr val="595959"/>
                </a:solidFill>
                <a:latin typeface="Montserrat"/>
                <a:ea typeface="Montserrat"/>
                <a:cs typeface="Montserrat"/>
                <a:sym typeface="Montserrat"/>
              </a:rPr>
              <a:t>fin</a:t>
            </a:r>
            <a:r>
              <a:rPr b="0" i="0" lang="es" sz="1682" u="none" cap="none" strike="noStrike">
                <a:solidFill>
                  <a:srgbClr val="595959"/>
                </a:solidFill>
                <a:latin typeface="Montserrat"/>
                <a:ea typeface="Montserrat"/>
                <a:cs typeface="Montserrat"/>
                <a:sym typeface="Montserrat"/>
              </a:rPr>
              <a:t>) donde buscar.</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&lt;cadena&gt;.rfind(&lt;str&gt;,[[inicio],[fin]]) </a:t>
            </a:r>
            <a:r>
              <a:rPr b="0" i="0" lang="es" sz="1682" u="none" cap="none" strike="noStrike">
                <a:solidFill>
                  <a:srgbClr val="595959"/>
                </a:solidFill>
                <a:latin typeface="Montserrat"/>
                <a:ea typeface="Montserrat"/>
                <a:cs typeface="Montserrat"/>
                <a:sym typeface="Montserrat"/>
              </a:rPr>
              <a:t>es similar a find, pero busca la última aparición.</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1"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1" i="0" sz="1682" u="none" cap="none" strike="noStrike">
              <a:solidFill>
                <a:srgbClr val="595959"/>
              </a:solidFill>
              <a:latin typeface="Montserrat"/>
              <a:ea typeface="Montserrat"/>
              <a:cs typeface="Montserrat"/>
              <a:sym typeface="Montserrat"/>
            </a:endParaRPr>
          </a:p>
        </p:txBody>
      </p:sp>
      <p:sp>
        <p:nvSpPr>
          <p:cNvPr id="353" name="Google Shape;353;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Búsquedas</a:t>
            </a:r>
            <a:endParaRPr/>
          </a:p>
        </p:txBody>
      </p:sp>
      <p:sp>
        <p:nvSpPr>
          <p:cNvPr id="354" name="Google Shape;354;p21"/>
          <p:cNvSpPr/>
          <p:nvPr/>
        </p:nvSpPr>
        <p:spPr>
          <a:xfrm>
            <a:off x="482425" y="3367200"/>
            <a:ext cx="3765300" cy="903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urier New"/>
                <a:ea typeface="Courier New"/>
                <a:cs typeface="Courier New"/>
                <a:sym typeface="Courier New"/>
              </a:rPr>
              <a:t>cad</a:t>
            </a:r>
            <a:r>
              <a:rPr b="0" i="0" lang="es" sz="1050" u="none" cap="none" strike="noStrike">
                <a:solidFill>
                  <a:srgbClr val="EE5D43"/>
                </a:solidFill>
                <a:highlight>
                  <a:srgbClr val="23262E"/>
                </a:highlight>
                <a:latin typeface="Courier New"/>
                <a:ea typeface="Courier New"/>
                <a:cs typeface="Courier New"/>
                <a:sym typeface="Courier New"/>
              </a:rPr>
              <a:t>=</a:t>
            </a:r>
            <a:r>
              <a:rPr b="0" i="0" lang="es" sz="1050" u="none" cap="none" strike="noStrike">
                <a:solidFill>
                  <a:srgbClr val="96E072"/>
                </a:solidFill>
                <a:highlight>
                  <a:srgbClr val="23262E"/>
                </a:highlight>
                <a:latin typeface="Courier New"/>
                <a:ea typeface="Courier New"/>
                <a:cs typeface="Courier New"/>
                <a:sym typeface="Courier New"/>
              </a:rPr>
              <a:t>"Codo a Codo"</a:t>
            </a:r>
            <a:endParaRPr b="0" i="0" sz="1050" u="none" cap="none" strike="noStrike">
              <a:solidFill>
                <a:srgbClr val="96E072"/>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urier New"/>
                <a:ea typeface="Courier New"/>
                <a:cs typeface="Courier New"/>
                <a:sym typeface="Courier New"/>
              </a:rPr>
              <a:t>pos</a:t>
            </a:r>
            <a:r>
              <a:rPr b="0" i="0" lang="es" sz="1050" u="none" cap="none" strike="noStrike">
                <a:solidFill>
                  <a:srgbClr val="EE5D43"/>
                </a:solidFill>
                <a:highlight>
                  <a:srgbClr val="23262E"/>
                </a:highlight>
                <a:latin typeface="Courier New"/>
                <a:ea typeface="Courier New"/>
                <a:cs typeface="Courier New"/>
                <a:sym typeface="Courier New"/>
              </a:rPr>
              <a:t>=</a:t>
            </a:r>
            <a:r>
              <a:rPr b="0" i="0" lang="es" sz="1050" u="none" cap="none" strike="noStrike">
                <a:solidFill>
                  <a:srgbClr val="D5CED9"/>
                </a:solidFill>
                <a:highlight>
                  <a:srgbClr val="23262E"/>
                </a:highlight>
                <a:latin typeface="Courier New"/>
                <a:ea typeface="Courier New"/>
                <a:cs typeface="Courier New"/>
                <a:sym typeface="Courier New"/>
              </a:rPr>
              <a:t> cad.</a:t>
            </a:r>
            <a:r>
              <a:rPr b="0" i="0" lang="es" sz="1050" u="none" cap="none" strike="noStrike">
                <a:solidFill>
                  <a:srgbClr val="FFE66D"/>
                </a:solidFill>
                <a:highlight>
                  <a:srgbClr val="23262E"/>
                </a:highlight>
                <a:latin typeface="Courier New"/>
                <a:ea typeface="Courier New"/>
                <a:cs typeface="Courier New"/>
                <a:sym typeface="Courier New"/>
              </a:rPr>
              <a:t>find</a:t>
            </a:r>
            <a:r>
              <a:rPr b="0" i="0" lang="es" sz="1050" u="none" cap="none" strike="noStrike">
                <a:solidFill>
                  <a:srgbClr val="D5CED9"/>
                </a:solidFill>
                <a:highlight>
                  <a:srgbClr val="23262E"/>
                </a:highlight>
                <a:latin typeface="Courier New"/>
                <a:ea typeface="Courier New"/>
                <a:cs typeface="Courier New"/>
                <a:sym typeface="Courier New"/>
              </a:rPr>
              <a:t>(</a:t>
            </a:r>
            <a:r>
              <a:rPr b="0" i="0" lang="es" sz="1050" u="none" cap="none" strike="noStrike">
                <a:solidFill>
                  <a:srgbClr val="96E072"/>
                </a:solidFill>
                <a:highlight>
                  <a:srgbClr val="23262E"/>
                </a:highlight>
                <a:latin typeface="Courier New"/>
                <a:ea typeface="Courier New"/>
                <a:cs typeface="Courier New"/>
                <a:sym typeface="Courier New"/>
              </a:rPr>
              <a:t>"Codo"</a:t>
            </a:r>
            <a:r>
              <a:rPr b="0" i="0" lang="es" sz="1050" u="none" cap="none" strike="noStrike">
                <a:solidFill>
                  <a:srgbClr val="D5CED9"/>
                </a:solidFill>
                <a:highlight>
                  <a:srgbClr val="23262E"/>
                </a:highlight>
                <a:latin typeface="Courier New"/>
                <a:ea typeface="Courier New"/>
                <a:cs typeface="Courier New"/>
                <a:sym typeface="Courier New"/>
              </a:rPr>
              <a:t>)</a:t>
            </a:r>
            <a:endParaRPr b="0" i="0" sz="105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urier New"/>
                <a:ea typeface="Courier New"/>
                <a:cs typeface="Courier New"/>
                <a:sym typeface="Courier New"/>
              </a:rPr>
              <a:t>print</a:t>
            </a:r>
            <a:r>
              <a:rPr b="0" i="0" lang="es" sz="1050" u="none" cap="none" strike="noStrike">
                <a:solidFill>
                  <a:srgbClr val="D5CED9"/>
                </a:solidFill>
                <a:highlight>
                  <a:srgbClr val="23262E"/>
                </a:highlight>
                <a:latin typeface="Courier New"/>
                <a:ea typeface="Courier New"/>
                <a:cs typeface="Courier New"/>
                <a:sym typeface="Courier New"/>
              </a:rPr>
              <a:t>(pos) </a:t>
            </a:r>
            <a:r>
              <a:rPr b="0" i="0" lang="es" sz="1050" u="none" cap="none" strike="noStrike">
                <a:solidFill>
                  <a:srgbClr val="5F6167"/>
                </a:solidFill>
                <a:highlight>
                  <a:srgbClr val="23262E"/>
                </a:highlight>
                <a:latin typeface="Courier New"/>
                <a:ea typeface="Courier New"/>
                <a:cs typeface="Courier New"/>
                <a:sym typeface="Courier New"/>
              </a:rPr>
              <a:t># 0</a:t>
            </a:r>
            <a:endParaRPr b="0" i="0" sz="1050" u="none" cap="none" strike="noStrike">
              <a:solidFill>
                <a:srgbClr val="5F6167"/>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55" name="Google Shape;355;p21"/>
          <p:cNvSpPr/>
          <p:nvPr/>
        </p:nvSpPr>
        <p:spPr>
          <a:xfrm>
            <a:off x="482425" y="3138300"/>
            <a:ext cx="3765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.find()</a:t>
            </a:r>
            <a:endParaRPr b="0" i="0" sz="1400" u="none" cap="none" strike="noStrike">
              <a:solidFill>
                <a:schemeClr val="dk2"/>
              </a:solidFill>
              <a:latin typeface="Montserrat"/>
              <a:ea typeface="Montserrat"/>
              <a:cs typeface="Montserrat"/>
              <a:sym typeface="Montserrat"/>
            </a:endParaRPr>
          </a:p>
        </p:txBody>
      </p:sp>
      <p:sp>
        <p:nvSpPr>
          <p:cNvPr id="356" name="Google Shape;356;p21"/>
          <p:cNvSpPr/>
          <p:nvPr/>
        </p:nvSpPr>
        <p:spPr>
          <a:xfrm>
            <a:off x="4878875" y="3367125"/>
            <a:ext cx="3765300" cy="903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urier New"/>
                <a:ea typeface="Courier New"/>
                <a:cs typeface="Courier New"/>
                <a:sym typeface="Courier New"/>
              </a:rPr>
              <a:t>cad</a:t>
            </a:r>
            <a:r>
              <a:rPr b="0" i="0" lang="es" sz="1050" u="none" cap="none" strike="noStrike">
                <a:solidFill>
                  <a:srgbClr val="EE5D43"/>
                </a:solidFill>
                <a:highlight>
                  <a:srgbClr val="23262E"/>
                </a:highlight>
                <a:latin typeface="Courier New"/>
                <a:ea typeface="Courier New"/>
                <a:cs typeface="Courier New"/>
                <a:sym typeface="Courier New"/>
              </a:rPr>
              <a:t>=</a:t>
            </a:r>
            <a:r>
              <a:rPr b="0" i="0" lang="es" sz="1050" u="none" cap="none" strike="noStrike">
                <a:solidFill>
                  <a:srgbClr val="96E072"/>
                </a:solidFill>
                <a:highlight>
                  <a:srgbClr val="23262E"/>
                </a:highlight>
                <a:latin typeface="Courier New"/>
                <a:ea typeface="Courier New"/>
                <a:cs typeface="Courier New"/>
                <a:sym typeface="Courier New"/>
              </a:rPr>
              <a:t>"Codo a Codo"</a:t>
            </a:r>
            <a:endParaRPr b="0" i="0" sz="1050" u="none" cap="none" strike="noStrike">
              <a:solidFill>
                <a:srgbClr val="96E072"/>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urier New"/>
                <a:ea typeface="Courier New"/>
                <a:cs typeface="Courier New"/>
                <a:sym typeface="Courier New"/>
              </a:rPr>
              <a:t>pos</a:t>
            </a:r>
            <a:r>
              <a:rPr b="0" i="0" lang="es" sz="1050" u="none" cap="none" strike="noStrike">
                <a:solidFill>
                  <a:srgbClr val="EE5D43"/>
                </a:solidFill>
                <a:highlight>
                  <a:srgbClr val="23262E"/>
                </a:highlight>
                <a:latin typeface="Courier New"/>
                <a:ea typeface="Courier New"/>
                <a:cs typeface="Courier New"/>
                <a:sym typeface="Courier New"/>
              </a:rPr>
              <a:t>=</a:t>
            </a:r>
            <a:r>
              <a:rPr b="0" i="0" lang="es" sz="1050" u="none" cap="none" strike="noStrike">
                <a:solidFill>
                  <a:srgbClr val="D5CED9"/>
                </a:solidFill>
                <a:highlight>
                  <a:srgbClr val="23262E"/>
                </a:highlight>
                <a:latin typeface="Courier New"/>
                <a:ea typeface="Courier New"/>
                <a:cs typeface="Courier New"/>
                <a:sym typeface="Courier New"/>
              </a:rPr>
              <a:t> cad.</a:t>
            </a:r>
            <a:r>
              <a:rPr b="0" i="0" lang="es" sz="1050" u="none" cap="none" strike="noStrike">
                <a:solidFill>
                  <a:srgbClr val="FFE66D"/>
                </a:solidFill>
                <a:highlight>
                  <a:srgbClr val="23262E"/>
                </a:highlight>
                <a:latin typeface="Courier New"/>
                <a:ea typeface="Courier New"/>
                <a:cs typeface="Courier New"/>
                <a:sym typeface="Courier New"/>
              </a:rPr>
              <a:t>rfind</a:t>
            </a:r>
            <a:r>
              <a:rPr b="0" i="0" lang="es" sz="1050" u="none" cap="none" strike="noStrike">
                <a:solidFill>
                  <a:srgbClr val="D5CED9"/>
                </a:solidFill>
                <a:highlight>
                  <a:srgbClr val="23262E"/>
                </a:highlight>
                <a:latin typeface="Courier New"/>
                <a:ea typeface="Courier New"/>
                <a:cs typeface="Courier New"/>
                <a:sym typeface="Courier New"/>
              </a:rPr>
              <a:t>(</a:t>
            </a:r>
            <a:r>
              <a:rPr b="0" i="0" lang="es" sz="1050" u="none" cap="none" strike="noStrike">
                <a:solidFill>
                  <a:srgbClr val="96E072"/>
                </a:solidFill>
                <a:highlight>
                  <a:srgbClr val="23262E"/>
                </a:highlight>
                <a:latin typeface="Courier New"/>
                <a:ea typeface="Courier New"/>
                <a:cs typeface="Courier New"/>
                <a:sym typeface="Courier New"/>
              </a:rPr>
              <a:t>"Codo"</a:t>
            </a:r>
            <a:r>
              <a:rPr b="0" i="0" lang="es" sz="1050" u="none" cap="none" strike="noStrike">
                <a:solidFill>
                  <a:srgbClr val="D5CED9"/>
                </a:solidFill>
                <a:highlight>
                  <a:srgbClr val="23262E"/>
                </a:highlight>
                <a:latin typeface="Courier New"/>
                <a:ea typeface="Courier New"/>
                <a:cs typeface="Courier New"/>
                <a:sym typeface="Courier New"/>
              </a:rPr>
              <a:t>)</a:t>
            </a:r>
            <a:endParaRPr b="0" i="0" sz="105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urier New"/>
                <a:ea typeface="Courier New"/>
                <a:cs typeface="Courier New"/>
                <a:sym typeface="Courier New"/>
              </a:rPr>
              <a:t>print</a:t>
            </a:r>
            <a:r>
              <a:rPr b="0" i="0" lang="es" sz="1050" u="none" cap="none" strike="noStrike">
                <a:solidFill>
                  <a:srgbClr val="D5CED9"/>
                </a:solidFill>
                <a:highlight>
                  <a:srgbClr val="23262E"/>
                </a:highlight>
                <a:latin typeface="Courier New"/>
                <a:ea typeface="Courier New"/>
                <a:cs typeface="Courier New"/>
                <a:sym typeface="Courier New"/>
              </a:rPr>
              <a:t>(pos) </a:t>
            </a:r>
            <a:r>
              <a:rPr b="0" i="0" lang="es" sz="1050" u="none" cap="none" strike="noStrike">
                <a:solidFill>
                  <a:srgbClr val="5F6167"/>
                </a:solidFill>
                <a:highlight>
                  <a:srgbClr val="23262E"/>
                </a:highlight>
                <a:latin typeface="Courier New"/>
                <a:ea typeface="Courier New"/>
                <a:cs typeface="Courier New"/>
                <a:sym typeface="Courier New"/>
              </a:rPr>
              <a:t># 7</a:t>
            </a:r>
            <a:endParaRPr b="0" i="0" sz="1050" u="none" cap="none" strike="noStrike">
              <a:solidFill>
                <a:srgbClr val="5F6167"/>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57" name="Google Shape;357;p21"/>
          <p:cNvSpPr/>
          <p:nvPr/>
        </p:nvSpPr>
        <p:spPr>
          <a:xfrm>
            <a:off x="4878875" y="3138300"/>
            <a:ext cx="3765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.rfind()</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2"/>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f-Strings</a:t>
            </a:r>
            <a:r>
              <a:rPr b="0" i="0" lang="es" sz="1682" u="none" cap="none" strike="noStrike">
                <a:solidFill>
                  <a:srgbClr val="595959"/>
                </a:solidFill>
                <a:latin typeface="Montserrat"/>
                <a:ea typeface="Montserrat"/>
                <a:cs typeface="Montserrat"/>
                <a:sym typeface="Montserrat"/>
              </a:rPr>
              <a:t> tiene una sintaxis simple y fluida que simplifica la tarea de dar formato a cadenas de texto. Para mostrar variables se coloca el nombre de las variables entre llaves {}, en una cadena que antepone </a:t>
            </a:r>
            <a:r>
              <a:rPr b="1" i="0" lang="es" sz="1682" u="none" cap="none" strike="noStrike">
                <a:solidFill>
                  <a:srgbClr val="595959"/>
                </a:solidFill>
                <a:latin typeface="Montserrat"/>
                <a:ea typeface="Montserrat"/>
                <a:cs typeface="Montserrat"/>
                <a:sym typeface="Montserrat"/>
              </a:rPr>
              <a:t>f </a:t>
            </a:r>
            <a:r>
              <a:rPr b="0" i="0" lang="es" sz="1682" u="none" cap="none" strike="noStrike">
                <a:solidFill>
                  <a:srgbClr val="595959"/>
                </a:solidFill>
                <a:latin typeface="Montserrat"/>
                <a:ea typeface="Montserrat"/>
                <a:cs typeface="Montserrat"/>
                <a:sym typeface="Montserrat"/>
              </a:rPr>
              <a:t>a su contenido. Al ejecutar el código, todos los nombres de las variables se reemplazan por sus respectivos valores:</a:t>
            </a:r>
            <a:endParaRPr b="1"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1" i="0" sz="1682" u="none" cap="none" strike="noStrike">
              <a:solidFill>
                <a:srgbClr val="595959"/>
              </a:solidFill>
              <a:latin typeface="Montserrat"/>
              <a:ea typeface="Montserrat"/>
              <a:cs typeface="Montserrat"/>
              <a:sym typeface="Montserrat"/>
            </a:endParaRPr>
          </a:p>
        </p:txBody>
      </p:sp>
      <p:sp>
        <p:nvSpPr>
          <p:cNvPr id="363" name="Google Shape;363;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f-Strings</a:t>
            </a:r>
            <a:endParaRPr/>
          </a:p>
        </p:txBody>
      </p:sp>
      <p:sp>
        <p:nvSpPr>
          <p:cNvPr id="364" name="Google Shape;364;p22"/>
          <p:cNvSpPr/>
          <p:nvPr/>
        </p:nvSpPr>
        <p:spPr>
          <a:xfrm>
            <a:off x="1679175" y="3143225"/>
            <a:ext cx="5785800" cy="1096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legajo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12212</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"María"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nota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10</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"Legajo: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legajo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Nota: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nota</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Legajo: 12212 Nombre: María Nota: 10</a:t>
            </a:r>
            <a:endParaRPr b="0" i="0" sz="1200" u="none" cap="none" strike="noStrike">
              <a:solidFill>
                <a:srgbClr val="D5CED9"/>
              </a:solidFill>
              <a:highlight>
                <a:srgbClr val="23262E"/>
              </a:highlight>
              <a:latin typeface="Consolas"/>
              <a:ea typeface="Consolas"/>
              <a:cs typeface="Consolas"/>
              <a:sym typeface="Consolas"/>
            </a:endParaRPr>
          </a:p>
        </p:txBody>
      </p:sp>
      <p:sp>
        <p:nvSpPr>
          <p:cNvPr id="365" name="Google Shape;365;p22"/>
          <p:cNvSpPr/>
          <p:nvPr/>
        </p:nvSpPr>
        <p:spPr>
          <a:xfrm>
            <a:off x="1679025" y="2914325"/>
            <a:ext cx="5785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f-Strings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3"/>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Listas</a:t>
            </a:r>
            <a:endParaRPr/>
          </a:p>
        </p:txBody>
      </p:sp>
      <p:sp>
        <p:nvSpPr>
          <p:cNvPr id="371" name="Google Shape;371;p23"/>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1700"/>
              <a:buNone/>
            </a:pPr>
            <a:r>
              <a:rPr lang="es"/>
              <a:t>Una </a:t>
            </a:r>
            <a:r>
              <a:rPr b="1" lang="es">
                <a:latin typeface="Montserrat"/>
                <a:ea typeface="Montserrat"/>
                <a:cs typeface="Montserrat"/>
                <a:sym typeface="Montserrat"/>
              </a:rPr>
              <a:t>lista</a:t>
            </a:r>
            <a:r>
              <a:rPr lang="es"/>
              <a:t> es una secuencia ordenada de elementos. Pueden tener elementos del mismo tipo o combinar distintos tipos de datos, aunque esto último es poco frecuente.</a:t>
            </a:r>
            <a:endParaRPr/>
          </a:p>
          <a:p>
            <a:pPr indent="0" lvl="0" marL="0" rtl="0" algn="l">
              <a:lnSpc>
                <a:spcPct val="100000"/>
              </a:lnSpc>
              <a:spcBef>
                <a:spcPts val="0"/>
              </a:spcBef>
              <a:spcAft>
                <a:spcPts val="0"/>
              </a:spcAft>
              <a:buSzPts val="1700"/>
              <a:buNone/>
            </a:pPr>
            <a:r>
              <a:t/>
            </a:r>
            <a:endParaRPr/>
          </a:p>
          <a:p>
            <a:pPr indent="0" lvl="0" marL="0" rtl="0" algn="l">
              <a:lnSpc>
                <a:spcPct val="100000"/>
              </a:lnSpc>
              <a:spcBef>
                <a:spcPts val="0"/>
              </a:spcBef>
              <a:spcAft>
                <a:spcPts val="0"/>
              </a:spcAft>
              <a:buSzPts val="1700"/>
              <a:buNone/>
            </a:pPr>
            <a:r>
              <a:rPr lang="es"/>
              <a:t>Las listas en Python son un </a:t>
            </a:r>
            <a:r>
              <a:rPr b="1" lang="es">
                <a:latin typeface="Montserrat"/>
                <a:ea typeface="Montserrat"/>
                <a:cs typeface="Montserrat"/>
                <a:sym typeface="Montserrat"/>
              </a:rPr>
              <a:t>tipo contenedor</a:t>
            </a:r>
            <a:r>
              <a:rPr lang="es"/>
              <a:t>, compuesto, y se usan para almacenar conjuntos de elementos relacionados.</a:t>
            </a:r>
            <a:endParaRPr/>
          </a:p>
          <a:p>
            <a:pPr indent="0" lvl="0" marL="0" rtl="0" algn="l">
              <a:lnSpc>
                <a:spcPct val="100000"/>
              </a:lnSpc>
              <a:spcBef>
                <a:spcPts val="0"/>
              </a:spcBef>
              <a:spcAft>
                <a:spcPts val="0"/>
              </a:spcAft>
              <a:buSzPts val="1700"/>
              <a:buNone/>
            </a:pPr>
            <a:r>
              <a:t/>
            </a:r>
            <a:endParaRPr/>
          </a:p>
          <a:p>
            <a:pPr indent="0" lvl="0" marL="0" rtl="0" algn="l">
              <a:lnSpc>
                <a:spcPct val="100000"/>
              </a:lnSpc>
              <a:spcBef>
                <a:spcPts val="0"/>
              </a:spcBef>
              <a:spcAft>
                <a:spcPts val="0"/>
              </a:spcAft>
              <a:buSzPts val="1700"/>
              <a:buNone/>
            </a:pPr>
            <a:r>
              <a:rPr lang="es"/>
              <a:t>Junto a las </a:t>
            </a:r>
            <a:r>
              <a:rPr b="1" lang="es">
                <a:latin typeface="Montserrat"/>
                <a:ea typeface="Montserrat"/>
                <a:cs typeface="Montserrat"/>
                <a:sym typeface="Montserrat"/>
              </a:rPr>
              <a:t>tuplas</a:t>
            </a:r>
            <a:r>
              <a:rPr lang="es"/>
              <a:t>, </a:t>
            </a:r>
            <a:r>
              <a:rPr b="1" lang="es">
                <a:latin typeface="Montserrat"/>
                <a:ea typeface="Montserrat"/>
                <a:cs typeface="Montserrat"/>
                <a:sym typeface="Montserrat"/>
              </a:rPr>
              <a:t>diccionarios y conjuntos</a:t>
            </a:r>
            <a:r>
              <a:rPr lang="es"/>
              <a:t>, constituyen uno de los tipos de datos más versátiles del lenguaje, con la particularidad de ser mutables. Esto último quiere decir que su contenido se puede modificar después de haber sido creadas.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a:t>
            </a:r>
            <a:endParaRPr/>
          </a:p>
        </p:txBody>
      </p:sp>
      <p:sp>
        <p:nvSpPr>
          <p:cNvPr id="377" name="Google Shape;377;p24"/>
          <p:cNvSpPr txBox="1"/>
          <p:nvPr/>
        </p:nvSpPr>
        <p:spPr>
          <a:xfrm>
            <a:off x="436425" y="1281700"/>
            <a:ext cx="8279700" cy="11169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Las listas se crean asignando a una variable una secuencia de elementos encerrados entre corchetes [ ] y separados por comas. Se puede crear una lista  vacía, y las listas pueden ser elementos de otras listas:</a:t>
            </a:r>
            <a:endParaRPr b="0" i="0" sz="1682" u="none" cap="none" strike="noStrike">
              <a:solidFill>
                <a:srgbClr val="595959"/>
              </a:solidFill>
              <a:latin typeface="Montserrat"/>
              <a:ea typeface="Montserrat"/>
              <a:cs typeface="Montserrat"/>
              <a:sym typeface="Montserrat"/>
            </a:endParaRPr>
          </a:p>
        </p:txBody>
      </p:sp>
      <p:sp>
        <p:nvSpPr>
          <p:cNvPr id="378" name="Google Shape;378;p24"/>
          <p:cNvSpPr/>
          <p:nvPr/>
        </p:nvSpPr>
        <p:spPr>
          <a:xfrm>
            <a:off x="1148550" y="2627520"/>
            <a:ext cx="6829500" cy="971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numeros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#Lista de números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dias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"Lunes"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"Martes"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"Miércoles"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#Lista de strings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elementos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 </a:t>
            </a:r>
            <a:r>
              <a:rPr b="0" i="0" lang="es" sz="1200" u="none" cap="none" strike="noStrike">
                <a:solidFill>
                  <a:srgbClr val="5F6167"/>
                </a:solidFill>
                <a:highlight>
                  <a:srgbClr val="23262E"/>
                </a:highlight>
                <a:latin typeface="Consolas"/>
                <a:ea typeface="Consolas"/>
                <a:cs typeface="Consolas"/>
                <a:sym typeface="Consolas"/>
              </a:rPr>
              <a:t>#Lista vacía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sublistas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 [</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 lista de listas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79" name="Google Shape;379;p24"/>
          <p:cNvSpPr/>
          <p:nvPr/>
        </p:nvSpPr>
        <p:spPr>
          <a:xfrm>
            <a:off x="1148550" y="2398613"/>
            <a:ext cx="6829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Creación de listas:</a:t>
            </a:r>
            <a:endParaRPr b="0" i="0" sz="1400" u="none" cap="none" strike="noStrike">
              <a:solidFill>
                <a:schemeClr val="dk2"/>
              </a:solidFill>
              <a:latin typeface="Montserrat"/>
              <a:ea typeface="Montserrat"/>
              <a:cs typeface="Montserrat"/>
              <a:sym typeface="Montserrat"/>
            </a:endParaRPr>
          </a:p>
        </p:txBody>
      </p:sp>
      <p:sp>
        <p:nvSpPr>
          <p:cNvPr id="380" name="Google Shape;380;p24"/>
          <p:cNvSpPr txBox="1"/>
          <p:nvPr/>
        </p:nvSpPr>
        <p:spPr>
          <a:xfrm>
            <a:off x="423450" y="3598925"/>
            <a:ext cx="8279700" cy="6729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Las listas se suelen nombrar en plural.  Para incluir una lista como parte de otra, basta con incluirla separada por comas de los otros elementos.</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Acceso por subíndice</a:t>
            </a:r>
            <a:endParaRPr/>
          </a:p>
        </p:txBody>
      </p:sp>
      <p:sp>
        <p:nvSpPr>
          <p:cNvPr id="386" name="Google Shape;386;p25"/>
          <p:cNvSpPr txBox="1"/>
          <p:nvPr/>
        </p:nvSpPr>
        <p:spPr>
          <a:xfrm>
            <a:off x="436425" y="1281700"/>
            <a:ext cx="8279700" cy="33288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Las listas se pueden imprimir directamente, y el acceso a sus elementos se hace mediante subíndices. El primer elemento tiene subíndice cero. Un subíndice negativo hace que la cuenta comience desde atrás. Un subíndice fuera de rango genera un error:</a:t>
            </a:r>
            <a:r>
              <a:rPr b="1" i="0" lang="es" sz="1682" u="none" cap="none" strike="noStrike">
                <a:solidFill>
                  <a:srgbClr val="595959"/>
                </a:solidFill>
                <a:latin typeface="Montserrat"/>
                <a:ea typeface="Montserrat"/>
                <a:cs typeface="Montserrat"/>
                <a:sym typeface="Montserrat"/>
              </a:rPr>
              <a:t> out of range</a:t>
            </a:r>
            <a:endParaRPr b="1" i="0" sz="1682" u="none" cap="none" strike="noStrike">
              <a:solidFill>
                <a:srgbClr val="595959"/>
              </a:solidFill>
              <a:latin typeface="Montserrat"/>
              <a:ea typeface="Montserrat"/>
              <a:cs typeface="Montserrat"/>
              <a:sym typeface="Montserrat"/>
            </a:endParaRPr>
          </a:p>
        </p:txBody>
      </p:sp>
      <p:sp>
        <p:nvSpPr>
          <p:cNvPr id="387" name="Google Shape;387;p25"/>
          <p:cNvSpPr/>
          <p:nvPr/>
        </p:nvSpPr>
        <p:spPr>
          <a:xfrm>
            <a:off x="630975" y="2977025"/>
            <a:ext cx="3897000" cy="1368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dias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"Lunes"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"Martes"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"Miércoles"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(dias)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(dias[</a:t>
            </a:r>
            <a:r>
              <a:rPr b="0" i="0" lang="es" sz="1200" u="none" cap="none" strike="noStrike">
                <a:solidFill>
                  <a:srgbClr val="F39C12"/>
                </a:solidFill>
                <a:highlight>
                  <a:srgbClr val="23262E"/>
                </a:highlight>
                <a:latin typeface="Consolas"/>
                <a:ea typeface="Consolas"/>
                <a:cs typeface="Consolas"/>
                <a:sym typeface="Consolas"/>
              </a:rPr>
              <a:t>0</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(dias[</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(dias[</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(dias[</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FFE66D"/>
              </a:solidFill>
              <a:highlight>
                <a:srgbClr val="23262E"/>
              </a:highlight>
              <a:latin typeface="Consolas"/>
              <a:ea typeface="Consolas"/>
              <a:cs typeface="Consolas"/>
              <a:sym typeface="Consolas"/>
            </a:endParaRPr>
          </a:p>
        </p:txBody>
      </p:sp>
      <p:sp>
        <p:nvSpPr>
          <p:cNvPr id="388" name="Google Shape;388;p25"/>
          <p:cNvSpPr/>
          <p:nvPr/>
        </p:nvSpPr>
        <p:spPr>
          <a:xfrm>
            <a:off x="630975" y="2748125"/>
            <a:ext cx="3897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Acceso por subíndice:</a:t>
            </a:r>
            <a:endParaRPr b="0" i="0" sz="1400" u="none" cap="none" strike="noStrike">
              <a:solidFill>
                <a:schemeClr val="dk2"/>
              </a:solidFill>
              <a:latin typeface="Montserrat"/>
              <a:ea typeface="Montserrat"/>
              <a:cs typeface="Montserrat"/>
              <a:sym typeface="Montserrat"/>
            </a:endParaRPr>
          </a:p>
        </p:txBody>
      </p:sp>
      <p:sp>
        <p:nvSpPr>
          <p:cNvPr id="389" name="Google Shape;389;p25"/>
          <p:cNvSpPr/>
          <p:nvPr/>
        </p:nvSpPr>
        <p:spPr>
          <a:xfrm>
            <a:off x="4616025" y="2977025"/>
            <a:ext cx="3897000" cy="1368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['Lunes', 'Martes', 'Miércoles']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Lunes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Martes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Miércoles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IndexError: list index out of range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90" name="Google Shape;390;p25"/>
          <p:cNvSpPr/>
          <p:nvPr/>
        </p:nvSpPr>
        <p:spPr>
          <a:xfrm>
            <a:off x="4616025" y="2748125"/>
            <a:ext cx="3897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6"/>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790"/>
              <a:buFont typeface="Arial"/>
              <a:buNone/>
            </a:pPr>
            <a:r>
              <a:rPr b="0" i="0" lang="es" sz="1790" u="none" cap="none" strike="noStrike">
                <a:solidFill>
                  <a:srgbClr val="595959"/>
                </a:solidFill>
                <a:latin typeface="Montserrat"/>
                <a:ea typeface="Montserrat"/>
                <a:cs typeface="Montserrat"/>
                <a:sym typeface="Montserrat"/>
              </a:rPr>
              <a:t>Es posible recorrer una lista utilizando </a:t>
            </a:r>
            <a:r>
              <a:rPr b="1" i="0" lang="es" sz="1790" u="none" cap="none" strike="noStrike">
                <a:solidFill>
                  <a:srgbClr val="595959"/>
                </a:solidFill>
                <a:latin typeface="Montserrat"/>
                <a:ea typeface="Montserrat"/>
                <a:cs typeface="Montserrat"/>
                <a:sym typeface="Montserrat"/>
              </a:rPr>
              <a:t>for</a:t>
            </a:r>
            <a:r>
              <a:rPr b="0" i="0" lang="es" sz="1790" u="none" cap="none" strike="noStrike">
                <a:solidFill>
                  <a:srgbClr val="595959"/>
                </a:solidFill>
                <a:latin typeface="Montserrat"/>
                <a:ea typeface="Montserrat"/>
                <a:cs typeface="Montserrat"/>
                <a:sym typeface="Montserrat"/>
              </a:rPr>
              <a:t> y range o </a:t>
            </a:r>
            <a:r>
              <a:rPr b="1" i="0" lang="es" sz="1790" u="none" cap="none" strike="noStrike">
                <a:solidFill>
                  <a:srgbClr val="595959"/>
                </a:solidFill>
                <a:latin typeface="Montserrat"/>
                <a:ea typeface="Montserrat"/>
                <a:cs typeface="Montserrat"/>
                <a:sym typeface="Montserrat"/>
              </a:rPr>
              <a:t>while</a:t>
            </a:r>
            <a:r>
              <a:rPr b="0" i="0" lang="es" sz="1790" u="none" cap="none" strike="noStrike">
                <a:solidFill>
                  <a:srgbClr val="595959"/>
                </a:solidFill>
                <a:latin typeface="Montserrat"/>
                <a:ea typeface="Montserrat"/>
                <a:cs typeface="Montserrat"/>
                <a:sym typeface="Montserrat"/>
              </a:rPr>
              <a:t> para generar la secuencia de índices:</a:t>
            </a:r>
            <a:endParaRPr b="1" i="0" sz="1682" u="none" cap="none" strike="noStrike">
              <a:solidFill>
                <a:srgbClr val="595959"/>
              </a:solidFill>
              <a:latin typeface="Montserrat"/>
              <a:ea typeface="Montserrat"/>
              <a:cs typeface="Montserrat"/>
              <a:sym typeface="Montserrat"/>
            </a:endParaRPr>
          </a:p>
        </p:txBody>
      </p:sp>
      <p:sp>
        <p:nvSpPr>
          <p:cNvPr id="396" name="Google Shape;396;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Recorrer listas con for y while</a:t>
            </a:r>
            <a:endParaRPr/>
          </a:p>
        </p:txBody>
      </p:sp>
      <p:sp>
        <p:nvSpPr>
          <p:cNvPr id="397" name="Google Shape;397;p26"/>
          <p:cNvSpPr/>
          <p:nvPr/>
        </p:nvSpPr>
        <p:spPr>
          <a:xfrm>
            <a:off x="1375062" y="2377075"/>
            <a:ext cx="3111600" cy="1500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suma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0</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range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len</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suma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suma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lista[i]</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(suma) </a:t>
            </a:r>
            <a:r>
              <a:rPr b="0" i="0" lang="es" sz="1200" u="none" cap="none" strike="noStrike">
                <a:solidFill>
                  <a:srgbClr val="5F6167"/>
                </a:solidFill>
                <a:highlight>
                  <a:srgbClr val="23262E"/>
                </a:highlight>
                <a:latin typeface="Consolas"/>
                <a:ea typeface="Consolas"/>
                <a:cs typeface="Consolas"/>
                <a:sym typeface="Consolas"/>
              </a:rPr>
              <a:t># 20</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398" name="Google Shape;398;p26"/>
          <p:cNvSpPr/>
          <p:nvPr/>
        </p:nvSpPr>
        <p:spPr>
          <a:xfrm>
            <a:off x="1375063" y="2148175"/>
            <a:ext cx="3111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For con listas</a:t>
            </a:r>
            <a:endParaRPr b="0" i="0" sz="1400" u="none" cap="none" strike="noStrike">
              <a:solidFill>
                <a:schemeClr val="dk2"/>
              </a:solidFill>
              <a:latin typeface="Montserrat"/>
              <a:ea typeface="Montserrat"/>
              <a:cs typeface="Montserrat"/>
              <a:sym typeface="Montserrat"/>
            </a:endParaRPr>
          </a:p>
        </p:txBody>
      </p:sp>
      <p:sp>
        <p:nvSpPr>
          <p:cNvPr id="399" name="Google Shape;399;p26"/>
          <p:cNvSpPr/>
          <p:nvPr/>
        </p:nvSpPr>
        <p:spPr>
          <a:xfrm>
            <a:off x="4657337" y="2377075"/>
            <a:ext cx="3111600" cy="1500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suma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0</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i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0</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while</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EE5D43"/>
                </a:solidFill>
                <a:highlight>
                  <a:srgbClr val="23262E"/>
                </a:highlight>
                <a:latin typeface="Consolas"/>
                <a:ea typeface="Consolas"/>
                <a:cs typeface="Consolas"/>
                <a:sym typeface="Consolas"/>
              </a:rPr>
              <a:t>&lt;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len</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suma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suma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lista[i]</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(suma) </a:t>
            </a:r>
            <a:r>
              <a:rPr b="0" i="0" lang="es" sz="1200" u="none" cap="none" strike="noStrike">
                <a:solidFill>
                  <a:srgbClr val="5F6167"/>
                </a:solidFill>
                <a:highlight>
                  <a:srgbClr val="23262E"/>
                </a:highlight>
                <a:latin typeface="Consolas"/>
                <a:ea typeface="Consolas"/>
                <a:cs typeface="Consolas"/>
                <a:sym typeface="Consolas"/>
              </a:rPr>
              <a:t># 20</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00" name="Google Shape;400;p26"/>
          <p:cNvSpPr/>
          <p:nvPr/>
        </p:nvSpPr>
        <p:spPr>
          <a:xfrm>
            <a:off x="4657338" y="2148175"/>
            <a:ext cx="3111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For con while</a:t>
            </a:r>
            <a:endParaRPr b="0" i="0" sz="1400" u="none" cap="none" strike="noStrike">
              <a:solidFill>
                <a:schemeClr val="dk2"/>
              </a:solidFill>
              <a:latin typeface="Montserrat"/>
              <a:ea typeface="Montserrat"/>
              <a:cs typeface="Montserrat"/>
              <a:sym typeface="Montserrat"/>
            </a:endParaRPr>
          </a:p>
        </p:txBody>
      </p:sp>
      <p:sp>
        <p:nvSpPr>
          <p:cNvPr id="401" name="Google Shape;401;p26"/>
          <p:cNvSpPr txBox="1"/>
          <p:nvPr/>
        </p:nvSpPr>
        <p:spPr>
          <a:xfrm>
            <a:off x="423450" y="3877075"/>
            <a:ext cx="8279700" cy="6729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1" i="0" lang="es" sz="1650" u="none" cap="none" strike="noStrike">
                <a:solidFill>
                  <a:schemeClr val="dk2"/>
                </a:solidFill>
                <a:latin typeface="Montserrat"/>
                <a:ea typeface="Montserrat"/>
                <a:cs typeface="Montserrat"/>
                <a:sym typeface="Montserrat"/>
              </a:rPr>
              <a:t>len(lista)</a:t>
            </a:r>
            <a:r>
              <a:rPr b="0" i="0" lang="es" sz="1650" u="none" cap="none" strike="noStrike">
                <a:solidFill>
                  <a:schemeClr val="dk2"/>
                </a:solidFill>
                <a:latin typeface="Montserrat"/>
                <a:ea typeface="Montserrat"/>
                <a:cs typeface="Montserrat"/>
                <a:sym typeface="Montserrat"/>
              </a:rPr>
              <a:t> retorna la cantidad de elementos que posee una lista  y resulta muy útil, entre otras cosas, para determinar la cantidad de ciclos de un bucle.</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7"/>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790"/>
              <a:buFont typeface="Arial"/>
              <a:buNone/>
            </a:pPr>
            <a:r>
              <a:rPr b="0" i="0" lang="es" sz="1790" u="none" cap="none" strike="noStrike">
                <a:solidFill>
                  <a:srgbClr val="595959"/>
                </a:solidFill>
                <a:latin typeface="Montserrat"/>
                <a:ea typeface="Montserrat"/>
                <a:cs typeface="Montserrat"/>
                <a:sym typeface="Montserrat"/>
              </a:rPr>
              <a:t>También se puede iterar en forma directa los elementos de la lista, sin necesidad de generar la secuencia de subíndices. En este caso la variable </a:t>
            </a:r>
            <a:r>
              <a:rPr b="1" i="0" lang="es" sz="1790" u="none" cap="none" strike="noStrike">
                <a:solidFill>
                  <a:srgbClr val="595959"/>
                </a:solidFill>
                <a:latin typeface="Montserrat"/>
                <a:ea typeface="Montserrat"/>
                <a:cs typeface="Montserrat"/>
                <a:sym typeface="Montserrat"/>
              </a:rPr>
              <a:t>i</a:t>
            </a:r>
            <a:r>
              <a:rPr b="0" i="0" lang="es" sz="1790" u="none" cap="none" strike="noStrike">
                <a:solidFill>
                  <a:srgbClr val="595959"/>
                </a:solidFill>
                <a:latin typeface="Montserrat"/>
                <a:ea typeface="Montserrat"/>
                <a:cs typeface="Montserrat"/>
                <a:sym typeface="Montserrat"/>
              </a:rPr>
              <a:t> toma el elemento de la lista:</a:t>
            </a:r>
            <a:endParaRPr b="0" i="0" sz="179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790"/>
              <a:buFont typeface="Arial"/>
              <a:buNone/>
            </a:pPr>
            <a:r>
              <a:t/>
            </a:r>
            <a:endParaRPr b="0" i="0" sz="179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790"/>
              <a:buFont typeface="Arial"/>
              <a:buNone/>
            </a:pPr>
            <a:r>
              <a:t/>
            </a:r>
            <a:endParaRPr b="0" i="0" sz="1790" u="none" cap="none" strike="noStrike">
              <a:solidFill>
                <a:srgbClr val="595959"/>
              </a:solidFill>
              <a:latin typeface="Montserrat"/>
              <a:ea typeface="Montserrat"/>
              <a:cs typeface="Montserrat"/>
              <a:sym typeface="Montserrat"/>
            </a:endParaRPr>
          </a:p>
        </p:txBody>
      </p:sp>
      <p:sp>
        <p:nvSpPr>
          <p:cNvPr id="407" name="Google Shape;407;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Recorrer listas con for.. in</a:t>
            </a:r>
            <a:endParaRPr/>
          </a:p>
        </p:txBody>
      </p:sp>
      <p:sp>
        <p:nvSpPr>
          <p:cNvPr id="408" name="Google Shape;408;p27"/>
          <p:cNvSpPr/>
          <p:nvPr/>
        </p:nvSpPr>
        <p:spPr>
          <a:xfrm>
            <a:off x="1926838" y="2770950"/>
            <a:ext cx="3551100" cy="1167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vocales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'i'</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'u'</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El bucle recorre la lista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vocales: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(i)</a:t>
            </a:r>
            <a:endParaRPr b="0" i="0" sz="1200" u="none" cap="none" strike="noStrike">
              <a:solidFill>
                <a:srgbClr val="D5CED9"/>
              </a:solidFill>
              <a:highlight>
                <a:srgbClr val="23262E"/>
              </a:highlight>
              <a:latin typeface="Consolas"/>
              <a:ea typeface="Consolas"/>
              <a:cs typeface="Consolas"/>
              <a:sym typeface="Consolas"/>
            </a:endParaRPr>
          </a:p>
        </p:txBody>
      </p:sp>
      <p:sp>
        <p:nvSpPr>
          <p:cNvPr id="409" name="Google Shape;409;p27"/>
          <p:cNvSpPr/>
          <p:nvPr/>
        </p:nvSpPr>
        <p:spPr>
          <a:xfrm>
            <a:off x="1926964" y="2542050"/>
            <a:ext cx="3551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For .. in</a:t>
            </a:r>
            <a:endParaRPr b="0" i="0" sz="1400" u="none" cap="none" strike="noStrike">
              <a:solidFill>
                <a:schemeClr val="dk2"/>
              </a:solidFill>
              <a:latin typeface="Montserrat"/>
              <a:ea typeface="Montserrat"/>
              <a:cs typeface="Montserrat"/>
              <a:sym typeface="Montserrat"/>
            </a:endParaRPr>
          </a:p>
        </p:txBody>
      </p:sp>
      <p:sp>
        <p:nvSpPr>
          <p:cNvPr id="410" name="Google Shape;410;p27"/>
          <p:cNvSpPr/>
          <p:nvPr/>
        </p:nvSpPr>
        <p:spPr>
          <a:xfrm>
            <a:off x="5857263" y="2770950"/>
            <a:ext cx="1359900" cy="1167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i</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u</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11" name="Google Shape;411;p27"/>
          <p:cNvSpPr/>
          <p:nvPr/>
        </p:nvSpPr>
        <p:spPr>
          <a:xfrm>
            <a:off x="5857256" y="2542050"/>
            <a:ext cx="1359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790"/>
              <a:buFont typeface="Arial"/>
              <a:buNone/>
            </a:pPr>
            <a:r>
              <a:rPr b="0" i="0" lang="es" sz="1790" u="none" cap="none" strike="noStrike">
                <a:solidFill>
                  <a:srgbClr val="595959"/>
                </a:solidFill>
                <a:latin typeface="Montserrat"/>
                <a:ea typeface="Montserrat"/>
                <a:cs typeface="Montserrat"/>
                <a:sym typeface="Montserrat"/>
              </a:rPr>
              <a:t>El proceso de desempaquetado consiste en asignar cada elemento de una lista a una variable. Además, </a:t>
            </a:r>
            <a:r>
              <a:rPr b="0" i="0" lang="es" sz="1650" u="none" cap="none" strike="noStrike">
                <a:solidFill>
                  <a:schemeClr val="dk2"/>
                </a:solidFill>
                <a:latin typeface="Montserrat"/>
                <a:ea typeface="Montserrat"/>
                <a:cs typeface="Montserrat"/>
                <a:sym typeface="Montserrat"/>
              </a:rPr>
              <a:t>las listas pueden </a:t>
            </a:r>
            <a:r>
              <a:rPr b="1" i="0" lang="es" sz="1650" u="none" cap="none" strike="noStrike">
                <a:solidFill>
                  <a:schemeClr val="dk2"/>
                </a:solidFill>
                <a:latin typeface="Montserrat"/>
                <a:ea typeface="Montserrat"/>
                <a:cs typeface="Montserrat"/>
                <a:sym typeface="Montserrat"/>
              </a:rPr>
              <a:t>concatenarse</a:t>
            </a:r>
            <a:r>
              <a:rPr b="0" i="0" lang="es" sz="1650" u="none" cap="none" strike="noStrike">
                <a:solidFill>
                  <a:schemeClr val="dk2"/>
                </a:solidFill>
                <a:latin typeface="Montserrat"/>
                <a:ea typeface="Montserrat"/>
                <a:cs typeface="Montserrat"/>
                <a:sym typeface="Montserrat"/>
              </a:rPr>
              <a:t> con el operador suma:</a:t>
            </a:r>
            <a:endParaRPr b="0" i="0" sz="179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790"/>
              <a:buFont typeface="Arial"/>
              <a:buNone/>
            </a:pPr>
            <a:r>
              <a:t/>
            </a:r>
            <a:endParaRPr b="0" i="0" sz="179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790"/>
              <a:buFont typeface="Arial"/>
              <a:buNone/>
            </a:pPr>
            <a:r>
              <a:t/>
            </a:r>
            <a:endParaRPr b="0" i="0" sz="1790" u="none" cap="none" strike="noStrike">
              <a:solidFill>
                <a:srgbClr val="595959"/>
              </a:solidFill>
              <a:latin typeface="Montserrat"/>
              <a:ea typeface="Montserrat"/>
              <a:cs typeface="Montserrat"/>
              <a:sym typeface="Montserrat"/>
            </a:endParaRPr>
          </a:p>
        </p:txBody>
      </p:sp>
      <p:sp>
        <p:nvSpPr>
          <p:cNvPr id="417" name="Google Shape;417;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Desempaquetado y concatenado</a:t>
            </a:r>
            <a:endParaRPr/>
          </a:p>
        </p:txBody>
      </p:sp>
      <p:sp>
        <p:nvSpPr>
          <p:cNvPr id="418" name="Google Shape;418;p28"/>
          <p:cNvSpPr/>
          <p:nvPr/>
        </p:nvSpPr>
        <p:spPr>
          <a:xfrm>
            <a:off x="1332634" y="2519575"/>
            <a:ext cx="4018200" cy="1028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dias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"Lunes"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"Martes"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"Miércoles"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d1, d2, d3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dias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(d3)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19" name="Google Shape;419;p28"/>
          <p:cNvSpPr/>
          <p:nvPr/>
        </p:nvSpPr>
        <p:spPr>
          <a:xfrm>
            <a:off x="1332873" y="2290675"/>
            <a:ext cx="4018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Desempaquetado</a:t>
            </a:r>
            <a:endParaRPr b="0" i="0" sz="1400" u="none" cap="none" strike="noStrike">
              <a:solidFill>
                <a:schemeClr val="dk2"/>
              </a:solidFill>
              <a:latin typeface="Montserrat"/>
              <a:ea typeface="Montserrat"/>
              <a:cs typeface="Montserrat"/>
              <a:sym typeface="Montserrat"/>
            </a:endParaRPr>
          </a:p>
        </p:txBody>
      </p:sp>
      <p:sp>
        <p:nvSpPr>
          <p:cNvPr id="420" name="Google Shape;420;p28"/>
          <p:cNvSpPr/>
          <p:nvPr/>
        </p:nvSpPr>
        <p:spPr>
          <a:xfrm>
            <a:off x="5730278" y="2519575"/>
            <a:ext cx="2081100" cy="1028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Lunes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Martes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Miércoles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21" name="Google Shape;421;p28"/>
          <p:cNvSpPr/>
          <p:nvPr/>
        </p:nvSpPr>
        <p:spPr>
          <a:xfrm>
            <a:off x="5730244" y="2290675"/>
            <a:ext cx="2081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22" name="Google Shape;422;p28"/>
          <p:cNvSpPr/>
          <p:nvPr/>
        </p:nvSpPr>
        <p:spPr>
          <a:xfrm>
            <a:off x="1332622" y="3811475"/>
            <a:ext cx="4018200" cy="830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lista3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(lista3)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23" name="Google Shape;423;p28"/>
          <p:cNvSpPr/>
          <p:nvPr/>
        </p:nvSpPr>
        <p:spPr>
          <a:xfrm>
            <a:off x="1332861" y="3582575"/>
            <a:ext cx="4018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Concatenado</a:t>
            </a:r>
            <a:endParaRPr b="0" i="0" sz="1400" u="none" cap="none" strike="noStrike">
              <a:solidFill>
                <a:schemeClr val="dk2"/>
              </a:solidFill>
              <a:latin typeface="Montserrat"/>
              <a:ea typeface="Montserrat"/>
              <a:cs typeface="Montserrat"/>
              <a:sym typeface="Montserrat"/>
            </a:endParaRPr>
          </a:p>
        </p:txBody>
      </p:sp>
      <p:sp>
        <p:nvSpPr>
          <p:cNvPr id="424" name="Google Shape;424;p28"/>
          <p:cNvSpPr/>
          <p:nvPr/>
        </p:nvSpPr>
        <p:spPr>
          <a:xfrm>
            <a:off x="5730250" y="3811475"/>
            <a:ext cx="2081100" cy="830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 2, 3, 4, 5, 6]</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25" name="Google Shape;425;p28"/>
          <p:cNvSpPr/>
          <p:nvPr/>
        </p:nvSpPr>
        <p:spPr>
          <a:xfrm>
            <a:off x="5730250" y="3582575"/>
            <a:ext cx="2081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9"/>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335944" lvl="0" marL="457200" marR="0" rtl="0" algn="l">
              <a:lnSpc>
                <a:spcPct val="115000"/>
              </a:lnSpc>
              <a:spcBef>
                <a:spcPts val="1199"/>
              </a:spcBef>
              <a:spcAft>
                <a:spcPts val="0"/>
              </a:spcAft>
              <a:buClr>
                <a:srgbClr val="595959"/>
              </a:buClr>
              <a:buSzPts val="1690"/>
              <a:buFont typeface="Montserrat"/>
              <a:buChar char="●"/>
            </a:pPr>
            <a:r>
              <a:rPr b="0" i="0" lang="es" sz="1690" u="none" cap="none" strike="noStrike">
                <a:solidFill>
                  <a:srgbClr val="595959"/>
                </a:solidFill>
                <a:latin typeface="Montserrat"/>
                <a:ea typeface="Montserrat"/>
                <a:cs typeface="Montserrat"/>
                <a:sym typeface="Montserrat"/>
              </a:rPr>
              <a:t>La función </a:t>
            </a:r>
            <a:r>
              <a:rPr b="1" i="0" lang="es" sz="1690" u="none" cap="none" strike="noStrike">
                <a:solidFill>
                  <a:srgbClr val="595959"/>
                </a:solidFill>
                <a:latin typeface="Montserrat"/>
                <a:ea typeface="Montserrat"/>
                <a:cs typeface="Montserrat"/>
                <a:sym typeface="Montserrat"/>
              </a:rPr>
              <a:t>max()</a:t>
            </a:r>
            <a:r>
              <a:rPr b="0" i="0" lang="es" sz="1690" u="none" cap="none" strike="noStrike">
                <a:solidFill>
                  <a:srgbClr val="595959"/>
                </a:solidFill>
                <a:latin typeface="Montserrat"/>
                <a:ea typeface="Montserrat"/>
                <a:cs typeface="Montserrat"/>
                <a:sym typeface="Montserrat"/>
              </a:rPr>
              <a:t> devuelve el mayor elemento de una lista.</a:t>
            </a:r>
            <a:endParaRPr b="0" i="0" sz="1690" u="none" cap="none" strike="noStrike">
              <a:solidFill>
                <a:srgbClr val="595959"/>
              </a:solidFill>
              <a:latin typeface="Montserrat"/>
              <a:ea typeface="Montserrat"/>
              <a:cs typeface="Montserrat"/>
              <a:sym typeface="Montserrat"/>
            </a:endParaRPr>
          </a:p>
          <a:p>
            <a:pPr indent="-335944" lvl="0" marL="457200" marR="0" rtl="0" algn="l">
              <a:lnSpc>
                <a:spcPct val="115000"/>
              </a:lnSpc>
              <a:spcBef>
                <a:spcPts val="0"/>
              </a:spcBef>
              <a:spcAft>
                <a:spcPts val="0"/>
              </a:spcAft>
              <a:buClr>
                <a:srgbClr val="595959"/>
              </a:buClr>
              <a:buSzPts val="1690"/>
              <a:buFont typeface="Montserrat"/>
              <a:buChar char="●"/>
            </a:pPr>
            <a:r>
              <a:rPr b="0" i="0" lang="es" sz="1690" u="none" cap="none" strike="noStrike">
                <a:solidFill>
                  <a:srgbClr val="595959"/>
                </a:solidFill>
                <a:latin typeface="Montserrat"/>
                <a:ea typeface="Montserrat"/>
                <a:cs typeface="Montserrat"/>
                <a:sym typeface="Montserrat"/>
              </a:rPr>
              <a:t>La función </a:t>
            </a:r>
            <a:r>
              <a:rPr b="1" i="0" lang="es" sz="1690" u="none" cap="none" strike="noStrike">
                <a:solidFill>
                  <a:srgbClr val="595959"/>
                </a:solidFill>
                <a:latin typeface="Montserrat"/>
                <a:ea typeface="Montserrat"/>
                <a:cs typeface="Montserrat"/>
                <a:sym typeface="Montserrat"/>
              </a:rPr>
              <a:t>min()</a:t>
            </a:r>
            <a:r>
              <a:rPr b="0" i="0" lang="es" sz="1690" u="none" cap="none" strike="noStrike">
                <a:solidFill>
                  <a:srgbClr val="595959"/>
                </a:solidFill>
                <a:latin typeface="Montserrat"/>
                <a:ea typeface="Montserrat"/>
                <a:cs typeface="Montserrat"/>
                <a:sym typeface="Montserrat"/>
              </a:rPr>
              <a:t> devuelve el menor elemento de una lista.</a:t>
            </a:r>
            <a:endParaRPr b="0" i="0" sz="1690" u="none" cap="none" strike="noStrike">
              <a:solidFill>
                <a:srgbClr val="595959"/>
              </a:solidFill>
              <a:latin typeface="Montserrat"/>
              <a:ea typeface="Montserrat"/>
              <a:cs typeface="Montserrat"/>
              <a:sym typeface="Montserrat"/>
            </a:endParaRPr>
          </a:p>
          <a:p>
            <a:pPr indent="-335944" lvl="0" marL="457200" marR="0" rtl="0" algn="l">
              <a:lnSpc>
                <a:spcPct val="115000"/>
              </a:lnSpc>
              <a:spcBef>
                <a:spcPts val="0"/>
              </a:spcBef>
              <a:spcAft>
                <a:spcPts val="0"/>
              </a:spcAft>
              <a:buClr>
                <a:srgbClr val="595959"/>
              </a:buClr>
              <a:buSzPts val="1690"/>
              <a:buFont typeface="Montserrat"/>
              <a:buChar char="●"/>
            </a:pPr>
            <a:r>
              <a:rPr b="0" i="0" lang="es" sz="1690" u="none" cap="none" strike="noStrike">
                <a:solidFill>
                  <a:srgbClr val="595959"/>
                </a:solidFill>
                <a:latin typeface="Montserrat"/>
                <a:ea typeface="Montserrat"/>
                <a:cs typeface="Montserrat"/>
                <a:sym typeface="Montserrat"/>
              </a:rPr>
              <a:t>La función </a:t>
            </a:r>
            <a:r>
              <a:rPr b="1" i="0" lang="es" sz="1690" u="none" cap="none" strike="noStrike">
                <a:solidFill>
                  <a:srgbClr val="595959"/>
                </a:solidFill>
                <a:latin typeface="Montserrat"/>
                <a:ea typeface="Montserrat"/>
                <a:cs typeface="Montserrat"/>
                <a:sym typeface="Montserrat"/>
              </a:rPr>
              <a:t>sum() </a:t>
            </a:r>
            <a:r>
              <a:rPr b="0" i="0" lang="es" sz="1690" u="none" cap="none" strike="noStrike">
                <a:solidFill>
                  <a:srgbClr val="595959"/>
                </a:solidFill>
                <a:latin typeface="Montserrat"/>
                <a:ea typeface="Montserrat"/>
                <a:cs typeface="Montserrat"/>
                <a:sym typeface="Montserrat"/>
              </a:rPr>
              <a:t>devuelve la suma de los elementos de una lista:</a:t>
            </a:r>
            <a:endParaRPr b="0" i="0" sz="169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790"/>
              <a:buFont typeface="Arial"/>
              <a:buNone/>
            </a:pPr>
            <a:r>
              <a:t/>
            </a:r>
            <a:endParaRPr b="0" i="0" sz="1790" u="none" cap="none" strike="noStrike">
              <a:solidFill>
                <a:srgbClr val="595959"/>
              </a:solidFill>
              <a:latin typeface="Montserrat"/>
              <a:ea typeface="Montserrat"/>
              <a:cs typeface="Montserrat"/>
              <a:sym typeface="Montserrat"/>
            </a:endParaRPr>
          </a:p>
        </p:txBody>
      </p:sp>
      <p:sp>
        <p:nvSpPr>
          <p:cNvPr id="431" name="Google Shape;431;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max(), min() y sum()</a:t>
            </a:r>
            <a:endParaRPr/>
          </a:p>
        </p:txBody>
      </p:sp>
      <p:sp>
        <p:nvSpPr>
          <p:cNvPr id="432" name="Google Shape;432;p29"/>
          <p:cNvSpPr/>
          <p:nvPr/>
        </p:nvSpPr>
        <p:spPr>
          <a:xfrm>
            <a:off x="2179589" y="2768875"/>
            <a:ext cx="2777100" cy="876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max</a:t>
            </a:r>
            <a:r>
              <a:rPr b="0" i="0" lang="es" sz="1200" u="none" cap="none" strike="noStrike">
                <a:solidFill>
                  <a:srgbClr val="D5CED9"/>
                </a:solidFill>
                <a:highlight>
                  <a:srgbClr val="23262E"/>
                </a:highlight>
                <a:latin typeface="Consolas"/>
                <a:ea typeface="Consolas"/>
                <a:cs typeface="Consolas"/>
                <a:sym typeface="Consolas"/>
              </a:rPr>
              <a:t>(lista))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min</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sum</a:t>
            </a:r>
            <a:r>
              <a:rPr b="0" i="0" lang="es" sz="1200" u="none" cap="none" strike="noStrike">
                <a:solidFill>
                  <a:srgbClr val="D5CED9"/>
                </a:solidFill>
                <a:highlight>
                  <a:srgbClr val="23262E"/>
                </a:highlight>
                <a:latin typeface="Consolas"/>
                <a:ea typeface="Consolas"/>
                <a:cs typeface="Consolas"/>
                <a:sym typeface="Consolas"/>
              </a:rPr>
              <a:t>(lista))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33" name="Google Shape;433;p29"/>
          <p:cNvSpPr/>
          <p:nvPr/>
        </p:nvSpPr>
        <p:spPr>
          <a:xfrm>
            <a:off x="2179838" y="2539975"/>
            <a:ext cx="2777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max(), min() y sum()</a:t>
            </a:r>
            <a:endParaRPr b="0" i="0" sz="1400" u="none" cap="none" strike="noStrike">
              <a:solidFill>
                <a:schemeClr val="dk2"/>
              </a:solidFill>
              <a:latin typeface="Montserrat"/>
              <a:ea typeface="Montserrat"/>
              <a:cs typeface="Montserrat"/>
              <a:sym typeface="Montserrat"/>
            </a:endParaRPr>
          </a:p>
        </p:txBody>
      </p:sp>
      <p:sp>
        <p:nvSpPr>
          <p:cNvPr id="434" name="Google Shape;434;p29"/>
          <p:cNvSpPr/>
          <p:nvPr/>
        </p:nvSpPr>
        <p:spPr>
          <a:xfrm>
            <a:off x="5326089" y="2768875"/>
            <a:ext cx="1638300" cy="876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6</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18</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35" name="Google Shape;435;p29"/>
          <p:cNvSpPr/>
          <p:nvPr/>
        </p:nvSpPr>
        <p:spPr>
          <a:xfrm>
            <a:off x="5326111" y="2539975"/>
            <a:ext cx="163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in / not in y list()</a:t>
            </a:r>
            <a:endParaRPr/>
          </a:p>
        </p:txBody>
      </p:sp>
      <p:sp>
        <p:nvSpPr>
          <p:cNvPr id="441" name="Google Shape;441;p30"/>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Los operadores de pertenencia </a:t>
            </a:r>
            <a:r>
              <a:rPr b="1" i="0" lang="es" sz="1600" u="none" cap="none" strike="noStrike">
                <a:solidFill>
                  <a:srgbClr val="595959"/>
                </a:solidFill>
                <a:latin typeface="Montserrat"/>
                <a:ea typeface="Montserrat"/>
                <a:cs typeface="Montserrat"/>
                <a:sym typeface="Montserrat"/>
              </a:rPr>
              <a:t>in / not in</a:t>
            </a:r>
            <a:r>
              <a:rPr b="0" i="0" lang="es" sz="1600" u="none" cap="none" strike="noStrike">
                <a:solidFill>
                  <a:srgbClr val="595959"/>
                </a:solidFill>
                <a:latin typeface="Montserrat"/>
                <a:ea typeface="Montserrat"/>
                <a:cs typeface="Montserrat"/>
                <a:sym typeface="Montserrat"/>
              </a:rPr>
              <a:t> permiten determinar si un elemento está o no en una lista. La función </a:t>
            </a:r>
            <a:r>
              <a:rPr b="1" i="0" lang="es" sz="1600" u="none" cap="none" strike="noStrike">
                <a:solidFill>
                  <a:srgbClr val="595959"/>
                </a:solidFill>
                <a:latin typeface="Montserrat"/>
                <a:ea typeface="Montserrat"/>
                <a:cs typeface="Montserrat"/>
                <a:sym typeface="Montserrat"/>
              </a:rPr>
              <a:t>list()</a:t>
            </a:r>
            <a:r>
              <a:rPr b="0" i="0" lang="es" sz="1600" u="none" cap="none" strike="noStrike">
                <a:solidFill>
                  <a:srgbClr val="595959"/>
                </a:solidFill>
                <a:latin typeface="Montserrat"/>
                <a:ea typeface="Montserrat"/>
                <a:cs typeface="Montserrat"/>
                <a:sym typeface="Montserrat"/>
              </a:rPr>
              <a:t> convierte cualquier secuencia a una lista. Se puede utilizar con rangos, cadenas y otros.</a:t>
            </a:r>
            <a:endParaRPr b="0" i="0" sz="1800" u="none" cap="none" strike="noStrike">
              <a:solidFill>
                <a:srgbClr val="000000"/>
              </a:solidFill>
              <a:latin typeface="Arial"/>
              <a:ea typeface="Arial"/>
              <a:cs typeface="Arial"/>
              <a:sym typeface="Arial"/>
            </a:endParaRPr>
          </a:p>
        </p:txBody>
      </p:sp>
      <p:sp>
        <p:nvSpPr>
          <p:cNvPr id="442" name="Google Shape;442;p30"/>
          <p:cNvSpPr/>
          <p:nvPr/>
        </p:nvSpPr>
        <p:spPr>
          <a:xfrm>
            <a:off x="1746338" y="2580650"/>
            <a:ext cx="3019800" cy="1829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t>
            </a:r>
            <a:r>
              <a:rPr b="0" i="0" lang="es" sz="1200" u="none" cap="none" strike="noStrike">
                <a:solidFill>
                  <a:srgbClr val="FFE66D"/>
                </a:solidFill>
                <a:highlight>
                  <a:srgbClr val="23262E"/>
                </a:highlight>
                <a:latin typeface="Consolas"/>
                <a:ea typeface="Consolas"/>
                <a:cs typeface="Consolas"/>
                <a:sym typeface="Consolas"/>
              </a:rPr>
              <a:t>range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lista2)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8</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lista2)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not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lista2)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43" name="Google Shape;443;p30"/>
          <p:cNvSpPr/>
          <p:nvPr/>
        </p:nvSpPr>
        <p:spPr>
          <a:xfrm>
            <a:off x="1746661" y="2351750"/>
            <a:ext cx="3019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in / not in</a:t>
            </a:r>
            <a:endParaRPr b="0" i="0" sz="1400" u="none" cap="none" strike="noStrike">
              <a:solidFill>
                <a:schemeClr val="dk2"/>
              </a:solidFill>
              <a:latin typeface="Montserrat"/>
              <a:ea typeface="Montserrat"/>
              <a:cs typeface="Montserrat"/>
              <a:sym typeface="Montserrat"/>
            </a:endParaRPr>
          </a:p>
        </p:txBody>
      </p:sp>
      <p:sp>
        <p:nvSpPr>
          <p:cNvPr id="444" name="Google Shape;444;p30"/>
          <p:cNvSpPr/>
          <p:nvPr/>
        </p:nvSpPr>
        <p:spPr>
          <a:xfrm>
            <a:off x="5178563" y="2580650"/>
            <a:ext cx="2219100" cy="1829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[0, 1, 2, 3, 4, 5]</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 'o', 'l', 'a']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True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False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True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45" name="Google Shape;445;p30"/>
          <p:cNvSpPr/>
          <p:nvPr/>
        </p:nvSpPr>
        <p:spPr>
          <a:xfrm>
            <a:off x="5178562" y="2351750"/>
            <a:ext cx="221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.append() e .insert()</a:t>
            </a:r>
            <a:endParaRPr/>
          </a:p>
        </p:txBody>
      </p:sp>
      <p:sp>
        <p:nvSpPr>
          <p:cNvPr id="451" name="Google Shape;451;p31"/>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50" u="none" cap="none" strike="noStrike">
                <a:solidFill>
                  <a:srgbClr val="595959"/>
                </a:solidFill>
                <a:latin typeface="Montserrat"/>
                <a:ea typeface="Montserrat"/>
                <a:cs typeface="Montserrat"/>
                <a:sym typeface="Montserrat"/>
              </a:rPr>
              <a:t>El método </a:t>
            </a:r>
            <a:r>
              <a:rPr b="1" i="0" lang="es" sz="1650" u="none" cap="none" strike="noStrike">
                <a:solidFill>
                  <a:srgbClr val="595959"/>
                </a:solidFill>
                <a:latin typeface="Montserrat"/>
                <a:ea typeface="Montserrat"/>
                <a:cs typeface="Montserrat"/>
                <a:sym typeface="Montserrat"/>
              </a:rPr>
              <a:t>append()</a:t>
            </a:r>
            <a:r>
              <a:rPr b="0" i="0" lang="es" sz="1650" u="none" cap="none" strike="noStrike">
                <a:solidFill>
                  <a:srgbClr val="595959"/>
                </a:solidFill>
                <a:latin typeface="Montserrat"/>
                <a:ea typeface="Montserrat"/>
                <a:cs typeface="Montserrat"/>
                <a:sym typeface="Montserrat"/>
              </a:rPr>
              <a:t> agrega un elemento al final de la lista.</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p:txBody>
      </p:sp>
      <p:sp>
        <p:nvSpPr>
          <p:cNvPr id="452" name="Google Shape;452;p31"/>
          <p:cNvSpPr/>
          <p:nvPr/>
        </p:nvSpPr>
        <p:spPr>
          <a:xfrm>
            <a:off x="1869538" y="1943425"/>
            <a:ext cx="2891700" cy="750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a:t>
            </a:r>
            <a:r>
              <a:rPr b="0" i="0" lang="es" sz="1200" u="none" cap="none" strike="noStrike">
                <a:solidFill>
                  <a:srgbClr val="FFE66D"/>
                </a:solidFill>
                <a:highlight>
                  <a:srgbClr val="23262E"/>
                </a:highlight>
                <a:latin typeface="Consolas"/>
                <a:ea typeface="Consolas"/>
                <a:cs typeface="Consolas"/>
                <a:sym typeface="Consolas"/>
              </a:rPr>
              <a:t>append</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53" name="Google Shape;453;p31"/>
          <p:cNvSpPr/>
          <p:nvPr/>
        </p:nvSpPr>
        <p:spPr>
          <a:xfrm>
            <a:off x="1869437" y="1714525"/>
            <a:ext cx="2891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.append()</a:t>
            </a:r>
            <a:endParaRPr b="0" i="0" sz="1400" u="none" cap="none" strike="noStrike">
              <a:solidFill>
                <a:schemeClr val="dk2"/>
              </a:solidFill>
              <a:latin typeface="Montserrat"/>
              <a:ea typeface="Montserrat"/>
              <a:cs typeface="Montserrat"/>
              <a:sym typeface="Montserrat"/>
            </a:endParaRPr>
          </a:p>
        </p:txBody>
      </p:sp>
      <p:sp>
        <p:nvSpPr>
          <p:cNvPr id="454" name="Google Shape;454;p31"/>
          <p:cNvSpPr/>
          <p:nvPr/>
        </p:nvSpPr>
        <p:spPr>
          <a:xfrm>
            <a:off x="5193363" y="1943425"/>
            <a:ext cx="2081100" cy="750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[3, 4, 5, 6]</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55" name="Google Shape;455;p31"/>
          <p:cNvSpPr/>
          <p:nvPr/>
        </p:nvSpPr>
        <p:spPr>
          <a:xfrm>
            <a:off x="5193381" y="1714525"/>
            <a:ext cx="2081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56" name="Google Shape;456;p31"/>
          <p:cNvSpPr/>
          <p:nvPr/>
        </p:nvSpPr>
        <p:spPr>
          <a:xfrm>
            <a:off x="1869363" y="3440900"/>
            <a:ext cx="2891700" cy="108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a:t>
            </a:r>
            <a:r>
              <a:rPr b="0" i="0" lang="es" sz="1200" u="none" cap="none" strike="noStrike">
                <a:solidFill>
                  <a:srgbClr val="FFE66D"/>
                </a:solidFill>
                <a:highlight>
                  <a:srgbClr val="23262E"/>
                </a:highlight>
                <a:latin typeface="Consolas"/>
                <a:ea typeface="Consolas"/>
                <a:cs typeface="Consolas"/>
                <a:sym typeface="Consolas"/>
              </a:rPr>
              <a:t>insert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0</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lista.</a:t>
            </a:r>
            <a:r>
              <a:rPr b="0" i="0" lang="es" sz="1200" u="none" cap="none" strike="noStrike">
                <a:solidFill>
                  <a:srgbClr val="FFE66D"/>
                </a:solidFill>
                <a:highlight>
                  <a:srgbClr val="23262E"/>
                </a:highlight>
                <a:latin typeface="Consolas"/>
                <a:ea typeface="Consolas"/>
                <a:cs typeface="Consolas"/>
                <a:sym typeface="Consolas"/>
              </a:rPr>
              <a:t>insert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25</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57" name="Google Shape;457;p31"/>
          <p:cNvSpPr/>
          <p:nvPr/>
        </p:nvSpPr>
        <p:spPr>
          <a:xfrm>
            <a:off x="1869375" y="3220525"/>
            <a:ext cx="2891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.insert()</a:t>
            </a:r>
            <a:endParaRPr b="0" i="0" sz="1400" u="none" cap="none" strike="noStrike">
              <a:solidFill>
                <a:schemeClr val="dk2"/>
              </a:solidFill>
              <a:latin typeface="Montserrat"/>
              <a:ea typeface="Montserrat"/>
              <a:cs typeface="Montserrat"/>
              <a:sym typeface="Montserrat"/>
            </a:endParaRPr>
          </a:p>
        </p:txBody>
      </p:sp>
      <p:sp>
        <p:nvSpPr>
          <p:cNvPr id="458" name="Google Shape;458;p31"/>
          <p:cNvSpPr/>
          <p:nvPr/>
        </p:nvSpPr>
        <p:spPr>
          <a:xfrm>
            <a:off x="5193538" y="3440899"/>
            <a:ext cx="2081100" cy="108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[2, 3, 4, 5]</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[2, 3, 4, 25, 5]</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59" name="Google Shape;459;p31"/>
          <p:cNvSpPr/>
          <p:nvPr/>
        </p:nvSpPr>
        <p:spPr>
          <a:xfrm>
            <a:off x="5193375" y="3220513"/>
            <a:ext cx="2081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60" name="Google Shape;460;p31"/>
          <p:cNvSpPr txBox="1"/>
          <p:nvPr/>
        </p:nvSpPr>
        <p:spPr>
          <a:xfrm>
            <a:off x="423450" y="2717275"/>
            <a:ext cx="8279700" cy="4803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1" i="0" lang="es" sz="1650" u="none" cap="none" strike="noStrike">
                <a:solidFill>
                  <a:schemeClr val="dk2"/>
                </a:solidFill>
                <a:latin typeface="Montserrat"/>
                <a:ea typeface="Montserrat"/>
                <a:cs typeface="Montserrat"/>
                <a:sym typeface="Montserrat"/>
              </a:rPr>
              <a:t>insert(&lt;pos&gt;, &lt;elemento&gt;) </a:t>
            </a:r>
            <a:r>
              <a:rPr b="0" i="0" lang="es" sz="1650" u="none" cap="none" strike="noStrike">
                <a:solidFill>
                  <a:schemeClr val="dk2"/>
                </a:solidFill>
                <a:latin typeface="Montserrat"/>
                <a:ea typeface="Montserrat"/>
                <a:cs typeface="Montserrat"/>
                <a:sym typeface="Montserrat"/>
              </a:rPr>
              <a:t>inserta un elemento en una posición determinada: </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2"/>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pop(&lt;posición&gt;) </a:t>
            </a:r>
            <a:r>
              <a:rPr b="0" i="0" lang="es" sz="1682" u="none" cap="none" strike="noStrike">
                <a:solidFill>
                  <a:srgbClr val="595959"/>
                </a:solidFill>
                <a:latin typeface="Montserrat"/>
                <a:ea typeface="Montserrat"/>
                <a:cs typeface="Montserrat"/>
                <a:sym typeface="Montserrat"/>
              </a:rPr>
              <a:t>Elimina un elemento en una posición determinada de la lista. Si no se pasa un argumento, pop() elimina el último elemento de la lista. </a:t>
            </a:r>
            <a:r>
              <a:rPr b="1" i="0" lang="es" sz="1682" u="none" cap="none" strike="noStrike">
                <a:solidFill>
                  <a:srgbClr val="595959"/>
                </a:solidFill>
                <a:latin typeface="Montserrat"/>
                <a:ea typeface="Montserrat"/>
                <a:cs typeface="Montserrat"/>
                <a:sym typeface="Montserrat"/>
              </a:rPr>
              <a:t>remove(&lt;valor&gt;) </a:t>
            </a:r>
            <a:r>
              <a:rPr b="0" i="0" lang="es" sz="1682" u="none" cap="none" strike="noStrike">
                <a:solidFill>
                  <a:srgbClr val="595959"/>
                </a:solidFill>
                <a:latin typeface="Montserrat"/>
                <a:ea typeface="Montserrat"/>
                <a:cs typeface="Montserrat"/>
                <a:sym typeface="Montserrat"/>
              </a:rPr>
              <a:t>elimina un elemento en la lista, identificado por su valor.</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466" name="Google Shape;466;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.pop() y .remove()</a:t>
            </a:r>
            <a:endParaRPr/>
          </a:p>
        </p:txBody>
      </p:sp>
      <p:sp>
        <p:nvSpPr>
          <p:cNvPr id="467" name="Google Shape;467;p32"/>
          <p:cNvSpPr/>
          <p:nvPr/>
        </p:nvSpPr>
        <p:spPr>
          <a:xfrm>
            <a:off x="491125" y="289337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6</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9</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8</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pop</a:t>
            </a:r>
            <a:r>
              <a:rPr b="0" i="0" lang="es" sz="1200" u="none" cap="none" strike="noStrike">
                <a:solidFill>
                  <a:srgbClr val="D5CED9"/>
                </a:solidFill>
                <a:latin typeface="Consolas"/>
                <a:ea typeface="Consolas"/>
                <a:cs typeface="Consolas"/>
                <a:sym typeface="Consolas"/>
              </a:rPr>
              <a:t>()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[6,9]</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68" name="Google Shape;468;p32"/>
          <p:cNvSpPr/>
          <p:nvPr/>
        </p:nvSpPr>
        <p:spPr>
          <a:xfrm>
            <a:off x="491125" y="26644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.pop()</a:t>
            </a:r>
            <a:endParaRPr b="0" i="0" sz="1400" u="none" cap="none" strike="noStrike">
              <a:solidFill>
                <a:schemeClr val="dk2"/>
              </a:solidFill>
              <a:latin typeface="Montserrat"/>
              <a:ea typeface="Montserrat"/>
              <a:cs typeface="Montserrat"/>
              <a:sym typeface="Montserrat"/>
            </a:endParaRPr>
          </a:p>
        </p:txBody>
      </p:sp>
      <p:sp>
        <p:nvSpPr>
          <p:cNvPr id="469" name="Google Shape;469;p32"/>
          <p:cNvSpPr/>
          <p:nvPr/>
        </p:nvSpPr>
        <p:spPr>
          <a:xfrm>
            <a:off x="3262950" y="289337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pop</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[3,5]</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70" name="Google Shape;470;p32"/>
          <p:cNvSpPr/>
          <p:nvPr/>
        </p:nvSpPr>
        <p:spPr>
          <a:xfrm>
            <a:off x="3262950" y="26644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.pop(posicion)</a:t>
            </a:r>
            <a:endParaRPr b="0" i="0" sz="1400" u="none" cap="none" strike="noStrike">
              <a:solidFill>
                <a:schemeClr val="dk2"/>
              </a:solidFill>
              <a:latin typeface="Montserrat"/>
              <a:ea typeface="Montserrat"/>
              <a:cs typeface="Montserrat"/>
              <a:sym typeface="Montserrat"/>
            </a:endParaRPr>
          </a:p>
        </p:txBody>
      </p:sp>
      <p:sp>
        <p:nvSpPr>
          <p:cNvPr id="471" name="Google Shape;471;p32"/>
          <p:cNvSpPr/>
          <p:nvPr/>
        </p:nvSpPr>
        <p:spPr>
          <a:xfrm>
            <a:off x="6034775" y="2893325"/>
            <a:ext cx="2618100" cy="98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remove</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[4,5]</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72" name="Google Shape;472;p32"/>
          <p:cNvSpPr/>
          <p:nvPr/>
        </p:nvSpPr>
        <p:spPr>
          <a:xfrm>
            <a:off x="6034775" y="2664475"/>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.remove(valor)</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3"/>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index(&lt;valor&gt;) </a:t>
            </a:r>
            <a:r>
              <a:rPr b="0" i="0" lang="es" sz="1682" u="none" cap="none" strike="noStrike">
                <a:solidFill>
                  <a:srgbClr val="595959"/>
                </a:solidFill>
                <a:latin typeface="Montserrat"/>
                <a:ea typeface="Montserrat"/>
                <a:cs typeface="Montserrat"/>
                <a:sym typeface="Montserrat"/>
              </a:rPr>
              <a:t>busca un valor y devuelve su posición. Admite como argumento adicional un índice inicial a partir de donde comenzar la búsqueda. </a:t>
            </a:r>
            <a:r>
              <a:rPr b="1" i="0" lang="es" sz="1682" u="none" cap="none" strike="noStrike">
                <a:solidFill>
                  <a:srgbClr val="595959"/>
                </a:solidFill>
                <a:latin typeface="Montserrat"/>
                <a:ea typeface="Montserrat"/>
                <a:cs typeface="Montserrat"/>
                <a:sym typeface="Montserrat"/>
              </a:rPr>
              <a:t>count()</a:t>
            </a:r>
            <a:r>
              <a:rPr b="0" i="0" lang="es" sz="1682" u="none" cap="none" strike="noStrike">
                <a:solidFill>
                  <a:srgbClr val="595959"/>
                </a:solidFill>
                <a:latin typeface="Montserrat"/>
                <a:ea typeface="Montserrat"/>
                <a:cs typeface="Montserrat"/>
                <a:sym typeface="Montserrat"/>
              </a:rPr>
              <a:t> devuelve la cantidad de repeticiones de un elemento, cero si no lo encuentra. Y</a:t>
            </a:r>
            <a:r>
              <a:rPr b="1" i="0" lang="es" sz="1682" u="none" cap="none" strike="noStrike">
                <a:solidFill>
                  <a:srgbClr val="595959"/>
                </a:solidFill>
                <a:latin typeface="Montserrat"/>
                <a:ea typeface="Montserrat"/>
                <a:cs typeface="Montserrat"/>
                <a:sym typeface="Montserrat"/>
              </a:rPr>
              <a:t> reverse()</a:t>
            </a:r>
            <a:r>
              <a:rPr b="0" i="0" lang="es" sz="1682" u="none" cap="none" strike="noStrike">
                <a:solidFill>
                  <a:srgbClr val="595959"/>
                </a:solidFill>
                <a:latin typeface="Montserrat"/>
                <a:ea typeface="Montserrat"/>
                <a:cs typeface="Montserrat"/>
                <a:sym typeface="Montserrat"/>
              </a:rPr>
              <a:t> Invierte el orden de los elementos de una lista.</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478" name="Google Shape;478;p3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.index(), count() y reverse()</a:t>
            </a:r>
            <a:endParaRPr/>
          </a:p>
        </p:txBody>
      </p:sp>
      <p:sp>
        <p:nvSpPr>
          <p:cNvPr id="479" name="Google Shape;479;p33"/>
          <p:cNvSpPr/>
          <p:nvPr/>
        </p:nvSpPr>
        <p:spPr>
          <a:xfrm>
            <a:off x="482425" y="3086450"/>
            <a:ext cx="2618100" cy="111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index</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2</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80" name="Google Shape;480;p33"/>
          <p:cNvSpPr/>
          <p:nvPr/>
        </p:nvSpPr>
        <p:spPr>
          <a:xfrm>
            <a:off x="482425" y="2857550"/>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.index(valor)</a:t>
            </a:r>
            <a:endParaRPr b="0" i="0" sz="1400" u="none" cap="none" strike="noStrike">
              <a:solidFill>
                <a:schemeClr val="dk2"/>
              </a:solidFill>
              <a:latin typeface="Montserrat"/>
              <a:ea typeface="Montserrat"/>
              <a:cs typeface="Montserrat"/>
              <a:sym typeface="Montserrat"/>
            </a:endParaRPr>
          </a:p>
        </p:txBody>
      </p:sp>
      <p:sp>
        <p:nvSpPr>
          <p:cNvPr id="481" name="Google Shape;481;p33"/>
          <p:cNvSpPr/>
          <p:nvPr/>
        </p:nvSpPr>
        <p:spPr>
          <a:xfrm>
            <a:off x="3254250" y="3086450"/>
            <a:ext cx="2618100" cy="111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8</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count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 Resultado: 3</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count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 Resultado: 0</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82" name="Google Shape;482;p33"/>
          <p:cNvSpPr/>
          <p:nvPr/>
        </p:nvSpPr>
        <p:spPr>
          <a:xfrm>
            <a:off x="3254250" y="2857550"/>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.count()</a:t>
            </a:r>
            <a:endParaRPr b="0" i="0" sz="1400" u="none" cap="none" strike="noStrike">
              <a:solidFill>
                <a:schemeClr val="dk2"/>
              </a:solidFill>
              <a:latin typeface="Montserrat"/>
              <a:ea typeface="Montserrat"/>
              <a:cs typeface="Montserrat"/>
              <a:sym typeface="Montserrat"/>
            </a:endParaRPr>
          </a:p>
        </p:txBody>
      </p:sp>
      <p:sp>
        <p:nvSpPr>
          <p:cNvPr id="483" name="Google Shape;483;p33"/>
          <p:cNvSpPr/>
          <p:nvPr/>
        </p:nvSpPr>
        <p:spPr>
          <a:xfrm>
            <a:off x="6026075" y="3086400"/>
            <a:ext cx="2618100" cy="111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reverse</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 Resulado: [5,4,3]</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84" name="Google Shape;484;p33"/>
          <p:cNvSpPr/>
          <p:nvPr/>
        </p:nvSpPr>
        <p:spPr>
          <a:xfrm>
            <a:off x="6026075" y="2857550"/>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.reverse()</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4"/>
          <p:cNvSpPr txBox="1"/>
          <p:nvPr/>
        </p:nvSpPr>
        <p:spPr>
          <a:xfrm>
            <a:off x="432150" y="12817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rgbClr val="595959"/>
                </a:solidFill>
                <a:latin typeface="Montserrat"/>
                <a:ea typeface="Montserrat"/>
                <a:cs typeface="Montserrat"/>
                <a:sym typeface="Montserrat"/>
              </a:rPr>
              <a:t>sort() </a:t>
            </a:r>
            <a:r>
              <a:rPr b="0" i="0" lang="es" sz="1682" u="none" cap="none" strike="noStrike">
                <a:solidFill>
                  <a:srgbClr val="595959"/>
                </a:solidFill>
                <a:latin typeface="Montserrat"/>
                <a:ea typeface="Montserrat"/>
                <a:cs typeface="Montserrat"/>
                <a:sym typeface="Montserrat"/>
              </a:rPr>
              <a:t>ordena los elementos de la lista, de menor a mayor. </a:t>
            </a:r>
            <a:r>
              <a:rPr b="1" i="0" lang="es" sz="1682" u="none" cap="none" strike="noStrike">
                <a:solidFill>
                  <a:srgbClr val="595959"/>
                </a:solidFill>
                <a:latin typeface="Montserrat"/>
                <a:ea typeface="Montserrat"/>
                <a:cs typeface="Montserrat"/>
                <a:sym typeface="Montserrat"/>
              </a:rPr>
              <a:t>sort(reverse=True)</a:t>
            </a:r>
            <a:r>
              <a:rPr b="0" i="0" lang="es" sz="1682" u="none" cap="none" strike="noStrike">
                <a:solidFill>
                  <a:srgbClr val="595959"/>
                </a:solidFill>
                <a:latin typeface="Montserrat"/>
                <a:ea typeface="Montserrat"/>
                <a:cs typeface="Montserrat"/>
                <a:sym typeface="Montserrat"/>
              </a:rPr>
              <a:t> ordena la lista de mayor a menor. En ambos casos, el orden depende del tipo de dato contenido en la lista. Y </a:t>
            </a:r>
            <a:r>
              <a:rPr b="1" i="0" lang="es" sz="1682" u="none" cap="none" strike="noStrike">
                <a:solidFill>
                  <a:srgbClr val="595959"/>
                </a:solidFill>
                <a:latin typeface="Montserrat"/>
                <a:ea typeface="Montserrat"/>
                <a:cs typeface="Montserrat"/>
                <a:sym typeface="Montserrat"/>
              </a:rPr>
              <a:t>clear() </a:t>
            </a:r>
            <a:r>
              <a:rPr b="0" i="0" lang="es" sz="1682" u="none" cap="none" strike="noStrike">
                <a:solidFill>
                  <a:srgbClr val="595959"/>
                </a:solidFill>
                <a:latin typeface="Montserrat"/>
                <a:ea typeface="Montserrat"/>
                <a:cs typeface="Montserrat"/>
                <a:sym typeface="Montserrat"/>
              </a:rPr>
              <a:t>elimina todos los elementos de la lista.</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1"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1"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490" name="Google Shape;490;p3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Listas | .sort() y clear()</a:t>
            </a:r>
            <a:endParaRPr/>
          </a:p>
        </p:txBody>
      </p:sp>
      <p:sp>
        <p:nvSpPr>
          <p:cNvPr id="491" name="Google Shape;491;p34"/>
          <p:cNvSpPr/>
          <p:nvPr/>
        </p:nvSpPr>
        <p:spPr>
          <a:xfrm>
            <a:off x="482425" y="2669400"/>
            <a:ext cx="2618100" cy="111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7</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sort</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[1,2,5,7]</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92" name="Google Shape;492;p34"/>
          <p:cNvSpPr/>
          <p:nvPr/>
        </p:nvSpPr>
        <p:spPr>
          <a:xfrm>
            <a:off x="482425" y="2440500"/>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.sort()</a:t>
            </a:r>
            <a:endParaRPr b="0" i="0" sz="1400" u="none" cap="none" strike="noStrike">
              <a:solidFill>
                <a:schemeClr val="dk2"/>
              </a:solidFill>
              <a:latin typeface="Montserrat"/>
              <a:ea typeface="Montserrat"/>
              <a:cs typeface="Montserrat"/>
              <a:sym typeface="Montserrat"/>
            </a:endParaRPr>
          </a:p>
        </p:txBody>
      </p:sp>
      <p:sp>
        <p:nvSpPr>
          <p:cNvPr id="493" name="Google Shape;493;p34"/>
          <p:cNvSpPr/>
          <p:nvPr/>
        </p:nvSpPr>
        <p:spPr>
          <a:xfrm>
            <a:off x="3254250" y="2669400"/>
            <a:ext cx="2618100" cy="111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7</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sort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reverse</a:t>
            </a:r>
            <a:r>
              <a:rPr b="0" i="0" lang="es" sz="1200" u="none" cap="none" strike="noStrike">
                <a:solidFill>
                  <a:srgbClr val="EE5D43"/>
                </a:solidFill>
                <a:latin typeface="Consolas"/>
                <a:ea typeface="Consolas"/>
                <a:cs typeface="Consolas"/>
                <a:sym typeface="Consolas"/>
              </a:rPr>
              <a:t>=True</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[7,5,2,1]</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94" name="Google Shape;494;p34"/>
          <p:cNvSpPr/>
          <p:nvPr/>
        </p:nvSpPr>
        <p:spPr>
          <a:xfrm>
            <a:off x="3254250" y="2440500"/>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sort(reverse=True)</a:t>
            </a:r>
            <a:endParaRPr b="0" i="0" sz="1400" u="none" cap="none" strike="noStrike">
              <a:solidFill>
                <a:schemeClr val="dk2"/>
              </a:solidFill>
              <a:latin typeface="Montserrat"/>
              <a:ea typeface="Montserrat"/>
              <a:cs typeface="Montserrat"/>
              <a:sym typeface="Montserrat"/>
            </a:endParaRPr>
          </a:p>
        </p:txBody>
      </p:sp>
      <p:sp>
        <p:nvSpPr>
          <p:cNvPr id="495" name="Google Shape;495;p34"/>
          <p:cNvSpPr/>
          <p:nvPr/>
        </p:nvSpPr>
        <p:spPr>
          <a:xfrm>
            <a:off x="6026075" y="2669350"/>
            <a:ext cx="2618100" cy="1114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 </a:t>
            </a:r>
            <a:r>
              <a:rPr b="0" i="0" lang="es" sz="1200" u="none" cap="none" strike="noStrike">
                <a:solidFill>
                  <a:srgbClr val="EE5D43"/>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lista.</a:t>
            </a:r>
            <a:r>
              <a:rPr b="0" i="0" lang="es" sz="1200" u="none" cap="none" strike="noStrike">
                <a:solidFill>
                  <a:srgbClr val="FFE66D"/>
                </a:solidFill>
                <a:latin typeface="Consolas"/>
                <a:ea typeface="Consolas"/>
                <a:cs typeface="Consolas"/>
                <a:sym typeface="Consolas"/>
              </a:rPr>
              <a:t>clear</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(lista)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5F6167"/>
                </a:solidFill>
                <a:latin typeface="Consolas"/>
                <a:ea typeface="Consolas"/>
                <a:cs typeface="Consolas"/>
                <a:sym typeface="Consolas"/>
              </a:rPr>
              <a:t>#Resultado: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96" name="Google Shape;496;p34"/>
          <p:cNvSpPr/>
          <p:nvPr/>
        </p:nvSpPr>
        <p:spPr>
          <a:xfrm>
            <a:off x="6026075" y="2440500"/>
            <a:ext cx="2618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.clear()</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Diccionarios</a:t>
            </a:r>
            <a:endParaRPr/>
          </a:p>
        </p:txBody>
      </p:sp>
      <p:sp>
        <p:nvSpPr>
          <p:cNvPr id="502" name="Google Shape;502;p3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Los </a:t>
            </a:r>
            <a:r>
              <a:rPr b="1" lang="es">
                <a:latin typeface="Montserrat"/>
                <a:ea typeface="Montserrat"/>
                <a:cs typeface="Montserrat"/>
                <a:sym typeface="Montserrat"/>
              </a:rPr>
              <a:t>diccionarios</a:t>
            </a:r>
            <a:r>
              <a:rPr lang="es"/>
              <a:t> en Python son un conjunto no ordenado de pares clave: valor. Estas claves son únicas, y si se intenta guardar un valor a una clave ya existente se pierde dicho valor. </a:t>
            </a:r>
            <a:endParaRPr/>
          </a:p>
          <a:p>
            <a:pPr indent="0" lvl="0" marL="0" rtl="0" algn="l">
              <a:lnSpc>
                <a:spcPct val="100000"/>
              </a:lnSpc>
              <a:spcBef>
                <a:spcPts val="0"/>
              </a:spcBef>
              <a:spcAft>
                <a:spcPts val="0"/>
              </a:spcAft>
              <a:buSzPts val="1700"/>
              <a:buNone/>
            </a:pPr>
            <a:r>
              <a:rPr lang="es"/>
              <a:t>Las claves pueden ser cualquier elemento de tipo inmutable (cadenas, números o tuplas (si estás sólo contienen cadenas, números o tuplas). </a:t>
            </a:r>
            <a:endParaRPr/>
          </a:p>
          <a:p>
            <a:pPr indent="0" lvl="0" marL="0" rtl="0" algn="l">
              <a:lnSpc>
                <a:spcPct val="100000"/>
              </a:lnSpc>
              <a:spcBef>
                <a:spcPts val="0"/>
              </a:spcBef>
              <a:spcAft>
                <a:spcPts val="0"/>
              </a:spcAft>
              <a:buSzPts val="1700"/>
              <a:buNone/>
            </a:pPr>
            <a:r>
              <a:rPr lang="es"/>
              <a:t>Se representan como una lista de pares (las claves y valores) separados por comas y encerrados entre llaves.</a:t>
            </a:r>
            <a:endParaRPr/>
          </a:p>
          <a:p>
            <a:pPr indent="0" lvl="0" marL="0" rtl="0" algn="l">
              <a:lnSpc>
                <a:spcPct val="100000"/>
              </a:lnSpc>
              <a:spcBef>
                <a:spcPts val="0"/>
              </a:spcBef>
              <a:spcAft>
                <a:spcPts val="0"/>
              </a:spcAft>
              <a:buSzPts val="1700"/>
              <a:buNone/>
            </a:pPr>
            <a:r>
              <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Diccionarios</a:t>
            </a:r>
            <a:endParaRPr/>
          </a:p>
        </p:txBody>
      </p:sp>
      <p:sp>
        <p:nvSpPr>
          <p:cNvPr id="508" name="Google Shape;508;p36"/>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diccionarios se pueden crear mediante la simple enumeración de los elementos, o por comprensión:</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509" name="Google Shape;509;p36"/>
          <p:cNvSpPr txBox="1"/>
          <p:nvPr/>
        </p:nvSpPr>
        <p:spPr>
          <a:xfrm>
            <a:off x="436425" y="2978675"/>
            <a:ext cx="8279700" cy="4737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Para acceder a las claves Python utiliza un método de hash. </a:t>
            </a:r>
            <a:r>
              <a:rPr b="0" i="0" lang="es" sz="1650" u="sng" cap="none" strike="noStrike">
                <a:solidFill>
                  <a:schemeClr val="hlink"/>
                </a:solidFill>
                <a:latin typeface="Montserrat"/>
                <a:ea typeface="Montserrat"/>
                <a:cs typeface="Montserrat"/>
                <a:sym typeface="Montserrat"/>
                <a:hlinkClick r:id="rId3"/>
              </a:rPr>
              <a:t>+info</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510" name="Google Shape;510;p36"/>
          <p:cNvSpPr/>
          <p:nvPr/>
        </p:nvSpPr>
        <p:spPr>
          <a:xfrm>
            <a:off x="1583200" y="3705975"/>
            <a:ext cx="6278700" cy="754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diccionario vacío</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'Juan'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56</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diccionario de un elemento</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'Juan'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56</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'Ana'</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15</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diccionario de dos elementos</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p:txBody>
      </p:sp>
      <p:sp>
        <p:nvSpPr>
          <p:cNvPr id="511" name="Google Shape;511;p36"/>
          <p:cNvSpPr/>
          <p:nvPr/>
        </p:nvSpPr>
        <p:spPr>
          <a:xfrm>
            <a:off x="1583200" y="3477075"/>
            <a:ext cx="6278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Ejemplos de diccionarios:</a:t>
            </a:r>
            <a:endParaRPr b="0" i="0" sz="1400" u="none" cap="none" strike="noStrike">
              <a:solidFill>
                <a:schemeClr val="dk2"/>
              </a:solidFill>
              <a:latin typeface="Montserrat"/>
              <a:ea typeface="Montserrat"/>
              <a:cs typeface="Montserrat"/>
              <a:sym typeface="Montserrat"/>
            </a:endParaRPr>
          </a:p>
        </p:txBody>
      </p:sp>
      <p:sp>
        <p:nvSpPr>
          <p:cNvPr id="512" name="Google Shape;512;p36"/>
          <p:cNvSpPr/>
          <p:nvPr/>
        </p:nvSpPr>
        <p:spPr>
          <a:xfrm>
            <a:off x="1583200" y="2135650"/>
            <a:ext cx="6278700" cy="833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5F6167"/>
                </a:solidFill>
                <a:latin typeface="Consolas"/>
                <a:ea typeface="Consolas"/>
                <a:cs typeface="Consolas"/>
                <a:sym typeface="Consolas"/>
              </a:rPr>
              <a:t># Creación: Por extensión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diccionario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'Juan'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56</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'Ana'</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15</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5F6167"/>
                </a:solidFill>
                <a:latin typeface="Consolas"/>
                <a:ea typeface="Consolas"/>
                <a:cs typeface="Consolas"/>
                <a:sym typeface="Consolas"/>
              </a:rPr>
              <a:t># Creación: Por compresión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diccionario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{x: x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for</a:t>
            </a:r>
            <a:r>
              <a:rPr b="0" i="0" lang="es" sz="1200" u="none" cap="none" strike="noStrike">
                <a:solidFill>
                  <a:srgbClr val="D5CED9"/>
                </a:solidFill>
                <a:latin typeface="Consolas"/>
                <a:ea typeface="Consolas"/>
                <a:cs typeface="Consolas"/>
                <a:sym typeface="Consolas"/>
              </a:rPr>
              <a:t> x </a:t>
            </a:r>
            <a:r>
              <a:rPr b="0" i="0" lang="es" sz="1200" u="none" cap="none" strike="noStrike">
                <a:solidFill>
                  <a:srgbClr val="C74DED"/>
                </a:solidFill>
                <a:latin typeface="Consolas"/>
                <a:ea typeface="Consolas"/>
                <a:cs typeface="Consolas"/>
                <a:sym typeface="Consolas"/>
              </a:rPr>
              <a:t>in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6</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FFE66D"/>
              </a:solidFill>
              <a:highlight>
                <a:srgbClr val="23262E"/>
              </a:highlight>
              <a:latin typeface="Consolas"/>
              <a:ea typeface="Consolas"/>
              <a:cs typeface="Consolas"/>
              <a:sym typeface="Consolas"/>
            </a:endParaRPr>
          </a:p>
        </p:txBody>
      </p:sp>
      <p:sp>
        <p:nvSpPr>
          <p:cNvPr id="513" name="Google Shape;513;p36"/>
          <p:cNvSpPr/>
          <p:nvPr/>
        </p:nvSpPr>
        <p:spPr>
          <a:xfrm>
            <a:off x="1583200" y="1906750"/>
            <a:ext cx="6278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Creación de un diccionario</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Diccionarios | Acceso</a:t>
            </a:r>
            <a:endParaRPr/>
          </a:p>
        </p:txBody>
      </p:sp>
      <p:sp>
        <p:nvSpPr>
          <p:cNvPr id="519" name="Google Shape;519;p37"/>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Puede accederse a un diccionario de diferentes maneras:</a:t>
            </a:r>
            <a:endParaRPr b="0" i="0" sz="1650" u="none" cap="none" strike="noStrike">
              <a:solidFill>
                <a:schemeClr val="dk2"/>
              </a:solidFill>
              <a:latin typeface="Montserrat"/>
              <a:ea typeface="Montserrat"/>
              <a:cs typeface="Montserrat"/>
              <a:sym typeface="Montserrat"/>
            </a:endParaRPr>
          </a:p>
          <a:p>
            <a:pPr indent="-314325" lvl="0" marL="457200" marR="0" rtl="0" algn="l">
              <a:lnSpc>
                <a:spcPct val="115000"/>
              </a:lnSpc>
              <a:spcBef>
                <a:spcPts val="1199"/>
              </a:spcBef>
              <a:spcAft>
                <a:spcPts val="0"/>
              </a:spcAft>
              <a:buClr>
                <a:schemeClr val="dk2"/>
              </a:buClr>
              <a:buSzPts val="1350"/>
              <a:buFont typeface="Montserrat"/>
              <a:buChar char="●"/>
            </a:pPr>
            <a:r>
              <a:rPr b="0" i="0" lang="es" sz="1350" u="none" cap="none" strike="noStrike">
                <a:solidFill>
                  <a:schemeClr val="dk2"/>
                </a:solidFill>
                <a:latin typeface="Montserrat"/>
                <a:ea typeface="Montserrat"/>
                <a:cs typeface="Montserrat"/>
                <a:sym typeface="Montserrat"/>
              </a:rPr>
              <a:t>A las claves, utilizando método </a:t>
            </a:r>
            <a:r>
              <a:rPr b="1" i="0" lang="es" sz="1350" u="none" cap="none" strike="noStrike">
                <a:solidFill>
                  <a:schemeClr val="dk2"/>
                </a:solidFill>
                <a:latin typeface="Montserrat"/>
                <a:ea typeface="Montserrat"/>
                <a:cs typeface="Montserrat"/>
                <a:sym typeface="Montserrat"/>
              </a:rPr>
              <a:t>keys()</a:t>
            </a:r>
            <a:endParaRPr b="1" i="0" sz="1350" u="none" cap="none" strike="noStrike">
              <a:solidFill>
                <a:schemeClr val="dk2"/>
              </a:solidFill>
              <a:latin typeface="Montserrat"/>
              <a:ea typeface="Montserrat"/>
              <a:cs typeface="Montserrat"/>
              <a:sym typeface="Montserrat"/>
            </a:endParaRPr>
          </a:p>
          <a:p>
            <a:pPr indent="-314325" lvl="0" marL="457200" marR="0" rtl="0" algn="l">
              <a:lnSpc>
                <a:spcPct val="115000"/>
              </a:lnSpc>
              <a:spcBef>
                <a:spcPts val="0"/>
              </a:spcBef>
              <a:spcAft>
                <a:spcPts val="0"/>
              </a:spcAft>
              <a:buClr>
                <a:schemeClr val="dk2"/>
              </a:buClr>
              <a:buSzPts val="1350"/>
              <a:buFont typeface="Montserrat"/>
              <a:buChar char="●"/>
            </a:pPr>
            <a:r>
              <a:rPr b="0" i="0" lang="es" sz="1350" u="none" cap="none" strike="noStrike">
                <a:solidFill>
                  <a:schemeClr val="dk2"/>
                </a:solidFill>
                <a:latin typeface="Montserrat"/>
                <a:ea typeface="Montserrat"/>
                <a:cs typeface="Montserrat"/>
                <a:sym typeface="Montserrat"/>
              </a:rPr>
              <a:t>A los valores, utilizando la clave como índice</a:t>
            </a:r>
            <a:endParaRPr b="0" i="0" sz="1350" u="none" cap="none" strike="noStrike">
              <a:solidFill>
                <a:schemeClr val="dk2"/>
              </a:solidFill>
              <a:latin typeface="Montserrat"/>
              <a:ea typeface="Montserrat"/>
              <a:cs typeface="Montserrat"/>
              <a:sym typeface="Montserrat"/>
            </a:endParaRPr>
          </a:p>
          <a:p>
            <a:pPr indent="-314325" lvl="0" marL="457200" marR="0" rtl="0" algn="l">
              <a:lnSpc>
                <a:spcPct val="115000"/>
              </a:lnSpc>
              <a:spcBef>
                <a:spcPts val="0"/>
              </a:spcBef>
              <a:spcAft>
                <a:spcPts val="0"/>
              </a:spcAft>
              <a:buClr>
                <a:schemeClr val="dk2"/>
              </a:buClr>
              <a:buSzPts val="1350"/>
              <a:buFont typeface="Montserrat"/>
              <a:buChar char="●"/>
            </a:pPr>
            <a:r>
              <a:rPr b="0" i="0" lang="es" sz="1350" u="none" cap="none" strike="noStrike">
                <a:solidFill>
                  <a:schemeClr val="dk2"/>
                </a:solidFill>
                <a:latin typeface="Montserrat"/>
                <a:ea typeface="Montserrat"/>
                <a:cs typeface="Montserrat"/>
                <a:sym typeface="Montserrat"/>
              </a:rPr>
              <a:t>A la clave-valor, utilizando método </a:t>
            </a:r>
            <a:r>
              <a:rPr b="1" i="0" lang="es" sz="1350" u="none" cap="none" strike="noStrike">
                <a:solidFill>
                  <a:schemeClr val="dk2"/>
                </a:solidFill>
                <a:latin typeface="Montserrat"/>
                <a:ea typeface="Montserrat"/>
                <a:cs typeface="Montserrat"/>
                <a:sym typeface="Montserrat"/>
              </a:rPr>
              <a:t>ítems()</a:t>
            </a:r>
            <a:endParaRPr b="1" i="0" sz="1350" u="none" cap="none" strike="noStrike">
              <a:solidFill>
                <a:schemeClr val="dk2"/>
              </a:solidFill>
              <a:latin typeface="Montserrat"/>
              <a:ea typeface="Montserrat"/>
              <a:cs typeface="Montserrat"/>
              <a:sym typeface="Montserrat"/>
            </a:endParaRPr>
          </a:p>
          <a:p>
            <a:pPr indent="-314325" lvl="0" marL="457200" marR="0" rtl="0" algn="l">
              <a:lnSpc>
                <a:spcPct val="115000"/>
              </a:lnSpc>
              <a:spcBef>
                <a:spcPts val="0"/>
              </a:spcBef>
              <a:spcAft>
                <a:spcPts val="0"/>
              </a:spcAft>
              <a:buClr>
                <a:schemeClr val="dk2"/>
              </a:buClr>
              <a:buSzPts val="1350"/>
              <a:buFont typeface="Montserrat"/>
              <a:buChar char="●"/>
            </a:pPr>
            <a:r>
              <a:rPr b="0" i="0" lang="es" sz="1350" u="none" cap="none" strike="noStrike">
                <a:solidFill>
                  <a:schemeClr val="dk2"/>
                </a:solidFill>
                <a:latin typeface="Montserrat"/>
                <a:ea typeface="Montserrat"/>
                <a:cs typeface="Montserrat"/>
                <a:sym typeface="Montserrat"/>
              </a:rPr>
              <a:t>No es posible obtener porciones de un diccionario usando [:]</a:t>
            </a:r>
            <a:endParaRPr b="0" i="0" sz="1382" u="none" cap="none" strike="noStrike">
              <a:solidFill>
                <a:srgbClr val="595959"/>
              </a:solidFill>
              <a:latin typeface="Montserrat"/>
              <a:ea typeface="Montserrat"/>
              <a:cs typeface="Montserrat"/>
              <a:sym typeface="Montserrat"/>
            </a:endParaRPr>
          </a:p>
        </p:txBody>
      </p:sp>
      <p:sp>
        <p:nvSpPr>
          <p:cNvPr id="520" name="Google Shape;520;p37"/>
          <p:cNvSpPr/>
          <p:nvPr/>
        </p:nvSpPr>
        <p:spPr>
          <a:xfrm>
            <a:off x="602350" y="3072700"/>
            <a:ext cx="4602900" cy="1329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diccionario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'uno'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'dos'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'tres'</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(diccionario.</a:t>
            </a:r>
            <a:r>
              <a:rPr b="0" i="0" lang="es" sz="1200" u="none" cap="none" strike="noStrike">
                <a:solidFill>
                  <a:srgbClr val="FFE66D"/>
                </a:solidFill>
                <a:latin typeface="Consolas"/>
                <a:ea typeface="Consolas"/>
                <a:cs typeface="Consolas"/>
                <a:sym typeface="Consolas"/>
              </a:rPr>
              <a:t>keys</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C74DED"/>
                </a:solidFill>
                <a:latin typeface="Consolas"/>
                <a:ea typeface="Consolas"/>
                <a:cs typeface="Consolas"/>
                <a:sym typeface="Consolas"/>
              </a:rPr>
              <a:t>for</a:t>
            </a:r>
            <a:r>
              <a:rPr b="0" i="0" lang="es" sz="1200" u="none" cap="none" strike="noStrike">
                <a:solidFill>
                  <a:srgbClr val="D5CED9"/>
                </a:solidFill>
                <a:latin typeface="Consolas"/>
                <a:ea typeface="Consolas"/>
                <a:cs typeface="Consolas"/>
                <a:sym typeface="Consolas"/>
              </a:rPr>
              <a:t> i </a:t>
            </a:r>
            <a:r>
              <a:rPr b="0" i="0" lang="es" sz="1200" u="none" cap="none" strike="noStrike">
                <a:solidFill>
                  <a:srgbClr val="C74DED"/>
                </a:solidFill>
                <a:latin typeface="Consolas"/>
                <a:ea typeface="Consolas"/>
                <a:cs typeface="Consolas"/>
                <a:sym typeface="Consolas"/>
              </a:rPr>
              <a:t>in</a:t>
            </a:r>
            <a:r>
              <a:rPr b="0" i="0" lang="es" sz="1200" u="none" cap="none" strike="noStrike">
                <a:solidFill>
                  <a:srgbClr val="D5CED9"/>
                </a:solidFill>
                <a:latin typeface="Consolas"/>
                <a:ea typeface="Consolas"/>
                <a:cs typeface="Consolas"/>
                <a:sym typeface="Consolas"/>
              </a:rPr>
              <a:t> diccionario.</a:t>
            </a:r>
            <a:r>
              <a:rPr b="0" i="0" lang="es" sz="1200" u="none" cap="none" strike="noStrike">
                <a:solidFill>
                  <a:srgbClr val="FFE66D"/>
                </a:solidFill>
                <a:latin typeface="Consolas"/>
                <a:ea typeface="Consolas"/>
                <a:cs typeface="Consolas"/>
                <a:sym typeface="Consolas"/>
              </a:rPr>
              <a:t>keys</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(diccionario[i])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C74DED"/>
                </a:solidFill>
                <a:latin typeface="Consolas"/>
                <a:ea typeface="Consolas"/>
                <a:cs typeface="Consolas"/>
                <a:sym typeface="Consolas"/>
              </a:rPr>
              <a:t>for</a:t>
            </a:r>
            <a:r>
              <a:rPr b="0" i="0" lang="es" sz="1200" u="none" cap="none" strike="noStrike">
                <a:solidFill>
                  <a:srgbClr val="D5CED9"/>
                </a:solidFill>
                <a:latin typeface="Consolas"/>
                <a:ea typeface="Consolas"/>
                <a:cs typeface="Consolas"/>
                <a:sym typeface="Consolas"/>
              </a:rPr>
              <a:t> clave, valor </a:t>
            </a:r>
            <a:r>
              <a:rPr b="0" i="0" lang="es" sz="1200" u="none" cap="none" strike="noStrike">
                <a:solidFill>
                  <a:srgbClr val="C74DED"/>
                </a:solidFill>
                <a:latin typeface="Consolas"/>
                <a:ea typeface="Consolas"/>
                <a:cs typeface="Consolas"/>
                <a:sym typeface="Consolas"/>
              </a:rPr>
              <a:t>in</a:t>
            </a:r>
            <a:r>
              <a:rPr b="0" i="0" lang="es" sz="1200" u="none" cap="none" strike="noStrike">
                <a:solidFill>
                  <a:srgbClr val="D5CED9"/>
                </a:solidFill>
                <a:latin typeface="Consolas"/>
                <a:ea typeface="Consolas"/>
                <a:cs typeface="Consolas"/>
                <a:sym typeface="Consolas"/>
              </a:rPr>
              <a:t> diccionario.</a:t>
            </a:r>
            <a:r>
              <a:rPr b="0" i="0" lang="es" sz="1200" u="none" cap="none" strike="noStrike">
                <a:solidFill>
                  <a:srgbClr val="FFE66D"/>
                </a:solidFill>
                <a:latin typeface="Consolas"/>
                <a:ea typeface="Consolas"/>
                <a:cs typeface="Consolas"/>
                <a:sym typeface="Consolas"/>
              </a:rPr>
              <a:t>items</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(clave, </a:t>
            </a:r>
            <a:r>
              <a:rPr b="0" i="0" lang="es" sz="1200" u="none" cap="none" strike="noStrike">
                <a:solidFill>
                  <a:srgbClr val="96E072"/>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valor, </a:t>
            </a:r>
            <a:r>
              <a:rPr b="0" i="0" lang="es" sz="1200" u="none" cap="none" strike="noStrike">
                <a:solidFill>
                  <a:srgbClr val="00E8C6"/>
                </a:solidFill>
                <a:latin typeface="Consolas"/>
                <a:ea typeface="Consolas"/>
                <a:cs typeface="Consolas"/>
                <a:sym typeface="Consolas"/>
              </a:rPr>
              <a:t>end</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 '</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p:txBody>
      </p:sp>
      <p:sp>
        <p:nvSpPr>
          <p:cNvPr id="521" name="Google Shape;521;p37"/>
          <p:cNvSpPr/>
          <p:nvPr/>
        </p:nvSpPr>
        <p:spPr>
          <a:xfrm>
            <a:off x="602350" y="2843800"/>
            <a:ext cx="4602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Ejemplos de diccionarios:</a:t>
            </a:r>
            <a:endParaRPr b="0" i="0" sz="1400" u="none" cap="none" strike="noStrike">
              <a:solidFill>
                <a:schemeClr val="dk2"/>
              </a:solidFill>
              <a:latin typeface="Montserrat"/>
              <a:ea typeface="Montserrat"/>
              <a:cs typeface="Montserrat"/>
              <a:sym typeface="Montserrat"/>
            </a:endParaRPr>
          </a:p>
        </p:txBody>
      </p:sp>
      <p:sp>
        <p:nvSpPr>
          <p:cNvPr id="522" name="Google Shape;522;p37"/>
          <p:cNvSpPr/>
          <p:nvPr/>
        </p:nvSpPr>
        <p:spPr>
          <a:xfrm>
            <a:off x="5406050" y="3064175"/>
            <a:ext cx="3135600" cy="1329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dict_keys([1, 2, 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uno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dos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tres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 : uno; 2 : dos; 3 : tres;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523" name="Google Shape;523;p37"/>
          <p:cNvSpPr/>
          <p:nvPr/>
        </p:nvSpPr>
        <p:spPr>
          <a:xfrm>
            <a:off x="5405825" y="2843800"/>
            <a:ext cx="3135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Diccionarios | Métodos, funciones y operadores</a:t>
            </a:r>
            <a:endParaRPr/>
          </a:p>
        </p:txBody>
      </p:sp>
      <p:sp>
        <p:nvSpPr>
          <p:cNvPr id="529" name="Google Shape;529;p38"/>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siguientes diagramas resumen los métodos, funciones y operadores disponibles para los diccionarios:</a:t>
            </a:r>
            <a:endParaRPr b="0" i="0" sz="1382" u="none" cap="none" strike="noStrike">
              <a:solidFill>
                <a:srgbClr val="595959"/>
              </a:solidFill>
              <a:latin typeface="Montserrat"/>
              <a:ea typeface="Montserrat"/>
              <a:cs typeface="Montserrat"/>
              <a:sym typeface="Montserrat"/>
            </a:endParaRPr>
          </a:p>
        </p:txBody>
      </p:sp>
      <p:pic>
        <p:nvPicPr>
          <p:cNvPr id="530" name="Google Shape;530;p38"/>
          <p:cNvPicPr preferRelativeResize="0"/>
          <p:nvPr/>
        </p:nvPicPr>
        <p:blipFill rotWithShape="1">
          <a:blip r:embed="rId3">
            <a:alphaModFix/>
          </a:blip>
          <a:srcRect b="8625" l="8580" r="4303" t="11207"/>
          <a:stretch/>
        </p:blipFill>
        <p:spPr>
          <a:xfrm>
            <a:off x="870800" y="2082550"/>
            <a:ext cx="3123874" cy="2543499"/>
          </a:xfrm>
          <a:prstGeom prst="rect">
            <a:avLst/>
          </a:prstGeom>
          <a:noFill/>
          <a:ln>
            <a:noFill/>
          </a:ln>
        </p:spPr>
      </p:pic>
      <p:pic>
        <p:nvPicPr>
          <p:cNvPr id="531" name="Google Shape;531;p38"/>
          <p:cNvPicPr preferRelativeResize="0"/>
          <p:nvPr/>
        </p:nvPicPr>
        <p:blipFill rotWithShape="1">
          <a:blip r:embed="rId4">
            <a:alphaModFix/>
          </a:blip>
          <a:srcRect b="4087" l="4711" r="8512" t="8377"/>
          <a:stretch/>
        </p:blipFill>
        <p:spPr>
          <a:xfrm>
            <a:off x="4172275" y="2255100"/>
            <a:ext cx="2494475" cy="2007975"/>
          </a:xfrm>
          <a:prstGeom prst="rect">
            <a:avLst/>
          </a:prstGeom>
          <a:noFill/>
          <a:ln>
            <a:noFill/>
          </a:ln>
        </p:spPr>
      </p:pic>
      <p:pic>
        <p:nvPicPr>
          <p:cNvPr id="532" name="Google Shape;532;p38"/>
          <p:cNvPicPr preferRelativeResize="0"/>
          <p:nvPr/>
        </p:nvPicPr>
        <p:blipFill rotWithShape="1">
          <a:blip r:embed="rId5">
            <a:alphaModFix/>
          </a:blip>
          <a:srcRect b="0" l="19908" r="19502" t="0"/>
          <a:stretch/>
        </p:blipFill>
        <p:spPr>
          <a:xfrm>
            <a:off x="6875350" y="2056550"/>
            <a:ext cx="1397850" cy="24050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9"/>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Tuplas</a:t>
            </a:r>
            <a:endParaRPr/>
          </a:p>
        </p:txBody>
      </p:sp>
      <p:sp>
        <p:nvSpPr>
          <p:cNvPr id="538" name="Google Shape;538;p39"/>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Las </a:t>
            </a:r>
            <a:r>
              <a:rPr b="1" lang="es">
                <a:latin typeface="Montserrat"/>
                <a:ea typeface="Montserrat"/>
                <a:cs typeface="Montserrat"/>
                <a:sym typeface="Montserrat"/>
              </a:rPr>
              <a:t>tuplas</a:t>
            </a:r>
            <a:r>
              <a:rPr lang="es"/>
              <a:t> en </a:t>
            </a:r>
            <a:r>
              <a:rPr b="1" lang="es">
                <a:latin typeface="Montserrat"/>
                <a:ea typeface="Montserrat"/>
                <a:cs typeface="Montserrat"/>
                <a:sym typeface="Montserrat"/>
              </a:rPr>
              <a:t>Python</a:t>
            </a:r>
            <a:r>
              <a:rPr lang="es"/>
              <a:t> son conjunto de elementos separados por  comas y encerrados entre paréntesis. Los paréntesis no son obligatorios. </a:t>
            </a:r>
            <a:endParaRPr/>
          </a:p>
          <a:p>
            <a:pPr indent="0" lvl="0" marL="0" rtl="0" algn="l">
              <a:lnSpc>
                <a:spcPct val="100000"/>
              </a:lnSpc>
              <a:spcBef>
                <a:spcPts val="0"/>
              </a:spcBef>
              <a:spcAft>
                <a:spcPts val="0"/>
              </a:spcAft>
              <a:buSzPts val="1700"/>
              <a:buNone/>
            </a:pPr>
            <a:r>
              <a:rPr lang="es"/>
              <a:t>Las tuplas son </a:t>
            </a:r>
            <a:r>
              <a:rPr b="1" lang="es">
                <a:latin typeface="Montserrat"/>
                <a:ea typeface="Montserrat"/>
                <a:cs typeface="Montserrat"/>
                <a:sym typeface="Montserrat"/>
              </a:rPr>
              <a:t>inmutables</a:t>
            </a:r>
            <a:r>
              <a:rPr lang="es"/>
              <a:t> y en general contienen una secuencia heterogénea de elementos. Los elementos de una tupla si pueden ser mutables. </a:t>
            </a:r>
            <a:endParaRPr/>
          </a:p>
          <a:p>
            <a:pPr indent="0" lvl="0" marL="0" rtl="0" algn="l">
              <a:lnSpc>
                <a:spcPct val="100000"/>
              </a:lnSpc>
              <a:spcBef>
                <a:spcPts val="0"/>
              </a:spcBef>
              <a:spcAft>
                <a:spcPts val="0"/>
              </a:spcAft>
              <a:buSzPts val="1700"/>
              <a:buNone/>
            </a:pPr>
            <a:r>
              <a:rPr lang="es"/>
              <a:t>Podemos pensar en una tupla como si fuese una lista, pero recordando que su inmutabilidad hace que muchos de sus métodos y funciones no puedan utilizarse.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Tuplas</a:t>
            </a:r>
            <a:endParaRPr/>
          </a:p>
        </p:txBody>
      </p:sp>
      <p:sp>
        <p:nvSpPr>
          <p:cNvPr id="544" name="Google Shape;544;p40"/>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Las tuplas se pueden crear por extensión, o mediante un </a:t>
            </a:r>
            <a:r>
              <a:rPr b="1" i="0" lang="es" sz="1650" u="none" cap="none" strike="noStrike">
                <a:solidFill>
                  <a:schemeClr val="dk2"/>
                </a:solidFill>
                <a:latin typeface="Montserrat"/>
                <a:ea typeface="Montserrat"/>
                <a:cs typeface="Montserrat"/>
                <a:sym typeface="Montserrat"/>
              </a:rPr>
              <a:t>empaquetado </a:t>
            </a:r>
            <a:r>
              <a:rPr b="0" i="0" lang="es" sz="1650" u="none" cap="none" strike="noStrike">
                <a:solidFill>
                  <a:schemeClr val="dk2"/>
                </a:solidFill>
                <a:latin typeface="Montserrat"/>
                <a:ea typeface="Montserrat"/>
                <a:cs typeface="Montserrat"/>
                <a:sym typeface="Montserrat"/>
              </a:rPr>
              <a:t>(</a:t>
            </a:r>
            <a:r>
              <a:rPr b="1" i="1" lang="es" sz="1650" u="none" cap="none" strike="noStrike">
                <a:solidFill>
                  <a:schemeClr val="dk2"/>
                </a:solidFill>
                <a:latin typeface="Montserrat"/>
                <a:ea typeface="Montserrat"/>
                <a:cs typeface="Montserrat"/>
                <a:sym typeface="Montserrat"/>
              </a:rPr>
              <a:t>pack</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545" name="Google Shape;545;p40"/>
          <p:cNvSpPr txBox="1"/>
          <p:nvPr/>
        </p:nvSpPr>
        <p:spPr>
          <a:xfrm>
            <a:off x="436425" y="2978675"/>
            <a:ext cx="8279700" cy="9186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Y se pueden “</a:t>
            </a:r>
            <a:r>
              <a:rPr b="0" i="1" lang="es" sz="1650" u="none" cap="none" strike="noStrike">
                <a:solidFill>
                  <a:schemeClr val="dk2"/>
                </a:solidFill>
                <a:latin typeface="Montserrat"/>
                <a:ea typeface="Montserrat"/>
                <a:cs typeface="Montserrat"/>
                <a:sym typeface="Montserrat"/>
              </a:rPr>
              <a:t>desempaquetar</a:t>
            </a:r>
            <a:r>
              <a:rPr b="0" i="0" lang="es" sz="1650" u="none" cap="none" strike="noStrike">
                <a:solidFill>
                  <a:schemeClr val="dk2"/>
                </a:solidFill>
                <a:latin typeface="Montserrat"/>
                <a:ea typeface="Montserrat"/>
                <a:cs typeface="Montserrat"/>
                <a:sym typeface="Montserrat"/>
              </a:rPr>
              <a:t>” (</a:t>
            </a:r>
            <a:r>
              <a:rPr b="1" i="1" lang="es" sz="1650" u="none" cap="none" strike="noStrike">
                <a:solidFill>
                  <a:schemeClr val="dk2"/>
                </a:solidFill>
                <a:latin typeface="Montserrat"/>
                <a:ea typeface="Montserrat"/>
                <a:cs typeface="Montserrat"/>
                <a:sym typeface="Montserrat"/>
              </a:rPr>
              <a:t>unzip</a:t>
            </a:r>
            <a:r>
              <a:rPr b="0" i="0" lang="es" sz="1650" u="none" cap="none" strike="noStrike">
                <a:solidFill>
                  <a:schemeClr val="dk2"/>
                </a:solidFill>
                <a:latin typeface="Montserrat"/>
                <a:ea typeface="Montserrat"/>
                <a:cs typeface="Montserrat"/>
                <a:sym typeface="Montserrat"/>
              </a:rPr>
              <a:t>), volcando su contenido a variables. Se requiere que la cantidad de variables a la izquierda del signo igual sea el tamaño de la tupla. </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546" name="Google Shape;546;p40"/>
          <p:cNvSpPr/>
          <p:nvPr/>
        </p:nvSpPr>
        <p:spPr>
          <a:xfrm>
            <a:off x="436425" y="4162675"/>
            <a:ext cx="8378400" cy="297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nombre,  nacimiento, dni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'Palotes, Juan de'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1930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3000936</a:t>
            </a:r>
            <a:r>
              <a:rPr b="0" i="0" lang="es" sz="1200" u="none" cap="none" strike="noStrike">
                <a:solidFill>
                  <a:srgbClr val="D5CED9"/>
                </a:solidFill>
                <a:latin typeface="Consolas"/>
                <a:ea typeface="Consolas"/>
                <a:cs typeface="Consolas"/>
                <a:sym typeface="Consolas"/>
              </a:rPr>
              <a:t>)</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p:txBody>
      </p:sp>
      <p:sp>
        <p:nvSpPr>
          <p:cNvPr id="547" name="Google Shape;547;p40"/>
          <p:cNvSpPr/>
          <p:nvPr/>
        </p:nvSpPr>
        <p:spPr>
          <a:xfrm>
            <a:off x="436425" y="3934875"/>
            <a:ext cx="8378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Desempaquetado de una tuplas:</a:t>
            </a:r>
            <a:endParaRPr b="0" i="0" sz="1400" u="none" cap="none" strike="noStrike">
              <a:solidFill>
                <a:schemeClr val="dk2"/>
              </a:solidFill>
              <a:latin typeface="Montserrat"/>
              <a:ea typeface="Montserrat"/>
              <a:cs typeface="Montserrat"/>
              <a:sym typeface="Montserrat"/>
            </a:endParaRPr>
          </a:p>
        </p:txBody>
      </p:sp>
      <p:sp>
        <p:nvSpPr>
          <p:cNvPr id="548" name="Google Shape;548;p40"/>
          <p:cNvSpPr/>
          <p:nvPr/>
        </p:nvSpPr>
        <p:spPr>
          <a:xfrm>
            <a:off x="1583200" y="2135650"/>
            <a:ext cx="6278700" cy="833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5F6167"/>
                </a:solidFill>
                <a:latin typeface="Consolas"/>
                <a:ea typeface="Consolas"/>
                <a:cs typeface="Consolas"/>
                <a:sym typeface="Consolas"/>
              </a:rPr>
              <a:t># Creación: Por extensión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300" u="none" cap="none" strike="noStrike">
                <a:solidFill>
                  <a:srgbClr val="D5CED9"/>
                </a:solidFill>
                <a:latin typeface="Consolas"/>
                <a:ea typeface="Consolas"/>
                <a:cs typeface="Consolas"/>
                <a:sym typeface="Consolas"/>
              </a:rPr>
              <a:t>tupla1 </a:t>
            </a:r>
            <a:r>
              <a:rPr b="0" i="0" lang="es" sz="1300" u="none" cap="none" strike="noStrike">
                <a:solidFill>
                  <a:srgbClr val="EE5D43"/>
                </a:solidFill>
                <a:latin typeface="Consolas"/>
                <a:ea typeface="Consolas"/>
                <a:cs typeface="Consolas"/>
                <a:sym typeface="Consolas"/>
              </a:rPr>
              <a:t>=</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96E072"/>
                </a:solidFill>
                <a:latin typeface="Consolas"/>
                <a:ea typeface="Consolas"/>
                <a:cs typeface="Consolas"/>
                <a:sym typeface="Consolas"/>
              </a:rPr>
              <a:t>'uno'</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96E072"/>
                </a:solidFill>
                <a:latin typeface="Consolas"/>
                <a:ea typeface="Consolas"/>
                <a:cs typeface="Consolas"/>
                <a:sym typeface="Consolas"/>
              </a:rPr>
              <a:t>'dos'</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96E072"/>
                </a:solidFill>
                <a:latin typeface="Consolas"/>
                <a:ea typeface="Consolas"/>
                <a:cs typeface="Consolas"/>
                <a:sym typeface="Consolas"/>
              </a:rPr>
              <a:t>'tres'</a:t>
            </a:r>
            <a:r>
              <a:rPr b="0" i="0" lang="es" sz="13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5F6167"/>
                </a:solidFill>
                <a:latin typeface="Consolas"/>
                <a:ea typeface="Consolas"/>
                <a:cs typeface="Consolas"/>
                <a:sym typeface="Consolas"/>
              </a:rPr>
              <a:t># Creación: Mediante empaquetado</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tupla2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300" u="none" cap="none" strike="noStrike">
                <a:solidFill>
                  <a:srgbClr val="96E072"/>
                </a:solidFill>
                <a:latin typeface="Consolas"/>
                <a:ea typeface="Consolas"/>
                <a:cs typeface="Consolas"/>
                <a:sym typeface="Consolas"/>
              </a:rPr>
              <a:t>'Palotes, Juan de'</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1930</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11</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13</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3000936</a:t>
            </a:r>
            <a:endParaRPr b="0" i="0" sz="13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t/>
            </a:r>
            <a:endParaRPr b="0" i="0" sz="1200" u="none" cap="none" strike="noStrike">
              <a:solidFill>
                <a:srgbClr val="D5CED9"/>
              </a:solidFill>
              <a:latin typeface="Consolas"/>
              <a:ea typeface="Consolas"/>
              <a:cs typeface="Consolas"/>
              <a:sym typeface="Consolas"/>
            </a:endParaRPr>
          </a:p>
        </p:txBody>
      </p:sp>
      <p:sp>
        <p:nvSpPr>
          <p:cNvPr id="549" name="Google Shape;549;p40"/>
          <p:cNvSpPr/>
          <p:nvPr/>
        </p:nvSpPr>
        <p:spPr>
          <a:xfrm>
            <a:off x="1583200" y="1906750"/>
            <a:ext cx="6278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Creación de una tupla</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Tuplas | Acceso</a:t>
            </a:r>
            <a:endParaRPr/>
          </a:p>
        </p:txBody>
      </p:sp>
      <p:sp>
        <p:nvSpPr>
          <p:cNvPr id="555" name="Google Shape;555;p41"/>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556" name="Google Shape;556;p41"/>
          <p:cNvSpPr txBox="1"/>
          <p:nvPr/>
        </p:nvSpPr>
        <p:spPr>
          <a:xfrm>
            <a:off x="432150" y="2460100"/>
            <a:ext cx="8279700" cy="6291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Se accede a los elementos desempaquetando, mediante un índice o usando rebanadas (slices):</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557" name="Google Shape;557;p41"/>
          <p:cNvSpPr/>
          <p:nvPr/>
        </p:nvSpPr>
        <p:spPr>
          <a:xfrm>
            <a:off x="382800" y="3349000"/>
            <a:ext cx="8378400" cy="1111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D5CED9"/>
                </a:solidFill>
                <a:latin typeface="Consolas"/>
                <a:ea typeface="Consolas"/>
                <a:cs typeface="Consolas"/>
                <a:sym typeface="Consolas"/>
              </a:rPr>
              <a:t>tupla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'Palotes, Juan de'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1930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3000936</a:t>
            </a:r>
            <a:r>
              <a:rPr b="0" i="0" lang="es" sz="1200" u="none" cap="none" strike="noStrike">
                <a:solidFill>
                  <a:srgbClr val="D5CED9"/>
                </a:solidFill>
                <a:latin typeface="Consolas"/>
                <a:ea typeface="Consolas"/>
                <a:cs typeface="Consolas"/>
                <a:sym typeface="Consolas"/>
              </a:rPr>
              <a: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D5CED9"/>
                </a:solidFill>
                <a:latin typeface="Consolas"/>
                <a:ea typeface="Consolas"/>
                <a:cs typeface="Consolas"/>
                <a:sym typeface="Consolas"/>
              </a:rPr>
              <a:t>nombre, fecha, dni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tupla </a:t>
            </a:r>
            <a:r>
              <a:rPr b="0" i="0" lang="es" sz="1200" u="none" cap="none" strike="noStrike">
                <a:solidFill>
                  <a:srgbClr val="5F6167"/>
                </a:solidFill>
                <a:latin typeface="Consolas"/>
                <a:ea typeface="Consolas"/>
                <a:cs typeface="Consolas"/>
                <a:sym typeface="Consolas"/>
              </a:rPr>
              <a:t># Desempaque</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5F6167"/>
                </a:solidFill>
                <a:latin typeface="Consolas"/>
                <a:ea typeface="Consolas"/>
                <a:cs typeface="Consolas"/>
                <a:sym typeface="Consolas"/>
              </a:rPr>
              <a:t># Acceso por índices:</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'Nombre: '</a:t>
            </a:r>
            <a:r>
              <a:rPr b="0" i="0" lang="es" sz="1200" u="none" cap="none" strike="noStrike">
                <a:solidFill>
                  <a:srgbClr val="D5CED9"/>
                </a:solidFill>
                <a:latin typeface="Consolas"/>
                <a:ea typeface="Consolas"/>
                <a:cs typeface="Consolas"/>
                <a:sym typeface="Consolas"/>
              </a:rPr>
              <a:t>, tupla[</a:t>
            </a:r>
            <a:r>
              <a:rPr b="0" i="0" lang="es" sz="1200" u="none" cap="none" strike="noStrike">
                <a:solidFill>
                  <a:srgbClr val="F39C12"/>
                </a:solidFill>
                <a:latin typeface="Consolas"/>
                <a:ea typeface="Consolas"/>
                <a:cs typeface="Consolas"/>
                <a:sym typeface="Consolas"/>
              </a:rPr>
              <a:t>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 Fecha nac.: '</a:t>
            </a:r>
            <a:r>
              <a:rPr b="0" i="0" lang="es" sz="1200" u="none" cap="none" strike="noStrike">
                <a:solidFill>
                  <a:srgbClr val="D5CED9"/>
                </a:solidFill>
                <a:latin typeface="Consolas"/>
                <a:ea typeface="Consolas"/>
                <a:cs typeface="Consolas"/>
                <a:sym typeface="Consolas"/>
              </a:rPr>
              <a:t>, tupla[</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 DNI: '</a:t>
            </a:r>
            <a:r>
              <a:rPr b="0" i="0" lang="es" sz="1200" u="none" cap="none" strike="noStrike">
                <a:solidFill>
                  <a:srgbClr val="D5CED9"/>
                </a:solidFill>
                <a:latin typeface="Consolas"/>
                <a:ea typeface="Consolas"/>
                <a:cs typeface="Consolas"/>
                <a:sym typeface="Consolas"/>
              </a:rPr>
              <a:t>, tupla[</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(tupla[::]) </a:t>
            </a:r>
            <a:r>
              <a:rPr b="0" i="0" lang="es" sz="1200" u="none" cap="none" strike="noStrike">
                <a:solidFill>
                  <a:srgbClr val="5F6167"/>
                </a:solidFill>
                <a:latin typeface="Consolas"/>
                <a:ea typeface="Consolas"/>
                <a:cs typeface="Consolas"/>
                <a:sym typeface="Consolas"/>
              </a:rPr>
              <a:t># Acceso mediante rebanadas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D5CED9"/>
              </a:solidFill>
              <a:latin typeface="Consolas"/>
              <a:ea typeface="Consolas"/>
              <a:cs typeface="Consolas"/>
              <a:sym typeface="Consolas"/>
            </a:endParaRPr>
          </a:p>
        </p:txBody>
      </p:sp>
      <p:sp>
        <p:nvSpPr>
          <p:cNvPr id="558" name="Google Shape;558;p41"/>
          <p:cNvSpPr/>
          <p:nvPr/>
        </p:nvSpPr>
        <p:spPr>
          <a:xfrm>
            <a:off x="382800" y="3120100"/>
            <a:ext cx="8378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Acceso a elementos de una tuplas</a:t>
            </a:r>
            <a:endParaRPr b="0" i="0" sz="1400" u="none" cap="none" strike="noStrike">
              <a:solidFill>
                <a:schemeClr val="dk2"/>
              </a:solidFill>
              <a:latin typeface="Montserrat"/>
              <a:ea typeface="Montserrat"/>
              <a:cs typeface="Montserrat"/>
              <a:sym typeface="Montserrat"/>
            </a:endParaRPr>
          </a:p>
        </p:txBody>
      </p:sp>
      <p:sp>
        <p:nvSpPr>
          <p:cNvPr id="559" name="Google Shape;559;p41"/>
          <p:cNvSpPr/>
          <p:nvPr/>
        </p:nvSpPr>
        <p:spPr>
          <a:xfrm>
            <a:off x="841800" y="1510600"/>
            <a:ext cx="7460400" cy="868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tupla vacía</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96E072"/>
                </a:solidFill>
                <a:latin typeface="Consolas"/>
                <a:ea typeface="Consolas"/>
                <a:cs typeface="Consolas"/>
                <a:sym typeface="Consolas"/>
              </a:rPr>
              <a:t>'un valor'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tupla con un valor</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'uno'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'dos'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'tres'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cadenas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'Palotes, Juan de'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1930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3000936</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datos de persona</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t/>
            </a:r>
            <a:endParaRPr b="0" i="0" sz="1200" u="none" cap="none" strike="noStrike">
              <a:solidFill>
                <a:srgbClr val="D5CED9"/>
              </a:solidFill>
              <a:latin typeface="Consolas"/>
              <a:ea typeface="Consolas"/>
              <a:cs typeface="Consolas"/>
              <a:sym typeface="Consolas"/>
            </a:endParaRPr>
          </a:p>
        </p:txBody>
      </p:sp>
      <p:sp>
        <p:nvSpPr>
          <p:cNvPr id="560" name="Google Shape;560;p41"/>
          <p:cNvSpPr/>
          <p:nvPr/>
        </p:nvSpPr>
        <p:spPr>
          <a:xfrm>
            <a:off x="841800" y="1281700"/>
            <a:ext cx="74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Ejemplos de tuplas: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2"/>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Conjuntos</a:t>
            </a:r>
            <a:endParaRPr/>
          </a:p>
        </p:txBody>
      </p:sp>
      <p:sp>
        <p:nvSpPr>
          <p:cNvPr id="566" name="Google Shape;566;p42"/>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SzPts val="1700"/>
              <a:buNone/>
            </a:pPr>
            <a:r>
              <a:rPr lang="es"/>
              <a:t>Los </a:t>
            </a:r>
            <a:r>
              <a:rPr b="1" lang="es">
                <a:latin typeface="Montserrat"/>
                <a:ea typeface="Montserrat"/>
                <a:cs typeface="Montserrat"/>
                <a:sym typeface="Montserrat"/>
              </a:rPr>
              <a:t>conjuntos</a:t>
            </a:r>
            <a:r>
              <a:rPr lang="es"/>
              <a:t> en Python son una metáfora de los conjuntos del área de la matemática. Al igual que aquellos, en Python son conjuntos de elementos únicos, no ordenados y sus elementos no son mutables.</a:t>
            </a:r>
            <a:endParaRPr/>
          </a:p>
          <a:p>
            <a:pPr indent="0" lvl="0" marL="0" marR="0" rtl="0" algn="l">
              <a:lnSpc>
                <a:spcPct val="100000"/>
              </a:lnSpc>
              <a:spcBef>
                <a:spcPts val="0"/>
              </a:spcBef>
              <a:spcAft>
                <a:spcPts val="0"/>
              </a:spcAft>
              <a:buSzPts val="1700"/>
              <a:buNone/>
            </a:pPr>
            <a:r>
              <a:rPr lang="es"/>
              <a:t>Se definen sus elementos encerrándolos entre llaves y separados por comas.</a:t>
            </a:r>
            <a:endParaRPr/>
          </a:p>
          <a:p>
            <a:pPr indent="0" lvl="0" marL="0" marR="0" rtl="0" algn="l">
              <a:lnSpc>
                <a:spcPct val="100000"/>
              </a:lnSpc>
              <a:spcBef>
                <a:spcPts val="0"/>
              </a:spcBef>
              <a:spcAft>
                <a:spcPts val="0"/>
              </a:spcAft>
              <a:buSzPts val="1700"/>
              <a:buNone/>
            </a:pPr>
            <a:r>
              <a:rPr lang="es"/>
              <a:t>No puede accederse a los elementos de un diccionario a través de un subíndice pues sus elementos no están ordenados.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Conjuntos | Conjuntos</a:t>
            </a:r>
            <a:endParaRPr/>
          </a:p>
        </p:txBody>
      </p:sp>
      <p:sp>
        <p:nvSpPr>
          <p:cNvPr id="572" name="Google Shape;572;p43"/>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573" name="Google Shape;573;p43"/>
          <p:cNvSpPr txBox="1"/>
          <p:nvPr/>
        </p:nvSpPr>
        <p:spPr>
          <a:xfrm>
            <a:off x="432150" y="2460100"/>
            <a:ext cx="8279700" cy="6291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Se accede a los elementos iterando o usando el método pop()</a:t>
            </a:r>
            <a:r>
              <a:rPr b="0" i="0" lang="es" sz="1650" u="none" cap="none" strike="noStrike">
                <a:solidFill>
                  <a:srgbClr val="595959"/>
                </a:solidFill>
                <a:latin typeface="Montserrat"/>
                <a:ea typeface="Montserrat"/>
                <a:cs typeface="Montserrat"/>
                <a:sym typeface="Montserrat"/>
              </a:rPr>
              <a:t>.</a:t>
            </a:r>
            <a:endParaRPr b="0" i="0" sz="1650" u="none" cap="none" strike="noStrike">
              <a:solidFill>
                <a:srgbClr val="595959"/>
              </a:solidFill>
              <a:latin typeface="Montserrat"/>
              <a:ea typeface="Montserrat"/>
              <a:cs typeface="Montserrat"/>
              <a:sym typeface="Montserrat"/>
            </a:endParaRPr>
          </a:p>
        </p:txBody>
      </p:sp>
      <p:sp>
        <p:nvSpPr>
          <p:cNvPr id="574" name="Google Shape;574;p43"/>
          <p:cNvSpPr/>
          <p:nvPr/>
        </p:nvSpPr>
        <p:spPr>
          <a:xfrm>
            <a:off x="382800" y="3349000"/>
            <a:ext cx="4305000" cy="105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conjunto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'Empleado'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1930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36</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set(conjunto)</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 (elem) </a:t>
            </a:r>
            <a:r>
              <a:rPr b="0" i="0" lang="es" sz="1200" u="none" cap="none" strike="noStrike">
                <a:solidFill>
                  <a:srgbClr val="C74DED"/>
                </a:solidFill>
                <a:latin typeface="Consolas"/>
                <a:ea typeface="Consolas"/>
                <a:cs typeface="Consolas"/>
                <a:sym typeface="Consolas"/>
              </a:rPr>
              <a:t>for</a:t>
            </a:r>
            <a:r>
              <a:rPr b="0" i="0" lang="es" sz="1200" u="none" cap="none" strike="noStrike">
                <a:solidFill>
                  <a:srgbClr val="D5CED9"/>
                </a:solidFill>
                <a:latin typeface="Consolas"/>
                <a:ea typeface="Consolas"/>
                <a:cs typeface="Consolas"/>
                <a:sym typeface="Consolas"/>
              </a:rPr>
              <a:t> elem </a:t>
            </a:r>
            <a:r>
              <a:rPr b="0" i="0" lang="es" sz="1200" u="none" cap="none" strike="noStrike">
                <a:solidFill>
                  <a:srgbClr val="C74DED"/>
                </a:solidFill>
                <a:latin typeface="Consolas"/>
                <a:ea typeface="Consolas"/>
                <a:cs typeface="Consolas"/>
                <a:sym typeface="Consolas"/>
              </a:rPr>
              <a:t>in</a:t>
            </a:r>
            <a:r>
              <a:rPr b="0" i="0" lang="es" sz="1200" u="none" cap="none" strike="noStrike">
                <a:solidFill>
                  <a:srgbClr val="D5CED9"/>
                </a:solidFill>
                <a:latin typeface="Consolas"/>
                <a:ea typeface="Consolas"/>
                <a:cs typeface="Consolas"/>
                <a:sym typeface="Consolas"/>
              </a:rPr>
              <a:t> a]</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D5CED9"/>
              </a:solidFill>
              <a:latin typeface="Consolas"/>
              <a:ea typeface="Consolas"/>
              <a:cs typeface="Consolas"/>
              <a:sym typeface="Consolas"/>
            </a:endParaRPr>
          </a:p>
        </p:txBody>
      </p:sp>
      <p:sp>
        <p:nvSpPr>
          <p:cNvPr id="575" name="Google Shape;575;p43"/>
          <p:cNvSpPr/>
          <p:nvPr/>
        </p:nvSpPr>
        <p:spPr>
          <a:xfrm>
            <a:off x="382800" y="3120100"/>
            <a:ext cx="4305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Acceso a elementos de un diccionario:</a:t>
            </a:r>
            <a:endParaRPr b="0" i="0" sz="1400" u="none" cap="none" strike="noStrike">
              <a:solidFill>
                <a:schemeClr val="dk2"/>
              </a:solidFill>
              <a:latin typeface="Montserrat"/>
              <a:ea typeface="Montserrat"/>
              <a:cs typeface="Montserrat"/>
              <a:sym typeface="Montserrat"/>
            </a:endParaRPr>
          </a:p>
        </p:txBody>
      </p:sp>
      <p:sp>
        <p:nvSpPr>
          <p:cNvPr id="576" name="Google Shape;576;p43"/>
          <p:cNvSpPr/>
          <p:nvPr/>
        </p:nvSpPr>
        <p:spPr>
          <a:xfrm>
            <a:off x="841800" y="1510600"/>
            <a:ext cx="7460400" cy="868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set()                                           </a:t>
            </a:r>
            <a:r>
              <a:rPr b="0" i="0" lang="es" sz="1200" u="none" cap="none" strike="noStrike">
                <a:solidFill>
                  <a:srgbClr val="5F6167"/>
                </a:solidFill>
                <a:latin typeface="Consolas"/>
                <a:ea typeface="Consolas"/>
                <a:cs typeface="Consolas"/>
                <a:sym typeface="Consolas"/>
              </a:rPr>
              <a:t># conjunto vacío</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'un valor'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conjunto con un valor</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'uno'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'dos'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'tres'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conjunto de cadenas</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'Palotes, Juan de'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1930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3000936</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datos de persona</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t/>
            </a:r>
            <a:endParaRPr b="0" i="0" sz="1200" u="none" cap="none" strike="noStrike">
              <a:solidFill>
                <a:srgbClr val="D5CED9"/>
              </a:solidFill>
              <a:latin typeface="Consolas"/>
              <a:ea typeface="Consolas"/>
              <a:cs typeface="Consolas"/>
              <a:sym typeface="Consolas"/>
            </a:endParaRPr>
          </a:p>
        </p:txBody>
      </p:sp>
      <p:sp>
        <p:nvSpPr>
          <p:cNvPr id="577" name="Google Shape;577;p43"/>
          <p:cNvSpPr/>
          <p:nvPr/>
        </p:nvSpPr>
        <p:spPr>
          <a:xfrm>
            <a:off x="841800" y="1281700"/>
            <a:ext cx="74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Ejemplos de conjuntos:</a:t>
            </a:r>
            <a:endParaRPr b="0" i="0" sz="1400" u="none" cap="none" strike="noStrike">
              <a:solidFill>
                <a:schemeClr val="dk2"/>
              </a:solidFill>
              <a:latin typeface="Montserrat"/>
              <a:ea typeface="Montserrat"/>
              <a:cs typeface="Montserrat"/>
              <a:sym typeface="Montserrat"/>
            </a:endParaRPr>
          </a:p>
        </p:txBody>
      </p:sp>
      <p:sp>
        <p:nvSpPr>
          <p:cNvPr id="578" name="Google Shape;578;p43"/>
          <p:cNvSpPr/>
          <p:nvPr/>
        </p:nvSpPr>
        <p:spPr>
          <a:xfrm>
            <a:off x="4842600" y="3340475"/>
            <a:ext cx="3459600" cy="1061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{'Empleado', 36, (1930, 11, 13)}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Empleado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36</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(1930, 11, 13)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{'Empleado', 36, (1930, 11, 13)}</a:t>
            </a:r>
            <a:endParaRPr b="0" i="0" sz="1200" u="none" cap="none" strike="noStrike">
              <a:solidFill>
                <a:srgbClr val="D5CED9"/>
              </a:solidFill>
              <a:highlight>
                <a:srgbClr val="23262E"/>
              </a:highlight>
              <a:latin typeface="Consolas"/>
              <a:ea typeface="Consolas"/>
              <a:cs typeface="Consolas"/>
              <a:sym typeface="Consolas"/>
            </a:endParaRPr>
          </a:p>
        </p:txBody>
      </p:sp>
      <p:sp>
        <p:nvSpPr>
          <p:cNvPr id="579" name="Google Shape;579;p43"/>
          <p:cNvSpPr/>
          <p:nvPr/>
        </p:nvSpPr>
        <p:spPr>
          <a:xfrm>
            <a:off x="4842300" y="3120100"/>
            <a:ext cx="3459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Conjuntos | Métodos, funciones y operadores</a:t>
            </a:r>
            <a:endParaRPr/>
          </a:p>
        </p:txBody>
      </p:sp>
      <p:sp>
        <p:nvSpPr>
          <p:cNvPr id="585" name="Google Shape;585;p44"/>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siguientes diagramas resumen los métodos, funciones y operadores disponibles para los conjuntos:</a:t>
            </a:r>
            <a:endParaRPr b="0" i="0" sz="1382" u="none" cap="none" strike="noStrike">
              <a:solidFill>
                <a:srgbClr val="595959"/>
              </a:solidFill>
              <a:latin typeface="Montserrat"/>
              <a:ea typeface="Montserrat"/>
              <a:cs typeface="Montserrat"/>
              <a:sym typeface="Montserrat"/>
            </a:endParaRPr>
          </a:p>
        </p:txBody>
      </p:sp>
      <p:pic>
        <p:nvPicPr>
          <p:cNvPr id="586" name="Google Shape;586;p44"/>
          <p:cNvPicPr preferRelativeResize="0"/>
          <p:nvPr/>
        </p:nvPicPr>
        <p:blipFill rotWithShape="1">
          <a:blip r:embed="rId3">
            <a:alphaModFix/>
          </a:blip>
          <a:srcRect b="8001" l="12808" r="0" t="12927"/>
          <a:stretch/>
        </p:blipFill>
        <p:spPr>
          <a:xfrm>
            <a:off x="425244" y="2147925"/>
            <a:ext cx="3510025" cy="2211824"/>
          </a:xfrm>
          <a:prstGeom prst="rect">
            <a:avLst/>
          </a:prstGeom>
          <a:noFill/>
          <a:ln>
            <a:noFill/>
          </a:ln>
        </p:spPr>
      </p:pic>
      <p:pic>
        <p:nvPicPr>
          <p:cNvPr id="587" name="Google Shape;587;p44"/>
          <p:cNvPicPr preferRelativeResize="0"/>
          <p:nvPr/>
        </p:nvPicPr>
        <p:blipFill rotWithShape="1">
          <a:blip r:embed="rId4">
            <a:alphaModFix/>
          </a:blip>
          <a:srcRect b="0" l="7807" r="10096" t="20847"/>
          <a:stretch/>
        </p:blipFill>
        <p:spPr>
          <a:xfrm>
            <a:off x="4032344" y="2443511"/>
            <a:ext cx="2190325" cy="1620650"/>
          </a:xfrm>
          <a:prstGeom prst="rect">
            <a:avLst/>
          </a:prstGeom>
          <a:noFill/>
          <a:ln>
            <a:noFill/>
          </a:ln>
        </p:spPr>
      </p:pic>
      <p:pic>
        <p:nvPicPr>
          <p:cNvPr id="588" name="Google Shape;588;p44"/>
          <p:cNvPicPr preferRelativeResize="0"/>
          <p:nvPr/>
        </p:nvPicPr>
        <p:blipFill rotWithShape="1">
          <a:blip r:embed="rId5">
            <a:alphaModFix/>
          </a:blip>
          <a:srcRect b="0" l="0" r="0" t="0"/>
          <a:stretch/>
        </p:blipFill>
        <p:spPr>
          <a:xfrm>
            <a:off x="6319743" y="2188534"/>
            <a:ext cx="2399014" cy="21306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5"/>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594" name="Google Shape;594;p4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6"/>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600" name="Google Shape;600;p46"/>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Material extra: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3"/>
              </a:rPr>
              <a:t>Listas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Diccionarios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Tuplas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Conjuntos</a:t>
            </a:r>
            <a:endParaRPr b="0" i="0" sz="15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Videos: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7"/>
              </a:rPr>
              <a:t>Listas</a:t>
            </a:r>
            <a:r>
              <a:rPr b="0" i="0" lang="es" sz="1500" u="none" cap="none" strike="noStrike">
                <a:solidFill>
                  <a:srgbClr val="595959"/>
                </a:solidFill>
                <a:latin typeface="Montserrat"/>
                <a:ea typeface="Montserrat"/>
                <a:cs typeface="Montserrat"/>
                <a:sym typeface="Montserrat"/>
              </a:rPr>
              <a:t>, </a:t>
            </a:r>
            <a:r>
              <a:rPr b="0" i="0" lang="es" sz="1500" u="sng" cap="none" strike="noStrike">
                <a:solidFill>
                  <a:schemeClr val="hlink"/>
                </a:solidFill>
                <a:latin typeface="Montserrat"/>
                <a:ea typeface="Montserrat"/>
                <a:cs typeface="Montserrat"/>
                <a:sym typeface="Montserrat"/>
                <a:hlinkClick r:id="rId8"/>
              </a:rPr>
              <a:t>tuplas</a:t>
            </a:r>
            <a:r>
              <a:rPr b="0" i="0" lang="es" sz="1500" u="none" cap="none" strike="noStrike">
                <a:solidFill>
                  <a:srgbClr val="595959"/>
                </a:solidFill>
                <a:latin typeface="Montserrat"/>
                <a:ea typeface="Montserrat"/>
                <a:cs typeface="Montserrat"/>
                <a:sym typeface="Montserrat"/>
              </a:rPr>
              <a:t> y </a:t>
            </a:r>
            <a:r>
              <a:rPr b="0" i="0" lang="es" sz="1500" u="sng" cap="none" strike="noStrike">
                <a:solidFill>
                  <a:schemeClr val="hlink"/>
                </a:solidFill>
                <a:latin typeface="Montserrat"/>
                <a:ea typeface="Montserrat"/>
                <a:cs typeface="Montserrat"/>
                <a:sym typeface="Montserrat"/>
                <a:hlinkClick r:id="rId9"/>
              </a:rPr>
              <a:t>diccionarios</a:t>
            </a:r>
            <a:r>
              <a:rPr b="0" i="0" lang="es" sz="1500" u="none" cap="none" strike="noStrike">
                <a:solidFill>
                  <a:srgbClr val="595959"/>
                </a:solidFill>
                <a:latin typeface="Montserrat"/>
                <a:ea typeface="Montserrat"/>
                <a:cs typeface="Montserrat"/>
                <a:sym typeface="Montserrat"/>
              </a:rPr>
              <a:t>, en Píldoras Informáticas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10"/>
              </a:rPr>
              <a:t>Conjuntos (primera parte)</a:t>
            </a:r>
            <a:r>
              <a:rPr b="0" i="0" lang="es" sz="1500" u="none" cap="none" strike="noStrike">
                <a:solidFill>
                  <a:srgbClr val="595959"/>
                </a:solidFill>
                <a:latin typeface="Montserrat"/>
                <a:ea typeface="Montserrat"/>
                <a:cs typeface="Montserrat"/>
                <a:sym typeface="Montserrat"/>
              </a:rPr>
              <a:t> y </a:t>
            </a:r>
            <a:r>
              <a:rPr b="0" i="0" lang="es" sz="1500" u="sng" cap="none" strike="noStrike">
                <a:solidFill>
                  <a:schemeClr val="hlink"/>
                </a:solidFill>
                <a:latin typeface="Montserrat"/>
                <a:ea typeface="Montserrat"/>
                <a:cs typeface="Montserrat"/>
                <a:sym typeface="Montserrat"/>
                <a:hlinkClick r:id="rId11"/>
              </a:rPr>
              <a:t>conjuntos (segunda parte)</a:t>
            </a:r>
            <a:r>
              <a:rPr b="0" i="0" lang="es" sz="1500" u="none" cap="none" strike="noStrike">
                <a:solidFill>
                  <a:srgbClr val="595959"/>
                </a:solidFill>
                <a:latin typeface="Montserrat"/>
                <a:ea typeface="Montserrat"/>
                <a:cs typeface="Montserrat"/>
                <a:sym typeface="Montserrat"/>
              </a:rPr>
              <a:t> en Programación ATS</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7"/>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8"/>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