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Montserrat SemiBold"/>
      <p:regular r:id="rId45"/>
      <p:bold r:id="rId46"/>
      <p:italic r:id="rId47"/>
      <p:boldItalic r:id="rId48"/>
    </p:embeddedFont>
    <p:embeddedFont>
      <p:font typeface="Montserrat"/>
      <p:regular r:id="rId49"/>
      <p:bold r:id="rId50"/>
      <p:italic r:id="rId51"/>
      <p:boldItalic r:id="rId52"/>
    </p:embeddedFont>
    <p:embeddedFont>
      <p:font typeface="Montserrat Medium"/>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GoogleSlidesCustomDataVersion2">
      <go:slidesCustomData xmlns:go="http://customooxmlschemas.google.com/" r:id="rId57" roundtripDataSignature="AMtx7mh1KIeiTUyzDSowR7Hvc2GM5Sbk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D576FD-4E4F-447F-9ED8-2410FE5220D9}">
  <a:tblStyle styleId="{C1D576FD-4E4F-447F-9ED8-2410FE5220D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SemiBold-bold.fntdata"/><Relationship Id="rId45" Type="http://schemas.openxmlformats.org/officeDocument/2006/relationships/font" Target="fonts/Montserrat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SemiBold-boldItalic.fntdata"/><Relationship Id="rId47" Type="http://schemas.openxmlformats.org/officeDocument/2006/relationships/font" Target="fonts/MontserratSemiBold-italic.fntdata"/><Relationship Id="rId49" Type="http://schemas.openxmlformats.org/officeDocument/2006/relationships/font" Target="fonts/Montserra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MontserratMedium-regular.fntdata"/><Relationship Id="rId52" Type="http://schemas.openxmlformats.org/officeDocument/2006/relationships/font" Target="fonts/Montserrat-boldItalic.fntdata"/><Relationship Id="rId11" Type="http://schemas.openxmlformats.org/officeDocument/2006/relationships/slide" Target="slides/slide5.xml"/><Relationship Id="rId55" Type="http://schemas.openxmlformats.org/officeDocument/2006/relationships/font" Target="fonts/MontserratMedium-italic.fntdata"/><Relationship Id="rId10" Type="http://schemas.openxmlformats.org/officeDocument/2006/relationships/slide" Target="slides/slide4.xml"/><Relationship Id="rId54" Type="http://schemas.openxmlformats.org/officeDocument/2006/relationships/font" Target="fonts/MontserratMedium-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MontserratMedium-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rketplace.visualstudio.com/items?itemName=ms-python.python"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u="sng">
                <a:solidFill>
                  <a:schemeClr val="hlink"/>
                </a:solidFill>
                <a:hlinkClick r:id="rId2"/>
              </a:rPr>
              <a:t>https://marketplace.visualstudio.com/items?itemName=ms-python.python</a:t>
            </a:r>
            <a:r>
              <a:rPr lang="es"/>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1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8.png"/><Relationship Id="rId6"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40"/>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40"/>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40"/>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40"/>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40"/>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4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4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1"/>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4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41"/>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4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41"/>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41"/>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4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4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2"/>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2"/>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4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42"/>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42"/>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42"/>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42"/>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42"/>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4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4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4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4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42"/>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4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4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3"/>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43"/>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43"/>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43"/>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43"/>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4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4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44"/>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4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44"/>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4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57" name="Shape 57"/>
        <p:cNvGrpSpPr/>
        <p:nvPr/>
      </p:nvGrpSpPr>
      <p:grpSpPr>
        <a:xfrm>
          <a:off x="0" y="0"/>
          <a:ext cx="0" cy="0"/>
          <a:chOff x="0" y="0"/>
          <a:chExt cx="0" cy="0"/>
        </a:xfrm>
      </p:grpSpPr>
      <p:sp>
        <p:nvSpPr>
          <p:cNvPr id="58" name="Google Shape;58;p45"/>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 name="Google Shape;59;p45"/>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0" name="Google Shape;60;p45"/>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1" name="Google Shape;61;p45"/>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62" name="Google Shape;62;p45"/>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4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6"/>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4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7" name="Google Shape;67;p4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8" name="Google Shape;68;p4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9" name="Google Shape;69;p46"/>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0" name="Google Shape;70;p4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47"/>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4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47"/>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4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4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8"/>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4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48"/>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48"/>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9"/>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49"/>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4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49"/>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49"/>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4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5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0"/>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50"/>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50"/>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5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5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50"/>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50"/>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50"/>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5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5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51"/>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51"/>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51"/>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51"/>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51"/>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5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5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5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52"/>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52"/>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52"/>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52"/>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5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5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5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53"/>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5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3"/>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3"/>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53"/>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53"/>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53"/>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5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5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53"/>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5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53"/>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5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www.python.org/" TargetMode="External"/><Relationship Id="rId4" Type="http://schemas.openxmlformats.org/officeDocument/2006/relationships/hyperlink" Target="http://code.visualstudio.com" TargetMode="External"/><Relationship Id="rId5" Type="http://schemas.openxmlformats.org/officeDocument/2006/relationships/hyperlink" Target="https://www.python.org/" TargetMode="External"/><Relationship Id="rId6" Type="http://schemas.openxmlformats.org/officeDocument/2006/relationships/image" Target="../media/image18.jpg"/><Relationship Id="rId7" Type="http://schemas.openxmlformats.org/officeDocument/2006/relationships/hyperlink" Target="http://code.visualstudio.com" TargetMode="External"/><Relationship Id="rId8"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marketplace.visualstudio.com/items?itemName=ms-python.python" TargetMode="Externa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www.python.org/dev/peps/pep-000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hyperlink" Target="https://www.python.org/downloads/" TargetMode="External"/><Relationship Id="rId4" Type="http://schemas.openxmlformats.org/officeDocument/2006/relationships/hyperlink" Target="https://www.python.org/dev/peps/pep-0008/" TargetMode="External"/><Relationship Id="rId5" Type="http://schemas.openxmlformats.org/officeDocument/2006/relationships/hyperlink" Target="https://drive.google.com/file/d/12_1yUhaGeoH7wLGqrHiSx987FMdqM_Mv/view" TargetMode="External"/><Relationship Id="rId6" Type="http://schemas.openxmlformats.org/officeDocument/2006/relationships/hyperlink" Target="https://codigofacilito.com/cursos/Python" TargetMode="External"/><Relationship Id="rId7" Type="http://schemas.openxmlformats.org/officeDocument/2006/relationships/hyperlink" Target="https://www.youtube.com/watch?v=cWs-S6wclg8" TargetMode="External"/><Relationship Id="rId8" Type="http://schemas.openxmlformats.org/officeDocument/2006/relationships/hyperlink" Target="https://youtube.com/playlist?list=PLU8oAlHdN5BlvPxziopYZRd55pdqFwke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25</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PYTHON 1</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Fundamentos de Python</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9575" y="2868475"/>
            <a:ext cx="70485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25</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24</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26</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JOIN y Subconsultas</a:t>
            </a:r>
            <a:endParaRPr b="1"/>
          </a:p>
          <a:p>
            <a:pPr indent="0" lvl="0" marL="0" rtl="0" algn="l">
              <a:lnSpc>
                <a:spcPct val="100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JOIN: Inner, Left, Right.</a:t>
            </a:r>
            <a:endParaRPr sz="900"/>
          </a:p>
          <a:p>
            <a:pPr indent="-285750" lvl="0" marL="457200" rtl="0" algn="l">
              <a:lnSpc>
                <a:spcPct val="115000"/>
              </a:lnSpc>
              <a:spcBef>
                <a:spcPts val="0"/>
              </a:spcBef>
              <a:spcAft>
                <a:spcPts val="0"/>
              </a:spcAft>
              <a:buSzPts val="900"/>
              <a:buChar char="●"/>
            </a:pPr>
            <a:r>
              <a:rPr lang="es" sz="900"/>
              <a:t>Funciones de agregación, GROUP BY, HAVING.</a:t>
            </a:r>
            <a:endParaRPr sz="900"/>
          </a:p>
          <a:p>
            <a:pPr indent="-285750" lvl="0" marL="457200" rtl="0" algn="l">
              <a:lnSpc>
                <a:spcPct val="115000"/>
              </a:lnSpc>
              <a:spcBef>
                <a:spcPts val="0"/>
              </a:spcBef>
              <a:spcAft>
                <a:spcPts val="0"/>
              </a:spcAft>
              <a:buSzPts val="900"/>
              <a:buChar char="●"/>
            </a:pPr>
            <a:r>
              <a:rPr lang="es" sz="900"/>
              <a:t>Funciones escalares.</a:t>
            </a:r>
            <a:endParaRPr sz="900"/>
          </a:p>
          <a:p>
            <a:pPr indent="-285750" lvl="0" marL="457200" rtl="0" algn="l">
              <a:lnSpc>
                <a:spcPct val="115000"/>
              </a:lnSpc>
              <a:spcBef>
                <a:spcPts val="0"/>
              </a:spcBef>
              <a:spcAft>
                <a:spcPts val="0"/>
              </a:spcAft>
              <a:buSzPts val="900"/>
              <a:buChar char="●"/>
            </a:pPr>
            <a:r>
              <a:rPr lang="es" sz="900"/>
              <a:t>Subconsultas.</a:t>
            </a:r>
            <a:endParaRPr b="1"/>
          </a:p>
        </p:txBody>
      </p:sp>
      <p:sp>
        <p:nvSpPr>
          <p:cNvPr id="166" name="Google Shape;166;p4"/>
          <p:cNvSpPr txBox="1"/>
          <p:nvPr>
            <p:ph idx="5" type="title"/>
          </p:nvPr>
        </p:nvSpPr>
        <p:spPr>
          <a:xfrm>
            <a:off x="6130475" y="2159925"/>
            <a:ext cx="2454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Controladores de flujo</a:t>
            </a:r>
            <a:endParaRPr b="1"/>
          </a:p>
          <a:p>
            <a:pPr indent="0" lvl="0" marL="0" rtl="0" algn="l">
              <a:lnSpc>
                <a:spcPct val="100000"/>
              </a:lnSpc>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Estructuras control.</a:t>
            </a:r>
            <a:endParaRPr sz="900"/>
          </a:p>
          <a:p>
            <a:pPr indent="-285750" lvl="0" marL="457200" rtl="0" algn="l">
              <a:lnSpc>
                <a:spcPct val="115000"/>
              </a:lnSpc>
              <a:spcBef>
                <a:spcPts val="0"/>
              </a:spcBef>
              <a:spcAft>
                <a:spcPts val="0"/>
              </a:spcAft>
              <a:buSzPts val="900"/>
              <a:buChar char="●"/>
            </a:pPr>
            <a:r>
              <a:rPr lang="es" sz="900"/>
              <a:t>Condicionales: sentencia if.</a:t>
            </a:r>
            <a:endParaRPr sz="900"/>
          </a:p>
          <a:p>
            <a:pPr indent="-285750" lvl="0" marL="457200" rtl="0" algn="l">
              <a:lnSpc>
                <a:spcPct val="115000"/>
              </a:lnSpc>
              <a:spcBef>
                <a:spcPts val="0"/>
              </a:spcBef>
              <a:spcAft>
                <a:spcPts val="0"/>
              </a:spcAft>
              <a:buSzPts val="900"/>
              <a:buChar char="●"/>
            </a:pPr>
            <a:r>
              <a:rPr lang="es" sz="900"/>
              <a:t>Iterativas: sentencia while y for.</a:t>
            </a:r>
            <a:endParaRPr sz="900"/>
          </a:p>
          <a:p>
            <a:pPr indent="-285750" lvl="0" marL="457200" rtl="0" algn="l">
              <a:lnSpc>
                <a:spcPct val="115000"/>
              </a:lnSpc>
              <a:spcBef>
                <a:spcPts val="0"/>
              </a:spcBef>
              <a:spcAft>
                <a:spcPts val="0"/>
              </a:spcAft>
              <a:buSzPts val="900"/>
              <a:buChar char="●"/>
            </a:pPr>
            <a:r>
              <a:rPr lang="es" sz="900"/>
              <a:t>Operadores lógicos y relacionales.</a:t>
            </a:r>
            <a:endParaRPr sz="900"/>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Fundamentos de Python</a:t>
            </a:r>
            <a:endParaRPr b="1"/>
          </a:p>
          <a:p>
            <a:pPr indent="0" lvl="0" marL="0" rtl="0" algn="l">
              <a:lnSpc>
                <a:spcPct val="100000"/>
              </a:lnSpc>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Introducción a Python.</a:t>
            </a:r>
            <a:endParaRPr sz="900"/>
          </a:p>
          <a:p>
            <a:pPr indent="-285750" lvl="0" marL="457200" rtl="0" algn="l">
              <a:lnSpc>
                <a:spcPct val="115000"/>
              </a:lnSpc>
              <a:spcBef>
                <a:spcPts val="0"/>
              </a:spcBef>
              <a:spcAft>
                <a:spcPts val="0"/>
              </a:spcAft>
              <a:buSzPts val="900"/>
              <a:buChar char="●"/>
            </a:pPr>
            <a:r>
              <a:rPr lang="es" sz="900"/>
              <a:t>Entorno. Hola mundo.</a:t>
            </a:r>
            <a:endParaRPr sz="900"/>
          </a:p>
          <a:p>
            <a:pPr indent="-285750" lvl="0" marL="457200" rtl="0" algn="l">
              <a:lnSpc>
                <a:spcPct val="115000"/>
              </a:lnSpc>
              <a:spcBef>
                <a:spcPts val="0"/>
              </a:spcBef>
              <a:spcAft>
                <a:spcPts val="0"/>
              </a:spcAft>
              <a:buSzPts val="900"/>
              <a:buChar char="●"/>
            </a:pPr>
            <a:r>
              <a:rPr lang="es" sz="900"/>
              <a:t>Salida por pantalla: print.</a:t>
            </a:r>
            <a:endParaRPr sz="900"/>
          </a:p>
          <a:p>
            <a:pPr indent="-285750" lvl="0" marL="457200" rtl="0" algn="l">
              <a:lnSpc>
                <a:spcPct val="115000"/>
              </a:lnSpc>
              <a:spcBef>
                <a:spcPts val="0"/>
              </a:spcBef>
              <a:spcAft>
                <a:spcPts val="0"/>
              </a:spcAft>
              <a:buSzPts val="900"/>
              <a:buChar char="●"/>
            </a:pPr>
            <a:r>
              <a:rPr lang="es" sz="900"/>
              <a:t>Lectura por teclado: input.</a:t>
            </a:r>
            <a:endParaRPr sz="900"/>
          </a:p>
          <a:p>
            <a:pPr indent="-285750" lvl="0" marL="457200" rtl="0" algn="l">
              <a:lnSpc>
                <a:spcPct val="115000"/>
              </a:lnSpc>
              <a:spcBef>
                <a:spcPts val="0"/>
              </a:spcBef>
              <a:spcAft>
                <a:spcPts val="0"/>
              </a:spcAft>
              <a:buSzPts val="900"/>
              <a:buChar char="●"/>
            </a:pPr>
            <a:r>
              <a:rPr lang="es" sz="900"/>
              <a:t>Tipo de datos: números enteros y flotantes, texto, booleanos.</a:t>
            </a:r>
            <a:endParaRPr sz="900"/>
          </a:p>
          <a:p>
            <a:pPr indent="-285750" lvl="0" marL="457200" rtl="0" algn="l">
              <a:lnSpc>
                <a:spcPct val="115000"/>
              </a:lnSpc>
              <a:spcBef>
                <a:spcPts val="0"/>
              </a:spcBef>
              <a:spcAft>
                <a:spcPts val="0"/>
              </a:spcAft>
              <a:buSzPts val="900"/>
              <a:buChar char="●"/>
            </a:pPr>
            <a:r>
              <a:rPr lang="es" sz="900"/>
              <a:t>Tipos de operadores. Aritméticos y de asignación.</a:t>
            </a:r>
            <a:endParaRPr sz="900"/>
          </a:p>
          <a:p>
            <a:pPr indent="-285750" lvl="0" marL="457200" rtl="0" algn="l">
              <a:lnSpc>
                <a:spcPct val="115000"/>
              </a:lnSpc>
              <a:spcBef>
                <a:spcPts val="0"/>
              </a:spcBef>
              <a:spcAft>
                <a:spcPts val="0"/>
              </a:spcAft>
              <a:buSzPts val="900"/>
              <a:buChar char="●"/>
            </a:pPr>
            <a:r>
              <a:rPr lang="es" sz="900"/>
              <a:t>Variables.</a:t>
            </a:r>
            <a:endParaRPr sz="900"/>
          </a:p>
          <a:p>
            <a:pPr indent="0" lvl="0" marL="0" rtl="0" algn="l">
              <a:lnSpc>
                <a:spcPct val="100000"/>
              </a:lnSpc>
              <a:spcBef>
                <a:spcPts val="0"/>
              </a:spcBef>
              <a:spcAft>
                <a:spcPts val="0"/>
              </a:spcAft>
              <a:buSzPts val="1000"/>
              <a:buNone/>
            </a:pPr>
            <a:r>
              <a:t/>
            </a:r>
            <a:endParaRPr sz="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Python</a:t>
            </a:r>
            <a:endParaRPr/>
          </a:p>
        </p:txBody>
      </p:sp>
      <p:sp>
        <p:nvSpPr>
          <p:cNvPr id="173" name="Google Shape;173;p5"/>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SzPct val="108108"/>
              <a:buNone/>
            </a:pPr>
            <a:r>
              <a:rPr lang="es"/>
              <a:t>Python es un lenguaje de programación de alto nivel que se destaca, entre otras cosas, por la legibilidad del código. Sus principales características son:</a:t>
            </a:r>
            <a:endParaRPr/>
          </a:p>
          <a:p>
            <a:pPr indent="0" lvl="0" marL="0" rtl="0" algn="l">
              <a:lnSpc>
                <a:spcPct val="100000"/>
              </a:lnSpc>
              <a:spcBef>
                <a:spcPts val="0"/>
              </a:spcBef>
              <a:spcAft>
                <a:spcPts val="0"/>
              </a:spcAft>
              <a:buClr>
                <a:schemeClr val="dk1"/>
              </a:buClr>
              <a:buSzPct val="64705"/>
              <a:buFont typeface="Arial"/>
              <a:buNone/>
            </a:pPr>
            <a:r>
              <a:t/>
            </a:r>
            <a:endParaRPr/>
          </a:p>
          <a:p>
            <a:pPr indent="-328484" lvl="0" marL="457200" rtl="0" algn="l">
              <a:lnSpc>
                <a:spcPct val="100000"/>
              </a:lnSpc>
              <a:spcBef>
                <a:spcPts val="0"/>
              </a:spcBef>
              <a:spcAft>
                <a:spcPts val="0"/>
              </a:spcAft>
              <a:buSzPct val="100000"/>
              <a:buChar char="●"/>
            </a:pPr>
            <a:r>
              <a:rPr b="1" lang="es">
                <a:latin typeface="Montserrat"/>
                <a:ea typeface="Montserrat"/>
                <a:cs typeface="Montserrat"/>
                <a:sym typeface="Montserrat"/>
              </a:rPr>
              <a:t>Multiparadigma</a:t>
            </a:r>
            <a:r>
              <a:rPr lang="es"/>
              <a:t>: Soporta la programación imperativa, programación orientada a objetos y funcional.</a:t>
            </a:r>
            <a:endParaRPr/>
          </a:p>
          <a:p>
            <a:pPr indent="-328484" lvl="0" marL="457200" rtl="0" algn="l">
              <a:lnSpc>
                <a:spcPct val="100000"/>
              </a:lnSpc>
              <a:spcBef>
                <a:spcPts val="0"/>
              </a:spcBef>
              <a:spcAft>
                <a:spcPts val="0"/>
              </a:spcAft>
              <a:buSzPct val="100000"/>
              <a:buChar char="●"/>
            </a:pPr>
            <a:r>
              <a:rPr b="1" lang="es">
                <a:latin typeface="Montserrat"/>
                <a:ea typeface="Montserrat"/>
                <a:cs typeface="Montserrat"/>
                <a:sym typeface="Montserrat"/>
              </a:rPr>
              <a:t>Multiplataforma</a:t>
            </a:r>
            <a:r>
              <a:rPr lang="es"/>
              <a:t>: Se puede encontrar un intérprete de Python para los principales sistemas operativos: Windows, Linux y Mac OS. Además, se puede reutilizar el mismo código en cada una de las plataformas.</a:t>
            </a:r>
            <a:endParaRPr/>
          </a:p>
          <a:p>
            <a:pPr indent="-328484" lvl="0" marL="457200" rtl="0" algn="l">
              <a:lnSpc>
                <a:spcPct val="100000"/>
              </a:lnSpc>
              <a:spcBef>
                <a:spcPts val="0"/>
              </a:spcBef>
              <a:spcAft>
                <a:spcPts val="0"/>
              </a:spcAft>
              <a:buSzPct val="100000"/>
              <a:buChar char="●"/>
            </a:pPr>
            <a:r>
              <a:rPr b="1" lang="es">
                <a:latin typeface="Montserrat"/>
                <a:ea typeface="Montserrat"/>
                <a:cs typeface="Montserrat"/>
                <a:sym typeface="Montserrat"/>
              </a:rPr>
              <a:t>Dinámica y fuertemente tipado:</a:t>
            </a:r>
            <a:r>
              <a:rPr lang="es"/>
              <a:t> El tipo de las variables se decide en tiempo de ejecución. Pero no se puede usar una variable en un contexto fuera de su tipo sin efectuar una conversión.</a:t>
            </a:r>
            <a:endParaRPr/>
          </a:p>
          <a:p>
            <a:pPr indent="-328484" lvl="0" marL="457200" rtl="0" algn="l">
              <a:lnSpc>
                <a:spcPct val="100000"/>
              </a:lnSpc>
              <a:spcBef>
                <a:spcPts val="0"/>
              </a:spcBef>
              <a:spcAft>
                <a:spcPts val="0"/>
              </a:spcAft>
              <a:buSzPct val="100000"/>
              <a:buChar char="●"/>
            </a:pPr>
            <a:r>
              <a:rPr b="1" lang="es">
                <a:latin typeface="Montserrat"/>
                <a:ea typeface="Montserrat"/>
                <a:cs typeface="Montserrat"/>
                <a:sym typeface="Montserrat"/>
              </a:rPr>
              <a:t>Interpretado</a:t>
            </a:r>
            <a:r>
              <a:rPr lang="es"/>
              <a:t>: El código no se compila a lenguaje máquina, sino que se ejecutan las instrucciones a medida que se las lee.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Instalación de Python y VSCode</a:t>
            </a:r>
            <a:endParaRPr/>
          </a:p>
        </p:txBody>
      </p:sp>
      <p:sp>
        <p:nvSpPr>
          <p:cNvPr id="179" name="Google Shape;179;p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Necesitamos instalar el </a:t>
            </a:r>
            <a:r>
              <a:rPr b="1" lang="es" sz="1650"/>
              <a:t>intérprete Python</a:t>
            </a:r>
            <a:r>
              <a:rPr lang="es" sz="1650"/>
              <a:t> desde su </a:t>
            </a:r>
            <a:r>
              <a:rPr lang="es" sz="1650" u="sng">
                <a:solidFill>
                  <a:schemeClr val="hlink"/>
                </a:solidFill>
                <a:hlinkClick r:id="rId3"/>
              </a:rPr>
              <a:t>página oficial</a:t>
            </a:r>
            <a:r>
              <a:rPr lang="es" sz="1650"/>
              <a:t>. Asegúrate de instalar la última versión (o como mínimo la versión 3.11.x). Recuerda instalar tildando la opción “</a:t>
            </a:r>
            <a:r>
              <a:rPr i="1" lang="es" sz="1650"/>
              <a:t>Agregar Python al PATH</a:t>
            </a:r>
            <a:r>
              <a:rPr lang="es" sz="1650"/>
              <a:t>”. Al finalizar hacer click en “</a:t>
            </a:r>
            <a:r>
              <a:rPr i="1" lang="es" sz="1650"/>
              <a:t>Disable path length limit</a:t>
            </a:r>
            <a:r>
              <a:rPr lang="es" sz="1650"/>
              <a:t>”.</a:t>
            </a:r>
            <a:endParaRPr sz="1650"/>
          </a:p>
          <a:p>
            <a:pPr indent="0" lvl="0" marL="0" rtl="0" algn="l">
              <a:lnSpc>
                <a:spcPct val="115000"/>
              </a:lnSpc>
              <a:spcBef>
                <a:spcPts val="1200"/>
              </a:spcBef>
              <a:spcAft>
                <a:spcPts val="0"/>
              </a:spcAft>
              <a:buSzPts val="1800"/>
              <a:buNone/>
            </a:pPr>
            <a:r>
              <a:rPr lang="es" sz="1650"/>
              <a:t>Utilizaremos un editor de texto. </a:t>
            </a:r>
            <a:r>
              <a:rPr b="1" lang="es" sz="1650"/>
              <a:t>Visual Studio Code</a:t>
            </a:r>
            <a:r>
              <a:rPr lang="es" sz="1650"/>
              <a:t> funciona perfectamente, y si aún no lo tienes, lo puedes descargar desde su </a:t>
            </a:r>
            <a:r>
              <a:rPr lang="es" sz="1650" u="sng">
                <a:solidFill>
                  <a:schemeClr val="hlink"/>
                </a:solidFill>
                <a:hlinkClick r:id="rId4"/>
              </a:rPr>
              <a:t>página oficial</a:t>
            </a:r>
            <a:r>
              <a:rPr lang="es" sz="1650"/>
              <a:t>.</a:t>
            </a:r>
            <a:endParaRPr sz="1650"/>
          </a:p>
          <a:p>
            <a:pPr indent="0" lvl="0" marL="0" rtl="0" algn="l">
              <a:lnSpc>
                <a:spcPct val="115000"/>
              </a:lnSpc>
              <a:spcBef>
                <a:spcPts val="1200"/>
              </a:spcBef>
              <a:spcAft>
                <a:spcPts val="1200"/>
              </a:spcAft>
              <a:buSzPts val="1800"/>
              <a:buNone/>
            </a:pPr>
            <a:r>
              <a:t/>
            </a:r>
            <a:endParaRPr sz="1600"/>
          </a:p>
        </p:txBody>
      </p:sp>
      <p:pic>
        <p:nvPicPr>
          <p:cNvPr id="180" name="Google Shape;180;p6">
            <a:hlinkClick r:id="rId5"/>
          </p:cNvPr>
          <p:cNvPicPr preferRelativeResize="0"/>
          <p:nvPr/>
        </p:nvPicPr>
        <p:blipFill rotWithShape="1">
          <a:blip r:embed="rId6">
            <a:alphaModFix/>
          </a:blip>
          <a:srcRect b="0" l="0" r="0" t="0"/>
          <a:stretch/>
        </p:blipFill>
        <p:spPr>
          <a:xfrm>
            <a:off x="2789300" y="3428999"/>
            <a:ext cx="882600" cy="882625"/>
          </a:xfrm>
          <a:prstGeom prst="rect">
            <a:avLst/>
          </a:prstGeom>
          <a:noFill/>
          <a:ln>
            <a:noFill/>
          </a:ln>
        </p:spPr>
      </p:pic>
      <p:pic>
        <p:nvPicPr>
          <p:cNvPr id="181" name="Google Shape;181;p6">
            <a:hlinkClick r:id="rId7"/>
          </p:cNvPr>
          <p:cNvPicPr preferRelativeResize="0"/>
          <p:nvPr/>
        </p:nvPicPr>
        <p:blipFill rotWithShape="1">
          <a:blip r:embed="rId8">
            <a:alphaModFix/>
          </a:blip>
          <a:srcRect b="0" l="0" r="0" t="0"/>
          <a:stretch/>
        </p:blipFill>
        <p:spPr>
          <a:xfrm>
            <a:off x="5436925" y="3447725"/>
            <a:ext cx="917775" cy="845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Extensión para VS Code</a:t>
            </a:r>
            <a:endParaRPr/>
          </a:p>
        </p:txBody>
      </p:sp>
      <p:sp>
        <p:nvSpPr>
          <p:cNvPr id="187" name="Google Shape;187;p7"/>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88" name="Google Shape;188;p7">
            <a:hlinkClick r:id="rId3"/>
          </p:cNvPr>
          <p:cNvPicPr preferRelativeResize="0"/>
          <p:nvPr/>
        </p:nvPicPr>
        <p:blipFill rotWithShape="1">
          <a:blip r:embed="rId4">
            <a:alphaModFix/>
          </a:blip>
          <a:srcRect b="0" l="0" r="0" t="17389"/>
          <a:stretch/>
        </p:blipFill>
        <p:spPr>
          <a:xfrm>
            <a:off x="0" y="1312227"/>
            <a:ext cx="9144000" cy="2997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Escribiendo código Python</a:t>
            </a:r>
            <a:endParaRPr/>
          </a:p>
        </p:txBody>
      </p:sp>
      <p:sp>
        <p:nvSpPr>
          <p:cNvPr id="194" name="Google Shape;194;p8"/>
          <p:cNvSpPr txBox="1"/>
          <p:nvPr>
            <p:ph idx="1" type="body"/>
          </p:nvPr>
        </p:nvSpPr>
        <p:spPr>
          <a:xfrm>
            <a:off x="432025" y="1304875"/>
            <a:ext cx="8280000" cy="3302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300"/>
              <a:buFont typeface="Montserrat"/>
              <a:buNone/>
            </a:pPr>
            <a:r>
              <a:rPr lang="es" sz="1650"/>
              <a:t>Los archivos de Python tienen una extensión </a:t>
            </a:r>
            <a:r>
              <a:rPr b="1" lang="es" sz="1650"/>
              <a:t>.py.</a:t>
            </a:r>
            <a:endParaRPr b="1" sz="1650"/>
          </a:p>
          <a:p>
            <a:pPr indent="0" lvl="0" marL="0" rtl="0" algn="l">
              <a:lnSpc>
                <a:spcPct val="100000"/>
              </a:lnSpc>
              <a:spcBef>
                <a:spcPts val="601"/>
              </a:spcBef>
              <a:spcAft>
                <a:spcPts val="0"/>
              </a:spcAft>
              <a:buClr>
                <a:schemeClr val="dk1"/>
              </a:buClr>
              <a:buSzPts val="1300"/>
              <a:buFont typeface="Montserrat"/>
              <a:buNone/>
            </a:pPr>
            <a:r>
              <a:t/>
            </a:r>
            <a:endParaRPr sz="1650"/>
          </a:p>
        </p:txBody>
      </p:sp>
      <p:pic>
        <p:nvPicPr>
          <p:cNvPr id="195" name="Google Shape;195;p8"/>
          <p:cNvPicPr preferRelativeResize="0"/>
          <p:nvPr/>
        </p:nvPicPr>
        <p:blipFill rotWithShape="1">
          <a:blip r:embed="rId3">
            <a:alphaModFix/>
          </a:blip>
          <a:srcRect b="0" l="0" r="0" t="0"/>
          <a:stretch/>
        </p:blipFill>
        <p:spPr>
          <a:xfrm>
            <a:off x="1903613" y="2842775"/>
            <a:ext cx="3324225" cy="952500"/>
          </a:xfrm>
          <a:prstGeom prst="rect">
            <a:avLst/>
          </a:prstGeom>
          <a:noFill/>
          <a:ln>
            <a:noFill/>
          </a:ln>
        </p:spPr>
      </p:pic>
      <p:pic>
        <p:nvPicPr>
          <p:cNvPr id="196" name="Google Shape;196;p8"/>
          <p:cNvPicPr preferRelativeResize="0"/>
          <p:nvPr/>
        </p:nvPicPr>
        <p:blipFill rotWithShape="1">
          <a:blip r:embed="rId4">
            <a:alphaModFix/>
          </a:blip>
          <a:srcRect b="0" l="0" r="0" t="0"/>
          <a:stretch/>
        </p:blipFill>
        <p:spPr>
          <a:xfrm>
            <a:off x="6053450" y="3200408"/>
            <a:ext cx="1199520" cy="237240"/>
          </a:xfrm>
          <a:prstGeom prst="rect">
            <a:avLst/>
          </a:prstGeom>
          <a:noFill/>
          <a:ln>
            <a:noFill/>
          </a:ln>
        </p:spPr>
      </p:pic>
      <p:sp>
        <p:nvSpPr>
          <p:cNvPr id="197" name="Google Shape;197;p8"/>
          <p:cNvSpPr/>
          <p:nvPr/>
        </p:nvSpPr>
        <p:spPr>
          <a:xfrm>
            <a:off x="5618400" y="1698400"/>
            <a:ext cx="2978100" cy="1177200"/>
          </a:xfrm>
          <a:prstGeom prst="flowChartAlternateProcess">
            <a:avLst/>
          </a:prstGeom>
          <a:solidFill>
            <a:srgbClr val="FFD966"/>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La terminal muestra la </a:t>
            </a:r>
            <a:r>
              <a:rPr b="1" i="0" lang="es" sz="1400" u="none" cap="none" strike="noStrike">
                <a:solidFill>
                  <a:schemeClr val="dk2"/>
                </a:solidFill>
                <a:latin typeface="Montserrat"/>
                <a:ea typeface="Montserrat"/>
                <a:cs typeface="Montserrat"/>
                <a:sym typeface="Montserrat"/>
              </a:rPr>
              <a:t>salida</a:t>
            </a:r>
            <a:r>
              <a:rPr b="0" i="0" lang="es" sz="1400" u="none" cap="none" strike="noStrike">
                <a:solidFill>
                  <a:schemeClr val="dk2"/>
                </a:solidFill>
                <a:latin typeface="Montserrat"/>
                <a:ea typeface="Montserrat"/>
                <a:cs typeface="Montserrat"/>
                <a:sym typeface="Montserrat"/>
              </a:rPr>
              <a:t> del programa. </a:t>
            </a:r>
            <a:endParaRPr b="0" i="0" sz="14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Se puede limpiar escribiendo el comando </a:t>
            </a:r>
            <a:r>
              <a:rPr b="1" i="0" lang="es" sz="1400" u="none" cap="none" strike="noStrike">
                <a:solidFill>
                  <a:schemeClr val="dk2"/>
                </a:solidFill>
                <a:latin typeface="Montserrat"/>
                <a:ea typeface="Montserrat"/>
                <a:cs typeface="Montserrat"/>
                <a:sym typeface="Montserrat"/>
              </a:rPr>
              <a:t>clear</a:t>
            </a:r>
            <a:endParaRPr b="1" i="0" sz="1400" u="none" cap="none" strike="noStrike">
              <a:solidFill>
                <a:schemeClr val="dk2"/>
              </a:solidFill>
              <a:latin typeface="Montserrat"/>
              <a:ea typeface="Montserrat"/>
              <a:cs typeface="Montserrat"/>
              <a:sym typeface="Montserrat"/>
            </a:endParaRPr>
          </a:p>
        </p:txBody>
      </p:sp>
      <p:cxnSp>
        <p:nvCxnSpPr>
          <p:cNvPr id="198" name="Google Shape;198;p8"/>
          <p:cNvCxnSpPr>
            <a:stCxn id="195" idx="3"/>
          </p:cNvCxnSpPr>
          <p:nvPr/>
        </p:nvCxnSpPr>
        <p:spPr>
          <a:xfrm>
            <a:off x="5227838" y="3319025"/>
            <a:ext cx="825600" cy="13500"/>
          </a:xfrm>
          <a:prstGeom prst="straightConnector1">
            <a:avLst/>
          </a:prstGeom>
          <a:noFill/>
          <a:ln cap="flat" cmpd="sng" w="28575">
            <a:solidFill>
              <a:srgbClr val="FF4500"/>
            </a:solidFill>
            <a:prstDash val="solid"/>
            <a:round/>
            <a:headEnd len="sm" w="sm" type="none"/>
            <a:tailEnd len="med" w="med" type="triangle"/>
          </a:ln>
        </p:spPr>
      </p:cxnSp>
      <p:sp>
        <p:nvSpPr>
          <p:cNvPr id="199" name="Google Shape;199;p8"/>
          <p:cNvSpPr txBox="1"/>
          <p:nvPr/>
        </p:nvSpPr>
        <p:spPr>
          <a:xfrm>
            <a:off x="5214350" y="2978225"/>
            <a:ext cx="83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Montserrat"/>
                <a:ea typeface="Montserrat"/>
                <a:cs typeface="Montserrat"/>
                <a:sym typeface="Montserrat"/>
              </a:rPr>
              <a:t>Salida</a:t>
            </a:r>
            <a:endParaRPr b="0" i="0" sz="1400" u="none" cap="none" strike="noStrike">
              <a:solidFill>
                <a:schemeClr val="dk2"/>
              </a:solidFill>
              <a:latin typeface="Montserrat"/>
              <a:ea typeface="Montserrat"/>
              <a:cs typeface="Montserrat"/>
              <a:sym typeface="Montserrat"/>
            </a:endParaRPr>
          </a:p>
        </p:txBody>
      </p:sp>
      <p:cxnSp>
        <p:nvCxnSpPr>
          <p:cNvPr id="200" name="Google Shape;200;p8"/>
          <p:cNvCxnSpPr>
            <a:stCxn id="197" idx="2"/>
            <a:endCxn id="196" idx="0"/>
          </p:cNvCxnSpPr>
          <p:nvPr/>
        </p:nvCxnSpPr>
        <p:spPr>
          <a:xfrm flipH="1">
            <a:off x="6653250" y="2875600"/>
            <a:ext cx="454200" cy="324900"/>
          </a:xfrm>
          <a:prstGeom prst="straightConnector1">
            <a:avLst/>
          </a:prstGeom>
          <a:noFill/>
          <a:ln cap="flat" cmpd="sng" w="28575">
            <a:solidFill>
              <a:schemeClr val="dk2"/>
            </a:solidFill>
            <a:prstDash val="solid"/>
            <a:round/>
            <a:headEnd len="sm" w="sm" type="none"/>
            <a:tailEnd len="med" w="med" type="triangle"/>
          </a:ln>
        </p:spPr>
      </p:cxnSp>
      <p:sp>
        <p:nvSpPr>
          <p:cNvPr id="201" name="Google Shape;201;p8"/>
          <p:cNvSpPr/>
          <p:nvPr/>
        </p:nvSpPr>
        <p:spPr>
          <a:xfrm>
            <a:off x="3944600" y="1698400"/>
            <a:ext cx="1368600" cy="837000"/>
          </a:xfrm>
          <a:prstGeom prst="flowChartAlternateProcess">
            <a:avLst/>
          </a:prstGeom>
          <a:solidFill>
            <a:srgbClr val="FFD966"/>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601"/>
              </a:spcBef>
              <a:spcAft>
                <a:spcPts val="0"/>
              </a:spcAft>
              <a:buClr>
                <a:schemeClr val="dk1"/>
              </a:buClr>
              <a:buSzPts val="1300"/>
              <a:buFont typeface="Montserrat"/>
              <a:buNone/>
            </a:pPr>
            <a:r>
              <a:rPr b="0" i="0" lang="es" sz="1400" u="none" cap="none" strike="noStrike">
                <a:solidFill>
                  <a:schemeClr val="dk2"/>
                </a:solidFill>
                <a:latin typeface="Montserrat"/>
                <a:ea typeface="Montserrat"/>
                <a:cs typeface="Montserrat"/>
                <a:sym typeface="Montserrat"/>
              </a:rPr>
              <a:t>Este ícono </a:t>
            </a:r>
            <a:r>
              <a:rPr b="1" i="0" lang="es" sz="1400" u="none" cap="none" strike="noStrike">
                <a:solidFill>
                  <a:schemeClr val="dk2"/>
                </a:solidFill>
                <a:latin typeface="Montserrat"/>
                <a:ea typeface="Montserrat"/>
                <a:cs typeface="Montserrat"/>
                <a:sym typeface="Montserrat"/>
              </a:rPr>
              <a:t>ejecuta</a:t>
            </a:r>
            <a:r>
              <a:rPr b="0" i="0" lang="es" sz="1400" u="none" cap="none" strike="noStrike">
                <a:solidFill>
                  <a:schemeClr val="dk2"/>
                </a:solidFill>
                <a:latin typeface="Montserrat"/>
                <a:ea typeface="Montserrat"/>
                <a:cs typeface="Montserrat"/>
                <a:sym typeface="Montserrat"/>
              </a:rPr>
              <a:t> el programa</a:t>
            </a:r>
            <a:endParaRPr b="0" i="0" sz="1400" u="none" cap="none" strike="noStrike">
              <a:solidFill>
                <a:schemeClr val="dk2"/>
              </a:solidFill>
              <a:latin typeface="Montserrat"/>
              <a:ea typeface="Montserrat"/>
              <a:cs typeface="Montserrat"/>
              <a:sym typeface="Montserrat"/>
            </a:endParaRPr>
          </a:p>
        </p:txBody>
      </p:sp>
      <p:cxnSp>
        <p:nvCxnSpPr>
          <p:cNvPr id="202" name="Google Shape;202;p8"/>
          <p:cNvCxnSpPr>
            <a:stCxn id="201" idx="2"/>
          </p:cNvCxnSpPr>
          <p:nvPr/>
        </p:nvCxnSpPr>
        <p:spPr>
          <a:xfrm flipH="1">
            <a:off x="4580600" y="2535400"/>
            <a:ext cx="48300" cy="314100"/>
          </a:xfrm>
          <a:prstGeom prst="straightConnector1">
            <a:avLst/>
          </a:prstGeom>
          <a:noFill/>
          <a:ln cap="flat" cmpd="sng" w="28575">
            <a:solidFill>
              <a:schemeClr val="dk2"/>
            </a:solidFill>
            <a:prstDash val="solid"/>
            <a:round/>
            <a:headEnd len="sm" w="sm" type="none"/>
            <a:tailEnd len="med" w="med" type="triangle"/>
          </a:ln>
        </p:spPr>
      </p:cxnSp>
      <p:sp>
        <p:nvSpPr>
          <p:cNvPr id="203" name="Google Shape;203;p8"/>
          <p:cNvSpPr/>
          <p:nvPr/>
        </p:nvSpPr>
        <p:spPr>
          <a:xfrm>
            <a:off x="1086550" y="1834700"/>
            <a:ext cx="2205900" cy="459300"/>
          </a:xfrm>
          <a:prstGeom prst="flowChartAlternateProcess">
            <a:avLst/>
          </a:prstGeom>
          <a:solidFill>
            <a:srgbClr val="FFD966"/>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601"/>
              </a:spcBef>
              <a:spcAft>
                <a:spcPts val="0"/>
              </a:spcAft>
              <a:buClr>
                <a:schemeClr val="dk1"/>
              </a:buClr>
              <a:buSzPts val="1300"/>
              <a:buFont typeface="Montserrat"/>
              <a:buNone/>
            </a:pPr>
            <a:r>
              <a:rPr b="0" i="0" lang="es" sz="1400" u="none" cap="none" strike="noStrike">
                <a:solidFill>
                  <a:schemeClr val="dk2"/>
                </a:solidFill>
                <a:latin typeface="Montserrat"/>
                <a:ea typeface="Montserrat"/>
                <a:cs typeface="Montserrat"/>
                <a:sym typeface="Montserrat"/>
              </a:rPr>
              <a:t>Nombre del archivo</a:t>
            </a:r>
            <a:endParaRPr b="0" i="0" sz="1400" u="none" cap="none" strike="noStrike">
              <a:solidFill>
                <a:schemeClr val="dk2"/>
              </a:solidFill>
              <a:latin typeface="Montserrat"/>
              <a:ea typeface="Montserrat"/>
              <a:cs typeface="Montserrat"/>
              <a:sym typeface="Montserrat"/>
            </a:endParaRPr>
          </a:p>
        </p:txBody>
      </p:sp>
      <p:cxnSp>
        <p:nvCxnSpPr>
          <p:cNvPr id="204" name="Google Shape;204;p8"/>
          <p:cNvCxnSpPr>
            <a:stCxn id="203" idx="2"/>
          </p:cNvCxnSpPr>
          <p:nvPr/>
        </p:nvCxnSpPr>
        <p:spPr>
          <a:xfrm>
            <a:off x="2189500" y="2294000"/>
            <a:ext cx="676500" cy="547500"/>
          </a:xfrm>
          <a:prstGeom prst="straightConnector1">
            <a:avLst/>
          </a:prstGeom>
          <a:noFill/>
          <a:ln cap="flat" cmpd="sng" w="28575">
            <a:solidFill>
              <a:schemeClr val="dk2"/>
            </a:solidFill>
            <a:prstDash val="solid"/>
            <a:round/>
            <a:headEnd len="sm" w="sm" type="none"/>
            <a:tailEnd len="med" w="med" type="triangle"/>
          </a:ln>
        </p:spPr>
      </p:cxnSp>
      <p:sp>
        <p:nvSpPr>
          <p:cNvPr id="205" name="Google Shape;205;p8"/>
          <p:cNvSpPr/>
          <p:nvPr/>
        </p:nvSpPr>
        <p:spPr>
          <a:xfrm>
            <a:off x="2462788" y="3965375"/>
            <a:ext cx="2205900" cy="459300"/>
          </a:xfrm>
          <a:prstGeom prst="flowChartAlternateProcess">
            <a:avLst/>
          </a:prstGeom>
          <a:solidFill>
            <a:srgbClr val="FFD966"/>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601"/>
              </a:spcBef>
              <a:spcAft>
                <a:spcPts val="0"/>
              </a:spcAft>
              <a:buClr>
                <a:schemeClr val="dk1"/>
              </a:buClr>
              <a:buSzPts val="1300"/>
              <a:buFont typeface="Montserrat"/>
              <a:buNone/>
            </a:pPr>
            <a:r>
              <a:rPr b="0" i="0" lang="es" sz="1400" u="none" cap="none" strike="noStrike">
                <a:solidFill>
                  <a:schemeClr val="dk2"/>
                </a:solidFill>
                <a:latin typeface="Montserrat"/>
                <a:ea typeface="Montserrat"/>
                <a:cs typeface="Montserrat"/>
                <a:sym typeface="Montserrat"/>
              </a:rPr>
              <a:t>Código del programa</a:t>
            </a:r>
            <a:endParaRPr b="0" i="0" sz="1400" u="none" cap="none" strike="noStrike">
              <a:solidFill>
                <a:schemeClr val="dk2"/>
              </a:solidFill>
              <a:latin typeface="Montserrat"/>
              <a:ea typeface="Montserrat"/>
              <a:cs typeface="Montserrat"/>
              <a:sym typeface="Montserrat"/>
            </a:endParaRPr>
          </a:p>
        </p:txBody>
      </p:sp>
      <p:cxnSp>
        <p:nvCxnSpPr>
          <p:cNvPr id="206" name="Google Shape;206;p8"/>
          <p:cNvCxnSpPr>
            <a:stCxn id="205" idx="0"/>
          </p:cNvCxnSpPr>
          <p:nvPr/>
        </p:nvCxnSpPr>
        <p:spPr>
          <a:xfrm rot="10800000">
            <a:off x="3364738" y="3807275"/>
            <a:ext cx="201000" cy="1581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Comentarios en línea, en bloque y docstrings</a:t>
            </a:r>
            <a:endParaRPr/>
          </a:p>
        </p:txBody>
      </p:sp>
      <p:sp>
        <p:nvSpPr>
          <p:cNvPr id="212" name="Google Shape;212;p9"/>
          <p:cNvSpPr txBox="1"/>
          <p:nvPr>
            <p:ph idx="1" type="body"/>
          </p:nvPr>
        </p:nvSpPr>
        <p:spPr>
          <a:xfrm>
            <a:off x="432025" y="1304875"/>
            <a:ext cx="8280000" cy="3302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650"/>
              <a:t>Los comentarios en el código sirven para aclarar los objetivos de ciertas partes del programa. Python permite comentarios </a:t>
            </a:r>
            <a:r>
              <a:rPr b="1" lang="es" sz="1650"/>
              <a:t>en línea</a:t>
            </a:r>
            <a:r>
              <a:rPr lang="es" sz="1650"/>
              <a:t> con </a:t>
            </a:r>
            <a:r>
              <a:rPr b="1" lang="es" sz="1650"/>
              <a:t>#</a:t>
            </a:r>
            <a:r>
              <a:rPr lang="es" sz="1650"/>
              <a:t>, o </a:t>
            </a:r>
            <a:r>
              <a:rPr b="1" lang="es" sz="1650"/>
              <a:t>en bloque</a:t>
            </a:r>
            <a:r>
              <a:rPr lang="es" sz="1650"/>
              <a:t> con triples comillas simples. También existen los </a:t>
            </a:r>
            <a:r>
              <a:rPr b="1" lang="es" sz="1650"/>
              <a:t>docstrings</a:t>
            </a:r>
            <a:r>
              <a:rPr lang="es" sz="1650"/>
              <a:t> (triples comillas dobles), utilizados para generar la documentación de un programa en forma automática con alguna herramienta externa.</a:t>
            </a:r>
            <a:endParaRPr sz="1650"/>
          </a:p>
        </p:txBody>
      </p:sp>
      <p:sp>
        <p:nvSpPr>
          <p:cNvPr id="213" name="Google Shape;213;p9"/>
          <p:cNvSpPr/>
          <p:nvPr/>
        </p:nvSpPr>
        <p:spPr>
          <a:xfrm>
            <a:off x="1480075" y="3058250"/>
            <a:ext cx="6092100" cy="1384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96E072"/>
              </a:buClr>
              <a:buSzPts val="1400"/>
              <a:buFont typeface="Consolas"/>
              <a:buNone/>
            </a:pPr>
            <a:r>
              <a:rPr b="0" i="0" lang="es" sz="1200" u="none" cap="none" strike="noStrike">
                <a:solidFill>
                  <a:srgbClr val="96E072"/>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96E072"/>
              </a:buClr>
              <a:buSzPts val="1400"/>
              <a:buFont typeface="Consolas"/>
              <a:buNone/>
            </a:pPr>
            <a:r>
              <a:rPr b="0" i="0" lang="es" sz="1200" u="none" cap="none" strike="noStrike">
                <a:solidFill>
                  <a:srgbClr val="96E072"/>
                </a:solidFill>
                <a:latin typeface="Consolas"/>
                <a:ea typeface="Consolas"/>
                <a:cs typeface="Consolas"/>
                <a:sym typeface="Consolas"/>
              </a:rPr>
              <a:t>Comentarios</a:t>
            </a:r>
            <a:r>
              <a:rPr b="0" i="0" lang="es" sz="1200" u="none" cap="none" strike="noStrike">
                <a:solidFill>
                  <a:srgbClr val="000000"/>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en</a:t>
            </a:r>
            <a:r>
              <a:rPr b="0" i="0" lang="es" sz="1200" u="none" cap="none" strike="noStrike">
                <a:solidFill>
                  <a:srgbClr val="000000"/>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bloque</a:t>
            </a:r>
            <a:endParaRPr b="0" i="0" sz="1200" u="none" cap="none" strike="noStrike">
              <a:solidFill>
                <a:srgbClr val="96E072"/>
              </a:solidFill>
              <a:latin typeface="Consolas"/>
              <a:ea typeface="Consolas"/>
              <a:cs typeface="Consolas"/>
              <a:sym typeface="Consolas"/>
            </a:endParaRPr>
          </a:p>
          <a:p>
            <a:pPr indent="0" lvl="0" marL="0" marR="0" rtl="0" algn="l">
              <a:lnSpc>
                <a:spcPct val="100000"/>
              </a:lnSpc>
              <a:spcBef>
                <a:spcPts val="0"/>
              </a:spcBef>
              <a:spcAft>
                <a:spcPts val="0"/>
              </a:spcAft>
              <a:buClr>
                <a:srgbClr val="96E072"/>
              </a:buClr>
              <a:buSzPts val="1400"/>
              <a:buFont typeface="Consolas"/>
              <a:buNone/>
            </a:pPr>
            <a:r>
              <a:rPr b="0" i="0" lang="es" sz="1200" u="none" cap="none" strike="noStrike">
                <a:solidFill>
                  <a:srgbClr val="96E072"/>
                </a:solidFill>
                <a:latin typeface="Consolas"/>
                <a:ea typeface="Consolas"/>
                <a:cs typeface="Consolas"/>
                <a:sym typeface="Consolas"/>
              </a:rPr>
              <a:t>Este es un ejemplo de los tipos de comentarios que posee Python.</a:t>
            </a:r>
            <a:endParaRPr b="0" i="0" sz="1200" u="none" cap="none" strike="noStrike">
              <a:solidFill>
                <a:srgbClr val="96E072"/>
              </a:solidFill>
              <a:latin typeface="Consolas"/>
              <a:ea typeface="Consolas"/>
              <a:cs typeface="Consolas"/>
              <a:sym typeface="Consolas"/>
            </a:endParaRPr>
          </a:p>
          <a:p>
            <a:pPr indent="0" lvl="0" marL="0" marR="0" rtl="0" algn="l">
              <a:lnSpc>
                <a:spcPct val="100000"/>
              </a:lnSpc>
              <a:spcBef>
                <a:spcPts val="0"/>
              </a:spcBef>
              <a:spcAft>
                <a:spcPts val="0"/>
              </a:spcAft>
              <a:buClr>
                <a:srgbClr val="96E072"/>
              </a:buClr>
              <a:buSzPts val="1400"/>
              <a:buFont typeface="Consolas"/>
              <a:buNone/>
            </a:pPr>
            <a:r>
              <a:rPr b="0" i="0" lang="es" sz="1200" u="none" cap="none" strike="noStrike">
                <a:solidFill>
                  <a:srgbClr val="96E072"/>
                </a:solidFill>
                <a:latin typeface="Consolas"/>
                <a:ea typeface="Consolas"/>
                <a:cs typeface="Consolas"/>
                <a:sym typeface="Consolas"/>
              </a:rPr>
              <a:t>'''</a:t>
            </a:r>
            <a:endParaRPr b="0" i="0" sz="1200" u="none" cap="none" strike="noStrike">
              <a:solidFill>
                <a:srgbClr val="96E072"/>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400"/>
              <a:buFont typeface="Consolas"/>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suma</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a</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b</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Comentario en línea</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"""Esta función devuelve la suma de los parámetros a y b"""</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return</a:t>
            </a:r>
            <a:r>
              <a:rPr b="0" i="0" lang="es" sz="1200" u="none" cap="none" strike="noStrike">
                <a:solidFill>
                  <a:srgbClr val="D5CED9"/>
                </a:solidFill>
                <a:latin typeface="Consolas"/>
                <a:ea typeface="Consolas"/>
                <a:cs typeface="Consolas"/>
                <a:sym typeface="Consolas"/>
              </a:rPr>
              <a:t> a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b</a:t>
            </a:r>
            <a:endParaRPr b="0" i="0" sz="1200" u="none" cap="none" strike="noStrike">
              <a:solidFill>
                <a:srgbClr val="96E072"/>
              </a:solidFill>
              <a:latin typeface="Consolas"/>
              <a:ea typeface="Consolas"/>
              <a:cs typeface="Consolas"/>
              <a:sym typeface="Consolas"/>
            </a:endParaRPr>
          </a:p>
        </p:txBody>
      </p:sp>
      <p:sp>
        <p:nvSpPr>
          <p:cNvPr id="214" name="Google Shape;214;p9"/>
          <p:cNvSpPr/>
          <p:nvPr/>
        </p:nvSpPr>
        <p:spPr>
          <a:xfrm>
            <a:off x="1480075" y="2829350"/>
            <a:ext cx="6092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Formas de realizar comentarios en el código Python</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Tipos de datos en Python</a:t>
            </a:r>
            <a:endParaRPr/>
          </a:p>
        </p:txBody>
      </p:sp>
      <p:sp>
        <p:nvSpPr>
          <p:cNvPr id="220" name="Google Shape;220;p10"/>
          <p:cNvSpPr txBox="1"/>
          <p:nvPr/>
        </p:nvSpPr>
        <p:spPr>
          <a:xfrm>
            <a:off x="432000" y="1281675"/>
            <a:ext cx="8279700" cy="3275400"/>
          </a:xfrm>
          <a:prstGeom prst="rect">
            <a:avLst/>
          </a:prstGeom>
          <a:noFill/>
          <a:ln cap="flat" cmpd="sng" w="9525">
            <a:solidFill>
              <a:schemeClr val="dk2"/>
            </a:solidFill>
            <a:prstDash val="solid"/>
            <a:round/>
            <a:headEnd len="sm" w="sm" type="none"/>
            <a:tailEnd len="sm" w="sm" type="none"/>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Existen una gran variedad de datos en </a:t>
            </a:r>
            <a:r>
              <a:rPr b="1" i="0" lang="es" sz="1600" u="none" cap="none" strike="noStrike">
                <a:solidFill>
                  <a:srgbClr val="595959"/>
                </a:solidFill>
                <a:latin typeface="Montserrat"/>
                <a:ea typeface="Montserrat"/>
                <a:cs typeface="Montserrat"/>
                <a:sym typeface="Montserrat"/>
              </a:rPr>
              <a:t>Python</a:t>
            </a:r>
            <a:r>
              <a:rPr b="0" i="0" lang="es" sz="1600" u="none" cap="none" strike="noStrike">
                <a:solidFill>
                  <a:srgbClr val="595959"/>
                </a:solidFill>
                <a:latin typeface="Montserrat"/>
                <a:ea typeface="Montserrat"/>
                <a:cs typeface="Montserrat"/>
                <a:sym typeface="Montserrat"/>
              </a:rPr>
              <a:t>. Entre ellos algunos que se consideran “</a:t>
            </a:r>
            <a:r>
              <a:rPr b="1" i="1" lang="es" sz="1600" u="none" cap="none" strike="noStrike">
                <a:solidFill>
                  <a:srgbClr val="595959"/>
                </a:solidFill>
                <a:latin typeface="Montserrat"/>
                <a:ea typeface="Montserrat"/>
                <a:cs typeface="Montserrat"/>
                <a:sym typeface="Montserrat"/>
              </a:rPr>
              <a:t>tipos de datos básicos</a:t>
            </a:r>
            <a:r>
              <a:rPr b="0" i="0" lang="es" sz="1600" u="none" cap="none" strike="noStrike">
                <a:solidFill>
                  <a:srgbClr val="595959"/>
                </a:solidFill>
                <a:latin typeface="Montserrat"/>
                <a:ea typeface="Montserrat"/>
                <a:cs typeface="Montserrat"/>
                <a:sym typeface="Montserrat"/>
              </a:rPr>
              <a:t>”:</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 name="Google Shape;221;p10"/>
          <p:cNvSpPr/>
          <p:nvPr/>
        </p:nvSpPr>
        <p:spPr>
          <a:xfrm>
            <a:off x="1622476" y="2527088"/>
            <a:ext cx="3282900" cy="4293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FFFFFF"/>
              </a:buClr>
              <a:buSzPts val="1800"/>
              <a:buFont typeface="Arial"/>
              <a:buNone/>
            </a:pPr>
            <a:r>
              <a:rPr b="0" i="0" lang="es" sz="1800" u="none" cap="none" strike="noStrike">
                <a:solidFill>
                  <a:schemeClr val="dk2"/>
                </a:solidFill>
                <a:latin typeface="Montserrat"/>
                <a:ea typeface="Montserrat"/>
                <a:cs typeface="Montserrat"/>
                <a:sym typeface="Montserrat"/>
              </a:rPr>
              <a:t>TIPOS DE DATOS SIMPLES</a:t>
            </a:r>
            <a:endParaRPr b="0" i="0" sz="1800" u="none" cap="none" strike="noStrike">
              <a:solidFill>
                <a:schemeClr val="dk2"/>
              </a:solidFill>
              <a:latin typeface="Montserrat"/>
              <a:ea typeface="Montserrat"/>
              <a:cs typeface="Montserrat"/>
              <a:sym typeface="Montserrat"/>
            </a:endParaRPr>
          </a:p>
        </p:txBody>
      </p:sp>
      <p:sp>
        <p:nvSpPr>
          <p:cNvPr id="222" name="Google Shape;222;p10"/>
          <p:cNvSpPr/>
          <p:nvPr/>
        </p:nvSpPr>
        <p:spPr>
          <a:xfrm>
            <a:off x="6368072" y="1915238"/>
            <a:ext cx="2136300" cy="3966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int (enteros)</a:t>
            </a:r>
            <a:endParaRPr b="0" i="0" sz="1800" u="none" cap="none" strike="noStrike">
              <a:solidFill>
                <a:schemeClr val="dk2"/>
              </a:solidFill>
              <a:latin typeface="Montserrat"/>
              <a:ea typeface="Montserrat"/>
              <a:cs typeface="Montserrat"/>
              <a:sym typeface="Montserrat"/>
            </a:endParaRPr>
          </a:p>
        </p:txBody>
      </p:sp>
      <p:sp>
        <p:nvSpPr>
          <p:cNvPr id="223" name="Google Shape;223;p10"/>
          <p:cNvSpPr/>
          <p:nvPr/>
        </p:nvSpPr>
        <p:spPr>
          <a:xfrm>
            <a:off x="6368072" y="2419163"/>
            <a:ext cx="2169900" cy="4299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float (reales)</a:t>
            </a:r>
            <a:endParaRPr b="0" i="0" sz="1800" u="none" cap="none" strike="noStrike">
              <a:solidFill>
                <a:schemeClr val="dk2"/>
              </a:solidFill>
              <a:latin typeface="Montserrat"/>
              <a:ea typeface="Montserrat"/>
              <a:cs typeface="Montserrat"/>
              <a:sym typeface="Montserrat"/>
            </a:endParaRPr>
          </a:p>
        </p:txBody>
      </p:sp>
      <p:sp>
        <p:nvSpPr>
          <p:cNvPr id="224" name="Google Shape;224;p10"/>
          <p:cNvSpPr/>
          <p:nvPr/>
        </p:nvSpPr>
        <p:spPr>
          <a:xfrm>
            <a:off x="6368072" y="2956388"/>
            <a:ext cx="2136300" cy="4299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string (cadenas)</a:t>
            </a:r>
            <a:endParaRPr b="0" i="0" sz="1800" u="none" cap="none" strike="noStrike">
              <a:solidFill>
                <a:schemeClr val="dk2"/>
              </a:solidFill>
              <a:latin typeface="Montserrat"/>
              <a:ea typeface="Montserrat"/>
              <a:cs typeface="Montserrat"/>
              <a:sym typeface="Montserrat"/>
            </a:endParaRPr>
          </a:p>
        </p:txBody>
      </p:sp>
      <p:sp>
        <p:nvSpPr>
          <p:cNvPr id="225" name="Google Shape;225;p10"/>
          <p:cNvSpPr/>
          <p:nvPr/>
        </p:nvSpPr>
        <p:spPr>
          <a:xfrm>
            <a:off x="6368072" y="3493613"/>
            <a:ext cx="2136300" cy="4299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bool (lógicos)</a:t>
            </a:r>
            <a:endParaRPr b="0" i="0" sz="1800" u="none" cap="none" strike="noStrike">
              <a:solidFill>
                <a:schemeClr val="dk2"/>
              </a:solidFill>
              <a:latin typeface="Montserrat"/>
              <a:ea typeface="Montserrat"/>
              <a:cs typeface="Montserrat"/>
              <a:sym typeface="Montserrat"/>
            </a:endParaRPr>
          </a:p>
        </p:txBody>
      </p:sp>
      <p:cxnSp>
        <p:nvCxnSpPr>
          <p:cNvPr id="226" name="Google Shape;226;p10"/>
          <p:cNvCxnSpPr>
            <a:stCxn id="221" idx="3"/>
            <a:endCxn id="222" idx="1"/>
          </p:cNvCxnSpPr>
          <p:nvPr/>
        </p:nvCxnSpPr>
        <p:spPr>
          <a:xfrm flipH="1" rot="10800000">
            <a:off x="4905376" y="2113538"/>
            <a:ext cx="1462800" cy="628200"/>
          </a:xfrm>
          <a:prstGeom prst="straightConnector1">
            <a:avLst/>
          </a:prstGeom>
          <a:noFill/>
          <a:ln cap="flat" cmpd="sng" w="28575">
            <a:solidFill>
              <a:schemeClr val="dk2"/>
            </a:solidFill>
            <a:prstDash val="solid"/>
            <a:round/>
            <a:headEnd len="sm" w="sm" type="none"/>
            <a:tailEnd len="med" w="med" type="triangle"/>
          </a:ln>
        </p:spPr>
      </p:cxnSp>
      <p:cxnSp>
        <p:nvCxnSpPr>
          <p:cNvPr id="227" name="Google Shape;227;p10"/>
          <p:cNvCxnSpPr>
            <a:stCxn id="221" idx="3"/>
            <a:endCxn id="223" idx="1"/>
          </p:cNvCxnSpPr>
          <p:nvPr/>
        </p:nvCxnSpPr>
        <p:spPr>
          <a:xfrm flipH="1" rot="10800000">
            <a:off x="4905376" y="2634038"/>
            <a:ext cx="1462800" cy="107700"/>
          </a:xfrm>
          <a:prstGeom prst="straightConnector1">
            <a:avLst/>
          </a:prstGeom>
          <a:noFill/>
          <a:ln cap="flat" cmpd="sng" w="28575">
            <a:solidFill>
              <a:schemeClr val="dk2"/>
            </a:solidFill>
            <a:prstDash val="solid"/>
            <a:round/>
            <a:headEnd len="sm" w="sm" type="none"/>
            <a:tailEnd len="med" w="med" type="triangle"/>
          </a:ln>
        </p:spPr>
      </p:cxnSp>
      <p:cxnSp>
        <p:nvCxnSpPr>
          <p:cNvPr id="228" name="Google Shape;228;p10"/>
          <p:cNvCxnSpPr>
            <a:stCxn id="221" idx="3"/>
            <a:endCxn id="224" idx="1"/>
          </p:cNvCxnSpPr>
          <p:nvPr/>
        </p:nvCxnSpPr>
        <p:spPr>
          <a:xfrm>
            <a:off x="4905376" y="2741738"/>
            <a:ext cx="1462800" cy="429600"/>
          </a:xfrm>
          <a:prstGeom prst="straightConnector1">
            <a:avLst/>
          </a:prstGeom>
          <a:noFill/>
          <a:ln cap="flat" cmpd="sng" w="28575">
            <a:solidFill>
              <a:schemeClr val="dk2"/>
            </a:solidFill>
            <a:prstDash val="solid"/>
            <a:round/>
            <a:headEnd len="sm" w="sm" type="none"/>
            <a:tailEnd len="med" w="med" type="triangle"/>
          </a:ln>
        </p:spPr>
      </p:cxnSp>
      <p:cxnSp>
        <p:nvCxnSpPr>
          <p:cNvPr id="229" name="Google Shape;229;p10"/>
          <p:cNvCxnSpPr>
            <a:stCxn id="221" idx="3"/>
            <a:endCxn id="225" idx="1"/>
          </p:cNvCxnSpPr>
          <p:nvPr/>
        </p:nvCxnSpPr>
        <p:spPr>
          <a:xfrm>
            <a:off x="4905376" y="2741738"/>
            <a:ext cx="1462800" cy="966900"/>
          </a:xfrm>
          <a:prstGeom prst="straightConnector1">
            <a:avLst/>
          </a:prstGeom>
          <a:noFill/>
          <a:ln cap="flat" cmpd="sng" w="28575">
            <a:solidFill>
              <a:schemeClr val="dk2"/>
            </a:solidFill>
            <a:prstDash val="solid"/>
            <a:round/>
            <a:headEnd len="sm" w="sm" type="none"/>
            <a:tailEnd len="med" w="med" type="triangle"/>
          </a:ln>
        </p:spPr>
      </p:cxnSp>
      <p:sp>
        <p:nvSpPr>
          <p:cNvPr id="230" name="Google Shape;230;p10"/>
          <p:cNvSpPr/>
          <p:nvPr/>
        </p:nvSpPr>
        <p:spPr>
          <a:xfrm>
            <a:off x="1352175" y="3425500"/>
            <a:ext cx="3823500" cy="966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cadena</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"Hola Mundo en Python"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#Strings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entero</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#int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flotante</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12.3</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#float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logico</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True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o False, boolean</a:t>
            </a:r>
            <a:endParaRPr b="0" i="0" sz="1200" u="none" cap="none" strike="noStrike">
              <a:solidFill>
                <a:srgbClr val="000000"/>
              </a:solidFill>
              <a:latin typeface="Arial"/>
              <a:ea typeface="Arial"/>
              <a:cs typeface="Arial"/>
              <a:sym typeface="Arial"/>
            </a:endParaRPr>
          </a:p>
        </p:txBody>
      </p:sp>
      <p:sp>
        <p:nvSpPr>
          <p:cNvPr id="231" name="Google Shape;231;p10"/>
          <p:cNvSpPr/>
          <p:nvPr/>
        </p:nvSpPr>
        <p:spPr>
          <a:xfrm>
            <a:off x="1352175" y="3196600"/>
            <a:ext cx="3823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Tipos de datos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Tipos de datos en Python</a:t>
            </a:r>
            <a:endParaRPr/>
          </a:p>
        </p:txBody>
      </p:sp>
      <p:sp>
        <p:nvSpPr>
          <p:cNvPr id="237" name="Google Shape;237;p11"/>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Algunos ejemplos de los valores que pueden tener los distintos tipos de datos:</a:t>
            </a:r>
            <a:endParaRPr b="0" i="0" sz="1600" u="none" cap="none" strike="noStrike">
              <a:solidFill>
                <a:srgbClr val="595959"/>
              </a:solidFill>
              <a:latin typeface="Montserrat"/>
              <a:ea typeface="Montserrat"/>
              <a:cs typeface="Montserrat"/>
              <a:sym typeface="Montserrat"/>
            </a:endParaRPr>
          </a:p>
          <a:p>
            <a:pPr indent="-330200" lvl="0" marL="457200" marR="0" rtl="0" algn="l">
              <a:lnSpc>
                <a:spcPct val="115000"/>
              </a:lnSpc>
              <a:spcBef>
                <a:spcPts val="1199"/>
              </a:spcBef>
              <a:spcAft>
                <a:spcPts val="0"/>
              </a:spcAft>
              <a:buClr>
                <a:srgbClr val="595959"/>
              </a:buClr>
              <a:buSzPts val="1600"/>
              <a:buFont typeface="Montserrat"/>
              <a:buChar char="●"/>
            </a:pPr>
            <a:r>
              <a:rPr b="1" i="0" lang="es" sz="1600" u="none" cap="none" strike="noStrike">
                <a:solidFill>
                  <a:srgbClr val="595959"/>
                </a:solidFill>
                <a:latin typeface="Montserrat"/>
                <a:ea typeface="Montserrat"/>
                <a:cs typeface="Montserrat"/>
                <a:sym typeface="Montserrat"/>
              </a:rPr>
              <a:t>Número Entero (int):</a:t>
            </a:r>
            <a:r>
              <a:rPr b="0" i="0" lang="es" sz="1600" u="none" cap="none" strike="noStrike">
                <a:solidFill>
                  <a:srgbClr val="595959"/>
                </a:solidFill>
                <a:latin typeface="Montserrat"/>
                <a:ea typeface="Montserrat"/>
                <a:cs typeface="Montserrat"/>
                <a:sym typeface="Montserrat"/>
              </a:rPr>
              <a:t> 3, 128, -453</a:t>
            </a:r>
            <a:endParaRPr b="0" i="0" sz="1600" u="none" cap="none" strike="noStrike">
              <a:solidFill>
                <a:srgbClr val="595959"/>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595959"/>
              </a:buClr>
              <a:buSzPts val="1600"/>
              <a:buFont typeface="Montserrat"/>
              <a:buChar char="●"/>
            </a:pPr>
            <a:r>
              <a:rPr b="1" i="0" lang="es" sz="1600" u="none" cap="none" strike="noStrike">
                <a:solidFill>
                  <a:srgbClr val="595959"/>
                </a:solidFill>
                <a:latin typeface="Montserrat"/>
                <a:ea typeface="Montserrat"/>
                <a:cs typeface="Montserrat"/>
                <a:sym typeface="Montserrat"/>
              </a:rPr>
              <a:t>Número Decimal (float): </a:t>
            </a:r>
            <a:r>
              <a:rPr b="0" i="0" lang="es" sz="1600" u="none" cap="none" strike="noStrike">
                <a:solidFill>
                  <a:srgbClr val="595959"/>
                </a:solidFill>
                <a:latin typeface="Montserrat"/>
                <a:ea typeface="Montserrat"/>
                <a:cs typeface="Montserrat"/>
                <a:sym typeface="Montserrat"/>
              </a:rPr>
              <a:t>3.454 , - 12.4 , 3.14</a:t>
            </a:r>
            <a:endParaRPr b="0" i="0" sz="1600" u="none" cap="none" strike="noStrike">
              <a:solidFill>
                <a:srgbClr val="595959"/>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595959"/>
              </a:buClr>
              <a:buSzPts val="1600"/>
              <a:buFont typeface="Montserrat"/>
              <a:buChar char="●"/>
            </a:pPr>
            <a:r>
              <a:rPr b="1" i="0" lang="es" sz="1600" u="none" cap="none" strike="noStrike">
                <a:solidFill>
                  <a:srgbClr val="595959"/>
                </a:solidFill>
                <a:latin typeface="Montserrat"/>
                <a:ea typeface="Montserrat"/>
                <a:cs typeface="Montserrat"/>
                <a:sym typeface="Montserrat"/>
              </a:rPr>
              <a:t>Caracter (chr): </a:t>
            </a:r>
            <a:r>
              <a:rPr b="0" i="0" lang="es" sz="1600" u="none" cap="none" strike="noStrike">
                <a:solidFill>
                  <a:srgbClr val="595959"/>
                </a:solidFill>
                <a:latin typeface="Montserrat"/>
                <a:ea typeface="Montserrat"/>
                <a:cs typeface="Montserrat"/>
                <a:sym typeface="Montserrat"/>
              </a:rPr>
              <a:t>A, b, z, 6, %</a:t>
            </a:r>
            <a:endParaRPr b="0" i="0" sz="1600" u="none" cap="none" strike="noStrike">
              <a:solidFill>
                <a:srgbClr val="595959"/>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595959"/>
              </a:buClr>
              <a:buSzPts val="1600"/>
              <a:buFont typeface="Montserrat"/>
              <a:buChar char="●"/>
            </a:pPr>
            <a:r>
              <a:rPr b="1" i="0" lang="es" sz="1600" u="none" cap="none" strike="noStrike">
                <a:solidFill>
                  <a:srgbClr val="595959"/>
                </a:solidFill>
                <a:latin typeface="Montserrat"/>
                <a:ea typeface="Montserrat"/>
                <a:cs typeface="Montserrat"/>
                <a:sym typeface="Montserrat"/>
              </a:rPr>
              <a:t>Cadena de Texto (str): </a:t>
            </a:r>
            <a:r>
              <a:rPr b="0" i="0" lang="es" sz="1600" u="none" cap="none" strike="noStrike">
                <a:solidFill>
                  <a:srgbClr val="595959"/>
                </a:solidFill>
                <a:latin typeface="Montserrat"/>
                <a:ea typeface="Montserrat"/>
                <a:cs typeface="Montserrat"/>
                <a:sym typeface="Montserrat"/>
              </a:rPr>
              <a:t>Hola , Juan, A23, ¡Esto es otra cadena de texto!</a:t>
            </a:r>
            <a:endParaRPr b="0" i="0" sz="1600" u="none" cap="none" strike="noStrike">
              <a:solidFill>
                <a:srgbClr val="595959"/>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595959"/>
              </a:buClr>
              <a:buSzPts val="1600"/>
              <a:buFont typeface="Montserrat"/>
              <a:buChar char="●"/>
            </a:pPr>
            <a:r>
              <a:rPr b="1" i="0" lang="es" sz="1600" u="none" cap="none" strike="noStrike">
                <a:solidFill>
                  <a:srgbClr val="595959"/>
                </a:solidFill>
                <a:latin typeface="Montserrat"/>
                <a:ea typeface="Montserrat"/>
                <a:cs typeface="Montserrat"/>
                <a:sym typeface="Montserrat"/>
              </a:rPr>
              <a:t>Booleano (bool): </a:t>
            </a:r>
            <a:r>
              <a:rPr b="0" i="0" lang="es" sz="1600" u="none" cap="none" strike="noStrike">
                <a:solidFill>
                  <a:srgbClr val="595959"/>
                </a:solidFill>
                <a:latin typeface="Montserrat"/>
                <a:ea typeface="Montserrat"/>
                <a:cs typeface="Montserrat"/>
                <a:sym typeface="Montserrat"/>
              </a:rPr>
              <a:t>True, False</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También disponemos de datos más complejos, a los que se denominan generalmente “colecciones” y que son muy importantes en Python, a los cuales nos referiremos en detalle más adelante.</a:t>
            </a:r>
            <a:endParaRPr b="0" i="0" sz="16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Operadores y expresiones</a:t>
            </a:r>
            <a:endParaRPr/>
          </a:p>
        </p:txBody>
      </p:sp>
      <p:sp>
        <p:nvSpPr>
          <p:cNvPr id="243" name="Google Shape;243;p12"/>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El </a:t>
            </a:r>
            <a:r>
              <a:rPr b="1" i="0" lang="es" sz="1600" u="none" cap="none" strike="noStrike">
                <a:solidFill>
                  <a:srgbClr val="595959"/>
                </a:solidFill>
                <a:latin typeface="Montserrat"/>
                <a:ea typeface="Montserrat"/>
                <a:cs typeface="Montserrat"/>
                <a:sym typeface="Montserrat"/>
              </a:rPr>
              <a:t>=</a:t>
            </a:r>
            <a:r>
              <a:rPr b="0" i="0" lang="es" sz="1600" u="none" cap="none" strike="noStrike">
                <a:solidFill>
                  <a:srgbClr val="595959"/>
                </a:solidFill>
                <a:latin typeface="Montserrat"/>
                <a:ea typeface="Montserrat"/>
                <a:cs typeface="Montserrat"/>
                <a:sym typeface="Montserrat"/>
              </a:rPr>
              <a:t> (igual) es muy importante en Python. Su función es diferente a la que habitualmente le damos en otros contextos, como la matemática. Se lo denomina “</a:t>
            </a:r>
            <a:r>
              <a:rPr b="1" i="0" lang="es" sz="1600" u="none" cap="none" strike="noStrike">
                <a:solidFill>
                  <a:srgbClr val="595959"/>
                </a:solidFill>
                <a:latin typeface="Montserrat"/>
                <a:ea typeface="Montserrat"/>
                <a:cs typeface="Montserrat"/>
                <a:sym typeface="Montserrat"/>
              </a:rPr>
              <a:t>operador de asignación</a:t>
            </a:r>
            <a:r>
              <a:rPr b="0" i="0" lang="es" sz="1600" u="none" cap="none" strike="noStrike">
                <a:solidFill>
                  <a:srgbClr val="595959"/>
                </a:solidFill>
                <a:latin typeface="Montserrat"/>
                <a:ea typeface="Montserrat"/>
                <a:cs typeface="Montserrat"/>
                <a:sym typeface="Montserrat"/>
              </a:rPr>
              <a:t>” y nos permite asignar un valor a una variable.</a:t>
            </a:r>
            <a:endParaRPr b="0" i="0" sz="1600" u="none" cap="none" strike="noStrike">
              <a:solidFill>
                <a:srgbClr val="595959"/>
              </a:solidFill>
              <a:latin typeface="Montserrat"/>
              <a:ea typeface="Montserrat"/>
              <a:cs typeface="Montserrat"/>
              <a:sym typeface="Montserrat"/>
            </a:endParaRPr>
          </a:p>
        </p:txBody>
      </p:sp>
      <p:sp>
        <p:nvSpPr>
          <p:cNvPr id="244" name="Google Shape;244;p12"/>
          <p:cNvSpPr/>
          <p:nvPr/>
        </p:nvSpPr>
        <p:spPr>
          <a:xfrm>
            <a:off x="1215500" y="2750475"/>
            <a:ext cx="2611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Variables</a:t>
            </a:r>
            <a:endParaRPr b="0" i="0" sz="1400" u="none" cap="none" strike="noStrike">
              <a:solidFill>
                <a:schemeClr val="dk2"/>
              </a:solidFill>
              <a:latin typeface="Montserrat"/>
              <a:ea typeface="Montserrat"/>
              <a:cs typeface="Montserrat"/>
              <a:sym typeface="Montserrat"/>
            </a:endParaRPr>
          </a:p>
        </p:txBody>
      </p:sp>
      <p:sp>
        <p:nvSpPr>
          <p:cNvPr id="245" name="Google Shape;245;p12"/>
          <p:cNvSpPr/>
          <p:nvPr/>
        </p:nvSpPr>
        <p:spPr>
          <a:xfrm>
            <a:off x="6176580" y="2295300"/>
            <a:ext cx="2250600" cy="4638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int (enteros)</a:t>
            </a:r>
            <a:endParaRPr b="0" i="0" sz="1800" u="none" cap="none" strike="noStrike">
              <a:solidFill>
                <a:schemeClr val="dk2"/>
              </a:solidFill>
              <a:latin typeface="Montserrat"/>
              <a:ea typeface="Montserrat"/>
              <a:cs typeface="Montserrat"/>
              <a:sym typeface="Montserrat"/>
            </a:endParaRPr>
          </a:p>
        </p:txBody>
      </p:sp>
      <p:sp>
        <p:nvSpPr>
          <p:cNvPr id="246" name="Google Shape;246;p12"/>
          <p:cNvSpPr/>
          <p:nvPr/>
        </p:nvSpPr>
        <p:spPr>
          <a:xfrm>
            <a:off x="6176580" y="2855625"/>
            <a:ext cx="2250600" cy="5028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float (reales)</a:t>
            </a:r>
            <a:endParaRPr b="0" i="0" sz="1800" u="none" cap="none" strike="noStrike">
              <a:solidFill>
                <a:schemeClr val="dk2"/>
              </a:solidFill>
              <a:latin typeface="Montserrat"/>
              <a:ea typeface="Montserrat"/>
              <a:cs typeface="Montserrat"/>
              <a:sym typeface="Montserrat"/>
            </a:endParaRPr>
          </a:p>
        </p:txBody>
      </p:sp>
      <p:sp>
        <p:nvSpPr>
          <p:cNvPr id="247" name="Google Shape;247;p12"/>
          <p:cNvSpPr/>
          <p:nvPr/>
        </p:nvSpPr>
        <p:spPr>
          <a:xfrm>
            <a:off x="6176580" y="3454950"/>
            <a:ext cx="2250600" cy="5028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string (cadenas)</a:t>
            </a:r>
            <a:endParaRPr b="0" i="0" sz="1800" u="none" cap="none" strike="noStrike">
              <a:solidFill>
                <a:schemeClr val="dk2"/>
              </a:solidFill>
              <a:latin typeface="Montserrat"/>
              <a:ea typeface="Montserrat"/>
              <a:cs typeface="Montserrat"/>
              <a:sym typeface="Montserrat"/>
            </a:endParaRPr>
          </a:p>
        </p:txBody>
      </p:sp>
      <p:sp>
        <p:nvSpPr>
          <p:cNvPr id="248" name="Google Shape;248;p12"/>
          <p:cNvSpPr/>
          <p:nvPr/>
        </p:nvSpPr>
        <p:spPr>
          <a:xfrm>
            <a:off x="6176580" y="4054275"/>
            <a:ext cx="2250600" cy="5028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Montserrat"/>
                <a:ea typeface="Montserrat"/>
                <a:cs typeface="Montserrat"/>
                <a:sym typeface="Montserrat"/>
              </a:rPr>
              <a:t>bool (lógicos)</a:t>
            </a:r>
            <a:endParaRPr b="0" i="0" sz="1800" u="none" cap="none" strike="noStrike">
              <a:solidFill>
                <a:schemeClr val="dk2"/>
              </a:solidFill>
              <a:latin typeface="Montserrat"/>
              <a:ea typeface="Montserrat"/>
              <a:cs typeface="Montserrat"/>
              <a:sym typeface="Montserrat"/>
            </a:endParaRPr>
          </a:p>
        </p:txBody>
      </p:sp>
      <p:sp>
        <p:nvSpPr>
          <p:cNvPr id="249" name="Google Shape;249;p12"/>
          <p:cNvSpPr/>
          <p:nvPr/>
        </p:nvSpPr>
        <p:spPr>
          <a:xfrm>
            <a:off x="1215450" y="2979375"/>
            <a:ext cx="2611200" cy="1295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D5CED9"/>
                </a:solidFill>
                <a:highlight>
                  <a:srgbClr val="23262E"/>
                </a:highlight>
                <a:latin typeface="Consolas"/>
                <a:ea typeface="Consolas"/>
                <a:cs typeface="Consolas"/>
                <a:sym typeface="Consolas"/>
              </a:rPr>
              <a:t>cantidad </a:t>
            </a:r>
            <a:r>
              <a:rPr b="0" i="0" lang="es" sz="1800" u="none" cap="none" strike="noStrike">
                <a:solidFill>
                  <a:srgbClr val="EE5D43"/>
                </a:solidFill>
                <a:highlight>
                  <a:srgbClr val="23262E"/>
                </a:highlight>
                <a:latin typeface="Consolas"/>
                <a:ea typeface="Consolas"/>
                <a:cs typeface="Consolas"/>
                <a:sym typeface="Consolas"/>
              </a:rPr>
              <a:t>=</a:t>
            </a:r>
            <a:r>
              <a:rPr b="0" i="0" lang="es" sz="1800" u="none" cap="none" strike="noStrike">
                <a:solidFill>
                  <a:srgbClr val="D5CED9"/>
                </a:solidFill>
                <a:highlight>
                  <a:srgbClr val="23262E"/>
                </a:highlight>
                <a:latin typeface="Consolas"/>
                <a:ea typeface="Consolas"/>
                <a:cs typeface="Consolas"/>
                <a:sym typeface="Consolas"/>
              </a:rPr>
              <a:t> </a:t>
            </a:r>
            <a:r>
              <a:rPr b="0" i="0" lang="es" sz="1800" u="none" cap="none" strike="noStrike">
                <a:solidFill>
                  <a:srgbClr val="F39C12"/>
                </a:solidFill>
                <a:highlight>
                  <a:srgbClr val="23262E"/>
                </a:highlight>
                <a:latin typeface="Consolas"/>
                <a:ea typeface="Consolas"/>
                <a:cs typeface="Consolas"/>
                <a:sym typeface="Consolas"/>
              </a:rPr>
              <a:t>43</a:t>
            </a:r>
            <a:endParaRPr b="0" i="0" sz="18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D5CED9"/>
                </a:solidFill>
                <a:highlight>
                  <a:srgbClr val="23262E"/>
                </a:highlight>
                <a:latin typeface="Consolas"/>
                <a:ea typeface="Consolas"/>
                <a:cs typeface="Consolas"/>
                <a:sym typeface="Consolas"/>
              </a:rPr>
              <a:t>precio </a:t>
            </a:r>
            <a:r>
              <a:rPr b="0" i="0" lang="es" sz="1800" u="none" cap="none" strike="noStrike">
                <a:solidFill>
                  <a:srgbClr val="EE5D43"/>
                </a:solidFill>
                <a:highlight>
                  <a:srgbClr val="23262E"/>
                </a:highlight>
                <a:latin typeface="Consolas"/>
                <a:ea typeface="Consolas"/>
                <a:cs typeface="Consolas"/>
                <a:sym typeface="Consolas"/>
              </a:rPr>
              <a:t>=</a:t>
            </a:r>
            <a:r>
              <a:rPr b="0" i="0" lang="es" sz="1800" u="none" cap="none" strike="noStrike">
                <a:solidFill>
                  <a:srgbClr val="D5CED9"/>
                </a:solidFill>
                <a:highlight>
                  <a:srgbClr val="23262E"/>
                </a:highlight>
                <a:latin typeface="Consolas"/>
                <a:ea typeface="Consolas"/>
                <a:cs typeface="Consolas"/>
                <a:sym typeface="Consolas"/>
              </a:rPr>
              <a:t> </a:t>
            </a:r>
            <a:r>
              <a:rPr b="0" i="0" lang="es" sz="1800" u="none" cap="none" strike="noStrike">
                <a:solidFill>
                  <a:srgbClr val="F39C12"/>
                </a:solidFill>
                <a:highlight>
                  <a:srgbClr val="23262E"/>
                </a:highlight>
                <a:latin typeface="Consolas"/>
                <a:ea typeface="Consolas"/>
                <a:cs typeface="Consolas"/>
                <a:sym typeface="Consolas"/>
              </a:rPr>
              <a:t>12.45</a:t>
            </a:r>
            <a:endParaRPr b="0" i="0" sz="18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D5CED9"/>
                </a:solidFill>
                <a:highlight>
                  <a:srgbClr val="23262E"/>
                </a:highlight>
                <a:latin typeface="Consolas"/>
                <a:ea typeface="Consolas"/>
                <a:cs typeface="Consolas"/>
                <a:sym typeface="Consolas"/>
              </a:rPr>
              <a:t>nombre </a:t>
            </a:r>
            <a:r>
              <a:rPr b="0" i="0" lang="es" sz="1800" u="none" cap="none" strike="noStrike">
                <a:solidFill>
                  <a:srgbClr val="EE5D43"/>
                </a:solidFill>
                <a:highlight>
                  <a:srgbClr val="23262E"/>
                </a:highlight>
                <a:latin typeface="Consolas"/>
                <a:ea typeface="Consolas"/>
                <a:cs typeface="Consolas"/>
                <a:sym typeface="Consolas"/>
              </a:rPr>
              <a:t>=</a:t>
            </a:r>
            <a:r>
              <a:rPr b="0" i="0" lang="es" sz="1800" u="none" cap="none" strike="noStrike">
                <a:solidFill>
                  <a:srgbClr val="D5CED9"/>
                </a:solidFill>
                <a:highlight>
                  <a:srgbClr val="23262E"/>
                </a:highlight>
                <a:latin typeface="Consolas"/>
                <a:ea typeface="Consolas"/>
                <a:cs typeface="Consolas"/>
                <a:sym typeface="Consolas"/>
              </a:rPr>
              <a:t> </a:t>
            </a:r>
            <a:r>
              <a:rPr b="0" i="0" lang="es" sz="1800" u="none" cap="none" strike="noStrike">
                <a:solidFill>
                  <a:srgbClr val="96E072"/>
                </a:solidFill>
                <a:highlight>
                  <a:srgbClr val="23262E"/>
                </a:highlight>
                <a:latin typeface="Consolas"/>
                <a:ea typeface="Consolas"/>
                <a:cs typeface="Consolas"/>
                <a:sym typeface="Consolas"/>
              </a:rPr>
              <a:t>"Adrián"</a:t>
            </a:r>
            <a:endParaRPr b="0" i="0" sz="18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D5CED9"/>
                </a:solidFill>
                <a:highlight>
                  <a:srgbClr val="23262E"/>
                </a:highlight>
                <a:latin typeface="Consolas"/>
                <a:ea typeface="Consolas"/>
                <a:cs typeface="Consolas"/>
                <a:sym typeface="Consolas"/>
              </a:rPr>
              <a:t>encendido </a:t>
            </a:r>
            <a:r>
              <a:rPr b="0" i="0" lang="es" sz="1800" u="none" cap="none" strike="noStrike">
                <a:solidFill>
                  <a:srgbClr val="EE5D43"/>
                </a:solidFill>
                <a:highlight>
                  <a:srgbClr val="23262E"/>
                </a:highlight>
                <a:latin typeface="Consolas"/>
                <a:ea typeface="Consolas"/>
                <a:cs typeface="Consolas"/>
                <a:sym typeface="Consolas"/>
              </a:rPr>
              <a:t>=</a:t>
            </a:r>
            <a:r>
              <a:rPr b="0" i="0" lang="es" sz="1800" u="none" cap="none" strike="noStrike">
                <a:solidFill>
                  <a:srgbClr val="D5CED9"/>
                </a:solidFill>
                <a:highlight>
                  <a:srgbClr val="23262E"/>
                </a:highlight>
                <a:latin typeface="Consolas"/>
                <a:ea typeface="Consolas"/>
                <a:cs typeface="Consolas"/>
                <a:sym typeface="Consolas"/>
              </a:rPr>
              <a:t> </a:t>
            </a:r>
            <a:r>
              <a:rPr b="0" i="0" lang="es" sz="1800" u="none" cap="none" strike="noStrike">
                <a:solidFill>
                  <a:srgbClr val="EE5D43"/>
                </a:solidFill>
                <a:highlight>
                  <a:srgbClr val="23262E"/>
                </a:highlight>
                <a:latin typeface="Consolas"/>
                <a:ea typeface="Consolas"/>
                <a:cs typeface="Consolas"/>
                <a:sym typeface="Consolas"/>
              </a:rPr>
              <a:t>True</a:t>
            </a:r>
            <a:endParaRPr b="0" i="0" sz="1800" u="none" cap="none" strike="noStrike">
              <a:solidFill>
                <a:srgbClr val="EE5D43"/>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cxnSp>
        <p:nvCxnSpPr>
          <p:cNvPr id="250" name="Google Shape;250;p12"/>
          <p:cNvCxnSpPr>
            <a:endCxn id="248" idx="1"/>
          </p:cNvCxnSpPr>
          <p:nvPr/>
        </p:nvCxnSpPr>
        <p:spPr>
          <a:xfrm>
            <a:off x="3635580" y="3995775"/>
            <a:ext cx="2541000" cy="309900"/>
          </a:xfrm>
          <a:prstGeom prst="straightConnector1">
            <a:avLst/>
          </a:prstGeom>
          <a:noFill/>
          <a:ln cap="flat" cmpd="sng" w="28575">
            <a:solidFill>
              <a:schemeClr val="dk2"/>
            </a:solidFill>
            <a:prstDash val="solid"/>
            <a:round/>
            <a:headEnd len="sm" w="sm" type="none"/>
            <a:tailEnd len="med" w="med" type="triangle"/>
          </a:ln>
        </p:spPr>
      </p:cxnSp>
      <p:cxnSp>
        <p:nvCxnSpPr>
          <p:cNvPr id="251" name="Google Shape;251;p12"/>
          <p:cNvCxnSpPr>
            <a:endCxn id="247" idx="1"/>
          </p:cNvCxnSpPr>
          <p:nvPr/>
        </p:nvCxnSpPr>
        <p:spPr>
          <a:xfrm flipH="1" rot="10800000">
            <a:off x="3677580" y="3706350"/>
            <a:ext cx="2499000" cy="29700"/>
          </a:xfrm>
          <a:prstGeom prst="straightConnector1">
            <a:avLst/>
          </a:prstGeom>
          <a:noFill/>
          <a:ln cap="flat" cmpd="sng" w="28575">
            <a:solidFill>
              <a:schemeClr val="dk2"/>
            </a:solidFill>
            <a:prstDash val="solid"/>
            <a:round/>
            <a:headEnd len="sm" w="sm" type="none"/>
            <a:tailEnd len="med" w="med" type="triangle"/>
          </a:ln>
        </p:spPr>
      </p:cxnSp>
      <p:cxnSp>
        <p:nvCxnSpPr>
          <p:cNvPr id="252" name="Google Shape;252;p12"/>
          <p:cNvCxnSpPr/>
          <p:nvPr/>
        </p:nvCxnSpPr>
        <p:spPr>
          <a:xfrm flipH="1" rot="10800000">
            <a:off x="3317300" y="2619950"/>
            <a:ext cx="2859300" cy="538200"/>
          </a:xfrm>
          <a:prstGeom prst="straightConnector1">
            <a:avLst/>
          </a:prstGeom>
          <a:noFill/>
          <a:ln cap="flat" cmpd="sng" w="28575">
            <a:solidFill>
              <a:schemeClr val="dk2"/>
            </a:solidFill>
            <a:prstDash val="solid"/>
            <a:round/>
            <a:headEnd len="sm" w="sm" type="none"/>
            <a:tailEnd len="med" w="med" type="triangle"/>
          </a:ln>
        </p:spPr>
      </p:cxnSp>
      <p:cxnSp>
        <p:nvCxnSpPr>
          <p:cNvPr id="253" name="Google Shape;253;p12"/>
          <p:cNvCxnSpPr>
            <a:endCxn id="246" idx="1"/>
          </p:cNvCxnSpPr>
          <p:nvPr/>
        </p:nvCxnSpPr>
        <p:spPr>
          <a:xfrm flipH="1" rot="10800000">
            <a:off x="3468180" y="3107025"/>
            <a:ext cx="2708400" cy="3276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Expresiones y sentencias</a:t>
            </a:r>
            <a:endParaRPr/>
          </a:p>
        </p:txBody>
      </p:sp>
      <p:sp>
        <p:nvSpPr>
          <p:cNvPr id="259" name="Google Shape;259;p13"/>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Una </a:t>
            </a:r>
            <a:r>
              <a:rPr b="1" i="0" lang="es" sz="1650" u="none" cap="none" strike="noStrike">
                <a:solidFill>
                  <a:srgbClr val="595959"/>
                </a:solidFill>
                <a:latin typeface="Montserrat"/>
                <a:ea typeface="Montserrat"/>
                <a:cs typeface="Montserrat"/>
                <a:sym typeface="Montserrat"/>
              </a:rPr>
              <a:t>expresión</a:t>
            </a:r>
            <a:r>
              <a:rPr b="0" i="0" lang="es" sz="1650" u="none" cap="none" strike="noStrike">
                <a:solidFill>
                  <a:srgbClr val="595959"/>
                </a:solidFill>
                <a:latin typeface="Montserrat"/>
                <a:ea typeface="Montserrat"/>
                <a:cs typeface="Montserrat"/>
                <a:sym typeface="Montserrat"/>
              </a:rPr>
              <a:t> es una unidad de código que devuelve un valor y está formada por una combinación de operandos (variables y literales) y operadores.</a:t>
            </a:r>
            <a:endParaRPr b="0" i="0" sz="1650" u="none" cap="none" strike="noStrike">
              <a:solidFill>
                <a:srgbClr val="595959"/>
              </a:solidFill>
              <a:latin typeface="Montserrat"/>
              <a:ea typeface="Montserrat"/>
              <a:cs typeface="Montserrat"/>
              <a:sym typeface="Montserrat"/>
            </a:endParaRPr>
          </a:p>
        </p:txBody>
      </p:sp>
      <p:sp>
        <p:nvSpPr>
          <p:cNvPr id="260" name="Google Shape;260;p13"/>
          <p:cNvSpPr/>
          <p:nvPr/>
        </p:nvSpPr>
        <p:spPr>
          <a:xfrm>
            <a:off x="1398600" y="2084525"/>
            <a:ext cx="6329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rgbClr val="595959"/>
                </a:solidFill>
                <a:latin typeface="Montserrat"/>
                <a:ea typeface="Montserrat"/>
                <a:cs typeface="Montserrat"/>
                <a:sym typeface="Montserrat"/>
              </a:rPr>
              <a:t>Expresiones</a:t>
            </a:r>
            <a:endParaRPr b="0" i="0" sz="1400" u="none" cap="none" strike="noStrike">
              <a:solidFill>
                <a:srgbClr val="595959"/>
              </a:solidFill>
              <a:latin typeface="Montserrat"/>
              <a:ea typeface="Montserrat"/>
              <a:cs typeface="Montserrat"/>
              <a:sym typeface="Montserrat"/>
            </a:endParaRPr>
          </a:p>
        </p:txBody>
      </p:sp>
      <p:sp>
        <p:nvSpPr>
          <p:cNvPr id="261" name="Google Shape;261;p13"/>
          <p:cNvSpPr/>
          <p:nvPr/>
        </p:nvSpPr>
        <p:spPr>
          <a:xfrm>
            <a:off x="1398600" y="2313413"/>
            <a:ext cx="6329400" cy="1010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39C12"/>
              </a:buClr>
              <a:buSzPts val="1400"/>
              <a:buFont typeface="Consolas"/>
              <a:buNone/>
            </a:pPr>
            <a:r>
              <a:rPr b="0" i="0" lang="es" sz="1300" u="none" cap="none" strike="noStrike">
                <a:solidFill>
                  <a:srgbClr val="F39C12"/>
                </a:solidFill>
                <a:latin typeface="Consolas"/>
                <a:ea typeface="Consolas"/>
                <a:cs typeface="Consolas"/>
                <a:sym typeface="Consolas"/>
              </a:rPr>
              <a:t>5</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EE5D43"/>
                </a:solidFill>
                <a:latin typeface="Consolas"/>
                <a:ea typeface="Consolas"/>
                <a:cs typeface="Consolas"/>
                <a:sym typeface="Consolas"/>
              </a:rPr>
              <a:t>+</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F39C12"/>
                </a:solidFill>
                <a:latin typeface="Consolas"/>
                <a:ea typeface="Consolas"/>
                <a:cs typeface="Consolas"/>
                <a:sym typeface="Consolas"/>
              </a:rPr>
              <a:t>2</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5F6167"/>
                </a:solidFill>
                <a:latin typeface="Consolas"/>
                <a:ea typeface="Consolas"/>
                <a:cs typeface="Consolas"/>
                <a:sym typeface="Consolas"/>
              </a:rPr>
              <a:t># Suma del número 5 y el número 2</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300" u="none" cap="none" strike="noStrike">
                <a:solidFill>
                  <a:srgbClr val="D5CED9"/>
                </a:solidFill>
                <a:latin typeface="Consolas"/>
                <a:ea typeface="Consolas"/>
                <a:cs typeface="Consolas"/>
                <a:sym typeface="Consolas"/>
              </a:rPr>
              <a:t>a </a:t>
            </a:r>
            <a:r>
              <a:rPr b="0" i="0" lang="es" sz="1300" u="none" cap="none" strike="noStrike">
                <a:solidFill>
                  <a:srgbClr val="EE5D43"/>
                </a:solidFill>
                <a:latin typeface="Consolas"/>
                <a:ea typeface="Consolas"/>
                <a:cs typeface="Consolas"/>
                <a:sym typeface="Consolas"/>
              </a:rPr>
              <a:t>&lt;</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F39C12"/>
                </a:solidFill>
                <a:latin typeface="Consolas"/>
                <a:ea typeface="Consolas"/>
                <a:cs typeface="Consolas"/>
                <a:sym typeface="Consolas"/>
              </a:rPr>
              <a:t>10</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5F6167"/>
                </a:solidFill>
                <a:latin typeface="Consolas"/>
                <a:ea typeface="Consolas"/>
                <a:cs typeface="Consolas"/>
                <a:sym typeface="Consolas"/>
              </a:rPr>
              <a:t># Compara si el valor de la variable a es menor que 10</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300" u="none" cap="none" strike="noStrike">
                <a:solidFill>
                  <a:srgbClr val="D5CED9"/>
                </a:solidFill>
                <a:latin typeface="Consolas"/>
                <a:ea typeface="Consolas"/>
                <a:cs typeface="Consolas"/>
                <a:sym typeface="Consolas"/>
              </a:rPr>
              <a:t>b </a:t>
            </a:r>
            <a:r>
              <a:rPr b="0" i="0" lang="es" sz="1300" u="none" cap="none" strike="noStrike">
                <a:solidFill>
                  <a:srgbClr val="EE5D43"/>
                </a:solidFill>
                <a:latin typeface="Consolas"/>
                <a:ea typeface="Consolas"/>
                <a:cs typeface="Consolas"/>
                <a:sym typeface="Consolas"/>
              </a:rPr>
              <a:t>is</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EE5D43"/>
                </a:solidFill>
                <a:latin typeface="Consolas"/>
                <a:ea typeface="Consolas"/>
                <a:cs typeface="Consolas"/>
                <a:sym typeface="Consolas"/>
              </a:rPr>
              <a:t>None</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5F6167"/>
                </a:solidFill>
                <a:latin typeface="Consolas"/>
                <a:ea typeface="Consolas"/>
                <a:cs typeface="Consolas"/>
                <a:sym typeface="Consolas"/>
              </a:rPr>
              <a:t># Compara si la identidad de la variable b es None</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F39C12"/>
              </a:buClr>
              <a:buSzPts val="1400"/>
              <a:buFont typeface="Consolas"/>
              <a:buNone/>
            </a:pPr>
            <a:r>
              <a:rPr b="0" i="0" lang="es" sz="1300" u="none" cap="none" strike="noStrike">
                <a:solidFill>
                  <a:srgbClr val="F39C12"/>
                </a:solidFill>
                <a:latin typeface="Consolas"/>
                <a:ea typeface="Consolas"/>
                <a:cs typeface="Consolas"/>
                <a:sym typeface="Consolas"/>
              </a:rPr>
              <a:t>3</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EE5D43"/>
                </a:solidFill>
                <a:latin typeface="Consolas"/>
                <a:ea typeface="Consolas"/>
                <a:cs typeface="Consolas"/>
                <a:sym typeface="Consolas"/>
              </a:rPr>
              <a:t>*</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F39C12"/>
                </a:solidFill>
                <a:latin typeface="Consolas"/>
                <a:ea typeface="Consolas"/>
                <a:cs typeface="Consolas"/>
                <a:sym typeface="Consolas"/>
              </a:rPr>
              <a:t>200</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EE5D43"/>
                </a:solidFill>
                <a:latin typeface="Consolas"/>
                <a:ea typeface="Consolas"/>
                <a:cs typeface="Consolas"/>
                <a:sym typeface="Consolas"/>
              </a:rPr>
              <a:t>-</a:t>
            </a:r>
            <a:r>
              <a:rPr b="0" i="0" lang="es" sz="1300" u="none" cap="none" strike="noStrike">
                <a:solidFill>
                  <a:srgbClr val="D5CED9"/>
                </a:solidFill>
                <a:latin typeface="Consolas"/>
                <a:ea typeface="Consolas"/>
                <a:cs typeface="Consolas"/>
                <a:sym typeface="Consolas"/>
              </a:rPr>
              <a:t> c) </a:t>
            </a:r>
            <a:r>
              <a:rPr b="0" i="0" lang="es" sz="1300" u="none" cap="none" strike="noStrike">
                <a:solidFill>
                  <a:srgbClr val="5F6167"/>
                </a:solidFill>
                <a:latin typeface="Consolas"/>
                <a:ea typeface="Consolas"/>
                <a:cs typeface="Consolas"/>
                <a:sym typeface="Consolas"/>
              </a:rPr>
              <a:t># Resta a 200 el valor de c y lo multiplica por 3</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sp>
        <p:nvSpPr>
          <p:cNvPr id="262" name="Google Shape;262;p13"/>
          <p:cNvSpPr txBox="1"/>
          <p:nvPr/>
        </p:nvSpPr>
        <p:spPr>
          <a:xfrm>
            <a:off x="423450" y="3546375"/>
            <a:ext cx="8279700" cy="10107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Una </a:t>
            </a:r>
            <a:r>
              <a:rPr b="1" i="0" lang="es" sz="1650" u="none" cap="none" strike="noStrike">
                <a:solidFill>
                  <a:srgbClr val="595959"/>
                </a:solidFill>
                <a:latin typeface="Montserrat"/>
                <a:ea typeface="Montserrat"/>
                <a:cs typeface="Montserrat"/>
                <a:sym typeface="Montserrat"/>
              </a:rPr>
              <a:t>sentencia</a:t>
            </a:r>
            <a:r>
              <a:rPr b="0" i="0" lang="es" sz="1650" u="none" cap="none" strike="noStrike">
                <a:solidFill>
                  <a:srgbClr val="595959"/>
                </a:solidFill>
                <a:latin typeface="Montserrat"/>
                <a:ea typeface="Montserrat"/>
                <a:cs typeface="Montserrat"/>
                <a:sym typeface="Montserrat"/>
              </a:rPr>
              <a:t> o </a:t>
            </a:r>
            <a:r>
              <a:rPr b="1" i="0" lang="es" sz="1650" u="none" cap="none" strike="noStrike">
                <a:solidFill>
                  <a:srgbClr val="595959"/>
                </a:solidFill>
                <a:latin typeface="Montserrat"/>
                <a:ea typeface="Montserrat"/>
                <a:cs typeface="Montserrat"/>
                <a:sym typeface="Montserrat"/>
              </a:rPr>
              <a:t>declaración</a:t>
            </a:r>
            <a:r>
              <a:rPr b="0" i="0" lang="es" sz="1650" u="none" cap="none" strike="noStrike">
                <a:solidFill>
                  <a:srgbClr val="595959"/>
                </a:solidFill>
                <a:latin typeface="Montserrat"/>
                <a:ea typeface="Montserrat"/>
                <a:cs typeface="Montserrat"/>
                <a:sym typeface="Montserrat"/>
              </a:rPr>
              <a:t> define una acción. Puede contener alguna(s) expresiones . Son las instrucciones que componen el código de un programa y determinan su comportamiento. Finalizan con un Enter.</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Sentencias de más de una línea</a:t>
            </a:r>
            <a:endParaRPr/>
          </a:p>
        </p:txBody>
      </p:sp>
      <p:sp>
        <p:nvSpPr>
          <p:cNvPr id="268" name="Google Shape;268;p14"/>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Aquellas sentencias que son muy largas pueden ocupar más de una línea (</a:t>
            </a:r>
            <a:r>
              <a:rPr b="0" i="0" lang="es" sz="1650" u="sng" cap="none" strike="noStrike">
                <a:solidFill>
                  <a:schemeClr val="hlink"/>
                </a:solidFill>
                <a:latin typeface="Montserrat"/>
                <a:ea typeface="Montserrat"/>
                <a:cs typeface="Montserrat"/>
                <a:sym typeface="Montserrat"/>
                <a:hlinkClick r:id="rId3"/>
              </a:rPr>
              <a:t>se recomienda una longitud máxima de 72 caracteres</a:t>
            </a:r>
            <a:r>
              <a:rPr b="0" i="0" lang="es" sz="1650" u="none" cap="none" strike="noStrike">
                <a:solidFill>
                  <a:srgbClr val="595959"/>
                </a:solidFill>
                <a:latin typeface="Montserrat"/>
                <a:ea typeface="Montserrat"/>
                <a:cs typeface="Montserrat"/>
                <a:sym typeface="Montserrat"/>
              </a:rPr>
              <a:t>). Para dividir una sentencia explícitamente en varias líneas se utiliza el carácter </a:t>
            </a:r>
            <a:r>
              <a:rPr b="1" i="0" lang="es" sz="1650" u="none" cap="none" strike="noStrike">
                <a:solidFill>
                  <a:srgbClr val="595959"/>
                </a:solidFill>
                <a:latin typeface="Montserrat"/>
                <a:ea typeface="Montserrat"/>
                <a:cs typeface="Montserrat"/>
                <a:sym typeface="Montserrat"/>
              </a:rPr>
              <a:t>\</a:t>
            </a:r>
            <a:r>
              <a:rPr b="0" i="0" lang="es" sz="1650" u="none" cap="none" strike="noStrike">
                <a:solidFill>
                  <a:srgbClr val="595959"/>
                </a:solidFill>
                <a:latin typeface="Montserrat"/>
                <a:ea typeface="Montserrat"/>
                <a:cs typeface="Montserrat"/>
                <a:sym typeface="Montserrat"/>
              </a:rPr>
              <a:t>.</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269" name="Google Shape;269;p14"/>
          <p:cNvSpPr/>
          <p:nvPr/>
        </p:nvSpPr>
        <p:spPr>
          <a:xfrm>
            <a:off x="419175" y="2518600"/>
            <a:ext cx="3906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Ejemplo 1 (división explícita)</a:t>
            </a:r>
            <a:endParaRPr b="0" i="0" sz="1400" u="none" cap="none" strike="noStrike">
              <a:solidFill>
                <a:schemeClr val="dk2"/>
              </a:solidFill>
              <a:latin typeface="Montserrat"/>
              <a:ea typeface="Montserrat"/>
              <a:cs typeface="Montserrat"/>
              <a:sym typeface="Montserrat"/>
            </a:endParaRPr>
          </a:p>
        </p:txBody>
      </p:sp>
      <p:sp>
        <p:nvSpPr>
          <p:cNvPr id="270" name="Google Shape;270;p14"/>
          <p:cNvSpPr/>
          <p:nvPr/>
        </p:nvSpPr>
        <p:spPr>
          <a:xfrm>
            <a:off x="419175" y="2747500"/>
            <a:ext cx="3906600" cy="572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a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5</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7</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9</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4</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400"/>
              <a:buFont typeface="Consolas"/>
              <a:buNone/>
            </a:pPr>
            <a:r>
              <a:rPr b="0" i="0" lang="es" sz="1400" u="none" cap="none" strike="noStrike">
                <a:solidFill>
                  <a:srgbClr val="F39C12"/>
                </a:solidFill>
                <a:latin typeface="Consolas"/>
                <a:ea typeface="Consolas"/>
                <a:cs typeface="Consolas"/>
                <a:sym typeface="Consolas"/>
              </a:rPr>
              <a:t>6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5</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a:t>
            </a:r>
            <a:r>
              <a:rPr b="0" i="0" lang="es" sz="1400" u="none" cap="none" strike="noStrike">
                <a:solidFill>
                  <a:srgbClr val="D5CED9"/>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400"/>
              <a:buFont typeface="Consolas"/>
              <a:buNone/>
            </a:pPr>
            <a:r>
              <a:t/>
            </a:r>
            <a:endParaRPr b="0" i="0" sz="1300" u="none" cap="none" strike="noStrike">
              <a:solidFill>
                <a:srgbClr val="F39C12"/>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p:txBody>
      </p:sp>
      <p:sp>
        <p:nvSpPr>
          <p:cNvPr id="271" name="Google Shape;271;p14"/>
          <p:cNvSpPr txBox="1"/>
          <p:nvPr/>
        </p:nvSpPr>
        <p:spPr>
          <a:xfrm>
            <a:off x="423450" y="3630700"/>
            <a:ext cx="8279700" cy="9264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Además, en Python la continuación de línea es </a:t>
            </a:r>
            <a:r>
              <a:rPr b="1" i="0" lang="es" sz="1650" u="none" cap="none" strike="noStrike">
                <a:solidFill>
                  <a:srgbClr val="595959"/>
                </a:solidFill>
                <a:latin typeface="Montserrat"/>
                <a:ea typeface="Montserrat"/>
                <a:cs typeface="Montserrat"/>
                <a:sym typeface="Montserrat"/>
              </a:rPr>
              <a:t>implícita</a:t>
            </a:r>
            <a:r>
              <a:rPr b="0" i="0" lang="es" sz="1650" u="none" cap="none" strike="noStrike">
                <a:solidFill>
                  <a:srgbClr val="595959"/>
                </a:solidFill>
                <a:latin typeface="Montserrat"/>
                <a:ea typeface="Montserrat"/>
                <a:cs typeface="Montserrat"/>
                <a:sym typeface="Montserrat"/>
              </a:rPr>
              <a:t> siempre y cuando la expresión vaya dentro de los caracteres </a:t>
            </a:r>
            <a:r>
              <a:rPr b="1" i="0" lang="es" sz="1650" u="none" cap="none" strike="noStrike">
                <a:solidFill>
                  <a:srgbClr val="595959"/>
                </a:solidFill>
                <a:latin typeface="Montserrat"/>
                <a:ea typeface="Montserrat"/>
                <a:cs typeface="Montserrat"/>
                <a:sym typeface="Montserrat"/>
              </a:rPr>
              <a:t>()</a:t>
            </a:r>
            <a:r>
              <a:rPr b="0" i="0" lang="es" sz="1650" u="none" cap="none" strike="noStrike">
                <a:solidFill>
                  <a:srgbClr val="595959"/>
                </a:solidFill>
                <a:latin typeface="Montserrat"/>
                <a:ea typeface="Montserrat"/>
                <a:cs typeface="Montserrat"/>
                <a:sym typeface="Montserrat"/>
              </a:rPr>
              <a:t>, </a:t>
            </a:r>
            <a:r>
              <a:rPr b="1" i="0" lang="es" sz="1650" u="none" cap="none" strike="noStrike">
                <a:solidFill>
                  <a:srgbClr val="595959"/>
                </a:solidFill>
                <a:latin typeface="Montserrat"/>
                <a:ea typeface="Montserrat"/>
                <a:cs typeface="Montserrat"/>
                <a:sym typeface="Montserrat"/>
              </a:rPr>
              <a:t>[]</a:t>
            </a:r>
            <a:r>
              <a:rPr b="0" i="0" lang="es" sz="1650" u="none" cap="none" strike="noStrike">
                <a:solidFill>
                  <a:srgbClr val="595959"/>
                </a:solidFill>
                <a:latin typeface="Montserrat"/>
                <a:ea typeface="Montserrat"/>
                <a:cs typeface="Montserrat"/>
                <a:sym typeface="Montserrat"/>
              </a:rPr>
              <a:t> y </a:t>
            </a:r>
            <a:r>
              <a:rPr b="1" i="0" lang="es" sz="1650" u="none" cap="none" strike="noStrike">
                <a:solidFill>
                  <a:srgbClr val="595959"/>
                </a:solidFill>
                <a:latin typeface="Montserrat"/>
                <a:ea typeface="Montserrat"/>
                <a:cs typeface="Montserrat"/>
                <a:sym typeface="Montserrat"/>
              </a:rPr>
              <a:t>{}</a:t>
            </a:r>
            <a:r>
              <a:rPr b="0" i="0" lang="es" sz="1650" u="none" cap="none" strike="noStrike">
                <a:solidFill>
                  <a:srgbClr val="595959"/>
                </a:solidFill>
                <a:latin typeface="Montserrat"/>
                <a:ea typeface="Montserrat"/>
                <a:cs typeface="Montserrat"/>
                <a:sym typeface="Montserrat"/>
              </a:rPr>
              <a:t>.</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272" name="Google Shape;272;p14"/>
          <p:cNvSpPr/>
          <p:nvPr/>
        </p:nvSpPr>
        <p:spPr>
          <a:xfrm>
            <a:off x="4800825" y="2518600"/>
            <a:ext cx="3906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Ejemplo 2 (división implícita)</a:t>
            </a:r>
            <a:endParaRPr b="0" i="0" sz="1400" u="none" cap="none" strike="noStrike">
              <a:solidFill>
                <a:schemeClr val="dk2"/>
              </a:solidFill>
              <a:latin typeface="Montserrat"/>
              <a:ea typeface="Montserrat"/>
              <a:cs typeface="Montserrat"/>
              <a:sym typeface="Montserrat"/>
            </a:endParaRPr>
          </a:p>
        </p:txBody>
      </p:sp>
      <p:sp>
        <p:nvSpPr>
          <p:cNvPr id="273" name="Google Shape;273;p14"/>
          <p:cNvSpPr/>
          <p:nvPr/>
        </p:nvSpPr>
        <p:spPr>
          <a:xfrm>
            <a:off x="4800825" y="2747500"/>
            <a:ext cx="3906600" cy="572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a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7</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4</a:t>
            </a:r>
            <a:r>
              <a:rPr b="0" i="0" lang="es" sz="1400" u="none" cap="none" strike="noStrike">
                <a:solidFill>
                  <a:srgbClr val="D5CED9"/>
                </a:solidFill>
                <a:latin typeface="Consolas"/>
                <a:ea typeface="Consolas"/>
                <a:cs typeface="Consolas"/>
                <a:sym typeface="Consolas"/>
              </a:rPr>
              <a: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400"/>
              <a:buFont typeface="Consolas"/>
              <a:buNone/>
            </a:pPr>
            <a:r>
              <a:rPr b="0" i="0" lang="es" sz="1400" u="none" cap="none" strike="noStrike">
                <a:solidFill>
                  <a:srgbClr val="F39C12"/>
                </a:solidFill>
                <a:latin typeface="Consolas"/>
                <a:ea typeface="Consolas"/>
                <a:cs typeface="Consolas"/>
                <a:sym typeface="Consolas"/>
              </a:rPr>
              <a:t>     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4</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8 </a:t>
            </a:r>
            <a:r>
              <a:rPr b="0" i="0" lang="es" sz="1400" u="none" cap="none" strike="noStrike">
                <a:solidFill>
                  <a:srgbClr val="D5CED9"/>
                </a:solidFill>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Bloques de código (Indentación)</a:t>
            </a:r>
            <a:endParaRPr/>
          </a:p>
        </p:txBody>
      </p:sp>
      <p:sp>
        <p:nvSpPr>
          <p:cNvPr id="279" name="Google Shape;279;p15"/>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El código puede agruparse en bloques, que delimitan sentencias relacionadas. Python no usa los caracteres</a:t>
            </a:r>
            <a:r>
              <a:rPr b="1" i="0" lang="es" sz="1650" u="none" cap="none" strike="noStrike">
                <a:solidFill>
                  <a:srgbClr val="595959"/>
                </a:solidFill>
                <a:latin typeface="Montserrat"/>
                <a:ea typeface="Montserrat"/>
                <a:cs typeface="Montserrat"/>
                <a:sym typeface="Montserrat"/>
              </a:rPr>
              <a:t> {} </a:t>
            </a:r>
            <a:r>
              <a:rPr b="0" i="0" lang="es" sz="1650" u="none" cap="none" strike="noStrike">
                <a:solidFill>
                  <a:srgbClr val="595959"/>
                </a:solidFill>
                <a:latin typeface="Montserrat"/>
                <a:ea typeface="Montserrat"/>
                <a:cs typeface="Montserrat"/>
                <a:sym typeface="Montserrat"/>
              </a:rPr>
              <a:t>para definir un bloque, utiliza la </a:t>
            </a:r>
            <a:r>
              <a:rPr b="1" i="0" lang="es" sz="1650" u="none" cap="none" strike="noStrike">
                <a:solidFill>
                  <a:srgbClr val="595959"/>
                </a:solidFill>
                <a:latin typeface="Montserrat"/>
                <a:ea typeface="Montserrat"/>
                <a:cs typeface="Montserrat"/>
                <a:sym typeface="Montserrat"/>
              </a:rPr>
              <a:t>indentación o sangrado</a:t>
            </a:r>
            <a:r>
              <a:rPr b="0" i="0" lang="es" sz="1650" u="none" cap="none" strike="noStrike">
                <a:solidFill>
                  <a:srgbClr val="595959"/>
                </a:solidFill>
                <a:latin typeface="Montserrat"/>
                <a:ea typeface="Montserrat"/>
                <a:cs typeface="Montserrat"/>
                <a:sym typeface="Montserrat"/>
              </a:rPr>
              <a:t>, que consiste en mover el bloque de código hacia la derecha insertando </a:t>
            </a:r>
            <a:r>
              <a:rPr b="1" i="0" lang="es" sz="1650" u="none" cap="none" strike="noStrike">
                <a:solidFill>
                  <a:srgbClr val="595959"/>
                </a:solidFill>
                <a:latin typeface="Montserrat"/>
                <a:ea typeface="Montserrat"/>
                <a:cs typeface="Montserrat"/>
                <a:sym typeface="Montserrat"/>
              </a:rPr>
              <a:t>espacios</a:t>
            </a:r>
            <a:r>
              <a:rPr b="0" i="0" lang="es" sz="1650" u="none" cap="none" strike="noStrike">
                <a:solidFill>
                  <a:srgbClr val="595959"/>
                </a:solidFill>
                <a:latin typeface="Montserrat"/>
                <a:ea typeface="Montserrat"/>
                <a:cs typeface="Montserrat"/>
                <a:sym typeface="Montserrat"/>
              </a:rPr>
              <a:t> o </a:t>
            </a:r>
            <a:r>
              <a:rPr b="1" i="0" lang="es" sz="1650" u="none" cap="none" strike="noStrike">
                <a:solidFill>
                  <a:srgbClr val="595959"/>
                </a:solidFill>
                <a:latin typeface="Montserrat"/>
                <a:ea typeface="Montserrat"/>
                <a:cs typeface="Montserrat"/>
                <a:sym typeface="Montserrat"/>
              </a:rPr>
              <a:t>tabuladores</a:t>
            </a:r>
            <a:r>
              <a:rPr b="0" i="0" lang="es" sz="1650" u="none" cap="none" strike="noStrike">
                <a:solidFill>
                  <a:srgbClr val="595959"/>
                </a:solidFill>
                <a:latin typeface="Montserrat"/>
                <a:ea typeface="Montserrat"/>
                <a:cs typeface="Montserrat"/>
                <a:sym typeface="Montserrat"/>
              </a:rPr>
              <a:t> al principio de la línea, dejando un margen a su izquierda.</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Un bloque comienza con un nuevo sangrado y acaba con la primera línea cuyo sangrado sea menor. La guía de estilo de Python recomienda usar espacios en lugar de tabulaciones.</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Para realizar el sangrado, se suelen utilizar 4 espacios.</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Bloques de código (Indentación)</a:t>
            </a:r>
            <a:endParaRPr/>
          </a:p>
        </p:txBody>
      </p:sp>
      <p:sp>
        <p:nvSpPr>
          <p:cNvPr id="285" name="Google Shape;285;p16"/>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Si bien aún no sabemos exactamente qué hace el código anterior, se pueden ver los bloques de instrucciones indicados mediante los tabuladores sobre el margen izquierdo. Es posible incluir un bloque dentro de otro, para crear estructuras complejas.</a:t>
            </a:r>
            <a:endParaRPr b="0" i="0" sz="1650" u="none" cap="none" strike="noStrike">
              <a:solidFill>
                <a:srgbClr val="595959"/>
              </a:solidFill>
              <a:latin typeface="Montserrat"/>
              <a:ea typeface="Montserrat"/>
              <a:cs typeface="Montserrat"/>
              <a:sym typeface="Montserrat"/>
            </a:endParaRPr>
          </a:p>
        </p:txBody>
      </p:sp>
      <p:sp>
        <p:nvSpPr>
          <p:cNvPr id="286" name="Google Shape;286;p16"/>
          <p:cNvSpPr/>
          <p:nvPr/>
        </p:nvSpPr>
        <p:spPr>
          <a:xfrm>
            <a:off x="1990950" y="1412200"/>
            <a:ext cx="5162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Indentación</a:t>
            </a:r>
            <a:endParaRPr b="0" i="0" sz="1400" u="none" cap="none" strike="noStrike">
              <a:solidFill>
                <a:schemeClr val="dk2"/>
              </a:solidFill>
              <a:latin typeface="Montserrat"/>
              <a:ea typeface="Montserrat"/>
              <a:cs typeface="Montserrat"/>
              <a:sym typeface="Montserrat"/>
            </a:endParaRPr>
          </a:p>
        </p:txBody>
      </p:sp>
      <p:sp>
        <p:nvSpPr>
          <p:cNvPr id="287" name="Google Shape;287;p16"/>
          <p:cNvSpPr/>
          <p:nvPr/>
        </p:nvSpPr>
        <p:spPr>
          <a:xfrm>
            <a:off x="1990950" y="1642850"/>
            <a:ext cx="5162100" cy="160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C74DED"/>
              </a:buClr>
              <a:buSzPts val="1400"/>
              <a:buFont typeface="Consolas"/>
              <a:buNone/>
            </a:pPr>
            <a:r>
              <a:rPr b="0" i="0" lang="es" sz="1400" u="none" cap="none" strike="noStrike">
                <a:solidFill>
                  <a:srgbClr val="C74DED"/>
                </a:solidFill>
                <a:latin typeface="Consolas"/>
                <a:ea typeface="Consolas"/>
                <a:cs typeface="Consolas"/>
                <a:sym typeface="Consolas"/>
              </a:rPr>
              <a:t>def</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suma_numeros</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numeros</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Bloque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    suma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0</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Bloque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C74DED"/>
                </a:solidFill>
                <a:latin typeface="Consolas"/>
                <a:ea typeface="Consolas"/>
                <a:cs typeface="Consolas"/>
                <a:sym typeface="Consolas"/>
              </a:rPr>
              <a:t>for</a:t>
            </a:r>
            <a:r>
              <a:rPr b="0" i="0" lang="es" sz="1400" u="none" cap="none" strike="noStrike">
                <a:solidFill>
                  <a:srgbClr val="D5CED9"/>
                </a:solidFill>
                <a:latin typeface="Consolas"/>
                <a:ea typeface="Consolas"/>
                <a:cs typeface="Consolas"/>
                <a:sym typeface="Consolas"/>
              </a:rPr>
              <a:t> n </a:t>
            </a:r>
            <a:r>
              <a:rPr b="0" i="0" lang="es" sz="1400" u="none" cap="none" strike="noStrike">
                <a:solidFill>
                  <a:srgbClr val="C74DED"/>
                </a:solidFill>
                <a:latin typeface="Consolas"/>
                <a:ea typeface="Consolas"/>
                <a:cs typeface="Consolas"/>
                <a:sym typeface="Consolas"/>
              </a:rPr>
              <a:t>in</a:t>
            </a:r>
            <a:r>
              <a:rPr b="0" i="0" lang="es" sz="1400" u="none" cap="none" strike="noStrike">
                <a:solidFill>
                  <a:srgbClr val="D5CED9"/>
                </a:solidFill>
                <a:latin typeface="Consolas"/>
                <a:ea typeface="Consolas"/>
                <a:cs typeface="Consolas"/>
                <a:sym typeface="Consolas"/>
              </a:rPr>
              <a:t> numeros:         </a:t>
            </a:r>
            <a:r>
              <a:rPr b="0" i="0" lang="es" sz="1400" u="none" cap="none" strike="noStrike">
                <a:solidFill>
                  <a:srgbClr val="5F6167"/>
                </a:solidFill>
                <a:latin typeface="Consolas"/>
                <a:ea typeface="Consolas"/>
                <a:cs typeface="Consolas"/>
                <a:sym typeface="Consolas"/>
              </a:rPr>
              <a:t># Bloque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        suma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n                </a:t>
            </a:r>
            <a:r>
              <a:rPr b="0" i="0" lang="es" sz="1400" u="none" cap="none" strike="noStrike">
                <a:solidFill>
                  <a:srgbClr val="5F6167"/>
                </a:solidFill>
                <a:latin typeface="Consolas"/>
                <a:ea typeface="Consolas"/>
                <a:cs typeface="Consolas"/>
                <a:sym typeface="Consolas"/>
              </a:rPr>
              <a:t># Bloque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print</a:t>
            </a:r>
            <a:r>
              <a:rPr b="0" i="0" lang="es" sz="1400" u="none" cap="none" strike="noStrike">
                <a:solidFill>
                  <a:srgbClr val="D5CED9"/>
                </a:solidFill>
                <a:latin typeface="Consolas"/>
                <a:ea typeface="Consolas"/>
                <a:cs typeface="Consolas"/>
                <a:sym typeface="Consolas"/>
              </a:rPr>
              <a:t>(suma)              </a:t>
            </a:r>
            <a:r>
              <a:rPr b="0" i="0" lang="es" sz="1400" u="none" cap="none" strike="noStrike">
                <a:solidFill>
                  <a:srgbClr val="5F6167"/>
                </a:solidFill>
                <a:latin typeface="Consolas"/>
                <a:ea typeface="Consolas"/>
                <a:cs typeface="Consolas"/>
                <a:sym typeface="Consolas"/>
              </a:rPr>
              <a:t># Bloque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C74DED"/>
                </a:solidFill>
                <a:latin typeface="Consolas"/>
                <a:ea typeface="Consolas"/>
                <a:cs typeface="Consolas"/>
                <a:sym typeface="Consolas"/>
              </a:rPr>
              <a:t>return</a:t>
            </a:r>
            <a:r>
              <a:rPr b="0" i="0" lang="es" sz="1400" u="none" cap="none" strike="noStrike">
                <a:solidFill>
                  <a:srgbClr val="D5CED9"/>
                </a:solidFill>
                <a:latin typeface="Consolas"/>
                <a:ea typeface="Consolas"/>
                <a:cs typeface="Consolas"/>
                <a:sym typeface="Consolas"/>
              </a:rPr>
              <a:t> suma              </a:t>
            </a:r>
            <a:r>
              <a:rPr b="0" i="0" lang="es" sz="1400" u="none" cap="none" strike="noStrike">
                <a:solidFill>
                  <a:srgbClr val="5F6167"/>
                </a:solidFill>
                <a:latin typeface="Consolas"/>
                <a:ea typeface="Consolas"/>
                <a:cs typeface="Consolas"/>
                <a:sym typeface="Consolas"/>
              </a:rPr>
              <a:t># Bloque 2</a:t>
            </a:r>
            <a:endParaRPr b="0" i="0" sz="14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400"/>
              <a:buFont typeface="Consolas"/>
              <a:buNone/>
            </a:pPr>
            <a:r>
              <a:rPr b="0" i="0" lang="es" sz="1400" u="none" cap="none" strike="noStrike">
                <a:solidFill>
                  <a:srgbClr val="FFE66D"/>
                </a:solidFill>
                <a:latin typeface="Consolas"/>
                <a:ea typeface="Consolas"/>
                <a:cs typeface="Consolas"/>
                <a:sym typeface="Consolas"/>
              </a:rPr>
              <a:t>print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Bloque 1</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400"/>
              <a:buFont typeface="Consolas"/>
              <a:buNone/>
            </a:pPr>
            <a:r>
              <a:t/>
            </a:r>
            <a:endParaRPr b="0" i="0" sz="1400" u="none" cap="none" strike="noStrike">
              <a:solidFill>
                <a:srgbClr val="5F6167"/>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Convenciones de nombres</a:t>
            </a:r>
            <a:endParaRPr/>
          </a:p>
        </p:txBody>
      </p:sp>
      <p:sp>
        <p:nvSpPr>
          <p:cNvPr id="293" name="Google Shape;293;p17"/>
          <p:cNvSpPr txBox="1"/>
          <p:nvPr/>
        </p:nvSpPr>
        <p:spPr>
          <a:xfrm>
            <a:off x="436425" y="1281700"/>
            <a:ext cx="8279700" cy="3275400"/>
          </a:xfrm>
          <a:prstGeom prst="rect">
            <a:avLst/>
          </a:prstGeom>
          <a:noFill/>
          <a:ln>
            <a:noFill/>
          </a:ln>
        </p:spPr>
        <p:txBody>
          <a:bodyPr anchorCtr="0" anchor="t" bIns="91425" lIns="0" spcFirstLastPara="1" rIns="0" wrap="square" tIns="91425">
            <a:normAutofit fontScale="85000" lnSpcReduction="20000"/>
          </a:bodyPr>
          <a:lstStyle/>
          <a:p>
            <a:pPr indent="0" lvl="0" marL="0" marR="0" rtl="0" algn="l">
              <a:lnSpc>
                <a:spcPct val="115000"/>
              </a:lnSpc>
              <a:spcBef>
                <a:spcPts val="1199"/>
              </a:spcBef>
              <a:spcAft>
                <a:spcPts val="0"/>
              </a:spcAft>
              <a:buClr>
                <a:srgbClr val="000000"/>
              </a:buClr>
              <a:buSzPct val="100000"/>
              <a:buFont typeface="Arial"/>
              <a:buNone/>
            </a:pPr>
            <a:r>
              <a:rPr b="0" i="0" lang="es" sz="1982" u="none" cap="none" strike="noStrike">
                <a:solidFill>
                  <a:srgbClr val="595959"/>
                </a:solidFill>
                <a:latin typeface="Montserrat"/>
                <a:ea typeface="Montserrat"/>
                <a:cs typeface="Montserrat"/>
                <a:sym typeface="Montserrat"/>
              </a:rPr>
              <a:t>Los nombres de variables, funciones, módulos y clases deben respetar las siguientes convenciones:</a:t>
            </a:r>
            <a:endParaRPr b="0" i="0" sz="1982" u="none" cap="none" strike="noStrike">
              <a:solidFill>
                <a:srgbClr val="595959"/>
              </a:solidFill>
              <a:latin typeface="Montserrat"/>
              <a:ea typeface="Montserrat"/>
              <a:cs typeface="Montserrat"/>
              <a:sym typeface="Montserrat"/>
            </a:endParaRPr>
          </a:p>
          <a:p>
            <a:pPr indent="-335641" lvl="0" marL="457200" marR="0" rtl="0" algn="l">
              <a:lnSpc>
                <a:spcPct val="115000"/>
              </a:lnSpc>
              <a:spcBef>
                <a:spcPts val="1199"/>
              </a:spcBef>
              <a:spcAft>
                <a:spcPts val="0"/>
              </a:spcAft>
              <a:buClr>
                <a:srgbClr val="000000"/>
              </a:buClr>
              <a:buSzPct val="100000"/>
              <a:buFont typeface="Montserrat"/>
              <a:buChar char="●"/>
            </a:pPr>
            <a:r>
              <a:rPr b="0" i="0" lang="es" sz="1982" u="none" cap="none" strike="noStrike">
                <a:solidFill>
                  <a:srgbClr val="595959"/>
                </a:solidFill>
                <a:latin typeface="Montserrat"/>
                <a:ea typeface="Montserrat"/>
                <a:cs typeface="Montserrat"/>
                <a:sym typeface="Montserrat"/>
              </a:rPr>
              <a:t>Pueden ser cualquier combinación de letras (mayúsculas y minúsculas), dígitos y el carácter guión bajo (_), pero no puede comenzar por un dígito. </a:t>
            </a:r>
            <a:r>
              <a:rPr b="0" i="0" lang="es" sz="1982" u="none" cap="none" strike="noStrike">
                <a:solidFill>
                  <a:schemeClr val="dk2"/>
                </a:solidFill>
                <a:latin typeface="Montserrat"/>
                <a:ea typeface="Montserrat"/>
                <a:cs typeface="Montserrat"/>
                <a:sym typeface="Montserrat"/>
              </a:rPr>
              <a:t>Se escriben en minúsculas, separando las palabras con el guión bajo. </a:t>
            </a:r>
            <a:endParaRPr b="0" i="0" sz="1982" u="none" cap="none" strike="noStrike">
              <a:solidFill>
                <a:srgbClr val="595959"/>
              </a:solidFill>
              <a:latin typeface="Montserrat"/>
              <a:ea typeface="Montserrat"/>
              <a:cs typeface="Montserrat"/>
              <a:sym typeface="Montserrat"/>
            </a:endParaRPr>
          </a:p>
          <a:p>
            <a:pPr indent="-335641" lvl="0" marL="457200" marR="0" rtl="0" algn="l">
              <a:lnSpc>
                <a:spcPct val="115000"/>
              </a:lnSpc>
              <a:spcBef>
                <a:spcPts val="0"/>
              </a:spcBef>
              <a:spcAft>
                <a:spcPts val="0"/>
              </a:spcAft>
              <a:buClr>
                <a:srgbClr val="595959"/>
              </a:buClr>
              <a:buSzPct val="100000"/>
              <a:buFont typeface="Montserrat"/>
              <a:buChar char="●"/>
            </a:pPr>
            <a:r>
              <a:rPr b="0" i="0" lang="es" sz="1982" u="none" cap="none" strike="noStrike">
                <a:solidFill>
                  <a:srgbClr val="595959"/>
                </a:solidFill>
                <a:latin typeface="Montserrat"/>
                <a:ea typeface="Montserrat"/>
                <a:cs typeface="Montserrat"/>
                <a:sym typeface="Montserrat"/>
              </a:rPr>
              <a:t>No se pueden usar como identificadores las palabras reservadas.</a:t>
            </a:r>
            <a:endParaRPr b="0" i="0" sz="1982" u="none" cap="none" strike="noStrike">
              <a:solidFill>
                <a:srgbClr val="595959"/>
              </a:solidFill>
              <a:latin typeface="Montserrat"/>
              <a:ea typeface="Montserrat"/>
              <a:cs typeface="Montserrat"/>
              <a:sym typeface="Montserrat"/>
            </a:endParaRPr>
          </a:p>
          <a:p>
            <a:pPr indent="-335641" lvl="0" marL="457200" marR="0" rtl="0" algn="l">
              <a:lnSpc>
                <a:spcPct val="115000"/>
              </a:lnSpc>
              <a:spcBef>
                <a:spcPts val="0"/>
              </a:spcBef>
              <a:spcAft>
                <a:spcPts val="0"/>
              </a:spcAft>
              <a:buClr>
                <a:srgbClr val="595959"/>
              </a:buClr>
              <a:buSzPct val="100000"/>
              <a:buFont typeface="Montserrat"/>
              <a:buChar char="●"/>
            </a:pPr>
            <a:r>
              <a:rPr b="0" i="0" lang="es" sz="1982" u="none" cap="none" strike="noStrike">
                <a:solidFill>
                  <a:srgbClr val="595959"/>
                </a:solidFill>
                <a:latin typeface="Montserrat"/>
                <a:ea typeface="Montserrat"/>
                <a:cs typeface="Montserrat"/>
                <a:sym typeface="Montserrat"/>
              </a:rPr>
              <a:t>Se recomienda usar nombres que sean expresivos. Por ejemplo, contador es mejor que simplemente c.</a:t>
            </a:r>
            <a:endParaRPr b="0" i="0" sz="1982" u="none" cap="none" strike="noStrike">
              <a:solidFill>
                <a:srgbClr val="595959"/>
              </a:solidFill>
              <a:latin typeface="Montserrat"/>
              <a:ea typeface="Montserrat"/>
              <a:cs typeface="Montserrat"/>
              <a:sym typeface="Montserrat"/>
            </a:endParaRPr>
          </a:p>
          <a:p>
            <a:pPr indent="-335641" lvl="0" marL="457200" marR="0" rtl="0" algn="l">
              <a:lnSpc>
                <a:spcPct val="115000"/>
              </a:lnSpc>
              <a:spcBef>
                <a:spcPts val="0"/>
              </a:spcBef>
              <a:spcAft>
                <a:spcPts val="0"/>
              </a:spcAft>
              <a:buClr>
                <a:srgbClr val="595959"/>
              </a:buClr>
              <a:buSzPct val="100000"/>
              <a:buFont typeface="Montserrat"/>
              <a:buChar char="●"/>
            </a:pPr>
            <a:r>
              <a:rPr b="0" i="0" lang="es" sz="1982" u="none" cap="none" strike="noStrike">
                <a:solidFill>
                  <a:schemeClr val="dk2"/>
                </a:solidFill>
                <a:latin typeface="Montserrat"/>
                <a:ea typeface="Montserrat"/>
                <a:cs typeface="Montserrat"/>
                <a:sym typeface="Montserrat"/>
              </a:rPr>
              <a:t>Solamente los nombres de clase pueden comenzar con mayúsculas, y siguen la notación CamelCase.</a:t>
            </a:r>
            <a:endParaRPr b="0" i="0" sz="1982" u="none" cap="none" strike="noStrike">
              <a:solidFill>
                <a:srgbClr val="595959"/>
              </a:solidFill>
              <a:latin typeface="Montserrat"/>
              <a:ea typeface="Montserrat"/>
              <a:cs typeface="Montserrat"/>
              <a:sym typeface="Montserrat"/>
            </a:endParaRPr>
          </a:p>
          <a:p>
            <a:pPr indent="-335641" lvl="0" marL="457200" marR="0" rtl="0" algn="l">
              <a:lnSpc>
                <a:spcPct val="115000"/>
              </a:lnSpc>
              <a:spcBef>
                <a:spcPts val="0"/>
              </a:spcBef>
              <a:spcAft>
                <a:spcPts val="0"/>
              </a:spcAft>
              <a:buClr>
                <a:srgbClr val="595959"/>
              </a:buClr>
              <a:buSzPct val="100000"/>
              <a:buFont typeface="Montserrat"/>
              <a:buChar char="●"/>
            </a:pPr>
            <a:r>
              <a:rPr b="0" i="0" lang="es" sz="1982" u="none" cap="none" strike="noStrike">
                <a:solidFill>
                  <a:srgbClr val="595959"/>
                </a:solidFill>
                <a:latin typeface="Montserrat"/>
                <a:ea typeface="Montserrat"/>
                <a:cs typeface="Montserrat"/>
                <a:sym typeface="Montserrat"/>
              </a:rPr>
              <a:t>Python es “case sensitive”, diferencia entre mayúsculas y minúsculas.</a:t>
            </a:r>
            <a:endParaRPr b="0" i="0" sz="19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Convenciones de nombres</a:t>
            </a:r>
            <a:endParaRPr/>
          </a:p>
        </p:txBody>
      </p:sp>
      <p:sp>
        <p:nvSpPr>
          <p:cNvPr id="299" name="Google Shape;299;p18"/>
          <p:cNvSpPr txBox="1"/>
          <p:nvPr/>
        </p:nvSpPr>
        <p:spPr>
          <a:xfrm>
            <a:off x="436425" y="1281700"/>
            <a:ext cx="8279700" cy="7686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Python tiene una serie de palabras reservadas, que se </a:t>
            </a:r>
            <a:r>
              <a:rPr b="0" i="0" lang="es" sz="1682" u="none" cap="none" strike="noStrike">
                <a:solidFill>
                  <a:schemeClr val="dk2"/>
                </a:solidFill>
                <a:latin typeface="Montserrat"/>
                <a:ea typeface="Montserrat"/>
                <a:cs typeface="Montserrat"/>
                <a:sym typeface="Montserrat"/>
              </a:rPr>
              <a:t>utilizan para definir la sintaxis y estructura del lenguaje. N</a:t>
            </a:r>
            <a:r>
              <a:rPr b="0" i="0" lang="es" sz="1682" u="none" cap="none" strike="noStrike">
                <a:solidFill>
                  <a:srgbClr val="595959"/>
                </a:solidFill>
                <a:latin typeface="Montserrat"/>
                <a:ea typeface="Montserrat"/>
                <a:cs typeface="Montserrat"/>
                <a:sym typeface="Montserrat"/>
              </a:rPr>
              <a:t>o pueden usarse como identificadores. </a:t>
            </a:r>
            <a:endParaRPr b="0" i="0" sz="1682" u="none" cap="none" strike="noStrike">
              <a:solidFill>
                <a:srgbClr val="595959"/>
              </a:solidFill>
              <a:latin typeface="Montserrat"/>
              <a:ea typeface="Montserrat"/>
              <a:cs typeface="Montserrat"/>
              <a:sym typeface="Montserrat"/>
            </a:endParaRPr>
          </a:p>
        </p:txBody>
      </p:sp>
      <p:sp>
        <p:nvSpPr>
          <p:cNvPr id="300" name="Google Shape;300;p18"/>
          <p:cNvSpPr/>
          <p:nvPr/>
        </p:nvSpPr>
        <p:spPr>
          <a:xfrm>
            <a:off x="1578200" y="2409750"/>
            <a:ext cx="6132900" cy="1094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C74DED"/>
              </a:buClr>
              <a:buSzPts val="1600"/>
              <a:buFont typeface="Consolas"/>
              <a:buNone/>
            </a:pPr>
            <a:r>
              <a:rPr b="0" i="0" lang="es" sz="1400" u="none" cap="none" strike="noStrike">
                <a:solidFill>
                  <a:srgbClr val="C74DED"/>
                </a:solidFill>
                <a:latin typeface="Consolas"/>
                <a:ea typeface="Consolas"/>
                <a:cs typeface="Consolas"/>
                <a:sym typeface="Consolas"/>
              </a:rPr>
              <a:t>and, as, assert, break, class, continue, def, del, elif,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C74DED"/>
              </a:buClr>
              <a:buSzPts val="1600"/>
              <a:buFont typeface="Consolas"/>
              <a:buNone/>
            </a:pPr>
            <a:r>
              <a:rPr b="0" i="0" lang="es" sz="1400" u="none" cap="none" strike="noStrike">
                <a:solidFill>
                  <a:srgbClr val="C74DED"/>
                </a:solidFill>
                <a:latin typeface="Consolas"/>
                <a:ea typeface="Consolas"/>
                <a:cs typeface="Consolas"/>
                <a:sym typeface="Consolas"/>
              </a:rPr>
              <a:t>else, except, False, finally, for, from, global, if,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C74DED"/>
              </a:buClr>
              <a:buSzPts val="1600"/>
              <a:buFont typeface="Consolas"/>
              <a:buNone/>
            </a:pPr>
            <a:r>
              <a:rPr b="0" i="0" lang="es" sz="1400" u="none" cap="none" strike="noStrike">
                <a:solidFill>
                  <a:srgbClr val="C74DED"/>
                </a:solidFill>
                <a:latin typeface="Consolas"/>
                <a:ea typeface="Consolas"/>
                <a:cs typeface="Consolas"/>
                <a:sym typeface="Consolas"/>
              </a:rPr>
              <a:t>import, in, is, lambda, None, nonlocal, not, or, pass,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C74DED"/>
              </a:buClr>
              <a:buSzPts val="1600"/>
              <a:buFont typeface="Consolas"/>
              <a:buNone/>
            </a:pPr>
            <a:r>
              <a:rPr b="0" i="0" lang="es" sz="1400" u="none" cap="none" strike="noStrike">
                <a:solidFill>
                  <a:srgbClr val="C74DED"/>
                </a:solidFill>
                <a:latin typeface="Consolas"/>
                <a:ea typeface="Consolas"/>
                <a:cs typeface="Consolas"/>
                <a:sym typeface="Consolas"/>
              </a:rPr>
              <a:t>raise, return, True, try, yield, while, with</a:t>
            </a:r>
            <a:endParaRPr b="0" i="0" sz="1400" u="none" cap="none" strike="noStrike">
              <a:solidFill>
                <a:srgbClr val="000000"/>
              </a:solidFill>
              <a:latin typeface="Arial"/>
              <a:ea typeface="Arial"/>
              <a:cs typeface="Arial"/>
              <a:sym typeface="Arial"/>
            </a:endParaRPr>
          </a:p>
        </p:txBody>
      </p:sp>
      <p:sp>
        <p:nvSpPr>
          <p:cNvPr id="301" name="Google Shape;301;p18"/>
          <p:cNvSpPr/>
          <p:nvPr/>
        </p:nvSpPr>
        <p:spPr>
          <a:xfrm>
            <a:off x="1578200" y="2161875"/>
            <a:ext cx="6132900" cy="2478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Palabras reservadas:</a:t>
            </a:r>
            <a:endParaRPr b="0" i="0" sz="1400" u="none" cap="none" strike="noStrike">
              <a:solidFill>
                <a:schemeClr val="dk2"/>
              </a:solidFill>
              <a:latin typeface="Montserrat"/>
              <a:ea typeface="Montserrat"/>
              <a:cs typeface="Montserrat"/>
              <a:sym typeface="Montserrat"/>
            </a:endParaRPr>
          </a:p>
        </p:txBody>
      </p:sp>
      <p:sp>
        <p:nvSpPr>
          <p:cNvPr id="302" name="Google Shape;302;p18"/>
          <p:cNvSpPr txBox="1"/>
          <p:nvPr/>
        </p:nvSpPr>
        <p:spPr>
          <a:xfrm>
            <a:off x="432150" y="3589825"/>
            <a:ext cx="8279700" cy="9672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En Python </a:t>
            </a:r>
            <a:r>
              <a:rPr b="1" i="0" lang="es" sz="1650" u="none" cap="none" strike="noStrike">
                <a:solidFill>
                  <a:srgbClr val="595959"/>
                </a:solidFill>
                <a:latin typeface="Montserrat"/>
                <a:ea typeface="Montserrat"/>
                <a:cs typeface="Montserrat"/>
                <a:sym typeface="Montserrat"/>
              </a:rPr>
              <a:t>no existen las constantes</a:t>
            </a:r>
            <a:r>
              <a:rPr b="0" i="0" lang="es" sz="1650" u="none" cap="none" strike="noStrike">
                <a:solidFill>
                  <a:srgbClr val="595959"/>
                </a:solidFill>
                <a:latin typeface="Montserrat"/>
                <a:ea typeface="Montserrat"/>
                <a:cs typeface="Montserrat"/>
                <a:sym typeface="Montserrat"/>
              </a:rPr>
              <a:t>. Sin embargo, se suelen utilizar variables, con su nombre en mayúsculas (para distinguirlas de las demás) y es responsabilidad del programador no cambiar su valor a lo largo del programa.</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Convenciones de nombres</a:t>
            </a:r>
            <a:endParaRPr/>
          </a:p>
        </p:txBody>
      </p:sp>
      <p:sp>
        <p:nvSpPr>
          <p:cNvPr id="308" name="Google Shape;308;p19"/>
          <p:cNvSpPr txBox="1"/>
          <p:nvPr/>
        </p:nvSpPr>
        <p:spPr>
          <a:xfrm>
            <a:off x="429938"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982"/>
              <a:buFont typeface="Arial"/>
              <a:buNone/>
            </a:pPr>
            <a:r>
              <a:t/>
            </a:r>
            <a:endParaRPr b="0" i="0" sz="1982" u="none" cap="none" strike="noStrike">
              <a:solidFill>
                <a:srgbClr val="595959"/>
              </a:solidFill>
              <a:latin typeface="Montserrat"/>
              <a:ea typeface="Montserrat"/>
              <a:cs typeface="Montserrat"/>
              <a:sym typeface="Montserrat"/>
            </a:endParaRPr>
          </a:p>
        </p:txBody>
      </p:sp>
      <p:sp>
        <p:nvSpPr>
          <p:cNvPr id="309" name="Google Shape;309;p19"/>
          <p:cNvSpPr txBox="1"/>
          <p:nvPr/>
        </p:nvSpPr>
        <p:spPr>
          <a:xfrm>
            <a:off x="432000" y="1281675"/>
            <a:ext cx="8279700" cy="4941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Algunos nombres de variables </a:t>
            </a:r>
            <a:r>
              <a:rPr b="1" i="0" lang="es" sz="1650" u="none" cap="none" strike="noStrike">
                <a:solidFill>
                  <a:srgbClr val="595959"/>
                </a:solidFill>
                <a:latin typeface="Montserrat"/>
                <a:ea typeface="Montserrat"/>
                <a:cs typeface="Montserrat"/>
                <a:sym typeface="Montserrat"/>
              </a:rPr>
              <a:t>válidos y recomendados</a:t>
            </a:r>
            <a:r>
              <a:rPr b="0" i="0" lang="es" sz="1650" u="none" cap="none" strike="noStrike">
                <a:solidFill>
                  <a:srgbClr val="595959"/>
                </a:solidFill>
                <a:latin typeface="Montserrat"/>
                <a:ea typeface="Montserrat"/>
                <a:cs typeface="Montserrat"/>
                <a:sym typeface="Montserrat"/>
              </a:rPr>
              <a:t>:</a:t>
            </a:r>
            <a:endParaRPr b="0" i="0" sz="1650" u="none" cap="none" strike="noStrike">
              <a:solidFill>
                <a:srgbClr val="595959"/>
              </a:solidFill>
              <a:latin typeface="Montserrat"/>
              <a:ea typeface="Montserrat"/>
              <a:cs typeface="Montserrat"/>
              <a:sym typeface="Montserrat"/>
            </a:endParaRPr>
          </a:p>
        </p:txBody>
      </p:sp>
      <p:sp>
        <p:nvSpPr>
          <p:cNvPr id="310" name="Google Shape;310;p19"/>
          <p:cNvSpPr/>
          <p:nvPr/>
        </p:nvSpPr>
        <p:spPr>
          <a:xfrm>
            <a:off x="432000" y="1775925"/>
            <a:ext cx="1545000" cy="3756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suma</a:t>
            </a:r>
            <a:endParaRPr b="0" i="0" sz="1500" u="none" cap="none" strike="noStrike">
              <a:solidFill>
                <a:schemeClr val="dk2"/>
              </a:solidFill>
              <a:latin typeface="Montserrat"/>
              <a:ea typeface="Montserrat"/>
              <a:cs typeface="Montserrat"/>
              <a:sym typeface="Montserrat"/>
            </a:endParaRPr>
          </a:p>
        </p:txBody>
      </p:sp>
      <p:sp>
        <p:nvSpPr>
          <p:cNvPr id="311" name="Google Shape;311;p19"/>
          <p:cNvSpPr/>
          <p:nvPr/>
        </p:nvSpPr>
        <p:spPr>
          <a:xfrm>
            <a:off x="2116781" y="1775925"/>
            <a:ext cx="1545000" cy="3756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total</a:t>
            </a:r>
            <a:endParaRPr b="0" i="0" sz="1500" u="none" cap="none" strike="noStrike">
              <a:solidFill>
                <a:schemeClr val="dk2"/>
              </a:solidFill>
              <a:latin typeface="Montserrat"/>
              <a:ea typeface="Montserrat"/>
              <a:cs typeface="Montserrat"/>
              <a:sym typeface="Montserrat"/>
            </a:endParaRPr>
          </a:p>
        </p:txBody>
      </p:sp>
      <p:sp>
        <p:nvSpPr>
          <p:cNvPr id="312" name="Google Shape;312;p19"/>
          <p:cNvSpPr/>
          <p:nvPr/>
        </p:nvSpPr>
        <p:spPr>
          <a:xfrm>
            <a:off x="3801563" y="1775925"/>
            <a:ext cx="1545000" cy="3756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importe_final</a:t>
            </a:r>
            <a:endParaRPr b="0" i="0" sz="1500" u="none" cap="none" strike="noStrike">
              <a:solidFill>
                <a:schemeClr val="dk2"/>
              </a:solidFill>
              <a:latin typeface="Montserrat"/>
              <a:ea typeface="Montserrat"/>
              <a:cs typeface="Montserrat"/>
              <a:sym typeface="Montserrat"/>
            </a:endParaRPr>
          </a:p>
        </p:txBody>
      </p:sp>
      <p:sp>
        <p:nvSpPr>
          <p:cNvPr id="313" name="Google Shape;313;p19"/>
          <p:cNvSpPr/>
          <p:nvPr/>
        </p:nvSpPr>
        <p:spPr>
          <a:xfrm>
            <a:off x="5486344" y="1775925"/>
            <a:ext cx="1545000" cy="3756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_saldo</a:t>
            </a:r>
            <a:endParaRPr b="0" i="0" sz="1500" u="none" cap="none" strike="noStrike">
              <a:solidFill>
                <a:schemeClr val="dk2"/>
              </a:solidFill>
              <a:latin typeface="Montserrat"/>
              <a:ea typeface="Montserrat"/>
              <a:cs typeface="Montserrat"/>
              <a:sym typeface="Montserrat"/>
            </a:endParaRPr>
          </a:p>
        </p:txBody>
      </p:sp>
      <p:sp>
        <p:nvSpPr>
          <p:cNvPr id="314" name="Google Shape;314;p19"/>
          <p:cNvSpPr/>
          <p:nvPr/>
        </p:nvSpPr>
        <p:spPr>
          <a:xfrm>
            <a:off x="7171125" y="1775925"/>
            <a:ext cx="1545000" cy="3756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area12</a:t>
            </a:r>
            <a:endParaRPr b="0" i="0" sz="1500" u="none" cap="none" strike="noStrike">
              <a:solidFill>
                <a:schemeClr val="dk2"/>
              </a:solidFill>
              <a:latin typeface="Montserrat"/>
              <a:ea typeface="Montserrat"/>
              <a:cs typeface="Montserrat"/>
              <a:sym typeface="Montserrat"/>
            </a:endParaRPr>
          </a:p>
        </p:txBody>
      </p:sp>
      <p:sp>
        <p:nvSpPr>
          <p:cNvPr id="315" name="Google Shape;315;p19"/>
          <p:cNvSpPr/>
          <p:nvPr/>
        </p:nvSpPr>
        <p:spPr>
          <a:xfrm>
            <a:off x="414750" y="2858163"/>
            <a:ext cx="1545000" cy="3756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Suma</a:t>
            </a:r>
            <a:endParaRPr b="0" i="0" sz="1500" u="none" cap="none" strike="noStrike">
              <a:solidFill>
                <a:schemeClr val="dk2"/>
              </a:solidFill>
              <a:latin typeface="Montserrat"/>
              <a:ea typeface="Montserrat"/>
              <a:cs typeface="Montserrat"/>
              <a:sym typeface="Montserrat"/>
            </a:endParaRPr>
          </a:p>
        </p:txBody>
      </p:sp>
      <p:sp>
        <p:nvSpPr>
          <p:cNvPr id="316" name="Google Shape;316;p19"/>
          <p:cNvSpPr/>
          <p:nvPr/>
        </p:nvSpPr>
        <p:spPr>
          <a:xfrm>
            <a:off x="2099531" y="2858163"/>
            <a:ext cx="1545000" cy="3756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areacuadrado</a:t>
            </a:r>
            <a:endParaRPr b="0" i="0" sz="1500" u="none" cap="none" strike="noStrike">
              <a:solidFill>
                <a:schemeClr val="dk2"/>
              </a:solidFill>
              <a:latin typeface="Montserrat"/>
              <a:ea typeface="Montserrat"/>
              <a:cs typeface="Montserrat"/>
              <a:sym typeface="Montserrat"/>
            </a:endParaRPr>
          </a:p>
        </p:txBody>
      </p:sp>
      <p:sp>
        <p:nvSpPr>
          <p:cNvPr id="317" name="Google Shape;317;p19"/>
          <p:cNvSpPr/>
          <p:nvPr/>
        </p:nvSpPr>
        <p:spPr>
          <a:xfrm>
            <a:off x="3784313" y="2858163"/>
            <a:ext cx="1545000" cy="3756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ImporteFinal</a:t>
            </a:r>
            <a:endParaRPr b="0" i="0" sz="1500" u="none" cap="none" strike="noStrike">
              <a:solidFill>
                <a:schemeClr val="dk2"/>
              </a:solidFill>
              <a:latin typeface="Montserrat"/>
              <a:ea typeface="Montserrat"/>
              <a:cs typeface="Montserrat"/>
              <a:sym typeface="Montserrat"/>
            </a:endParaRPr>
          </a:p>
        </p:txBody>
      </p:sp>
      <p:sp>
        <p:nvSpPr>
          <p:cNvPr id="318" name="Google Shape;318;p19"/>
          <p:cNvSpPr/>
          <p:nvPr/>
        </p:nvSpPr>
        <p:spPr>
          <a:xfrm>
            <a:off x="5469094" y="2858163"/>
            <a:ext cx="1545000" cy="3756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w12e43rt41</a:t>
            </a:r>
            <a:endParaRPr b="0" i="0" sz="1500" u="none" cap="none" strike="noStrike">
              <a:solidFill>
                <a:schemeClr val="dk2"/>
              </a:solidFill>
              <a:latin typeface="Montserrat"/>
              <a:ea typeface="Montserrat"/>
              <a:cs typeface="Montserrat"/>
              <a:sym typeface="Montserrat"/>
            </a:endParaRPr>
          </a:p>
        </p:txBody>
      </p:sp>
      <p:sp>
        <p:nvSpPr>
          <p:cNvPr id="319" name="Google Shape;319;p19"/>
          <p:cNvSpPr/>
          <p:nvPr/>
        </p:nvSpPr>
        <p:spPr>
          <a:xfrm>
            <a:off x="7153875" y="2858150"/>
            <a:ext cx="1545000" cy="3756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años</a:t>
            </a:r>
            <a:endParaRPr b="0" i="0" sz="1500" u="none" cap="none" strike="noStrike">
              <a:solidFill>
                <a:schemeClr val="dk2"/>
              </a:solidFill>
              <a:latin typeface="Montserrat"/>
              <a:ea typeface="Montserrat"/>
              <a:cs typeface="Montserrat"/>
              <a:sym typeface="Montserrat"/>
            </a:endParaRPr>
          </a:p>
        </p:txBody>
      </p:sp>
      <p:sp>
        <p:nvSpPr>
          <p:cNvPr id="320" name="Google Shape;320;p19"/>
          <p:cNvSpPr/>
          <p:nvPr/>
        </p:nvSpPr>
        <p:spPr>
          <a:xfrm>
            <a:off x="414750" y="3878725"/>
            <a:ext cx="1545000" cy="3756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mi saldo</a:t>
            </a:r>
            <a:endParaRPr b="0" i="0" sz="1500" u="none" cap="none" strike="noStrike">
              <a:solidFill>
                <a:schemeClr val="dk2"/>
              </a:solidFill>
              <a:latin typeface="Montserrat"/>
              <a:ea typeface="Montserrat"/>
              <a:cs typeface="Montserrat"/>
              <a:sym typeface="Montserrat"/>
            </a:endParaRPr>
          </a:p>
        </p:txBody>
      </p:sp>
      <p:sp>
        <p:nvSpPr>
          <p:cNvPr id="321" name="Google Shape;321;p19"/>
          <p:cNvSpPr/>
          <p:nvPr/>
        </p:nvSpPr>
        <p:spPr>
          <a:xfrm>
            <a:off x="2099531" y="3878725"/>
            <a:ext cx="1545000" cy="3756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2pesos</a:t>
            </a:r>
            <a:endParaRPr b="0" i="0" sz="1500" u="none" cap="none" strike="noStrike">
              <a:solidFill>
                <a:schemeClr val="dk2"/>
              </a:solidFill>
              <a:latin typeface="Montserrat"/>
              <a:ea typeface="Montserrat"/>
              <a:cs typeface="Montserrat"/>
              <a:sym typeface="Montserrat"/>
            </a:endParaRPr>
          </a:p>
        </p:txBody>
      </p:sp>
      <p:sp>
        <p:nvSpPr>
          <p:cNvPr id="322" name="Google Shape;322;p19"/>
          <p:cNvSpPr/>
          <p:nvPr/>
        </p:nvSpPr>
        <p:spPr>
          <a:xfrm>
            <a:off x="3784313" y="3878725"/>
            <a:ext cx="1545000" cy="3756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for</a:t>
            </a:r>
            <a:endParaRPr b="0" i="0" sz="1500" u="none" cap="none" strike="noStrike">
              <a:solidFill>
                <a:schemeClr val="dk2"/>
              </a:solidFill>
              <a:latin typeface="Montserrat"/>
              <a:ea typeface="Montserrat"/>
              <a:cs typeface="Montserrat"/>
              <a:sym typeface="Montserrat"/>
            </a:endParaRPr>
          </a:p>
        </p:txBody>
      </p:sp>
      <p:sp>
        <p:nvSpPr>
          <p:cNvPr id="323" name="Google Shape;323;p19"/>
          <p:cNvSpPr/>
          <p:nvPr/>
        </p:nvSpPr>
        <p:spPr>
          <a:xfrm>
            <a:off x="5469094" y="3878725"/>
            <a:ext cx="1545000" cy="3756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21%IVA</a:t>
            </a:r>
            <a:endParaRPr b="0" i="0" sz="1500" u="none" cap="none" strike="noStrike">
              <a:solidFill>
                <a:schemeClr val="dk2"/>
              </a:solidFill>
              <a:latin typeface="Montserrat"/>
              <a:ea typeface="Montserrat"/>
              <a:cs typeface="Montserrat"/>
              <a:sym typeface="Montserrat"/>
            </a:endParaRPr>
          </a:p>
        </p:txBody>
      </p:sp>
      <p:sp>
        <p:nvSpPr>
          <p:cNvPr id="324" name="Google Shape;324;p19"/>
          <p:cNvSpPr/>
          <p:nvPr/>
        </p:nvSpPr>
        <p:spPr>
          <a:xfrm>
            <a:off x="7153875" y="3878750"/>
            <a:ext cx="1545000" cy="3756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500" u="none" cap="none" strike="noStrike">
                <a:solidFill>
                  <a:schemeClr val="dk2"/>
                </a:solidFill>
                <a:latin typeface="Montserrat"/>
                <a:ea typeface="Montserrat"/>
                <a:cs typeface="Montserrat"/>
                <a:sym typeface="Montserrat"/>
              </a:rPr>
              <a:t>$a_pagar</a:t>
            </a:r>
            <a:endParaRPr b="0" i="0" sz="1500" u="none" cap="none" strike="noStrike">
              <a:solidFill>
                <a:schemeClr val="dk2"/>
              </a:solidFill>
              <a:latin typeface="Montserrat"/>
              <a:ea typeface="Montserrat"/>
              <a:cs typeface="Montserrat"/>
              <a:sym typeface="Montserrat"/>
            </a:endParaRPr>
          </a:p>
        </p:txBody>
      </p:sp>
      <p:sp>
        <p:nvSpPr>
          <p:cNvPr id="325" name="Google Shape;325;p19"/>
          <p:cNvSpPr txBox="1"/>
          <p:nvPr/>
        </p:nvSpPr>
        <p:spPr>
          <a:xfrm>
            <a:off x="416975" y="2364075"/>
            <a:ext cx="8279700" cy="4941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Algunos nombres de variables </a:t>
            </a:r>
            <a:r>
              <a:rPr b="1" i="0" lang="es" sz="1650" u="none" cap="none" strike="noStrike">
                <a:solidFill>
                  <a:srgbClr val="595959"/>
                </a:solidFill>
                <a:latin typeface="Montserrat"/>
                <a:ea typeface="Montserrat"/>
                <a:cs typeface="Montserrat"/>
                <a:sym typeface="Montserrat"/>
              </a:rPr>
              <a:t>válidos</a:t>
            </a:r>
            <a:r>
              <a:rPr b="0" i="0" lang="es" sz="1650" u="none" cap="none" strike="noStrike">
                <a:solidFill>
                  <a:srgbClr val="595959"/>
                </a:solidFill>
                <a:latin typeface="Montserrat"/>
                <a:ea typeface="Montserrat"/>
                <a:cs typeface="Montserrat"/>
                <a:sym typeface="Montserrat"/>
              </a:rPr>
              <a:t> pero </a:t>
            </a:r>
            <a:r>
              <a:rPr b="1" i="0" lang="es" sz="1650" u="none" cap="none" strike="noStrike">
                <a:solidFill>
                  <a:srgbClr val="595959"/>
                </a:solidFill>
                <a:latin typeface="Montserrat"/>
                <a:ea typeface="Montserrat"/>
                <a:cs typeface="Montserrat"/>
                <a:sym typeface="Montserrat"/>
              </a:rPr>
              <a:t>no recomendados</a:t>
            </a:r>
            <a:r>
              <a:rPr b="0" i="0" lang="es" sz="1650" u="none" cap="none" strike="noStrike">
                <a:solidFill>
                  <a:srgbClr val="595959"/>
                </a:solidFill>
                <a:latin typeface="Montserrat"/>
                <a:ea typeface="Montserrat"/>
                <a:cs typeface="Montserrat"/>
                <a:sym typeface="Montserrat"/>
              </a:rPr>
              <a:t>:</a:t>
            </a:r>
            <a:endParaRPr b="0" i="0" sz="1650" u="none" cap="none" strike="noStrike">
              <a:solidFill>
                <a:srgbClr val="595959"/>
              </a:solidFill>
              <a:latin typeface="Montserrat"/>
              <a:ea typeface="Montserrat"/>
              <a:cs typeface="Montserrat"/>
              <a:sym typeface="Montserrat"/>
            </a:endParaRPr>
          </a:p>
        </p:txBody>
      </p:sp>
      <p:sp>
        <p:nvSpPr>
          <p:cNvPr id="326" name="Google Shape;326;p19"/>
          <p:cNvSpPr txBox="1"/>
          <p:nvPr/>
        </p:nvSpPr>
        <p:spPr>
          <a:xfrm>
            <a:off x="434225" y="3369025"/>
            <a:ext cx="8279700" cy="4497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Algunos nombres de variables </a:t>
            </a:r>
            <a:r>
              <a:rPr b="1" i="0" lang="es" sz="1650" u="none" cap="none" strike="noStrike">
                <a:solidFill>
                  <a:srgbClr val="595959"/>
                </a:solidFill>
                <a:latin typeface="Montserrat"/>
                <a:ea typeface="Montserrat"/>
                <a:cs typeface="Montserrat"/>
                <a:sym typeface="Montserrat"/>
              </a:rPr>
              <a:t>no válidos</a:t>
            </a:r>
            <a:r>
              <a:rPr b="0" i="0" lang="es" sz="1650" u="none" cap="none" strike="noStrike">
                <a:solidFill>
                  <a:srgbClr val="595959"/>
                </a:solidFill>
                <a:latin typeface="Montserrat"/>
                <a:ea typeface="Montserrat"/>
                <a:cs typeface="Montserrat"/>
                <a:sym typeface="Montserrat"/>
              </a:rPr>
              <a:t> (Python reporta error):</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La función </a:t>
            </a:r>
            <a:r>
              <a:rPr b="1" i="0" lang="es" sz="1600" u="none" cap="none" strike="noStrike">
                <a:solidFill>
                  <a:srgbClr val="595959"/>
                </a:solidFill>
                <a:latin typeface="Montserrat"/>
                <a:ea typeface="Montserrat"/>
                <a:cs typeface="Montserrat"/>
                <a:sym typeface="Montserrat"/>
              </a:rPr>
              <a:t>print()</a:t>
            </a:r>
            <a:r>
              <a:rPr b="0" i="0" lang="es" sz="1600" u="none" cap="none" strike="noStrike">
                <a:solidFill>
                  <a:srgbClr val="595959"/>
                </a:solidFill>
                <a:latin typeface="Montserrat"/>
                <a:ea typeface="Montserrat"/>
                <a:cs typeface="Montserrat"/>
                <a:sym typeface="Montserrat"/>
              </a:rPr>
              <a:t> permite mostrar datos en la terminal. Recibe como parámetros variables y/o literales, separados por comas.</a:t>
            </a:r>
            <a:endParaRPr b="0" i="0" sz="1600" u="none" cap="none" strike="noStrike">
              <a:solidFill>
                <a:srgbClr val="595959"/>
              </a:solidFill>
              <a:latin typeface="Montserrat"/>
              <a:ea typeface="Montserrat"/>
              <a:cs typeface="Montserrat"/>
              <a:sym typeface="Montserrat"/>
            </a:endParaRPr>
          </a:p>
        </p:txBody>
      </p:sp>
      <p:sp>
        <p:nvSpPr>
          <p:cNvPr id="332" name="Google Shape;332;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Entrada / Salida: La función print()</a:t>
            </a:r>
            <a:endParaRPr/>
          </a:p>
        </p:txBody>
      </p:sp>
      <p:pic>
        <p:nvPicPr>
          <p:cNvPr id="333" name="Google Shape;333;p20"/>
          <p:cNvPicPr preferRelativeResize="0"/>
          <p:nvPr/>
        </p:nvPicPr>
        <p:blipFill rotWithShape="1">
          <a:blip r:embed="rId3">
            <a:alphaModFix/>
          </a:blip>
          <a:srcRect b="0" l="0" r="0" t="0"/>
          <a:stretch/>
        </p:blipFill>
        <p:spPr>
          <a:xfrm>
            <a:off x="6083851" y="2435100"/>
            <a:ext cx="1819080" cy="390240"/>
          </a:xfrm>
          <a:prstGeom prst="rect">
            <a:avLst/>
          </a:prstGeom>
          <a:noFill/>
          <a:ln>
            <a:noFill/>
          </a:ln>
        </p:spPr>
      </p:pic>
      <p:sp>
        <p:nvSpPr>
          <p:cNvPr id="334" name="Google Shape;334;p20"/>
          <p:cNvSpPr/>
          <p:nvPr/>
        </p:nvSpPr>
        <p:spPr>
          <a:xfrm>
            <a:off x="5801426" y="3130175"/>
            <a:ext cx="2101500" cy="4242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Salida en la pantalla</a:t>
            </a:r>
            <a:endParaRPr b="0" i="0" sz="1200" u="none" cap="none" strike="noStrike">
              <a:solidFill>
                <a:schemeClr val="dk2"/>
              </a:solidFill>
              <a:latin typeface="Montserrat"/>
              <a:ea typeface="Montserrat"/>
              <a:cs typeface="Montserrat"/>
              <a:sym typeface="Montserrat"/>
            </a:endParaRPr>
          </a:p>
        </p:txBody>
      </p:sp>
      <p:cxnSp>
        <p:nvCxnSpPr>
          <p:cNvPr id="335" name="Google Shape;335;p20"/>
          <p:cNvCxnSpPr/>
          <p:nvPr/>
        </p:nvCxnSpPr>
        <p:spPr>
          <a:xfrm rot="10800000">
            <a:off x="1763401" y="2825538"/>
            <a:ext cx="141300" cy="304500"/>
          </a:xfrm>
          <a:prstGeom prst="straightConnector1">
            <a:avLst/>
          </a:prstGeom>
          <a:noFill/>
          <a:ln cap="flat" cmpd="sng" w="28575">
            <a:solidFill>
              <a:schemeClr val="dk2"/>
            </a:solidFill>
            <a:prstDash val="solid"/>
            <a:round/>
            <a:headEnd len="sm" w="sm" type="none"/>
            <a:tailEnd len="med" w="med" type="triangle"/>
          </a:ln>
        </p:spPr>
      </p:cxnSp>
      <p:cxnSp>
        <p:nvCxnSpPr>
          <p:cNvPr id="336" name="Google Shape;336;p20"/>
          <p:cNvCxnSpPr>
            <a:stCxn id="337" idx="0"/>
          </p:cNvCxnSpPr>
          <p:nvPr/>
        </p:nvCxnSpPr>
        <p:spPr>
          <a:xfrm rot="10800000">
            <a:off x="3023376" y="2795085"/>
            <a:ext cx="503400" cy="335100"/>
          </a:xfrm>
          <a:prstGeom prst="straightConnector1">
            <a:avLst/>
          </a:prstGeom>
          <a:noFill/>
          <a:ln cap="flat" cmpd="sng" w="28575">
            <a:solidFill>
              <a:schemeClr val="dk2"/>
            </a:solidFill>
            <a:prstDash val="solid"/>
            <a:round/>
            <a:headEnd len="sm" w="sm" type="none"/>
            <a:tailEnd len="med" w="med" type="triangle"/>
          </a:ln>
        </p:spPr>
      </p:cxnSp>
      <p:cxnSp>
        <p:nvCxnSpPr>
          <p:cNvPr id="338" name="Google Shape;338;p20"/>
          <p:cNvCxnSpPr>
            <a:stCxn id="334" idx="0"/>
          </p:cNvCxnSpPr>
          <p:nvPr/>
        </p:nvCxnSpPr>
        <p:spPr>
          <a:xfrm flipH="1" rot="10800000">
            <a:off x="6852176" y="2825375"/>
            <a:ext cx="22200" cy="304800"/>
          </a:xfrm>
          <a:prstGeom prst="straightConnector1">
            <a:avLst/>
          </a:prstGeom>
          <a:noFill/>
          <a:ln cap="flat" cmpd="sng" w="28575">
            <a:solidFill>
              <a:schemeClr val="dk2"/>
            </a:solidFill>
            <a:prstDash val="solid"/>
            <a:round/>
            <a:headEnd len="sm" w="sm" type="none"/>
            <a:tailEnd len="med" w="med" type="triangle"/>
          </a:ln>
        </p:spPr>
      </p:cxnSp>
      <p:sp>
        <p:nvSpPr>
          <p:cNvPr id="337" name="Google Shape;337;p20"/>
          <p:cNvSpPr/>
          <p:nvPr/>
        </p:nvSpPr>
        <p:spPr>
          <a:xfrm>
            <a:off x="2777976" y="3130185"/>
            <a:ext cx="1497600" cy="4242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Argumento(s)</a:t>
            </a:r>
            <a:endParaRPr b="0" i="0" sz="1200" u="none" cap="none" strike="noStrike">
              <a:solidFill>
                <a:schemeClr val="dk2"/>
              </a:solidFill>
              <a:latin typeface="Montserrat"/>
              <a:ea typeface="Montserrat"/>
              <a:cs typeface="Montserrat"/>
              <a:sym typeface="Montserrat"/>
            </a:endParaRPr>
          </a:p>
        </p:txBody>
      </p:sp>
      <p:sp>
        <p:nvSpPr>
          <p:cNvPr id="339" name="Google Shape;339;p20"/>
          <p:cNvSpPr/>
          <p:nvPr/>
        </p:nvSpPr>
        <p:spPr>
          <a:xfrm>
            <a:off x="1223549" y="3130185"/>
            <a:ext cx="1322100" cy="4242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Función print</a:t>
            </a:r>
            <a:endParaRPr b="0" i="0" sz="1200" u="none" cap="none" strike="noStrike">
              <a:solidFill>
                <a:schemeClr val="dk2"/>
              </a:solidFill>
              <a:latin typeface="Montserrat"/>
              <a:ea typeface="Montserrat"/>
              <a:cs typeface="Montserrat"/>
              <a:sym typeface="Montserrat"/>
            </a:endParaRPr>
          </a:p>
        </p:txBody>
      </p:sp>
      <p:sp>
        <p:nvSpPr>
          <p:cNvPr id="340" name="Google Shape;340;p20"/>
          <p:cNvSpPr/>
          <p:nvPr/>
        </p:nvSpPr>
        <p:spPr>
          <a:xfrm>
            <a:off x="1223551" y="2435088"/>
            <a:ext cx="3420000" cy="390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"¡Hola mundo!"</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p:txBody>
      </p:sp>
      <p:cxnSp>
        <p:nvCxnSpPr>
          <p:cNvPr id="341" name="Google Shape;341;p20"/>
          <p:cNvCxnSpPr>
            <a:stCxn id="340" idx="3"/>
            <a:endCxn id="333" idx="1"/>
          </p:cNvCxnSpPr>
          <p:nvPr/>
        </p:nvCxnSpPr>
        <p:spPr>
          <a:xfrm>
            <a:off x="4643551" y="2630238"/>
            <a:ext cx="1440300" cy="0"/>
          </a:xfrm>
          <a:prstGeom prst="straightConnector1">
            <a:avLst/>
          </a:prstGeom>
          <a:noFill/>
          <a:ln cap="flat" cmpd="sng" w="28575">
            <a:solidFill>
              <a:schemeClr val="dk2"/>
            </a:solidFill>
            <a:prstDash val="solid"/>
            <a:round/>
            <a:headEnd len="sm" w="sm" type="none"/>
            <a:tailEnd len="med" w="med" type="triangle"/>
          </a:ln>
        </p:spPr>
      </p:cxnSp>
      <p:sp>
        <p:nvSpPr>
          <p:cNvPr id="342" name="Google Shape;342;p20"/>
          <p:cNvSpPr/>
          <p:nvPr/>
        </p:nvSpPr>
        <p:spPr>
          <a:xfrm>
            <a:off x="1223550" y="2205620"/>
            <a:ext cx="3420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Programa</a:t>
            </a:r>
            <a:endParaRPr b="0" i="0" sz="1400" u="none" cap="none" strike="noStrike">
              <a:solidFill>
                <a:schemeClr val="dk2"/>
              </a:solidFill>
              <a:latin typeface="Montserrat"/>
              <a:ea typeface="Montserrat"/>
              <a:cs typeface="Montserrat"/>
              <a:sym typeface="Montserrat"/>
            </a:endParaRPr>
          </a:p>
        </p:txBody>
      </p:sp>
      <p:sp>
        <p:nvSpPr>
          <p:cNvPr id="343" name="Google Shape;343;p20"/>
          <p:cNvSpPr/>
          <p:nvPr/>
        </p:nvSpPr>
        <p:spPr>
          <a:xfrm>
            <a:off x="6083850" y="2205600"/>
            <a:ext cx="1819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344" name="Google Shape;344;p20"/>
          <p:cNvSpPr txBox="1"/>
          <p:nvPr/>
        </p:nvSpPr>
        <p:spPr>
          <a:xfrm>
            <a:off x="432150" y="3984325"/>
            <a:ext cx="8279700" cy="5727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En Python las cadenas pueden delimitarse con comillas simples o dobles.</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1"/>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Luego de imprimir,</a:t>
            </a:r>
            <a:r>
              <a:rPr b="1" i="0" lang="es" sz="1600" u="none" cap="none" strike="noStrike">
                <a:solidFill>
                  <a:srgbClr val="595959"/>
                </a:solidFill>
                <a:latin typeface="Montserrat"/>
                <a:ea typeface="Montserrat"/>
                <a:cs typeface="Montserrat"/>
                <a:sym typeface="Montserrat"/>
              </a:rPr>
              <a:t> print()</a:t>
            </a:r>
            <a:r>
              <a:rPr b="0" i="0" lang="es" sz="1600" u="none" cap="none" strike="noStrike">
                <a:solidFill>
                  <a:srgbClr val="595959"/>
                </a:solidFill>
                <a:latin typeface="Montserrat"/>
                <a:ea typeface="Montserrat"/>
                <a:cs typeface="Montserrat"/>
                <a:sym typeface="Montserrat"/>
              </a:rPr>
              <a:t> realiza un salto de línea (pasa a la línea siguiente). Si se usa </a:t>
            </a:r>
            <a:r>
              <a:rPr b="1" i="0" lang="es" sz="1600" u="none" cap="none" strike="noStrike">
                <a:solidFill>
                  <a:srgbClr val="595959"/>
                </a:solidFill>
                <a:latin typeface="Montserrat"/>
                <a:ea typeface="Montserrat"/>
                <a:cs typeface="Montserrat"/>
                <a:sym typeface="Montserrat"/>
              </a:rPr>
              <a:t>print() </a:t>
            </a:r>
            <a:r>
              <a:rPr b="0" i="0" lang="es" sz="1600" u="none" cap="none" strike="noStrike">
                <a:solidFill>
                  <a:srgbClr val="595959"/>
                </a:solidFill>
                <a:latin typeface="Montserrat"/>
                <a:ea typeface="Montserrat"/>
                <a:cs typeface="Montserrat"/>
                <a:sym typeface="Montserrat"/>
              </a:rPr>
              <a:t>sin argumentos, sólo se muestra la línea en blanco:</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p:txBody>
      </p:sp>
      <p:sp>
        <p:nvSpPr>
          <p:cNvPr id="350" name="Google Shape;350;p21"/>
          <p:cNvSpPr/>
          <p:nvPr/>
        </p:nvSpPr>
        <p:spPr>
          <a:xfrm>
            <a:off x="1350463" y="2307375"/>
            <a:ext cx="2962500" cy="74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"Linea 1"</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"Linea 2"</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FFE66D"/>
              </a:solidFill>
              <a:highlight>
                <a:srgbClr val="23262E"/>
              </a:highlight>
              <a:latin typeface="Consolas"/>
              <a:ea typeface="Consolas"/>
              <a:cs typeface="Consolas"/>
              <a:sym typeface="Consolas"/>
            </a:endParaRPr>
          </a:p>
        </p:txBody>
      </p:sp>
      <p:cxnSp>
        <p:nvCxnSpPr>
          <p:cNvPr id="351" name="Google Shape;351;p21"/>
          <p:cNvCxnSpPr/>
          <p:nvPr/>
        </p:nvCxnSpPr>
        <p:spPr>
          <a:xfrm>
            <a:off x="3538438" y="2679375"/>
            <a:ext cx="2437500" cy="0"/>
          </a:xfrm>
          <a:prstGeom prst="straightConnector1">
            <a:avLst/>
          </a:prstGeom>
          <a:noFill/>
          <a:ln cap="flat" cmpd="sng" w="28575">
            <a:solidFill>
              <a:schemeClr val="dk2"/>
            </a:solidFill>
            <a:prstDash val="solid"/>
            <a:round/>
            <a:headEnd len="sm" w="sm" type="none"/>
            <a:tailEnd len="med" w="med" type="triangle"/>
          </a:ln>
        </p:spPr>
      </p:cxnSp>
      <p:sp>
        <p:nvSpPr>
          <p:cNvPr id="352" name="Google Shape;352;p21"/>
          <p:cNvSpPr/>
          <p:nvPr/>
        </p:nvSpPr>
        <p:spPr>
          <a:xfrm>
            <a:off x="5966350" y="2307375"/>
            <a:ext cx="1819200" cy="74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urier New"/>
                <a:ea typeface="Courier New"/>
                <a:cs typeface="Courier New"/>
                <a:sym typeface="Courier New"/>
              </a:rPr>
              <a:t>Linea 1</a:t>
            </a:r>
            <a:endParaRPr b="0" i="0" sz="140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urier New"/>
                <a:ea typeface="Courier New"/>
                <a:cs typeface="Courier New"/>
                <a:sym typeface="Courier New"/>
              </a:rPr>
              <a:t>Linea 2</a:t>
            </a:r>
            <a:endParaRPr b="0" i="0" sz="140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100"/>
              <a:buFont typeface="Arial"/>
              <a:buNone/>
            </a:pPr>
            <a:r>
              <a:t/>
            </a:r>
            <a:endParaRPr b="0" i="0" sz="1400" u="none" cap="none" strike="noStrike">
              <a:solidFill>
                <a:srgbClr val="D5CED9"/>
              </a:solidFill>
              <a:highlight>
                <a:srgbClr val="23262E"/>
              </a:highlight>
              <a:latin typeface="Courier New"/>
              <a:ea typeface="Courier New"/>
              <a:cs typeface="Courier New"/>
              <a:sym typeface="Courier New"/>
            </a:endParaRPr>
          </a:p>
        </p:txBody>
      </p:sp>
      <p:cxnSp>
        <p:nvCxnSpPr>
          <p:cNvPr id="353" name="Google Shape;353;p21"/>
          <p:cNvCxnSpPr/>
          <p:nvPr/>
        </p:nvCxnSpPr>
        <p:spPr>
          <a:xfrm>
            <a:off x="3538438" y="2891925"/>
            <a:ext cx="2437500" cy="0"/>
          </a:xfrm>
          <a:prstGeom prst="straightConnector1">
            <a:avLst/>
          </a:prstGeom>
          <a:noFill/>
          <a:ln cap="flat" cmpd="sng" w="28575">
            <a:solidFill>
              <a:schemeClr val="dk2"/>
            </a:solidFill>
            <a:prstDash val="solid"/>
            <a:round/>
            <a:headEnd len="sm" w="sm" type="none"/>
            <a:tailEnd len="med" w="med" type="triangle"/>
          </a:ln>
        </p:spPr>
      </p:cxnSp>
      <p:cxnSp>
        <p:nvCxnSpPr>
          <p:cNvPr id="354" name="Google Shape;354;p21"/>
          <p:cNvCxnSpPr/>
          <p:nvPr/>
        </p:nvCxnSpPr>
        <p:spPr>
          <a:xfrm>
            <a:off x="3538438" y="2466825"/>
            <a:ext cx="2437500" cy="0"/>
          </a:xfrm>
          <a:prstGeom prst="straightConnector1">
            <a:avLst/>
          </a:prstGeom>
          <a:noFill/>
          <a:ln cap="flat" cmpd="sng" w="28575">
            <a:solidFill>
              <a:schemeClr val="dk2"/>
            </a:solidFill>
            <a:prstDash val="solid"/>
            <a:round/>
            <a:headEnd len="sm" w="sm" type="none"/>
            <a:tailEnd len="med" w="med" type="triangle"/>
          </a:ln>
        </p:spPr>
      </p:cxnSp>
      <p:sp>
        <p:nvSpPr>
          <p:cNvPr id="355" name="Google Shape;355;p21"/>
          <p:cNvSpPr txBox="1"/>
          <p:nvPr/>
        </p:nvSpPr>
        <p:spPr>
          <a:xfrm>
            <a:off x="534950" y="3051375"/>
            <a:ext cx="8279700" cy="14535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Para evitar el salto de línea, podemos agregar el argumento </a:t>
            </a:r>
            <a:r>
              <a:rPr b="0" i="0" lang="es" sz="1600" u="none" cap="none" strike="noStrike">
                <a:solidFill>
                  <a:srgbClr val="595959"/>
                </a:solidFill>
                <a:latin typeface="Consolas"/>
                <a:ea typeface="Consolas"/>
                <a:cs typeface="Consolas"/>
                <a:sym typeface="Consolas"/>
              </a:rPr>
              <a:t>end=””</a:t>
            </a:r>
            <a:r>
              <a:rPr b="0" i="0" lang="es" sz="1600" u="none" cap="none" strike="noStrike">
                <a:solidFill>
                  <a:srgbClr val="595959"/>
                </a:solidFill>
                <a:latin typeface="Montserrat"/>
                <a:ea typeface="Montserrat"/>
                <a:cs typeface="Montserrat"/>
                <a:sym typeface="Montserrat"/>
              </a:rPr>
              <a:t> al final de la lista de argumentos:</a:t>
            </a:r>
            <a:endParaRPr b="0" i="0" sz="1600" u="none" cap="none" strike="noStrike">
              <a:solidFill>
                <a:srgbClr val="595959"/>
              </a:solidFill>
              <a:latin typeface="Montserrat"/>
              <a:ea typeface="Montserrat"/>
              <a:cs typeface="Montserrat"/>
              <a:sym typeface="Montserrat"/>
            </a:endParaRPr>
          </a:p>
        </p:txBody>
      </p:sp>
      <p:sp>
        <p:nvSpPr>
          <p:cNvPr id="356" name="Google Shape;356;p21"/>
          <p:cNvSpPr/>
          <p:nvPr/>
        </p:nvSpPr>
        <p:spPr>
          <a:xfrm>
            <a:off x="1350450" y="4032425"/>
            <a:ext cx="2962500" cy="524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"Linea 1"</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00E8C6"/>
                </a:solidFill>
                <a:highlight>
                  <a:srgbClr val="23262E"/>
                </a:highlight>
                <a:latin typeface="Consolas"/>
                <a:ea typeface="Consolas"/>
                <a:cs typeface="Consolas"/>
                <a:sym typeface="Consolas"/>
              </a:rPr>
              <a:t>end</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"Linea 2"</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FFE66D"/>
              </a:solidFill>
              <a:highlight>
                <a:srgbClr val="23262E"/>
              </a:highlight>
              <a:latin typeface="Consolas"/>
              <a:ea typeface="Consolas"/>
              <a:cs typeface="Consolas"/>
              <a:sym typeface="Consolas"/>
            </a:endParaRPr>
          </a:p>
        </p:txBody>
      </p:sp>
      <p:sp>
        <p:nvSpPr>
          <p:cNvPr id="357" name="Google Shape;357;p21"/>
          <p:cNvSpPr/>
          <p:nvPr/>
        </p:nvSpPr>
        <p:spPr>
          <a:xfrm>
            <a:off x="5975925" y="4026450"/>
            <a:ext cx="1819200" cy="524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urier New"/>
                <a:ea typeface="Courier New"/>
                <a:cs typeface="Courier New"/>
                <a:sym typeface="Courier New"/>
              </a:rPr>
              <a:t>Linea 1Linea 2</a:t>
            </a:r>
            <a:endParaRPr b="0" i="0" sz="1400" u="none" cap="none" strike="noStrike">
              <a:solidFill>
                <a:srgbClr val="D5CED9"/>
              </a:solidFill>
              <a:highlight>
                <a:srgbClr val="23262E"/>
              </a:highlight>
              <a:latin typeface="Courier New"/>
              <a:ea typeface="Courier New"/>
              <a:cs typeface="Courier New"/>
              <a:sym typeface="Courier New"/>
            </a:endParaRPr>
          </a:p>
        </p:txBody>
      </p:sp>
      <p:cxnSp>
        <p:nvCxnSpPr>
          <p:cNvPr id="358" name="Google Shape;358;p21"/>
          <p:cNvCxnSpPr>
            <a:stCxn id="356" idx="3"/>
            <a:endCxn id="357" idx="1"/>
          </p:cNvCxnSpPr>
          <p:nvPr/>
        </p:nvCxnSpPr>
        <p:spPr>
          <a:xfrm flipH="1" rot="10800000">
            <a:off x="4312950" y="4288775"/>
            <a:ext cx="1662900" cy="6000"/>
          </a:xfrm>
          <a:prstGeom prst="straightConnector1">
            <a:avLst/>
          </a:prstGeom>
          <a:noFill/>
          <a:ln cap="flat" cmpd="sng" w="28575">
            <a:solidFill>
              <a:schemeClr val="dk2"/>
            </a:solidFill>
            <a:prstDash val="solid"/>
            <a:round/>
            <a:headEnd len="sm" w="sm" type="none"/>
            <a:tailEnd len="med" w="med" type="triangle"/>
          </a:ln>
        </p:spPr>
      </p:cxnSp>
      <p:sp>
        <p:nvSpPr>
          <p:cNvPr id="359" name="Google Shape;359;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Entrada / Salida: La función print()</a:t>
            </a:r>
            <a:endParaRPr/>
          </a:p>
        </p:txBody>
      </p:sp>
      <p:sp>
        <p:nvSpPr>
          <p:cNvPr id="360" name="Google Shape;360;p21"/>
          <p:cNvSpPr/>
          <p:nvPr/>
        </p:nvSpPr>
        <p:spPr>
          <a:xfrm>
            <a:off x="1350475" y="2120800"/>
            <a:ext cx="2962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Programa</a:t>
            </a:r>
            <a:endParaRPr b="0" i="0" sz="1400" u="none" cap="none" strike="noStrike">
              <a:solidFill>
                <a:schemeClr val="dk2"/>
              </a:solidFill>
              <a:latin typeface="Montserrat"/>
              <a:ea typeface="Montserrat"/>
              <a:cs typeface="Montserrat"/>
              <a:sym typeface="Montserrat"/>
            </a:endParaRPr>
          </a:p>
        </p:txBody>
      </p:sp>
      <p:sp>
        <p:nvSpPr>
          <p:cNvPr id="361" name="Google Shape;361;p21"/>
          <p:cNvSpPr/>
          <p:nvPr/>
        </p:nvSpPr>
        <p:spPr>
          <a:xfrm>
            <a:off x="5966350" y="2120796"/>
            <a:ext cx="1819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362" name="Google Shape;362;p21"/>
          <p:cNvSpPr/>
          <p:nvPr/>
        </p:nvSpPr>
        <p:spPr>
          <a:xfrm>
            <a:off x="5975950" y="3845845"/>
            <a:ext cx="1819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363" name="Google Shape;363;p21"/>
          <p:cNvSpPr/>
          <p:nvPr/>
        </p:nvSpPr>
        <p:spPr>
          <a:xfrm>
            <a:off x="1350475" y="3845850"/>
            <a:ext cx="2962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Programa</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Entrada / Salida: La función print()</a:t>
            </a:r>
            <a:endParaRPr/>
          </a:p>
        </p:txBody>
      </p:sp>
      <p:pic>
        <p:nvPicPr>
          <p:cNvPr id="369" name="Google Shape;369;p22"/>
          <p:cNvPicPr preferRelativeResize="0"/>
          <p:nvPr/>
        </p:nvPicPr>
        <p:blipFill rotWithShape="1">
          <a:blip r:embed="rId3">
            <a:alphaModFix/>
          </a:blip>
          <a:srcRect b="0" l="0" r="0" t="0"/>
          <a:stretch/>
        </p:blipFill>
        <p:spPr>
          <a:xfrm>
            <a:off x="5804394" y="3337736"/>
            <a:ext cx="2684899" cy="1158013"/>
          </a:xfrm>
          <a:prstGeom prst="rect">
            <a:avLst/>
          </a:prstGeom>
          <a:noFill/>
          <a:ln>
            <a:noFill/>
          </a:ln>
        </p:spPr>
      </p:pic>
      <p:sp>
        <p:nvSpPr>
          <p:cNvPr id="370" name="Google Shape;370;p22"/>
          <p:cNvSpPr/>
          <p:nvPr/>
        </p:nvSpPr>
        <p:spPr>
          <a:xfrm>
            <a:off x="6140882" y="1555588"/>
            <a:ext cx="1858200" cy="5088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Declaración de variables</a:t>
            </a:r>
            <a:endParaRPr b="0" i="0" sz="1200" u="none" cap="none" strike="noStrike">
              <a:solidFill>
                <a:schemeClr val="dk2"/>
              </a:solidFill>
              <a:latin typeface="Montserrat"/>
              <a:ea typeface="Montserrat"/>
              <a:cs typeface="Montserrat"/>
              <a:sym typeface="Montserrat"/>
            </a:endParaRPr>
          </a:p>
        </p:txBody>
      </p:sp>
      <p:sp>
        <p:nvSpPr>
          <p:cNvPr id="371" name="Google Shape;371;p22"/>
          <p:cNvSpPr/>
          <p:nvPr/>
        </p:nvSpPr>
        <p:spPr>
          <a:xfrm>
            <a:off x="6140882" y="2316191"/>
            <a:ext cx="1858200" cy="4725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Operaciones y asignación</a:t>
            </a:r>
            <a:endParaRPr b="0" i="0" sz="1200" u="none" cap="none" strike="noStrike">
              <a:solidFill>
                <a:schemeClr val="dk2"/>
              </a:solidFill>
              <a:latin typeface="Montserrat"/>
              <a:ea typeface="Montserrat"/>
              <a:cs typeface="Montserrat"/>
              <a:sym typeface="Montserrat"/>
            </a:endParaRPr>
          </a:p>
        </p:txBody>
      </p:sp>
      <p:sp>
        <p:nvSpPr>
          <p:cNvPr id="372" name="Google Shape;372;p22"/>
          <p:cNvSpPr/>
          <p:nvPr/>
        </p:nvSpPr>
        <p:spPr>
          <a:xfrm>
            <a:off x="654707" y="1942700"/>
            <a:ext cx="4687800" cy="2553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600" u="none" cap="none" strike="noStrike">
                <a:solidFill>
                  <a:srgbClr val="D5CED9"/>
                </a:solidFill>
                <a:highlight>
                  <a:srgbClr val="23262E"/>
                </a:highlight>
                <a:latin typeface="Consolas"/>
                <a:ea typeface="Consolas"/>
                <a:cs typeface="Consolas"/>
                <a:sym typeface="Consolas"/>
              </a:rPr>
              <a:t>nombre </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 </a:t>
            </a:r>
            <a:r>
              <a:rPr b="0" i="0" lang="es" sz="1600" u="none" cap="none" strike="noStrike">
                <a:solidFill>
                  <a:srgbClr val="96E072"/>
                </a:solidFill>
                <a:highlight>
                  <a:srgbClr val="23262E"/>
                </a:highlight>
                <a:latin typeface="Consolas"/>
                <a:ea typeface="Consolas"/>
                <a:cs typeface="Consolas"/>
                <a:sym typeface="Consolas"/>
              </a:rPr>
              <a:t>"Adrián"</a:t>
            </a:r>
            <a:endParaRPr b="0" i="0" sz="16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600" u="none" cap="none" strike="noStrike">
                <a:solidFill>
                  <a:srgbClr val="D5CED9"/>
                </a:solidFill>
                <a:highlight>
                  <a:srgbClr val="23262E"/>
                </a:highlight>
                <a:latin typeface="Consolas"/>
                <a:ea typeface="Consolas"/>
                <a:cs typeface="Consolas"/>
                <a:sym typeface="Consolas"/>
              </a:rPr>
              <a:t>a </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 </a:t>
            </a:r>
            <a:r>
              <a:rPr b="0" i="0" lang="es" sz="1600" u="none" cap="none" strike="noStrike">
                <a:solidFill>
                  <a:srgbClr val="F39C12"/>
                </a:solidFill>
                <a:highlight>
                  <a:srgbClr val="23262E"/>
                </a:highlight>
                <a:latin typeface="Consolas"/>
                <a:ea typeface="Consolas"/>
                <a:cs typeface="Consolas"/>
                <a:sym typeface="Consolas"/>
              </a:rPr>
              <a:t>40</a:t>
            </a:r>
            <a:endParaRPr b="0" i="0" sz="16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600" u="none" cap="none" strike="noStrike">
                <a:solidFill>
                  <a:srgbClr val="D5CED9"/>
                </a:solidFill>
                <a:highlight>
                  <a:srgbClr val="23262E"/>
                </a:highlight>
                <a:latin typeface="Consolas"/>
                <a:ea typeface="Consolas"/>
                <a:cs typeface="Consolas"/>
                <a:sym typeface="Consolas"/>
              </a:rPr>
              <a:t>b </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 </a:t>
            </a:r>
            <a:r>
              <a:rPr b="0" i="0" lang="es" sz="1600" u="none" cap="none" strike="noStrike">
                <a:solidFill>
                  <a:srgbClr val="F39C12"/>
                </a:solidFill>
                <a:highlight>
                  <a:srgbClr val="23262E"/>
                </a:highlight>
                <a:latin typeface="Consolas"/>
                <a:ea typeface="Consolas"/>
                <a:cs typeface="Consolas"/>
                <a:sym typeface="Consolas"/>
              </a:rPr>
              <a:t>30</a:t>
            </a:r>
            <a:endParaRPr b="0" i="0" sz="16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600" u="none" cap="none" strike="noStrike">
                <a:solidFill>
                  <a:srgbClr val="D5CED9"/>
                </a:solidFill>
                <a:highlight>
                  <a:srgbClr val="23262E"/>
                </a:highlight>
                <a:latin typeface="Consolas"/>
                <a:ea typeface="Consolas"/>
                <a:cs typeface="Consolas"/>
                <a:sym typeface="Consolas"/>
              </a:rPr>
              <a:t>promedio </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 (a </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 b) </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 </a:t>
            </a:r>
            <a:r>
              <a:rPr b="0" i="0" lang="es" sz="1600" u="none" cap="none" strike="noStrike">
                <a:solidFill>
                  <a:srgbClr val="F39C12"/>
                </a:solidFill>
                <a:highlight>
                  <a:srgbClr val="23262E"/>
                </a:highlight>
                <a:latin typeface="Consolas"/>
                <a:ea typeface="Consolas"/>
                <a:cs typeface="Consolas"/>
                <a:sym typeface="Consolas"/>
              </a:rPr>
              <a:t>2</a:t>
            </a:r>
            <a:endParaRPr b="0" i="0" sz="16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600" u="none" cap="none" strike="noStrike">
                <a:solidFill>
                  <a:srgbClr val="FFE66D"/>
                </a:solidFill>
                <a:highlight>
                  <a:srgbClr val="23262E"/>
                </a:highlight>
                <a:latin typeface="Consolas"/>
                <a:ea typeface="Consolas"/>
                <a:cs typeface="Consolas"/>
                <a:sym typeface="Consolas"/>
              </a:rPr>
              <a:t>print</a:t>
            </a:r>
            <a:r>
              <a:rPr b="0" i="0" lang="es" sz="1600" u="none" cap="none" strike="noStrike">
                <a:solidFill>
                  <a:srgbClr val="D5CED9"/>
                </a:solidFill>
                <a:highlight>
                  <a:srgbClr val="23262E"/>
                </a:highlight>
                <a:latin typeface="Consolas"/>
                <a:ea typeface="Consolas"/>
                <a:cs typeface="Consolas"/>
                <a:sym typeface="Consolas"/>
              </a:rPr>
              <a:t>(</a:t>
            </a:r>
            <a:r>
              <a:rPr b="0" i="0" lang="es" sz="1600" u="none" cap="none" strike="noStrike">
                <a:solidFill>
                  <a:srgbClr val="96E072"/>
                </a:solidFill>
                <a:highlight>
                  <a:srgbClr val="23262E"/>
                </a:highlight>
                <a:latin typeface="Consolas"/>
                <a:ea typeface="Consolas"/>
                <a:cs typeface="Consolas"/>
                <a:sym typeface="Consolas"/>
              </a:rPr>
              <a:t>"Mi nombre es"</a:t>
            </a:r>
            <a:r>
              <a:rPr b="0" i="0" lang="es" sz="1600" u="none" cap="none" strike="noStrike">
                <a:solidFill>
                  <a:srgbClr val="D5CED9"/>
                </a:solidFill>
                <a:highlight>
                  <a:srgbClr val="23262E"/>
                </a:highlight>
                <a:latin typeface="Consolas"/>
                <a:ea typeface="Consolas"/>
                <a:cs typeface="Consolas"/>
                <a:sym typeface="Consolas"/>
              </a:rPr>
              <a:t>, nombre)</a:t>
            </a:r>
            <a:endParaRPr b="0" i="0" sz="16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600" u="none" cap="none" strike="noStrike">
                <a:solidFill>
                  <a:srgbClr val="FFE66D"/>
                </a:solidFill>
                <a:highlight>
                  <a:srgbClr val="23262E"/>
                </a:highlight>
                <a:latin typeface="Consolas"/>
                <a:ea typeface="Consolas"/>
                <a:cs typeface="Consolas"/>
                <a:sym typeface="Consolas"/>
              </a:rPr>
              <a:t>print</a:t>
            </a:r>
            <a:r>
              <a:rPr b="0" i="0" lang="es" sz="1600" u="none" cap="none" strike="noStrike">
                <a:solidFill>
                  <a:srgbClr val="D5CED9"/>
                </a:solidFill>
                <a:highlight>
                  <a:srgbClr val="23262E"/>
                </a:highlight>
                <a:latin typeface="Consolas"/>
                <a:ea typeface="Consolas"/>
                <a:cs typeface="Consolas"/>
                <a:sym typeface="Consolas"/>
              </a:rPr>
              <a:t>(</a:t>
            </a:r>
            <a:r>
              <a:rPr b="0" i="0" lang="es" sz="1600" u="none" cap="none" strike="noStrike">
                <a:solidFill>
                  <a:srgbClr val="96E072"/>
                </a:solidFill>
                <a:highlight>
                  <a:srgbClr val="23262E"/>
                </a:highlight>
                <a:latin typeface="Consolas"/>
                <a:ea typeface="Consolas"/>
                <a:cs typeface="Consolas"/>
                <a:sym typeface="Consolas"/>
              </a:rPr>
              <a:t>"La suma de"</a:t>
            </a:r>
            <a:r>
              <a:rPr b="0" i="0" lang="es" sz="1600" u="none" cap="none" strike="noStrike">
                <a:solidFill>
                  <a:srgbClr val="D5CED9"/>
                </a:solidFill>
                <a:highlight>
                  <a:srgbClr val="23262E"/>
                </a:highlight>
                <a:latin typeface="Consolas"/>
                <a:ea typeface="Consolas"/>
                <a:cs typeface="Consolas"/>
                <a:sym typeface="Consolas"/>
              </a:rPr>
              <a:t>,a,</a:t>
            </a:r>
            <a:r>
              <a:rPr b="0" i="0" lang="es" sz="1600" u="none" cap="none" strike="noStrike">
                <a:solidFill>
                  <a:srgbClr val="96E072"/>
                </a:solidFill>
                <a:highlight>
                  <a:srgbClr val="23262E"/>
                </a:highlight>
                <a:latin typeface="Consolas"/>
                <a:ea typeface="Consolas"/>
                <a:cs typeface="Consolas"/>
                <a:sym typeface="Consolas"/>
              </a:rPr>
              <a:t>"y"</a:t>
            </a:r>
            <a:r>
              <a:rPr b="0" i="0" lang="es" sz="1600" u="none" cap="none" strike="noStrike">
                <a:solidFill>
                  <a:srgbClr val="D5CED9"/>
                </a:solidFill>
                <a:highlight>
                  <a:srgbClr val="23262E"/>
                </a:highlight>
                <a:latin typeface="Consolas"/>
                <a:ea typeface="Consolas"/>
                <a:cs typeface="Consolas"/>
                <a:sym typeface="Consolas"/>
              </a:rPr>
              <a:t>,b,</a:t>
            </a:r>
            <a:r>
              <a:rPr b="0" i="0" lang="es" sz="1600" u="none" cap="none" strike="noStrike">
                <a:solidFill>
                  <a:srgbClr val="96E072"/>
                </a:solidFill>
                <a:highlight>
                  <a:srgbClr val="23262E"/>
                </a:highlight>
                <a:latin typeface="Consolas"/>
                <a:ea typeface="Consolas"/>
                <a:cs typeface="Consolas"/>
                <a:sym typeface="Consolas"/>
              </a:rPr>
              <a:t>"es"</a:t>
            </a:r>
            <a:r>
              <a:rPr b="0" i="0" lang="es" sz="1600" u="none" cap="none" strike="noStrike">
                <a:solidFill>
                  <a:srgbClr val="D5CED9"/>
                </a:solidFill>
                <a:highlight>
                  <a:srgbClr val="23262E"/>
                </a:highlight>
                <a:latin typeface="Consolas"/>
                <a:ea typeface="Consolas"/>
                <a:cs typeface="Consolas"/>
                <a:sym typeface="Consolas"/>
              </a:rPr>
              <a:t>,a</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b)</a:t>
            </a:r>
            <a:endParaRPr b="0" i="0" sz="16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600" u="none" cap="none" strike="noStrike">
                <a:solidFill>
                  <a:srgbClr val="FFE66D"/>
                </a:solidFill>
                <a:highlight>
                  <a:srgbClr val="23262E"/>
                </a:highlight>
                <a:latin typeface="Consolas"/>
                <a:ea typeface="Consolas"/>
                <a:cs typeface="Consolas"/>
                <a:sym typeface="Consolas"/>
              </a:rPr>
              <a:t>print</a:t>
            </a:r>
            <a:r>
              <a:rPr b="0" i="0" lang="es" sz="1600" u="none" cap="none" strike="noStrike">
                <a:solidFill>
                  <a:srgbClr val="D5CED9"/>
                </a:solidFill>
                <a:highlight>
                  <a:srgbClr val="23262E"/>
                </a:highlight>
                <a:latin typeface="Consolas"/>
                <a:ea typeface="Consolas"/>
                <a:cs typeface="Consolas"/>
                <a:sym typeface="Consolas"/>
              </a:rPr>
              <a:t>(</a:t>
            </a:r>
            <a:r>
              <a:rPr b="0" i="0" lang="es" sz="1600" u="none" cap="none" strike="noStrike">
                <a:solidFill>
                  <a:srgbClr val="96E072"/>
                </a:solidFill>
                <a:highlight>
                  <a:srgbClr val="23262E"/>
                </a:highlight>
                <a:latin typeface="Consolas"/>
                <a:ea typeface="Consolas"/>
                <a:cs typeface="Consolas"/>
                <a:sym typeface="Consolas"/>
              </a:rPr>
              <a:t>"Promedio:"</a:t>
            </a:r>
            <a:r>
              <a:rPr b="0" i="0" lang="es" sz="1600" u="none" cap="none" strike="noStrike">
                <a:solidFill>
                  <a:srgbClr val="D5CED9"/>
                </a:solidFill>
                <a:highlight>
                  <a:srgbClr val="23262E"/>
                </a:highlight>
                <a:latin typeface="Consolas"/>
                <a:ea typeface="Consolas"/>
                <a:cs typeface="Consolas"/>
                <a:sym typeface="Consolas"/>
              </a:rPr>
              <a:t> </a:t>
            </a:r>
            <a:r>
              <a:rPr b="0" i="0" lang="es" sz="1600" u="none" cap="none" strike="noStrike">
                <a:solidFill>
                  <a:srgbClr val="EE5D43"/>
                </a:solidFill>
                <a:highlight>
                  <a:srgbClr val="23262E"/>
                </a:highlight>
                <a:latin typeface="Consolas"/>
                <a:ea typeface="Consolas"/>
                <a:cs typeface="Consolas"/>
                <a:sym typeface="Consolas"/>
              </a:rPr>
              <a:t>+</a:t>
            </a:r>
            <a:r>
              <a:rPr b="0" i="0" lang="es" sz="1600" u="none" cap="none" strike="noStrike">
                <a:solidFill>
                  <a:srgbClr val="D5CED9"/>
                </a:solidFill>
                <a:highlight>
                  <a:srgbClr val="23262E"/>
                </a:highlight>
                <a:latin typeface="Consolas"/>
                <a:ea typeface="Consolas"/>
                <a:cs typeface="Consolas"/>
                <a:sym typeface="Consolas"/>
              </a:rPr>
              <a:t> str(promedio) )</a:t>
            </a:r>
            <a:endParaRPr b="0" i="0" sz="16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D5CED9"/>
              </a:solidFill>
              <a:highlight>
                <a:srgbClr val="23262E"/>
              </a:highlight>
              <a:latin typeface="Consolas"/>
              <a:ea typeface="Consolas"/>
              <a:cs typeface="Consolas"/>
              <a:sym typeface="Consolas"/>
            </a:endParaRPr>
          </a:p>
        </p:txBody>
      </p:sp>
      <p:cxnSp>
        <p:nvCxnSpPr>
          <p:cNvPr id="373" name="Google Shape;373;p22"/>
          <p:cNvCxnSpPr/>
          <p:nvPr/>
        </p:nvCxnSpPr>
        <p:spPr>
          <a:xfrm flipH="1" rot="10800000">
            <a:off x="3109532" y="1817000"/>
            <a:ext cx="3031200" cy="584700"/>
          </a:xfrm>
          <a:prstGeom prst="straightConnector1">
            <a:avLst/>
          </a:prstGeom>
          <a:noFill/>
          <a:ln cap="flat" cmpd="sng" w="28575">
            <a:solidFill>
              <a:schemeClr val="dk2"/>
            </a:solidFill>
            <a:prstDash val="solid"/>
            <a:round/>
            <a:headEnd len="sm" w="sm" type="none"/>
            <a:tailEnd len="med" w="med" type="triangle"/>
          </a:ln>
        </p:spPr>
      </p:cxnSp>
      <p:cxnSp>
        <p:nvCxnSpPr>
          <p:cNvPr id="374" name="Google Shape;374;p22"/>
          <p:cNvCxnSpPr>
            <a:endCxn id="371" idx="1"/>
          </p:cNvCxnSpPr>
          <p:nvPr/>
        </p:nvCxnSpPr>
        <p:spPr>
          <a:xfrm flipH="1" rot="10800000">
            <a:off x="3678782" y="2552441"/>
            <a:ext cx="2462100" cy="272700"/>
          </a:xfrm>
          <a:prstGeom prst="straightConnector1">
            <a:avLst/>
          </a:prstGeom>
          <a:noFill/>
          <a:ln cap="flat" cmpd="sng" w="28575">
            <a:solidFill>
              <a:schemeClr val="dk2"/>
            </a:solidFill>
            <a:prstDash val="solid"/>
            <a:round/>
            <a:headEnd len="sm" w="sm" type="none"/>
            <a:tailEnd len="med" w="med" type="triangle"/>
          </a:ln>
        </p:spPr>
      </p:cxnSp>
      <p:cxnSp>
        <p:nvCxnSpPr>
          <p:cNvPr id="375" name="Google Shape;375;p22"/>
          <p:cNvCxnSpPr/>
          <p:nvPr/>
        </p:nvCxnSpPr>
        <p:spPr>
          <a:xfrm>
            <a:off x="4442257" y="3387350"/>
            <a:ext cx="1362300" cy="66000"/>
          </a:xfrm>
          <a:prstGeom prst="straightConnector1">
            <a:avLst/>
          </a:prstGeom>
          <a:noFill/>
          <a:ln cap="flat" cmpd="sng" w="28575">
            <a:solidFill>
              <a:schemeClr val="dk2"/>
            </a:solidFill>
            <a:prstDash val="solid"/>
            <a:round/>
            <a:headEnd len="sm" w="sm" type="none"/>
            <a:tailEnd len="med" w="med" type="triangle"/>
          </a:ln>
        </p:spPr>
      </p:cxnSp>
      <p:cxnSp>
        <p:nvCxnSpPr>
          <p:cNvPr id="376" name="Google Shape;376;p22"/>
          <p:cNvCxnSpPr/>
          <p:nvPr/>
        </p:nvCxnSpPr>
        <p:spPr>
          <a:xfrm>
            <a:off x="5198857" y="3852425"/>
            <a:ext cx="605700" cy="47700"/>
          </a:xfrm>
          <a:prstGeom prst="straightConnector1">
            <a:avLst/>
          </a:prstGeom>
          <a:noFill/>
          <a:ln cap="flat" cmpd="sng" w="28575">
            <a:solidFill>
              <a:schemeClr val="dk2"/>
            </a:solidFill>
            <a:prstDash val="solid"/>
            <a:round/>
            <a:headEnd len="sm" w="sm" type="none"/>
            <a:tailEnd len="med" w="med" type="triangle"/>
          </a:ln>
        </p:spPr>
      </p:cxnSp>
      <p:cxnSp>
        <p:nvCxnSpPr>
          <p:cNvPr id="377" name="Google Shape;377;p22"/>
          <p:cNvCxnSpPr/>
          <p:nvPr/>
        </p:nvCxnSpPr>
        <p:spPr>
          <a:xfrm flipH="1" rot="10800000">
            <a:off x="5066982" y="4346800"/>
            <a:ext cx="725400" cy="5400"/>
          </a:xfrm>
          <a:prstGeom prst="straightConnector1">
            <a:avLst/>
          </a:prstGeom>
          <a:noFill/>
          <a:ln cap="flat" cmpd="sng" w="28575">
            <a:solidFill>
              <a:schemeClr val="dk2"/>
            </a:solidFill>
            <a:prstDash val="solid"/>
            <a:round/>
            <a:headEnd len="sm" w="sm" type="none"/>
            <a:tailEnd len="med" w="med" type="triangle"/>
          </a:ln>
        </p:spPr>
      </p:cxnSp>
      <p:cxnSp>
        <p:nvCxnSpPr>
          <p:cNvPr id="378" name="Google Shape;378;p22"/>
          <p:cNvCxnSpPr/>
          <p:nvPr/>
        </p:nvCxnSpPr>
        <p:spPr>
          <a:xfrm>
            <a:off x="3095657" y="2054625"/>
            <a:ext cx="0" cy="631800"/>
          </a:xfrm>
          <a:prstGeom prst="straightConnector1">
            <a:avLst/>
          </a:prstGeom>
          <a:noFill/>
          <a:ln cap="flat" cmpd="sng" w="28575">
            <a:solidFill>
              <a:schemeClr val="dk2"/>
            </a:solidFill>
            <a:prstDash val="solid"/>
            <a:round/>
            <a:headEnd len="sm" w="sm" type="none"/>
            <a:tailEnd len="sm" w="sm" type="none"/>
          </a:ln>
        </p:spPr>
      </p:cxnSp>
      <p:sp>
        <p:nvSpPr>
          <p:cNvPr id="379" name="Google Shape;379;p22"/>
          <p:cNvSpPr txBox="1"/>
          <p:nvPr/>
        </p:nvSpPr>
        <p:spPr>
          <a:xfrm>
            <a:off x="534950" y="1170000"/>
            <a:ext cx="3031200" cy="4242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Algunos ejemplos de </a:t>
            </a:r>
            <a:r>
              <a:rPr b="1" i="0" lang="es" sz="1600" u="none" cap="none" strike="noStrike">
                <a:solidFill>
                  <a:srgbClr val="595959"/>
                </a:solidFill>
                <a:latin typeface="Montserrat"/>
                <a:ea typeface="Montserrat"/>
                <a:cs typeface="Montserrat"/>
                <a:sym typeface="Montserrat"/>
              </a:rPr>
              <a:t>print()</a:t>
            </a:r>
            <a:r>
              <a:rPr b="0" i="0" lang="es" sz="1600" u="none" cap="none" strike="noStrike">
                <a:solidFill>
                  <a:srgbClr val="595959"/>
                </a:solidFill>
                <a:latin typeface="Montserrat"/>
                <a:ea typeface="Montserrat"/>
                <a:cs typeface="Montserrat"/>
                <a:sym typeface="Montserrat"/>
              </a:rPr>
              <a:t>:</a:t>
            </a:r>
            <a:endParaRPr b="0" i="0" sz="1600" u="none" cap="none" strike="noStrike">
              <a:solidFill>
                <a:srgbClr val="595959"/>
              </a:solidFill>
              <a:latin typeface="Montserrat"/>
              <a:ea typeface="Montserrat"/>
              <a:cs typeface="Montserrat"/>
              <a:sym typeface="Montserrat"/>
            </a:endParaRPr>
          </a:p>
        </p:txBody>
      </p:sp>
      <p:sp>
        <p:nvSpPr>
          <p:cNvPr id="380" name="Google Shape;380;p22"/>
          <p:cNvSpPr/>
          <p:nvPr/>
        </p:nvSpPr>
        <p:spPr>
          <a:xfrm>
            <a:off x="654700" y="1724700"/>
            <a:ext cx="4687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Programa</a:t>
            </a:r>
            <a:endParaRPr b="0" i="0" sz="1400" u="none" cap="none" strike="noStrike">
              <a:solidFill>
                <a:schemeClr val="dk2"/>
              </a:solidFill>
              <a:latin typeface="Montserrat"/>
              <a:ea typeface="Montserrat"/>
              <a:cs typeface="Montserrat"/>
              <a:sym typeface="Montserrat"/>
            </a:endParaRPr>
          </a:p>
        </p:txBody>
      </p:sp>
      <p:sp>
        <p:nvSpPr>
          <p:cNvPr id="381" name="Google Shape;381;p22"/>
          <p:cNvSpPr/>
          <p:nvPr/>
        </p:nvSpPr>
        <p:spPr>
          <a:xfrm>
            <a:off x="5804550" y="3106400"/>
            <a:ext cx="2685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Entrada / Salida: La función input()</a:t>
            </a:r>
            <a:endParaRPr/>
          </a:p>
        </p:txBody>
      </p:sp>
      <p:sp>
        <p:nvSpPr>
          <p:cNvPr id="387" name="Google Shape;387;p23"/>
          <p:cNvSpPr txBox="1"/>
          <p:nvPr/>
        </p:nvSpPr>
        <p:spPr>
          <a:xfrm>
            <a:off x="432000" y="1281675"/>
            <a:ext cx="8279700" cy="1255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rgbClr val="000000"/>
              </a:buClr>
              <a:buSzPts val="1650"/>
              <a:buFont typeface="Arial"/>
              <a:buNone/>
            </a:pPr>
            <a:r>
              <a:rPr b="1" i="0" lang="es" sz="1650" u="none" cap="none" strike="noStrike">
                <a:solidFill>
                  <a:srgbClr val="595959"/>
                </a:solidFill>
                <a:latin typeface="Montserrat"/>
                <a:ea typeface="Montserrat"/>
                <a:cs typeface="Montserrat"/>
                <a:sym typeface="Montserrat"/>
              </a:rPr>
              <a:t>input() </a:t>
            </a:r>
            <a:r>
              <a:rPr b="0" i="0" lang="es" sz="1650" u="none" cap="none" strike="noStrike">
                <a:solidFill>
                  <a:srgbClr val="595959"/>
                </a:solidFill>
                <a:latin typeface="Montserrat"/>
                <a:ea typeface="Montserrat"/>
                <a:cs typeface="Montserrat"/>
                <a:sym typeface="Montserrat"/>
              </a:rPr>
              <a:t>proporciona un mecanismo para que el usuario introduzca datos en nuestro programa. Muestra el cursor en la terminal, lee lo que se escribe, y cuando se presiona Enter, este contenido, en formato de cadena de caracteres, se puede asignar a una variable.</a:t>
            </a:r>
            <a:endParaRPr b="0" i="0" sz="1650" u="none" cap="none" strike="noStrike">
              <a:solidFill>
                <a:srgbClr val="595959"/>
              </a:solidFill>
              <a:latin typeface="Montserrat"/>
              <a:ea typeface="Montserrat"/>
              <a:cs typeface="Montserrat"/>
              <a:sym typeface="Montserrat"/>
            </a:endParaRPr>
          </a:p>
        </p:txBody>
      </p:sp>
      <p:sp>
        <p:nvSpPr>
          <p:cNvPr id="388" name="Google Shape;388;p23"/>
          <p:cNvSpPr/>
          <p:nvPr/>
        </p:nvSpPr>
        <p:spPr>
          <a:xfrm>
            <a:off x="5218025" y="4010577"/>
            <a:ext cx="2499600" cy="517500"/>
          </a:xfrm>
          <a:prstGeom prst="flowChartAlternateProcess">
            <a:avLst/>
          </a:prstGeom>
          <a:solidFill>
            <a:srgbClr val="FFD700"/>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Mensaje para ayudar al operador</a:t>
            </a:r>
            <a:endParaRPr b="0" i="0" sz="1200" u="none" cap="none" strike="noStrike">
              <a:solidFill>
                <a:schemeClr val="dk2"/>
              </a:solidFill>
              <a:latin typeface="Montserrat"/>
              <a:ea typeface="Montserrat"/>
              <a:cs typeface="Montserrat"/>
              <a:sym typeface="Montserrat"/>
            </a:endParaRPr>
          </a:p>
        </p:txBody>
      </p:sp>
      <p:cxnSp>
        <p:nvCxnSpPr>
          <p:cNvPr id="389" name="Google Shape;389;p23"/>
          <p:cNvCxnSpPr>
            <a:stCxn id="390" idx="0"/>
          </p:cNvCxnSpPr>
          <p:nvPr/>
        </p:nvCxnSpPr>
        <p:spPr>
          <a:xfrm rot="10800000">
            <a:off x="2391700" y="3382075"/>
            <a:ext cx="65100" cy="628500"/>
          </a:xfrm>
          <a:prstGeom prst="straightConnector1">
            <a:avLst/>
          </a:prstGeom>
          <a:noFill/>
          <a:ln cap="flat" cmpd="sng" w="28575">
            <a:solidFill>
              <a:schemeClr val="dk2"/>
            </a:solidFill>
            <a:prstDash val="solid"/>
            <a:round/>
            <a:headEnd len="sm" w="sm" type="none"/>
            <a:tailEnd len="med" w="med" type="triangle"/>
          </a:ln>
        </p:spPr>
      </p:cxnSp>
      <p:cxnSp>
        <p:nvCxnSpPr>
          <p:cNvPr id="391" name="Google Shape;391;p23"/>
          <p:cNvCxnSpPr/>
          <p:nvPr/>
        </p:nvCxnSpPr>
        <p:spPr>
          <a:xfrm rot="10800000">
            <a:off x="3438500" y="3402475"/>
            <a:ext cx="907800" cy="608100"/>
          </a:xfrm>
          <a:prstGeom prst="straightConnector1">
            <a:avLst/>
          </a:prstGeom>
          <a:noFill/>
          <a:ln cap="flat" cmpd="sng" w="28575">
            <a:solidFill>
              <a:schemeClr val="dk2"/>
            </a:solidFill>
            <a:prstDash val="solid"/>
            <a:round/>
            <a:headEnd len="sm" w="sm" type="none"/>
            <a:tailEnd len="med" w="med" type="triangle"/>
          </a:ln>
        </p:spPr>
      </p:cxnSp>
      <p:cxnSp>
        <p:nvCxnSpPr>
          <p:cNvPr id="392" name="Google Shape;392;p23"/>
          <p:cNvCxnSpPr>
            <a:stCxn id="388" idx="0"/>
          </p:cNvCxnSpPr>
          <p:nvPr/>
        </p:nvCxnSpPr>
        <p:spPr>
          <a:xfrm rot="10800000">
            <a:off x="5324525" y="3407277"/>
            <a:ext cx="1143300" cy="603300"/>
          </a:xfrm>
          <a:prstGeom prst="straightConnector1">
            <a:avLst/>
          </a:prstGeom>
          <a:noFill/>
          <a:ln cap="flat" cmpd="sng" w="28575">
            <a:solidFill>
              <a:schemeClr val="dk2"/>
            </a:solidFill>
            <a:prstDash val="solid"/>
            <a:round/>
            <a:headEnd len="sm" w="sm" type="none"/>
            <a:tailEnd len="med" w="med" type="triangle"/>
          </a:ln>
        </p:spPr>
      </p:cxnSp>
      <p:sp>
        <p:nvSpPr>
          <p:cNvPr id="393" name="Google Shape;393;p23"/>
          <p:cNvSpPr/>
          <p:nvPr/>
        </p:nvSpPr>
        <p:spPr>
          <a:xfrm>
            <a:off x="3647600" y="4010575"/>
            <a:ext cx="1372200" cy="517500"/>
          </a:xfrm>
          <a:prstGeom prst="flowChartAlternateProcess">
            <a:avLst/>
          </a:prstGeom>
          <a:solidFill>
            <a:srgbClr val="FFD700"/>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Función input</a:t>
            </a:r>
            <a:endParaRPr b="0" i="0" sz="1200" u="none" cap="none" strike="noStrike">
              <a:solidFill>
                <a:schemeClr val="dk2"/>
              </a:solidFill>
              <a:latin typeface="Montserrat"/>
              <a:ea typeface="Montserrat"/>
              <a:cs typeface="Montserrat"/>
              <a:sym typeface="Montserrat"/>
            </a:endParaRPr>
          </a:p>
        </p:txBody>
      </p:sp>
      <p:sp>
        <p:nvSpPr>
          <p:cNvPr id="390" name="Google Shape;390;p23"/>
          <p:cNvSpPr/>
          <p:nvPr/>
        </p:nvSpPr>
        <p:spPr>
          <a:xfrm>
            <a:off x="1533100" y="4010575"/>
            <a:ext cx="1847400" cy="5175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Variable que recibe </a:t>
            </a:r>
            <a:endParaRPr b="0" i="0" sz="12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0" i="0" lang="es" sz="1200" u="none" cap="none" strike="noStrike">
                <a:solidFill>
                  <a:schemeClr val="dk2"/>
                </a:solidFill>
                <a:latin typeface="Montserrat"/>
                <a:ea typeface="Montserrat"/>
                <a:cs typeface="Montserrat"/>
                <a:sym typeface="Montserrat"/>
              </a:rPr>
              <a:t>el valor ingresado</a:t>
            </a:r>
            <a:endParaRPr b="0" i="0" sz="1200" u="none" cap="none" strike="noStrike">
              <a:solidFill>
                <a:schemeClr val="dk2"/>
              </a:solidFill>
              <a:latin typeface="Montserrat"/>
              <a:ea typeface="Montserrat"/>
              <a:cs typeface="Montserrat"/>
              <a:sym typeface="Montserrat"/>
            </a:endParaRPr>
          </a:p>
        </p:txBody>
      </p:sp>
      <p:sp>
        <p:nvSpPr>
          <p:cNvPr id="394" name="Google Shape;394;p23"/>
          <p:cNvSpPr/>
          <p:nvPr/>
        </p:nvSpPr>
        <p:spPr>
          <a:xfrm>
            <a:off x="1851350" y="2940150"/>
            <a:ext cx="5264100" cy="390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D5CED9"/>
                </a:solidFill>
                <a:highlight>
                  <a:srgbClr val="23262E"/>
                </a:highlight>
                <a:latin typeface="Consolas"/>
                <a:ea typeface="Consolas"/>
                <a:cs typeface="Consolas"/>
                <a:sym typeface="Consolas"/>
              </a:rPr>
              <a:t>nombre </a:t>
            </a:r>
            <a:r>
              <a:rPr b="0" i="0" lang="es" sz="1800" u="none" cap="none" strike="noStrike">
                <a:solidFill>
                  <a:srgbClr val="EE5D43"/>
                </a:solidFill>
                <a:highlight>
                  <a:srgbClr val="23262E"/>
                </a:highlight>
                <a:latin typeface="Consolas"/>
                <a:ea typeface="Consolas"/>
                <a:cs typeface="Consolas"/>
                <a:sym typeface="Consolas"/>
              </a:rPr>
              <a:t>=</a:t>
            </a:r>
            <a:r>
              <a:rPr b="0" i="0" lang="es" sz="1800" u="none" cap="none" strike="noStrike">
                <a:solidFill>
                  <a:srgbClr val="D5CED9"/>
                </a:solidFill>
                <a:highlight>
                  <a:srgbClr val="23262E"/>
                </a:highlight>
                <a:latin typeface="Consolas"/>
                <a:ea typeface="Consolas"/>
                <a:cs typeface="Consolas"/>
                <a:sym typeface="Consolas"/>
              </a:rPr>
              <a:t> </a:t>
            </a:r>
            <a:r>
              <a:rPr b="0" i="0" lang="es" sz="1800" u="none" cap="none" strike="noStrike">
                <a:solidFill>
                  <a:srgbClr val="FFE66D"/>
                </a:solidFill>
                <a:highlight>
                  <a:srgbClr val="23262E"/>
                </a:highlight>
                <a:latin typeface="Consolas"/>
                <a:ea typeface="Consolas"/>
                <a:cs typeface="Consolas"/>
                <a:sym typeface="Consolas"/>
              </a:rPr>
              <a:t>input</a:t>
            </a:r>
            <a:r>
              <a:rPr b="0" i="0" lang="es" sz="1800" u="none" cap="none" strike="noStrike">
                <a:solidFill>
                  <a:srgbClr val="D5CED9"/>
                </a:solidFill>
                <a:highlight>
                  <a:srgbClr val="23262E"/>
                </a:highlight>
                <a:latin typeface="Consolas"/>
                <a:ea typeface="Consolas"/>
                <a:cs typeface="Consolas"/>
                <a:sym typeface="Consolas"/>
              </a:rPr>
              <a:t>(</a:t>
            </a:r>
            <a:r>
              <a:rPr b="0" i="0" lang="es" sz="1800" u="none" cap="none" strike="noStrike">
                <a:solidFill>
                  <a:srgbClr val="96E072"/>
                </a:solidFill>
                <a:highlight>
                  <a:srgbClr val="23262E"/>
                </a:highlight>
                <a:latin typeface="Consolas"/>
                <a:ea typeface="Consolas"/>
                <a:cs typeface="Consolas"/>
                <a:sym typeface="Consolas"/>
              </a:rPr>
              <a:t>"Ingrese su nombre: "</a:t>
            </a:r>
            <a:r>
              <a:rPr b="0" i="0" lang="es" sz="1800" u="none" cap="none" strike="noStrike">
                <a:solidFill>
                  <a:srgbClr val="D5CED9"/>
                </a:solidFill>
                <a:highlight>
                  <a:srgbClr val="23262E"/>
                </a:highlight>
                <a:latin typeface="Consolas"/>
                <a:ea typeface="Consolas"/>
                <a:cs typeface="Consolas"/>
                <a:sym typeface="Consolas"/>
              </a:rPr>
              <a:t>)</a:t>
            </a:r>
            <a:endParaRPr b="0" i="0" sz="1800" u="none" cap="none" strike="noStrike">
              <a:solidFill>
                <a:srgbClr val="FFE66D"/>
              </a:solidFill>
              <a:highlight>
                <a:srgbClr val="23262E"/>
              </a:highlight>
              <a:latin typeface="Consolas"/>
              <a:ea typeface="Consolas"/>
              <a:cs typeface="Consolas"/>
              <a:sym typeface="Consolas"/>
            </a:endParaRPr>
          </a:p>
        </p:txBody>
      </p:sp>
      <p:cxnSp>
        <p:nvCxnSpPr>
          <p:cNvPr id="395" name="Google Shape;395;p23"/>
          <p:cNvCxnSpPr/>
          <p:nvPr/>
        </p:nvCxnSpPr>
        <p:spPr>
          <a:xfrm>
            <a:off x="2019400" y="3382075"/>
            <a:ext cx="809700" cy="0"/>
          </a:xfrm>
          <a:prstGeom prst="straightConnector1">
            <a:avLst/>
          </a:prstGeom>
          <a:noFill/>
          <a:ln cap="flat" cmpd="sng" w="28575">
            <a:solidFill>
              <a:schemeClr val="dk2"/>
            </a:solidFill>
            <a:prstDash val="solid"/>
            <a:round/>
            <a:headEnd len="sm" w="sm" type="none"/>
            <a:tailEnd len="sm" w="sm" type="none"/>
          </a:ln>
        </p:spPr>
      </p:cxnSp>
      <p:cxnSp>
        <p:nvCxnSpPr>
          <p:cNvPr id="396" name="Google Shape;396;p23"/>
          <p:cNvCxnSpPr/>
          <p:nvPr/>
        </p:nvCxnSpPr>
        <p:spPr>
          <a:xfrm flipH="1" rot="10800000">
            <a:off x="3113000" y="3381475"/>
            <a:ext cx="643200" cy="1200"/>
          </a:xfrm>
          <a:prstGeom prst="straightConnector1">
            <a:avLst/>
          </a:prstGeom>
          <a:noFill/>
          <a:ln cap="flat" cmpd="sng" w="28575">
            <a:solidFill>
              <a:schemeClr val="dk2"/>
            </a:solidFill>
            <a:prstDash val="solid"/>
            <a:round/>
            <a:headEnd len="sm" w="sm" type="none"/>
            <a:tailEnd len="sm" w="sm" type="none"/>
          </a:ln>
        </p:spPr>
      </p:cxnSp>
      <p:cxnSp>
        <p:nvCxnSpPr>
          <p:cNvPr id="397" name="Google Shape;397;p23"/>
          <p:cNvCxnSpPr/>
          <p:nvPr/>
        </p:nvCxnSpPr>
        <p:spPr>
          <a:xfrm flipH="1" rot="10800000">
            <a:off x="3952975" y="3378475"/>
            <a:ext cx="2631300" cy="3600"/>
          </a:xfrm>
          <a:prstGeom prst="straightConnector1">
            <a:avLst/>
          </a:prstGeom>
          <a:noFill/>
          <a:ln cap="flat" cmpd="sng" w="28575">
            <a:solidFill>
              <a:schemeClr val="dk2"/>
            </a:solidFill>
            <a:prstDash val="solid"/>
            <a:round/>
            <a:headEnd len="sm" w="sm" type="none"/>
            <a:tailEnd len="sm" w="sm" type="none"/>
          </a:ln>
        </p:spPr>
      </p:cxnSp>
      <p:sp>
        <p:nvSpPr>
          <p:cNvPr id="398" name="Google Shape;398;p23"/>
          <p:cNvSpPr/>
          <p:nvPr/>
        </p:nvSpPr>
        <p:spPr>
          <a:xfrm>
            <a:off x="1851350" y="2711250"/>
            <a:ext cx="5264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Programa</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Entrada / Salida: La función input()</a:t>
            </a:r>
            <a:endParaRPr/>
          </a:p>
        </p:txBody>
      </p:sp>
      <p:sp>
        <p:nvSpPr>
          <p:cNvPr id="404" name="Google Shape;404;p24"/>
          <p:cNvSpPr txBox="1"/>
          <p:nvPr/>
        </p:nvSpPr>
        <p:spPr>
          <a:xfrm>
            <a:off x="432000" y="1281675"/>
            <a:ext cx="8279700" cy="10563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Dado que </a:t>
            </a:r>
            <a:r>
              <a:rPr b="1" i="0" lang="es" sz="1650" u="none" cap="none" strike="noStrike">
                <a:solidFill>
                  <a:srgbClr val="595959"/>
                </a:solidFill>
                <a:latin typeface="Montserrat"/>
                <a:ea typeface="Montserrat"/>
                <a:cs typeface="Montserrat"/>
                <a:sym typeface="Montserrat"/>
              </a:rPr>
              <a:t>input() </a:t>
            </a:r>
            <a:r>
              <a:rPr b="0" i="0" lang="es" sz="1650" u="none" cap="none" strike="noStrike">
                <a:solidFill>
                  <a:srgbClr val="595959"/>
                </a:solidFill>
                <a:latin typeface="Montserrat"/>
                <a:ea typeface="Montserrat"/>
                <a:cs typeface="Montserrat"/>
                <a:sym typeface="Montserrat"/>
              </a:rPr>
              <a:t>devuelve únicamente valores tipo </a:t>
            </a:r>
            <a:r>
              <a:rPr b="0" i="1" lang="es" sz="1650" u="none" cap="none" strike="noStrike">
                <a:solidFill>
                  <a:srgbClr val="595959"/>
                </a:solidFill>
                <a:latin typeface="Montserrat"/>
                <a:ea typeface="Montserrat"/>
                <a:cs typeface="Montserrat"/>
                <a:sym typeface="Montserrat"/>
              </a:rPr>
              <a:t>string</a:t>
            </a:r>
            <a:r>
              <a:rPr b="0" i="0" lang="es" sz="1650" u="none" cap="none" strike="noStrike">
                <a:solidFill>
                  <a:srgbClr val="595959"/>
                </a:solidFill>
                <a:latin typeface="Montserrat"/>
                <a:ea typeface="Montserrat"/>
                <a:cs typeface="Montserrat"/>
                <a:sym typeface="Montserrat"/>
              </a:rPr>
              <a:t>, es necesario realizar una conversión a algún formato numérico si se requiere operar matemáticamente con esos valores. Para ello, usamos las funciones </a:t>
            </a:r>
            <a:r>
              <a:rPr b="1" i="0" lang="es" sz="1650" u="none" cap="none" strike="noStrike">
                <a:solidFill>
                  <a:srgbClr val="595959"/>
                </a:solidFill>
                <a:latin typeface="Montserrat"/>
                <a:ea typeface="Montserrat"/>
                <a:cs typeface="Montserrat"/>
                <a:sym typeface="Montserrat"/>
              </a:rPr>
              <a:t>int()</a:t>
            </a:r>
            <a:r>
              <a:rPr b="0" i="0" lang="es" sz="1650" u="none" cap="none" strike="noStrike">
                <a:solidFill>
                  <a:srgbClr val="595959"/>
                </a:solidFill>
                <a:latin typeface="Montserrat"/>
                <a:ea typeface="Montserrat"/>
                <a:cs typeface="Montserrat"/>
                <a:sym typeface="Montserrat"/>
              </a:rPr>
              <a:t> y </a:t>
            </a:r>
            <a:r>
              <a:rPr b="1" i="0" lang="es" sz="1650" u="none" cap="none" strike="noStrike">
                <a:solidFill>
                  <a:srgbClr val="595959"/>
                </a:solidFill>
                <a:latin typeface="Montserrat"/>
                <a:ea typeface="Montserrat"/>
                <a:cs typeface="Montserrat"/>
                <a:sym typeface="Montserrat"/>
              </a:rPr>
              <a:t>float()</a:t>
            </a:r>
            <a:r>
              <a:rPr b="0" i="0" lang="es" sz="1650" u="none" cap="none" strike="noStrike">
                <a:solidFill>
                  <a:srgbClr val="595959"/>
                </a:solidFill>
                <a:latin typeface="Montserrat"/>
                <a:ea typeface="Montserrat"/>
                <a:cs typeface="Montserrat"/>
                <a:sym typeface="Montserrat"/>
              </a:rPr>
              <a:t>:</a:t>
            </a:r>
            <a:endParaRPr b="0" i="0" sz="1650" u="none" cap="none" strike="noStrike">
              <a:solidFill>
                <a:srgbClr val="595959"/>
              </a:solidFill>
              <a:latin typeface="Montserrat"/>
              <a:ea typeface="Montserrat"/>
              <a:cs typeface="Montserrat"/>
              <a:sym typeface="Montserrat"/>
            </a:endParaRPr>
          </a:p>
        </p:txBody>
      </p:sp>
      <p:sp>
        <p:nvSpPr>
          <p:cNvPr id="405" name="Google Shape;405;p24"/>
          <p:cNvSpPr/>
          <p:nvPr/>
        </p:nvSpPr>
        <p:spPr>
          <a:xfrm>
            <a:off x="918100" y="2971550"/>
            <a:ext cx="4057800" cy="1056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num1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FFE66D"/>
                </a:solidFill>
                <a:highlight>
                  <a:srgbClr val="23262E"/>
                </a:highlight>
                <a:latin typeface="Consolas"/>
                <a:ea typeface="Consolas"/>
                <a:cs typeface="Consolas"/>
                <a:sym typeface="Consolas"/>
              </a:rPr>
              <a:t>input</a:t>
            </a:r>
            <a:r>
              <a:rPr b="0" i="0" lang="es" sz="1400" u="none" cap="none" strike="noStrike">
                <a:solidFill>
                  <a:srgbClr val="D5CED9"/>
                </a:solidFill>
                <a:highlight>
                  <a:srgbClr val="23262E"/>
                </a:highlight>
                <a:latin typeface="Consolas"/>
                <a:ea typeface="Consolas"/>
                <a:cs typeface="Consolas"/>
                <a:sym typeface="Consolas"/>
              </a:rPr>
              <a:t>(</a:t>
            </a:r>
            <a:r>
              <a:rPr b="0" i="0" lang="es" sz="1400" u="none" cap="none" strike="noStrike">
                <a:solidFill>
                  <a:srgbClr val="96E072"/>
                </a:solidFill>
                <a:highlight>
                  <a:srgbClr val="23262E"/>
                </a:highlight>
                <a:latin typeface="Consolas"/>
                <a:ea typeface="Consolas"/>
                <a:cs typeface="Consolas"/>
                <a:sym typeface="Consolas"/>
              </a:rPr>
              <a:t>"Ingrese un número: "</a:t>
            </a:r>
            <a:r>
              <a:rPr b="0" i="0" lang="es" sz="1400" u="none" cap="none" strike="noStrike">
                <a:solidFill>
                  <a:srgbClr val="D5CED9"/>
                </a:solidFill>
                <a:highlight>
                  <a:srgbClr val="23262E"/>
                </a:highlight>
                <a:latin typeface="Consolas"/>
                <a:ea typeface="Consolas"/>
                <a:cs typeface="Consolas"/>
                <a:sym typeface="Consolas"/>
              </a:rPr>
              <a:t>)</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numero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float(num1)</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nsolas"/>
                <a:ea typeface="Consolas"/>
                <a:cs typeface="Consolas"/>
                <a:sym typeface="Consolas"/>
              </a:rPr>
              <a:t>resultado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numero </a:t>
            </a:r>
            <a:r>
              <a:rPr b="0" i="0" lang="es" sz="1400" u="none" cap="none" strike="noStrike">
                <a:solidFill>
                  <a:srgbClr val="EE5D43"/>
                </a:solidFill>
                <a:highlight>
                  <a:srgbClr val="23262E"/>
                </a:highlight>
                <a:latin typeface="Consolas"/>
                <a:ea typeface="Consolas"/>
                <a:cs typeface="Consolas"/>
                <a:sym typeface="Consolas"/>
              </a:rPr>
              <a:t>*</a:t>
            </a:r>
            <a:r>
              <a:rPr b="0" i="0" lang="es" sz="1400" u="none" cap="none" strike="noStrike">
                <a:solidFill>
                  <a:srgbClr val="D5CED9"/>
                </a:solidFill>
                <a:highlight>
                  <a:srgbClr val="23262E"/>
                </a:highlight>
                <a:latin typeface="Consolas"/>
                <a:ea typeface="Consolas"/>
                <a:cs typeface="Consolas"/>
                <a:sym typeface="Consolas"/>
              </a:rPr>
              <a:t> </a:t>
            </a:r>
            <a:r>
              <a:rPr b="0" i="0" lang="es" sz="1400" u="none" cap="none" strike="noStrike">
                <a:solidFill>
                  <a:srgbClr val="F39C12"/>
                </a:solidFill>
                <a:highlight>
                  <a:srgbClr val="23262E"/>
                </a:highlight>
                <a:latin typeface="Consolas"/>
                <a:ea typeface="Consolas"/>
                <a:cs typeface="Consolas"/>
                <a:sym typeface="Consolas"/>
              </a:rPr>
              <a:t>2</a:t>
            </a:r>
            <a:endParaRPr b="0" i="0" sz="14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FFE66D"/>
                </a:solidFill>
                <a:highlight>
                  <a:srgbClr val="23262E"/>
                </a:highlight>
                <a:latin typeface="Consolas"/>
                <a:ea typeface="Consolas"/>
                <a:cs typeface="Consolas"/>
                <a:sym typeface="Consolas"/>
              </a:rPr>
              <a:t>print</a:t>
            </a:r>
            <a:r>
              <a:rPr b="0" i="0" lang="es" sz="1400" u="none" cap="none" strike="noStrike">
                <a:solidFill>
                  <a:srgbClr val="D5CED9"/>
                </a:solidFill>
                <a:highlight>
                  <a:srgbClr val="23262E"/>
                </a:highlight>
                <a:latin typeface="Consolas"/>
                <a:ea typeface="Consolas"/>
                <a:cs typeface="Consolas"/>
                <a:sym typeface="Consolas"/>
              </a:rPr>
              <a:t>(numero,</a:t>
            </a:r>
            <a:r>
              <a:rPr b="0" i="0" lang="es" sz="1400" u="none" cap="none" strike="noStrike">
                <a:solidFill>
                  <a:srgbClr val="96E072"/>
                </a:solidFill>
                <a:highlight>
                  <a:srgbClr val="23262E"/>
                </a:highlight>
                <a:latin typeface="Consolas"/>
                <a:ea typeface="Consolas"/>
                <a:cs typeface="Consolas"/>
                <a:sym typeface="Consolas"/>
              </a:rPr>
              <a:t>"x 2 = "</a:t>
            </a:r>
            <a:r>
              <a:rPr b="0" i="0" lang="es" sz="1400" u="none" cap="none" strike="noStrike">
                <a:solidFill>
                  <a:srgbClr val="D5CED9"/>
                </a:solidFill>
                <a:highlight>
                  <a:srgbClr val="23262E"/>
                </a:highlight>
                <a:latin typeface="Consolas"/>
                <a:ea typeface="Consolas"/>
                <a:cs typeface="Consolas"/>
                <a:sym typeface="Consolas"/>
              </a:rPr>
              <a:t>, resultado)</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35714"/>
              </a:lnSpc>
              <a:spcBef>
                <a:spcPts val="0"/>
              </a:spcBef>
              <a:spcAft>
                <a:spcPts val="0"/>
              </a:spcAft>
              <a:buClr>
                <a:srgbClr val="000000"/>
              </a:buClr>
              <a:buSzPts val="1100"/>
              <a:buFont typeface="Arial"/>
              <a:buNone/>
            </a:pPr>
            <a:r>
              <a:t/>
            </a:r>
            <a:endParaRPr b="0" i="0" sz="105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FFE66D"/>
              </a:solidFill>
              <a:highlight>
                <a:srgbClr val="23262E"/>
              </a:highlight>
              <a:latin typeface="Consolas"/>
              <a:ea typeface="Consolas"/>
              <a:cs typeface="Consolas"/>
              <a:sym typeface="Consolas"/>
            </a:endParaRPr>
          </a:p>
        </p:txBody>
      </p:sp>
      <p:cxnSp>
        <p:nvCxnSpPr>
          <p:cNvPr id="406" name="Google Shape;406;p24"/>
          <p:cNvCxnSpPr/>
          <p:nvPr/>
        </p:nvCxnSpPr>
        <p:spPr>
          <a:xfrm flipH="1" rot="10800000">
            <a:off x="4707375" y="3108288"/>
            <a:ext cx="613200" cy="22800"/>
          </a:xfrm>
          <a:prstGeom prst="straightConnector1">
            <a:avLst/>
          </a:prstGeom>
          <a:noFill/>
          <a:ln cap="flat" cmpd="sng" w="28575">
            <a:solidFill>
              <a:schemeClr val="dk2"/>
            </a:solidFill>
            <a:prstDash val="solid"/>
            <a:round/>
            <a:headEnd len="sm" w="sm" type="none"/>
            <a:tailEnd len="med" w="med" type="triangle"/>
          </a:ln>
        </p:spPr>
      </p:cxnSp>
      <p:sp>
        <p:nvSpPr>
          <p:cNvPr id="407" name="Google Shape;407;p24"/>
          <p:cNvSpPr/>
          <p:nvPr/>
        </p:nvSpPr>
        <p:spPr>
          <a:xfrm>
            <a:off x="5320700" y="2954238"/>
            <a:ext cx="2905200" cy="528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urier New"/>
                <a:ea typeface="Courier New"/>
                <a:cs typeface="Courier New"/>
                <a:sym typeface="Courier New"/>
              </a:rPr>
              <a:t>Ingrese un número: 13.5</a:t>
            </a:r>
            <a:endParaRPr b="0" i="0" sz="140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s" sz="1400" u="none" cap="none" strike="noStrike">
                <a:solidFill>
                  <a:srgbClr val="D5CED9"/>
                </a:solidFill>
                <a:highlight>
                  <a:srgbClr val="23262E"/>
                </a:highlight>
                <a:latin typeface="Courier New"/>
                <a:ea typeface="Courier New"/>
                <a:cs typeface="Courier New"/>
                <a:sym typeface="Courier New"/>
              </a:rPr>
              <a:t>13.5 x 2 =  27.0</a:t>
            </a:r>
            <a:endParaRPr b="0" i="0" sz="140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100"/>
              <a:buFont typeface="Arial"/>
              <a:buNone/>
            </a:pPr>
            <a:r>
              <a:t/>
            </a:r>
            <a:endParaRPr b="0" i="0" sz="1400" u="none" cap="none" strike="noStrike">
              <a:solidFill>
                <a:srgbClr val="D5CED9"/>
              </a:solidFill>
              <a:highlight>
                <a:srgbClr val="23262E"/>
              </a:highlight>
              <a:latin typeface="Courier New"/>
              <a:ea typeface="Courier New"/>
              <a:cs typeface="Courier New"/>
              <a:sym typeface="Courier New"/>
            </a:endParaRPr>
          </a:p>
        </p:txBody>
      </p:sp>
      <p:cxnSp>
        <p:nvCxnSpPr>
          <p:cNvPr id="408" name="Google Shape;408;p24"/>
          <p:cNvCxnSpPr/>
          <p:nvPr/>
        </p:nvCxnSpPr>
        <p:spPr>
          <a:xfrm flipH="1" rot="10800000">
            <a:off x="4477400" y="3330338"/>
            <a:ext cx="843300" cy="429300"/>
          </a:xfrm>
          <a:prstGeom prst="straightConnector1">
            <a:avLst/>
          </a:prstGeom>
          <a:noFill/>
          <a:ln cap="flat" cmpd="sng" w="28575">
            <a:solidFill>
              <a:schemeClr val="dk2"/>
            </a:solidFill>
            <a:prstDash val="solid"/>
            <a:round/>
            <a:headEnd len="sm" w="sm" type="none"/>
            <a:tailEnd len="med" w="med" type="triangle"/>
          </a:ln>
        </p:spPr>
      </p:cxnSp>
      <p:sp>
        <p:nvSpPr>
          <p:cNvPr id="409" name="Google Shape;409;p24"/>
          <p:cNvSpPr txBox="1"/>
          <p:nvPr/>
        </p:nvSpPr>
        <p:spPr>
          <a:xfrm>
            <a:off x="534950" y="4162225"/>
            <a:ext cx="8279700" cy="475500"/>
          </a:xfrm>
          <a:prstGeom prst="rect">
            <a:avLst/>
          </a:prstGeom>
          <a:noFill/>
          <a:ln>
            <a:noFill/>
          </a:ln>
        </p:spPr>
        <p:txBody>
          <a:bodyPr anchorCtr="0" anchor="t" bIns="91425" lIns="0" spcFirstLastPara="1" rIns="0" wrap="square" tIns="91425">
            <a:normAutofit fontScale="92500" lnSpcReduction="20000"/>
          </a:bodyPr>
          <a:lstStyle/>
          <a:p>
            <a:pPr indent="0" lvl="0" marL="0" marR="0" rtl="0" algn="l">
              <a:lnSpc>
                <a:spcPct val="95000"/>
              </a:lnSpc>
              <a:spcBef>
                <a:spcPts val="1199"/>
              </a:spcBef>
              <a:spcAft>
                <a:spcPts val="0"/>
              </a:spcAft>
              <a:buClr>
                <a:srgbClr val="000000"/>
              </a:buClr>
              <a:buSzPct val="100000"/>
              <a:buFont typeface="Arial"/>
              <a:buNone/>
            </a:pPr>
            <a:r>
              <a:rPr b="0" i="0" lang="es" sz="1300" u="none" cap="none" strike="noStrike">
                <a:solidFill>
                  <a:srgbClr val="595959"/>
                </a:solidFill>
                <a:latin typeface="Montserrat"/>
                <a:ea typeface="Montserrat"/>
                <a:cs typeface="Montserrat"/>
                <a:sym typeface="Montserrat"/>
              </a:rPr>
              <a:t>La cadena ingresada en el </a:t>
            </a:r>
            <a:r>
              <a:rPr b="1" i="0" lang="es" sz="1300" u="none" cap="none" strike="noStrike">
                <a:solidFill>
                  <a:srgbClr val="595959"/>
                </a:solidFill>
                <a:latin typeface="Montserrat"/>
                <a:ea typeface="Montserrat"/>
                <a:cs typeface="Montserrat"/>
                <a:sym typeface="Montserrat"/>
              </a:rPr>
              <a:t>input()</a:t>
            </a:r>
            <a:r>
              <a:rPr b="0" i="0" lang="es" sz="1300" u="none" cap="none" strike="noStrike">
                <a:solidFill>
                  <a:srgbClr val="595959"/>
                </a:solidFill>
                <a:latin typeface="Montserrat"/>
                <a:ea typeface="Montserrat"/>
                <a:cs typeface="Montserrat"/>
                <a:sym typeface="Montserrat"/>
              </a:rPr>
              <a:t> se convierte en un número de coma flotante, se almacena en “</a:t>
            </a:r>
            <a:r>
              <a:rPr b="0" i="1" lang="es" sz="1300" u="none" cap="none" strike="noStrike">
                <a:solidFill>
                  <a:srgbClr val="595959"/>
                </a:solidFill>
                <a:latin typeface="Montserrat"/>
                <a:ea typeface="Montserrat"/>
                <a:cs typeface="Montserrat"/>
                <a:sym typeface="Montserrat"/>
              </a:rPr>
              <a:t>numero</a:t>
            </a:r>
            <a:r>
              <a:rPr b="0" i="0" lang="es" sz="1300" u="none" cap="none" strike="noStrike">
                <a:solidFill>
                  <a:srgbClr val="595959"/>
                </a:solidFill>
                <a:latin typeface="Montserrat"/>
                <a:ea typeface="Montserrat"/>
                <a:cs typeface="Montserrat"/>
                <a:sym typeface="Montserrat"/>
              </a:rPr>
              <a:t>”, se guarda en “</a:t>
            </a:r>
            <a:r>
              <a:rPr b="0" i="1" lang="es" sz="1300" u="none" cap="none" strike="noStrike">
                <a:solidFill>
                  <a:srgbClr val="595959"/>
                </a:solidFill>
                <a:latin typeface="Montserrat"/>
                <a:ea typeface="Montserrat"/>
                <a:cs typeface="Montserrat"/>
                <a:sym typeface="Montserrat"/>
              </a:rPr>
              <a:t>resultado</a:t>
            </a:r>
            <a:r>
              <a:rPr b="0" i="0" lang="es" sz="1300" u="none" cap="none" strike="noStrike">
                <a:solidFill>
                  <a:srgbClr val="595959"/>
                </a:solidFill>
                <a:latin typeface="Montserrat"/>
                <a:ea typeface="Montserrat"/>
                <a:cs typeface="Montserrat"/>
                <a:sym typeface="Montserrat"/>
              </a:rPr>
              <a:t>” su producto con 2, y se muestra en la terminal usando </a:t>
            </a:r>
            <a:r>
              <a:rPr b="1" i="0" lang="es" sz="1300" u="none" cap="none" strike="noStrike">
                <a:solidFill>
                  <a:srgbClr val="595959"/>
                </a:solidFill>
                <a:latin typeface="Montserrat"/>
                <a:ea typeface="Montserrat"/>
                <a:cs typeface="Montserrat"/>
                <a:sym typeface="Montserrat"/>
              </a:rPr>
              <a:t>print()</a:t>
            </a:r>
            <a:endParaRPr b="1" i="0" sz="1300" u="none" cap="none" strike="noStrike">
              <a:solidFill>
                <a:srgbClr val="595959"/>
              </a:solidFill>
              <a:latin typeface="Montserrat"/>
              <a:ea typeface="Montserrat"/>
              <a:cs typeface="Montserrat"/>
              <a:sym typeface="Montserrat"/>
            </a:endParaRPr>
          </a:p>
        </p:txBody>
      </p:sp>
      <p:sp>
        <p:nvSpPr>
          <p:cNvPr id="410" name="Google Shape;410;p24"/>
          <p:cNvSpPr/>
          <p:nvPr/>
        </p:nvSpPr>
        <p:spPr>
          <a:xfrm>
            <a:off x="5320575" y="2744725"/>
            <a:ext cx="2905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11" name="Google Shape;411;p24"/>
          <p:cNvSpPr/>
          <p:nvPr/>
        </p:nvSpPr>
        <p:spPr>
          <a:xfrm>
            <a:off x="918100" y="2744800"/>
            <a:ext cx="4057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Programa</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Tipos de datos</a:t>
            </a:r>
            <a:endParaRPr/>
          </a:p>
        </p:txBody>
      </p:sp>
      <p:sp>
        <p:nvSpPr>
          <p:cNvPr id="417" name="Google Shape;417;p25"/>
          <p:cNvSpPr txBox="1"/>
          <p:nvPr/>
        </p:nvSpPr>
        <p:spPr>
          <a:xfrm>
            <a:off x="432000" y="1281675"/>
            <a:ext cx="8279700" cy="6891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Las variables pueden almacenar datos de diferentes tipos. En Python existen los siguientes tipos de datos:</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graphicFrame>
        <p:nvGraphicFramePr>
          <p:cNvPr id="418" name="Google Shape;418;p25"/>
          <p:cNvGraphicFramePr/>
          <p:nvPr/>
        </p:nvGraphicFramePr>
        <p:xfrm>
          <a:off x="574680" y="2082325"/>
          <a:ext cx="3000000" cy="3000000"/>
        </p:xfrm>
        <a:graphic>
          <a:graphicData uri="http://schemas.openxmlformats.org/drawingml/2006/table">
            <a:tbl>
              <a:tblPr>
                <a:noFill/>
                <a:tableStyleId>{C1D576FD-4E4F-447F-9ED8-2410FE5220D9}</a:tableStyleId>
              </a:tblPr>
              <a:tblGrid>
                <a:gridCol w="1062750"/>
                <a:gridCol w="2934575"/>
              </a:tblGrid>
              <a:tr h="294950">
                <a:tc>
                  <a:txBody>
                    <a:bodyPr/>
                    <a:lstStyle/>
                    <a:p>
                      <a:pPr indent="0" lvl="0" marL="0" marR="0" rtl="0" algn="l">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Familia</a:t>
                      </a:r>
                      <a:endParaRPr sz="1000" u="none" cap="none" strike="noStrike">
                        <a:solidFill>
                          <a:schemeClr val="dk2"/>
                        </a:solidFill>
                        <a:latin typeface="Montserrat"/>
                        <a:ea typeface="Montserrat"/>
                        <a:cs typeface="Montserrat"/>
                        <a:sym typeface="Montserrat"/>
                      </a:endParaRPr>
                    </a:p>
                  </a:txBody>
                  <a:tcPr marT="45725" marB="45725" marR="68400" marL="68400" anchor="ctr">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Tipos</a:t>
                      </a:r>
                      <a:endParaRPr sz="1000" u="none" cap="none" strike="noStrike">
                        <a:solidFill>
                          <a:schemeClr val="dk2"/>
                        </a:solidFill>
                        <a:latin typeface="Montserrat"/>
                        <a:ea typeface="Montserrat"/>
                        <a:cs typeface="Montserrat"/>
                        <a:sym typeface="Montserrat"/>
                      </a:endParaRPr>
                    </a:p>
                  </a:txBody>
                  <a:tcPr marT="45725" marB="45725" marR="68400" marL="684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r>
              <a:tr h="294950">
                <a:tc>
                  <a:txBody>
                    <a:bodyPr/>
                    <a:lstStyle/>
                    <a:p>
                      <a:pPr indent="0" lvl="0" marL="0" marR="0" rtl="0" algn="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Texto</a:t>
                      </a:r>
                      <a:endParaRPr b="1"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str</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12225">
                      <a:solidFill>
                        <a:srgbClr val="000000"/>
                      </a:solidFill>
                      <a:prstDash val="solid"/>
                      <a:round/>
                      <a:headEnd len="sm" w="sm" type="none"/>
                      <a:tailEnd len="sm" w="sm" type="none"/>
                    </a:lnB>
                  </a:tcPr>
                </a:tc>
              </a:tr>
              <a:tr h="294950">
                <a:tc>
                  <a:txBody>
                    <a:bodyPr/>
                    <a:lstStyle/>
                    <a:p>
                      <a:pPr indent="0" lvl="0" marL="0" marR="0" rtl="0" algn="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Numéricos</a:t>
                      </a:r>
                      <a:endParaRPr b="1"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int, float, complex</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4950">
                <a:tc>
                  <a:txBody>
                    <a:bodyPr/>
                    <a:lstStyle/>
                    <a:p>
                      <a:pPr indent="0" lvl="0" marL="0" marR="0" rtl="0" algn="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Colecciones</a:t>
                      </a:r>
                      <a:endParaRPr b="1"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list, tuple, range</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4950">
                <a:tc>
                  <a:txBody>
                    <a:bodyPr/>
                    <a:lstStyle/>
                    <a:p>
                      <a:pPr indent="0" lvl="0" marL="0" marR="0" rtl="0" algn="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Mapeos</a:t>
                      </a:r>
                      <a:endParaRPr b="1"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dict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4950">
                <a:tc>
                  <a:txBody>
                    <a:bodyPr/>
                    <a:lstStyle/>
                    <a:p>
                      <a:pPr indent="0" lvl="0" marL="0" marR="0" rtl="0" algn="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Conjuntos</a:t>
                      </a:r>
                      <a:endParaRPr b="1"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set, frozenset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4950">
                <a:tc>
                  <a:txBody>
                    <a:bodyPr/>
                    <a:lstStyle/>
                    <a:p>
                      <a:pPr indent="0" lvl="0" marL="0" marR="0" rtl="0" algn="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Booleanos</a:t>
                      </a:r>
                      <a:endParaRPr b="1"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bool</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4950">
                <a:tc>
                  <a:txBody>
                    <a:bodyPr/>
                    <a:lstStyle/>
                    <a:p>
                      <a:pPr indent="0" lvl="0" marL="0" marR="0" rtl="0" algn="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Binarios</a:t>
                      </a:r>
                      <a:endParaRPr b="1"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bytes, bytearray, memoryview</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bl>
          </a:graphicData>
        </a:graphic>
      </p:graphicFrame>
      <p:sp>
        <p:nvSpPr>
          <p:cNvPr id="419" name="Google Shape;419;p25"/>
          <p:cNvSpPr/>
          <p:nvPr/>
        </p:nvSpPr>
        <p:spPr>
          <a:xfrm>
            <a:off x="5546850" y="3010925"/>
            <a:ext cx="2385000" cy="516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D5CED9"/>
              </a:buClr>
              <a:buSzPts val="1400"/>
              <a:buFont typeface="Consolas"/>
              <a:buNone/>
            </a:pPr>
            <a:r>
              <a:rPr b="0" i="0" lang="es" sz="1400" u="none" cap="none" strike="noStrike">
                <a:solidFill>
                  <a:srgbClr val="D5CED9"/>
                </a:solidFill>
                <a:latin typeface="Consolas"/>
                <a:ea typeface="Consolas"/>
                <a:cs typeface="Consolas"/>
                <a:sym typeface="Consolas"/>
              </a:rPr>
              <a:t>x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E66D"/>
              </a:buClr>
              <a:buSzPts val="1400"/>
              <a:buFont typeface="Consolas"/>
              <a:buNone/>
            </a:pPr>
            <a:r>
              <a:rPr b="0" i="0" lang="es" sz="1400" u="none" cap="none" strike="noStrike">
                <a:solidFill>
                  <a:srgbClr val="FFE66D"/>
                </a:solidFill>
                <a:latin typeface="Consolas"/>
                <a:ea typeface="Consolas"/>
                <a:cs typeface="Consolas"/>
                <a:sym typeface="Consolas"/>
              </a:rPr>
              <a:t>print</a:t>
            </a:r>
            <a:r>
              <a:rPr b="0" i="0" lang="es" sz="1400" u="none" cap="none" strike="noStrike">
                <a:solidFill>
                  <a:srgbClr val="D5CED9"/>
                </a:solidFill>
                <a:latin typeface="Consolas"/>
                <a:ea typeface="Consolas"/>
                <a:cs typeface="Consolas"/>
                <a:sym typeface="Consolas"/>
              </a:rPr>
              <a:t>(type(x))</a:t>
            </a:r>
            <a:endParaRPr b="0" i="0" sz="1400" u="none" cap="none" strike="noStrike">
              <a:solidFill>
                <a:srgbClr val="000000"/>
              </a:solidFill>
              <a:latin typeface="Arial"/>
              <a:ea typeface="Arial"/>
              <a:cs typeface="Arial"/>
              <a:sym typeface="Arial"/>
            </a:endParaRPr>
          </a:p>
        </p:txBody>
      </p:sp>
      <p:sp>
        <p:nvSpPr>
          <p:cNvPr id="420" name="Google Shape;420;p25"/>
          <p:cNvSpPr/>
          <p:nvPr/>
        </p:nvSpPr>
        <p:spPr>
          <a:xfrm>
            <a:off x="5546850" y="2799450"/>
            <a:ext cx="2385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Programa</a:t>
            </a:r>
            <a:endParaRPr b="0" i="0" sz="1400" u="none" cap="none" strike="noStrike">
              <a:solidFill>
                <a:schemeClr val="dk2"/>
              </a:solidFill>
              <a:latin typeface="Montserrat"/>
              <a:ea typeface="Montserrat"/>
              <a:cs typeface="Montserrat"/>
              <a:sym typeface="Montserrat"/>
            </a:endParaRPr>
          </a:p>
        </p:txBody>
      </p:sp>
      <p:sp>
        <p:nvSpPr>
          <p:cNvPr id="421" name="Google Shape;421;p25"/>
          <p:cNvSpPr txBox="1"/>
          <p:nvPr/>
        </p:nvSpPr>
        <p:spPr>
          <a:xfrm>
            <a:off x="4767000" y="2106413"/>
            <a:ext cx="39447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2"/>
                </a:solidFill>
                <a:latin typeface="Montserrat"/>
                <a:ea typeface="Montserrat"/>
                <a:cs typeface="Montserrat"/>
                <a:sym typeface="Montserrat"/>
              </a:rPr>
              <a:t>Se puede conocer el tipo de dato de cualquier objeto utilizando la función </a:t>
            </a:r>
            <a:r>
              <a:rPr b="1" i="0" lang="es" sz="1200" u="none" cap="none" strike="noStrike">
                <a:solidFill>
                  <a:schemeClr val="dk2"/>
                </a:solidFill>
                <a:latin typeface="Montserrat"/>
                <a:ea typeface="Montserrat"/>
                <a:cs typeface="Montserrat"/>
                <a:sym typeface="Montserrat"/>
              </a:rPr>
              <a:t>type()</a:t>
            </a:r>
            <a:r>
              <a:rPr b="0" i="0" lang="es" sz="1200" u="none" cap="none" strike="noStrike">
                <a:solidFill>
                  <a:schemeClr val="dk2"/>
                </a:solidFill>
                <a:latin typeface="Montserrat"/>
                <a:ea typeface="Montserrat"/>
                <a:cs typeface="Montserrat"/>
                <a:sym typeface="Montserrat"/>
              </a:rPr>
              <a:t>:</a:t>
            </a:r>
            <a:endParaRPr b="0" i="0" sz="1200" u="none" cap="none" strike="noStrike">
              <a:solidFill>
                <a:schemeClr val="dk2"/>
              </a:solidFill>
              <a:latin typeface="Arial"/>
              <a:ea typeface="Arial"/>
              <a:cs typeface="Arial"/>
              <a:sym typeface="Arial"/>
            </a:endParaRPr>
          </a:p>
        </p:txBody>
      </p:sp>
      <p:sp>
        <p:nvSpPr>
          <p:cNvPr id="422" name="Google Shape;422;p25"/>
          <p:cNvSpPr/>
          <p:nvPr/>
        </p:nvSpPr>
        <p:spPr>
          <a:xfrm>
            <a:off x="5546850" y="4058434"/>
            <a:ext cx="2385000" cy="359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E66D"/>
              </a:buClr>
              <a:buSzPts val="1400"/>
              <a:buFont typeface="Consolas"/>
              <a:buNone/>
            </a:pPr>
            <a:r>
              <a:rPr b="0" i="0" lang="es" sz="1400" u="none" cap="none" strike="noStrike">
                <a:solidFill>
                  <a:srgbClr val="D5CED9"/>
                </a:solidFill>
                <a:latin typeface="Consolas"/>
                <a:ea typeface="Consolas"/>
                <a:cs typeface="Consolas"/>
                <a:sym typeface="Consolas"/>
              </a:rPr>
              <a:t>&lt;class 'int'&gt;</a:t>
            </a:r>
            <a:endParaRPr b="0" i="0" sz="1400" u="none" cap="none" strike="noStrike">
              <a:solidFill>
                <a:srgbClr val="000000"/>
              </a:solidFill>
              <a:latin typeface="Arial"/>
              <a:ea typeface="Arial"/>
              <a:cs typeface="Arial"/>
              <a:sym typeface="Arial"/>
            </a:endParaRPr>
          </a:p>
        </p:txBody>
      </p:sp>
      <p:sp>
        <p:nvSpPr>
          <p:cNvPr id="423" name="Google Shape;423;p25"/>
          <p:cNvSpPr/>
          <p:nvPr/>
        </p:nvSpPr>
        <p:spPr>
          <a:xfrm>
            <a:off x="5546850" y="3846950"/>
            <a:ext cx="2385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FFFFF0"/>
              </a:buClr>
              <a:buSzPts val="1400"/>
              <a:buFont typeface="Ubuntu"/>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Definición de tipo de dato</a:t>
            </a:r>
            <a:endParaRPr/>
          </a:p>
        </p:txBody>
      </p:sp>
      <p:sp>
        <p:nvSpPr>
          <p:cNvPr id="429" name="Google Shape;429;p26"/>
          <p:cNvSpPr txBox="1"/>
          <p:nvPr/>
        </p:nvSpPr>
        <p:spPr>
          <a:xfrm>
            <a:off x="432000" y="1281675"/>
            <a:ext cx="8279700" cy="6891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El tipo de dato de una variable se establece cuando se le asigna un valor:</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graphicFrame>
        <p:nvGraphicFramePr>
          <p:cNvPr id="430" name="Google Shape;430;p26"/>
          <p:cNvGraphicFramePr/>
          <p:nvPr/>
        </p:nvGraphicFramePr>
        <p:xfrm>
          <a:off x="536125" y="1839102"/>
          <a:ext cx="3000000" cy="3000000"/>
        </p:xfrm>
        <a:graphic>
          <a:graphicData uri="http://schemas.openxmlformats.org/drawingml/2006/table">
            <a:tbl>
              <a:tblPr>
                <a:noFill/>
                <a:tableStyleId>{C1D576FD-4E4F-447F-9ED8-2410FE5220D9}</a:tableStyleId>
              </a:tblPr>
              <a:tblGrid>
                <a:gridCol w="2631800"/>
                <a:gridCol w="1170900"/>
                <a:gridCol w="527725"/>
                <a:gridCol w="2612875"/>
                <a:gridCol w="1128450"/>
              </a:tblGrid>
              <a:tr h="289250">
                <a:tc>
                  <a:txBody>
                    <a:bodyPr/>
                    <a:lstStyle/>
                    <a:p>
                      <a:pPr indent="0" lvl="0" marL="0" marR="0" rtl="0" algn="l">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Ejemplo</a:t>
                      </a:r>
                      <a:endParaRPr sz="1000" u="none" cap="none" strike="noStrike">
                        <a:solidFill>
                          <a:schemeClr val="dk2"/>
                        </a:solidFill>
                        <a:latin typeface="Montserrat"/>
                        <a:ea typeface="Montserrat"/>
                        <a:cs typeface="Montserrat"/>
                        <a:sym typeface="Montserrat"/>
                      </a:endParaRPr>
                    </a:p>
                  </a:txBody>
                  <a:tcPr marT="45725" marB="45725" marR="68400" marL="68400" anchor="ctr">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chemeClr val="dk1"/>
                        </a:buClr>
                        <a:buSzPts val="1200"/>
                        <a:buFont typeface="Montserrat"/>
                        <a:buNone/>
                      </a:pPr>
                      <a:r>
                        <a:rPr b="1" lang="es" sz="1000" u="none" cap="none" strike="noStrike">
                          <a:solidFill>
                            <a:schemeClr val="dk2"/>
                          </a:solidFill>
                          <a:latin typeface="Montserrat"/>
                          <a:ea typeface="Montserrat"/>
                          <a:cs typeface="Montserrat"/>
                          <a:sym typeface="Montserrat"/>
                        </a:rPr>
                        <a:t>Tipo de Dato</a:t>
                      </a:r>
                      <a:endParaRPr b="1" sz="1000" u="none" cap="none" strike="noStrike">
                        <a:solidFill>
                          <a:schemeClr val="dk2"/>
                        </a:solidFill>
                        <a:latin typeface="Montserrat"/>
                        <a:ea typeface="Montserrat"/>
                        <a:cs typeface="Montserrat"/>
                        <a:sym typeface="Montserrat"/>
                      </a:endParaRPr>
                    </a:p>
                  </a:txBody>
                  <a:tcPr marT="45725" marB="45725" marR="68400" marL="684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Ejemplo</a:t>
                      </a:r>
                      <a:endParaRPr sz="1000" u="none" cap="none" strike="noStrike">
                        <a:solidFill>
                          <a:schemeClr val="dk2"/>
                        </a:solidFill>
                        <a:latin typeface="Montserrat"/>
                        <a:ea typeface="Montserrat"/>
                        <a:cs typeface="Montserrat"/>
                        <a:sym typeface="Montserrat"/>
                      </a:endParaRPr>
                    </a:p>
                  </a:txBody>
                  <a:tcPr marT="45725" marB="45725" marR="68400" marL="684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Tipo de Dato</a:t>
                      </a:r>
                      <a:endParaRPr sz="1000" u="none" cap="none" strike="noStrike">
                        <a:solidFill>
                          <a:schemeClr val="dk2"/>
                        </a:solidFill>
                        <a:latin typeface="Montserrat"/>
                        <a:ea typeface="Montserrat"/>
                        <a:cs typeface="Montserrat"/>
                        <a:sym typeface="Montserrat"/>
                      </a:endParaRPr>
                    </a:p>
                  </a:txBody>
                  <a:tcPr marT="45725" marB="45725" marR="68400" marL="68400" anchor="ctr">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89250">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"Hello World"</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str</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{"name" : "John", "age" : 36}</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dict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89250">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20</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int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{"higo", "pera", "uva"}</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set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89250">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20.5</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float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frozenset({"higo", "pera", "uva"})</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frozenset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89250">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1j</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complex</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True</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bool</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89250">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["higo", "pera", "uva"]</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list</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b"Hello"</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bytes</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89250">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("higo", "pera", "uva")</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tuple</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bytearray(5)</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bytearray</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89250">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range(6)</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122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225">
                      <a:solidFill>
                        <a:schemeClr val="dk1"/>
                      </a:solidFill>
                      <a:prstDash val="solid"/>
                      <a:round/>
                      <a:headEnd len="sm" w="sm" type="none"/>
                      <a:tailEnd len="sm" w="sm" type="none"/>
                    </a:lnT>
                    <a:lnB cap="flat" cmpd="sng" w="122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range</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E66D"/>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2"/>
                        </a:solidFill>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x = memoryview(bytes(5))</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Montserrat"/>
                        <a:buNone/>
                      </a:pPr>
                      <a:r>
                        <a:rPr lang="es" sz="1000" u="none" cap="none" strike="noStrike">
                          <a:solidFill>
                            <a:schemeClr val="dk2"/>
                          </a:solidFill>
                          <a:latin typeface="Montserrat"/>
                          <a:ea typeface="Montserrat"/>
                          <a:cs typeface="Montserrat"/>
                          <a:sym typeface="Montserrat"/>
                        </a:rPr>
                        <a:t>memoryview</a:t>
                      </a:r>
                      <a:endParaRPr sz="1000" u="none" cap="none" strike="noStrike">
                        <a:solidFill>
                          <a:schemeClr val="dk2"/>
                        </a:solidFill>
                        <a:latin typeface="Montserrat"/>
                        <a:ea typeface="Montserrat"/>
                        <a:cs typeface="Montserrat"/>
                        <a:sym typeface="Montserrat"/>
                      </a:endParaRPr>
                    </a:p>
                  </a:txBody>
                  <a:tcPr marT="45725" marB="45725" marR="68400" marL="6840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a:t>
            </a:r>
            <a:endParaRPr/>
          </a:p>
        </p:txBody>
      </p:sp>
      <p:sp>
        <p:nvSpPr>
          <p:cNvPr id="436" name="Google Shape;436;p27"/>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Una </a:t>
            </a:r>
            <a:r>
              <a:rPr b="1" i="0" lang="es" sz="1682" u="none" cap="none" strike="noStrike">
                <a:solidFill>
                  <a:srgbClr val="595959"/>
                </a:solidFill>
                <a:latin typeface="Montserrat"/>
                <a:ea typeface="Montserrat"/>
                <a:cs typeface="Montserrat"/>
                <a:sym typeface="Montserrat"/>
              </a:rPr>
              <a:t>cadena de caracteres</a:t>
            </a:r>
            <a:r>
              <a:rPr b="0" i="0" lang="es" sz="1682" u="none" cap="none" strike="noStrike">
                <a:solidFill>
                  <a:srgbClr val="595959"/>
                </a:solidFill>
                <a:latin typeface="Montserrat"/>
                <a:ea typeface="Montserrat"/>
                <a:cs typeface="Montserrat"/>
                <a:sym typeface="Montserrat"/>
              </a:rPr>
              <a:t> está compuesta por cero o  más caracteres. Las cadenas</a:t>
            </a:r>
            <a:r>
              <a:rPr b="0" i="0" lang="es" sz="1650" u="none" cap="none" strike="noStrike">
                <a:solidFill>
                  <a:schemeClr val="dk2"/>
                </a:solidFill>
                <a:latin typeface="Montserrat"/>
                <a:ea typeface="Montserrat"/>
                <a:cs typeface="Montserrat"/>
                <a:sym typeface="Montserrat"/>
              </a:rPr>
              <a:t> pueden delimitarse con comillas simples o dobles.</a:t>
            </a:r>
            <a:r>
              <a:rPr b="0" i="0" lang="es" sz="1682" u="none" cap="none" strike="noStrike">
                <a:solidFill>
                  <a:srgbClr val="595959"/>
                </a:solidFill>
                <a:latin typeface="Montserrat"/>
                <a:ea typeface="Montserrat"/>
                <a:cs typeface="Montserrat"/>
                <a:sym typeface="Montserrat"/>
              </a:rPr>
              <a:t> </a:t>
            </a:r>
            <a:endParaRPr b="0" i="0" sz="1682" u="none" cap="none" strike="noStrike">
              <a:solidFill>
                <a:srgbClr val="595959"/>
              </a:solidFill>
              <a:latin typeface="Montserrat"/>
              <a:ea typeface="Montserrat"/>
              <a:cs typeface="Montserrat"/>
              <a:sym typeface="Montserrat"/>
            </a:endParaRPr>
          </a:p>
        </p:txBody>
      </p:sp>
      <p:sp>
        <p:nvSpPr>
          <p:cNvPr id="437" name="Google Shape;437;p27"/>
          <p:cNvSpPr/>
          <p:nvPr/>
        </p:nvSpPr>
        <p:spPr>
          <a:xfrm>
            <a:off x="1157249" y="2287688"/>
            <a:ext cx="6829500" cy="455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dia</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"lunes"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#definición e inicio de una cadena de caracteres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x</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#x contiene una cadena de caracteres de longitud nula.</a:t>
            </a:r>
            <a:endParaRPr b="0" i="0" sz="1200" u="none" cap="none" strike="noStrike">
              <a:solidFill>
                <a:srgbClr val="000000"/>
              </a:solidFill>
              <a:latin typeface="Arial"/>
              <a:ea typeface="Arial"/>
              <a:cs typeface="Arial"/>
              <a:sym typeface="Arial"/>
            </a:endParaRPr>
          </a:p>
        </p:txBody>
      </p:sp>
      <p:sp>
        <p:nvSpPr>
          <p:cNvPr id="438" name="Google Shape;438;p27"/>
          <p:cNvSpPr/>
          <p:nvPr/>
        </p:nvSpPr>
        <p:spPr>
          <a:xfrm>
            <a:off x="1157250" y="2058788"/>
            <a:ext cx="6829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Inicialización de una cadena por asignación:</a:t>
            </a:r>
            <a:endParaRPr b="0" i="0" sz="1400" u="none" cap="none" strike="noStrike">
              <a:solidFill>
                <a:schemeClr val="dk2"/>
              </a:solidFill>
              <a:latin typeface="Montserrat"/>
              <a:ea typeface="Montserrat"/>
              <a:cs typeface="Montserrat"/>
              <a:sym typeface="Montserrat"/>
            </a:endParaRPr>
          </a:p>
        </p:txBody>
      </p:sp>
      <p:sp>
        <p:nvSpPr>
          <p:cNvPr id="439" name="Google Shape;439;p27"/>
          <p:cNvSpPr txBox="1"/>
          <p:nvPr/>
        </p:nvSpPr>
        <p:spPr>
          <a:xfrm>
            <a:off x="436425" y="2840325"/>
            <a:ext cx="8279700" cy="8667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Una ventaja del hecho de poder delimitar cadenas con comillas simples o dobles es que si usamos comillas de una clase, las de otra clase puede utilizarse como parte de la cadena:</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440" name="Google Shape;440;p27"/>
          <p:cNvSpPr/>
          <p:nvPr/>
        </p:nvSpPr>
        <p:spPr>
          <a:xfrm>
            <a:off x="2476050" y="4025325"/>
            <a:ext cx="4191900" cy="455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"Mi perro 'Toby'"</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Mi perro 'Toby'</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'Mi perro "Toby"'</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Mi perro "Toby"</a:t>
            </a:r>
            <a:endParaRPr b="0" i="0" sz="1200" u="none" cap="none" strike="noStrike">
              <a:solidFill>
                <a:srgbClr val="D5CED9"/>
              </a:solidFill>
              <a:latin typeface="Consolas"/>
              <a:ea typeface="Consolas"/>
              <a:cs typeface="Consolas"/>
              <a:sym typeface="Consolas"/>
            </a:endParaRPr>
          </a:p>
        </p:txBody>
      </p:sp>
      <p:sp>
        <p:nvSpPr>
          <p:cNvPr id="441" name="Google Shape;441;p27"/>
          <p:cNvSpPr/>
          <p:nvPr/>
        </p:nvSpPr>
        <p:spPr>
          <a:xfrm>
            <a:off x="2476050" y="3755925"/>
            <a:ext cx="4191900" cy="2694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Uso de comillas simples y dobles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8"/>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rgbClr val="595959"/>
                </a:solidFill>
                <a:latin typeface="Montserrat"/>
                <a:ea typeface="Montserrat"/>
                <a:cs typeface="Montserrat"/>
                <a:sym typeface="Montserrat"/>
              </a:rPr>
              <a:t>Podemos unir (</a:t>
            </a:r>
            <a:r>
              <a:rPr b="1" i="0" lang="es" sz="1682" u="none" cap="none" strike="noStrike">
                <a:solidFill>
                  <a:srgbClr val="595959"/>
                </a:solidFill>
                <a:latin typeface="Montserrat"/>
                <a:ea typeface="Montserrat"/>
                <a:cs typeface="Montserrat"/>
                <a:sym typeface="Montserrat"/>
              </a:rPr>
              <a:t>concatenar</a:t>
            </a:r>
            <a:r>
              <a:rPr b="0" i="0" lang="es" sz="1682" u="none" cap="none" strike="noStrike">
                <a:solidFill>
                  <a:srgbClr val="595959"/>
                </a:solidFill>
                <a:latin typeface="Montserrat"/>
                <a:ea typeface="Montserrat"/>
                <a:cs typeface="Montserrat"/>
                <a:sym typeface="Montserrat"/>
              </a:rPr>
              <a:t>) dos cadenas utilizando el signo </a:t>
            </a:r>
            <a:r>
              <a:rPr b="1" i="0" lang="es" sz="1682" u="none" cap="none" strike="noStrike">
                <a:solidFill>
                  <a:srgbClr val="595959"/>
                </a:solidFill>
                <a:latin typeface="Montserrat"/>
                <a:ea typeface="Montserrat"/>
                <a:cs typeface="Montserrat"/>
                <a:sym typeface="Montserrat"/>
              </a:rPr>
              <a:t>+</a:t>
            </a:r>
            <a:r>
              <a:rPr b="0" i="0" lang="es" sz="1682" u="none" cap="none" strike="noStrike">
                <a:solidFill>
                  <a:srgbClr val="595959"/>
                </a:solidFill>
                <a:latin typeface="Montserrat"/>
                <a:ea typeface="Montserrat"/>
                <a:cs typeface="Montserrat"/>
                <a:sym typeface="Montserrat"/>
              </a:rPr>
              <a:t> (“más”):</a:t>
            </a:r>
            <a:endParaRPr b="0" i="0" sz="1682" u="none" cap="none" strike="noStrike">
              <a:solidFill>
                <a:srgbClr val="595959"/>
              </a:solidFill>
              <a:latin typeface="Montserrat"/>
              <a:ea typeface="Montserrat"/>
              <a:cs typeface="Montserrat"/>
              <a:sym typeface="Montserrat"/>
            </a:endParaRPr>
          </a:p>
        </p:txBody>
      </p:sp>
      <p:sp>
        <p:nvSpPr>
          <p:cNvPr id="447" name="Google Shape;447;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Cadenas de caracteres | Concatenación</a:t>
            </a:r>
            <a:endParaRPr/>
          </a:p>
        </p:txBody>
      </p:sp>
      <p:sp>
        <p:nvSpPr>
          <p:cNvPr id="448" name="Google Shape;448;p28"/>
          <p:cNvSpPr/>
          <p:nvPr/>
        </p:nvSpPr>
        <p:spPr>
          <a:xfrm>
            <a:off x="2234400" y="2064675"/>
            <a:ext cx="4657800" cy="8958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'Python'</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var3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var1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 '</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var2</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(var3) </a:t>
            </a:r>
            <a:r>
              <a:rPr b="0" i="0" lang="es" sz="1200" u="none" cap="none" strike="noStrike">
                <a:solidFill>
                  <a:srgbClr val="5F6167"/>
                </a:solidFill>
                <a:highlight>
                  <a:srgbClr val="23262E"/>
                </a:highlight>
                <a:latin typeface="Consolas"/>
                <a:ea typeface="Consolas"/>
                <a:cs typeface="Consolas"/>
                <a:sym typeface="Consolas"/>
              </a:rPr>
              <a:t># Imprime Hola Python</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FFE66D"/>
              </a:buClr>
              <a:buSzPts val="1200"/>
              <a:buFont typeface="Consolas"/>
              <a:buNone/>
            </a:pPr>
            <a:r>
              <a:t/>
            </a:r>
            <a:endParaRPr b="0" i="0" sz="1200" u="none" cap="none" strike="noStrike">
              <a:solidFill>
                <a:srgbClr val="D5CED9"/>
              </a:solidFill>
              <a:latin typeface="Consolas"/>
              <a:ea typeface="Consolas"/>
              <a:cs typeface="Consolas"/>
              <a:sym typeface="Consolas"/>
            </a:endParaRPr>
          </a:p>
        </p:txBody>
      </p:sp>
      <p:sp>
        <p:nvSpPr>
          <p:cNvPr id="449" name="Google Shape;449;p28"/>
          <p:cNvSpPr/>
          <p:nvPr/>
        </p:nvSpPr>
        <p:spPr>
          <a:xfrm>
            <a:off x="2234400" y="1795200"/>
            <a:ext cx="4657800" cy="2694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Concatenación de cadenas:</a:t>
            </a:r>
            <a:endParaRPr b="0" i="0" sz="1400" u="none" cap="none" strike="noStrike">
              <a:solidFill>
                <a:schemeClr val="dk2"/>
              </a:solidFill>
              <a:latin typeface="Montserrat"/>
              <a:ea typeface="Montserrat"/>
              <a:cs typeface="Montserrat"/>
              <a:sym typeface="Montserrat"/>
            </a:endParaRPr>
          </a:p>
        </p:txBody>
      </p:sp>
      <p:sp>
        <p:nvSpPr>
          <p:cNvPr id="450" name="Google Shape;450;p28"/>
          <p:cNvSpPr txBox="1"/>
          <p:nvPr/>
        </p:nvSpPr>
        <p:spPr>
          <a:xfrm>
            <a:off x="436425" y="2960475"/>
            <a:ext cx="8279700" cy="6696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El mismo signo + se usa para sumar números o concatenar cadenas. Pero no podemos utilizarlo con datos mixtos, porque se obtiene un error:</a:t>
            </a:r>
            <a:endParaRPr b="0" i="0" sz="1650" u="none" cap="none" strike="noStrike">
              <a:solidFill>
                <a:schemeClr val="dk2"/>
              </a:solidFill>
              <a:latin typeface="Arial"/>
              <a:ea typeface="Arial"/>
              <a:cs typeface="Arial"/>
              <a:sym typeface="Arial"/>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sp>
        <p:nvSpPr>
          <p:cNvPr id="451" name="Google Shape;451;p28"/>
          <p:cNvSpPr/>
          <p:nvPr/>
        </p:nvSpPr>
        <p:spPr>
          <a:xfrm>
            <a:off x="2234400" y="3887400"/>
            <a:ext cx="4657800" cy="669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8</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var2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35</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var3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TypeError</a:t>
            </a:r>
            <a:endParaRPr b="0" i="0" sz="1200" u="none" cap="none" strike="noStrike">
              <a:solidFill>
                <a:srgbClr val="D5CED9"/>
              </a:solidFill>
              <a:latin typeface="Consolas"/>
              <a:ea typeface="Consolas"/>
              <a:cs typeface="Consolas"/>
              <a:sym typeface="Consolas"/>
            </a:endParaRPr>
          </a:p>
        </p:txBody>
      </p:sp>
      <p:sp>
        <p:nvSpPr>
          <p:cNvPr id="452" name="Google Shape;452;p28"/>
          <p:cNvSpPr/>
          <p:nvPr/>
        </p:nvSpPr>
        <p:spPr>
          <a:xfrm>
            <a:off x="2234400" y="3617925"/>
            <a:ext cx="4657800" cy="2694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Concatenación de cadenas: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Conversión de tipos de datos</a:t>
            </a:r>
            <a:endParaRPr/>
          </a:p>
        </p:txBody>
      </p:sp>
      <p:sp>
        <p:nvSpPr>
          <p:cNvPr id="458" name="Google Shape;458;p29"/>
          <p:cNvSpPr/>
          <p:nvPr/>
        </p:nvSpPr>
        <p:spPr>
          <a:xfrm>
            <a:off x="4714225" y="1480287"/>
            <a:ext cx="1817100" cy="558900"/>
          </a:xfrm>
          <a:prstGeom prst="flowChartAlternateProcess">
            <a:avLst/>
          </a:prstGeom>
          <a:solidFill>
            <a:srgbClr val="F8C823"/>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int (cadena)</a:t>
            </a:r>
            <a:endParaRPr b="0" i="0" sz="1300" u="none" cap="none" strike="noStrike">
              <a:solidFill>
                <a:schemeClr val="dk2"/>
              </a:solidFill>
              <a:latin typeface="Montserrat"/>
              <a:ea typeface="Montserrat"/>
              <a:cs typeface="Montserrat"/>
              <a:sym typeface="Montserrat"/>
            </a:endParaRPr>
          </a:p>
        </p:txBody>
      </p:sp>
      <p:sp>
        <p:nvSpPr>
          <p:cNvPr id="459" name="Google Shape;459;p29"/>
          <p:cNvSpPr/>
          <p:nvPr/>
        </p:nvSpPr>
        <p:spPr>
          <a:xfrm>
            <a:off x="4714225" y="2237679"/>
            <a:ext cx="1817100" cy="558900"/>
          </a:xfrm>
          <a:prstGeom prst="flowChartAlternateProcess">
            <a:avLst/>
          </a:prstGeom>
          <a:solidFill>
            <a:srgbClr val="F8C823"/>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float (cadena)</a:t>
            </a:r>
            <a:endParaRPr b="0" i="0" sz="1300" u="none" cap="none" strike="noStrike">
              <a:solidFill>
                <a:schemeClr val="dk2"/>
              </a:solidFill>
              <a:latin typeface="Montserrat"/>
              <a:ea typeface="Montserrat"/>
              <a:cs typeface="Montserrat"/>
              <a:sym typeface="Montserrat"/>
            </a:endParaRPr>
          </a:p>
        </p:txBody>
      </p:sp>
      <p:sp>
        <p:nvSpPr>
          <p:cNvPr id="460" name="Google Shape;460;p29"/>
          <p:cNvSpPr/>
          <p:nvPr/>
        </p:nvSpPr>
        <p:spPr>
          <a:xfrm>
            <a:off x="4714225" y="2995071"/>
            <a:ext cx="1817100" cy="558900"/>
          </a:xfrm>
          <a:prstGeom prst="flowChartAlternateProcess">
            <a:avLst/>
          </a:prstGeom>
          <a:solidFill>
            <a:srgbClr val="F8C823"/>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str (entero)</a:t>
            </a:r>
            <a:endParaRPr b="0" i="0" sz="1300" u="none" cap="none" strike="noStrike">
              <a:solidFill>
                <a:schemeClr val="dk2"/>
              </a:solidFill>
              <a:latin typeface="Montserrat"/>
              <a:ea typeface="Montserrat"/>
              <a:cs typeface="Montserrat"/>
              <a:sym typeface="Montserrat"/>
            </a:endParaRPr>
          </a:p>
        </p:txBody>
      </p:sp>
      <p:sp>
        <p:nvSpPr>
          <p:cNvPr id="461" name="Google Shape;461;p29"/>
          <p:cNvSpPr/>
          <p:nvPr/>
        </p:nvSpPr>
        <p:spPr>
          <a:xfrm>
            <a:off x="4714225" y="3752463"/>
            <a:ext cx="1817100" cy="558900"/>
          </a:xfrm>
          <a:prstGeom prst="flowChartAlternateProcess">
            <a:avLst/>
          </a:prstGeom>
          <a:solidFill>
            <a:srgbClr val="F8C823"/>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str (coma flotante)</a:t>
            </a:r>
            <a:endParaRPr b="0" i="0" sz="1300" u="none" cap="none" strike="noStrike">
              <a:solidFill>
                <a:schemeClr val="dk2"/>
              </a:solidFill>
              <a:latin typeface="Montserrat"/>
              <a:ea typeface="Montserrat"/>
              <a:cs typeface="Montserrat"/>
              <a:sym typeface="Montserrat"/>
            </a:endParaRPr>
          </a:p>
        </p:txBody>
      </p:sp>
      <p:cxnSp>
        <p:nvCxnSpPr>
          <p:cNvPr id="462" name="Google Shape;462;p29"/>
          <p:cNvCxnSpPr/>
          <p:nvPr/>
        </p:nvCxnSpPr>
        <p:spPr>
          <a:xfrm>
            <a:off x="6531279" y="1783244"/>
            <a:ext cx="825600" cy="0"/>
          </a:xfrm>
          <a:prstGeom prst="straightConnector1">
            <a:avLst/>
          </a:prstGeom>
          <a:noFill/>
          <a:ln cap="flat" cmpd="sng" w="28575">
            <a:solidFill>
              <a:schemeClr val="dk2"/>
            </a:solidFill>
            <a:prstDash val="solid"/>
            <a:round/>
            <a:headEnd len="sm" w="sm" type="none"/>
            <a:tailEnd len="med" w="med" type="triangle"/>
          </a:ln>
        </p:spPr>
      </p:cxnSp>
      <p:sp>
        <p:nvSpPr>
          <p:cNvPr id="463" name="Google Shape;463;p29"/>
          <p:cNvSpPr/>
          <p:nvPr/>
        </p:nvSpPr>
        <p:spPr>
          <a:xfrm>
            <a:off x="7356999" y="1480287"/>
            <a:ext cx="1174500" cy="606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Entero</a:t>
            </a:r>
            <a:endParaRPr b="0" i="0" sz="1300" u="none" cap="none" strike="noStrike">
              <a:solidFill>
                <a:schemeClr val="dk2"/>
              </a:solidFill>
              <a:latin typeface="Montserrat"/>
              <a:ea typeface="Montserrat"/>
              <a:cs typeface="Montserrat"/>
              <a:sym typeface="Montserrat"/>
            </a:endParaRPr>
          </a:p>
        </p:txBody>
      </p:sp>
      <p:cxnSp>
        <p:nvCxnSpPr>
          <p:cNvPr id="464" name="Google Shape;464;p29"/>
          <p:cNvCxnSpPr/>
          <p:nvPr/>
        </p:nvCxnSpPr>
        <p:spPr>
          <a:xfrm>
            <a:off x="6531279" y="2540636"/>
            <a:ext cx="825600" cy="0"/>
          </a:xfrm>
          <a:prstGeom prst="straightConnector1">
            <a:avLst/>
          </a:prstGeom>
          <a:noFill/>
          <a:ln cap="flat" cmpd="sng" w="28575">
            <a:solidFill>
              <a:schemeClr val="dk2"/>
            </a:solidFill>
            <a:prstDash val="solid"/>
            <a:round/>
            <a:headEnd len="sm" w="sm" type="none"/>
            <a:tailEnd len="med" w="med" type="triangle"/>
          </a:ln>
        </p:spPr>
      </p:cxnSp>
      <p:cxnSp>
        <p:nvCxnSpPr>
          <p:cNvPr id="465" name="Google Shape;465;p29"/>
          <p:cNvCxnSpPr/>
          <p:nvPr/>
        </p:nvCxnSpPr>
        <p:spPr>
          <a:xfrm>
            <a:off x="6531279" y="3298028"/>
            <a:ext cx="825600" cy="0"/>
          </a:xfrm>
          <a:prstGeom prst="straightConnector1">
            <a:avLst/>
          </a:prstGeom>
          <a:noFill/>
          <a:ln cap="flat" cmpd="sng" w="28575">
            <a:solidFill>
              <a:schemeClr val="dk2"/>
            </a:solidFill>
            <a:prstDash val="solid"/>
            <a:round/>
            <a:headEnd len="sm" w="sm" type="none"/>
            <a:tailEnd len="med" w="med" type="triangle"/>
          </a:ln>
        </p:spPr>
      </p:cxnSp>
      <p:cxnSp>
        <p:nvCxnSpPr>
          <p:cNvPr id="466" name="Google Shape;466;p29"/>
          <p:cNvCxnSpPr/>
          <p:nvPr/>
        </p:nvCxnSpPr>
        <p:spPr>
          <a:xfrm>
            <a:off x="6531279" y="4055419"/>
            <a:ext cx="825600" cy="0"/>
          </a:xfrm>
          <a:prstGeom prst="straightConnector1">
            <a:avLst/>
          </a:prstGeom>
          <a:noFill/>
          <a:ln cap="flat" cmpd="sng" w="28575">
            <a:solidFill>
              <a:schemeClr val="dk2"/>
            </a:solidFill>
            <a:prstDash val="solid"/>
            <a:round/>
            <a:headEnd len="sm" w="sm" type="none"/>
            <a:tailEnd len="med" w="med" type="triangle"/>
          </a:ln>
        </p:spPr>
      </p:cxnSp>
      <p:sp>
        <p:nvSpPr>
          <p:cNvPr id="467" name="Google Shape;467;p29"/>
          <p:cNvSpPr/>
          <p:nvPr/>
        </p:nvSpPr>
        <p:spPr>
          <a:xfrm>
            <a:off x="7356999" y="2237679"/>
            <a:ext cx="1174500" cy="606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Coma</a:t>
            </a:r>
            <a:endParaRPr b="0" i="0" sz="13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flotante</a:t>
            </a:r>
            <a:endParaRPr b="0" i="0" sz="1300" u="none" cap="none" strike="noStrike">
              <a:solidFill>
                <a:schemeClr val="dk2"/>
              </a:solidFill>
              <a:latin typeface="Montserrat"/>
              <a:ea typeface="Montserrat"/>
              <a:cs typeface="Montserrat"/>
              <a:sym typeface="Montserrat"/>
            </a:endParaRPr>
          </a:p>
        </p:txBody>
      </p:sp>
      <p:sp>
        <p:nvSpPr>
          <p:cNvPr id="468" name="Google Shape;468;p29"/>
          <p:cNvSpPr/>
          <p:nvPr/>
        </p:nvSpPr>
        <p:spPr>
          <a:xfrm>
            <a:off x="7356999" y="2995071"/>
            <a:ext cx="1174500" cy="606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Cadena</a:t>
            </a:r>
            <a:endParaRPr b="0" i="0" sz="1300" u="none" cap="none" strike="noStrike">
              <a:solidFill>
                <a:schemeClr val="dk2"/>
              </a:solidFill>
              <a:latin typeface="Montserrat"/>
              <a:ea typeface="Montserrat"/>
              <a:cs typeface="Montserrat"/>
              <a:sym typeface="Montserrat"/>
            </a:endParaRPr>
          </a:p>
        </p:txBody>
      </p:sp>
      <p:sp>
        <p:nvSpPr>
          <p:cNvPr id="469" name="Google Shape;469;p29"/>
          <p:cNvSpPr/>
          <p:nvPr/>
        </p:nvSpPr>
        <p:spPr>
          <a:xfrm>
            <a:off x="7356999" y="3752463"/>
            <a:ext cx="1174500" cy="606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300" u="none" cap="none" strike="noStrike">
                <a:solidFill>
                  <a:schemeClr val="dk2"/>
                </a:solidFill>
                <a:latin typeface="Montserrat"/>
                <a:ea typeface="Montserrat"/>
                <a:cs typeface="Montserrat"/>
                <a:sym typeface="Montserrat"/>
              </a:rPr>
              <a:t>Cadena</a:t>
            </a:r>
            <a:endParaRPr b="0" i="0" sz="1300" u="none" cap="none" strike="noStrike">
              <a:solidFill>
                <a:schemeClr val="dk2"/>
              </a:solidFill>
              <a:latin typeface="Montserrat"/>
              <a:ea typeface="Montserrat"/>
              <a:cs typeface="Montserrat"/>
              <a:sym typeface="Montserrat"/>
            </a:endParaRPr>
          </a:p>
        </p:txBody>
      </p:sp>
      <p:sp>
        <p:nvSpPr>
          <p:cNvPr id="470" name="Google Shape;470;p29"/>
          <p:cNvSpPr txBox="1"/>
          <p:nvPr/>
        </p:nvSpPr>
        <p:spPr>
          <a:xfrm>
            <a:off x="432000" y="1281675"/>
            <a:ext cx="39603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En ocasiones es necesario aplicar conversiones de valores entre </a:t>
            </a:r>
            <a:r>
              <a:rPr b="1" i="0" lang="es" sz="1600" u="none" cap="none" strike="noStrike">
                <a:solidFill>
                  <a:srgbClr val="595959"/>
                </a:solidFill>
                <a:latin typeface="Montserrat"/>
                <a:ea typeface="Montserrat"/>
                <a:cs typeface="Montserrat"/>
                <a:sym typeface="Montserrat"/>
              </a:rPr>
              <a:t>tipos de datos</a:t>
            </a:r>
            <a:r>
              <a:rPr b="0" i="0" lang="es" sz="1600" u="none" cap="none" strike="noStrike">
                <a:solidFill>
                  <a:srgbClr val="595959"/>
                </a:solidFill>
                <a:latin typeface="Montserrat"/>
                <a:ea typeface="Montserrat"/>
                <a:cs typeface="Montserrat"/>
                <a:sym typeface="Montserrat"/>
              </a:rPr>
              <a:t> para manipular los valores de forma diferente. Por ejemplo, es posible que debamos concatenar valores numéricos con cadenas o representar posiciones decimales en números que se iniciaron como valores enteros. Python provee funciones que pueden hacer estas tareas:</a:t>
            </a:r>
            <a:endParaRPr b="0" i="0" sz="16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0"/>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Operador</a:t>
            </a:r>
            <a:endParaRPr/>
          </a:p>
        </p:txBody>
      </p:sp>
      <p:sp>
        <p:nvSpPr>
          <p:cNvPr id="476" name="Google Shape;476;p30"/>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00000"/>
              </a:lnSpc>
              <a:spcBef>
                <a:spcPts val="0"/>
              </a:spcBef>
              <a:spcAft>
                <a:spcPts val="0"/>
              </a:spcAft>
              <a:buClr>
                <a:schemeClr val="dk1"/>
              </a:buClr>
              <a:buSzPct val="64705"/>
              <a:buFont typeface="Arial"/>
              <a:buNone/>
            </a:pPr>
            <a:r>
              <a:rPr lang="es"/>
              <a:t>Un operador es un carácter o conjunto de caracteres que actúa sobre una, dos o más variables y/o literales para llevar a cabo una operación con un resultado determinado.</a:t>
            </a:r>
            <a:endParaRPr/>
          </a:p>
          <a:p>
            <a:pPr indent="0" lvl="0" marL="0" rtl="0" algn="l">
              <a:lnSpc>
                <a:spcPct val="100000"/>
              </a:lnSpc>
              <a:spcBef>
                <a:spcPts val="0"/>
              </a:spcBef>
              <a:spcAft>
                <a:spcPts val="0"/>
              </a:spcAft>
              <a:buClr>
                <a:schemeClr val="dk1"/>
              </a:buClr>
              <a:buSzPct val="64705"/>
              <a:buFont typeface="Arial"/>
              <a:buNone/>
            </a:pPr>
            <a:r>
              <a:rPr lang="es"/>
              <a:t>Ejemplos de operadores comunes son los operadores aritméticos + (suma), - (resta) o * (producto), aunque en Python existen otros operadores.</a:t>
            </a:r>
            <a:endParaRPr/>
          </a:p>
          <a:p>
            <a:pPr indent="0" lvl="0" marL="0" rtl="0" algn="l">
              <a:lnSpc>
                <a:spcPct val="100000"/>
              </a:lnSpc>
              <a:spcBef>
                <a:spcPts val="0"/>
              </a:spcBef>
              <a:spcAft>
                <a:spcPts val="0"/>
              </a:spcAft>
              <a:buClr>
                <a:schemeClr val="dk1"/>
              </a:buClr>
              <a:buSzPct val="64705"/>
              <a:buFont typeface="Arial"/>
              <a:buNone/>
            </a:pPr>
            <a:r>
              <a:rPr lang="es"/>
              <a:t>Tipos de operadores:</a:t>
            </a:r>
            <a:endParaRPr/>
          </a:p>
          <a:p>
            <a:pPr indent="-328484" lvl="0" marL="457200" rtl="0" algn="l">
              <a:lnSpc>
                <a:spcPct val="100000"/>
              </a:lnSpc>
              <a:spcBef>
                <a:spcPts val="0"/>
              </a:spcBef>
              <a:spcAft>
                <a:spcPts val="0"/>
              </a:spcAft>
              <a:buSzPct val="100000"/>
              <a:buChar char="●"/>
            </a:pPr>
            <a:r>
              <a:rPr lang="es"/>
              <a:t>Operador de Asignación</a:t>
            </a:r>
            <a:endParaRPr/>
          </a:p>
          <a:p>
            <a:pPr indent="-328484" lvl="0" marL="457200" rtl="0" algn="l">
              <a:lnSpc>
                <a:spcPct val="100000"/>
              </a:lnSpc>
              <a:spcBef>
                <a:spcPts val="0"/>
              </a:spcBef>
              <a:spcAft>
                <a:spcPts val="0"/>
              </a:spcAft>
              <a:buSzPct val="100000"/>
              <a:buChar char="●"/>
            </a:pPr>
            <a:r>
              <a:rPr lang="es"/>
              <a:t>Operadores Aritméticos</a:t>
            </a:r>
            <a:endParaRPr/>
          </a:p>
          <a:p>
            <a:pPr indent="-328484" lvl="0" marL="457200" rtl="0" algn="l">
              <a:lnSpc>
                <a:spcPct val="100000"/>
              </a:lnSpc>
              <a:spcBef>
                <a:spcPts val="0"/>
              </a:spcBef>
              <a:spcAft>
                <a:spcPts val="0"/>
              </a:spcAft>
              <a:buSzPct val="100000"/>
              <a:buChar char="●"/>
            </a:pPr>
            <a:r>
              <a:rPr lang="es"/>
              <a:t>Operadores de pertenencia</a:t>
            </a:r>
            <a:endParaRPr/>
          </a:p>
          <a:p>
            <a:pPr indent="-328484" lvl="0" marL="457200" rtl="0" algn="l">
              <a:lnSpc>
                <a:spcPct val="100000"/>
              </a:lnSpc>
              <a:spcBef>
                <a:spcPts val="0"/>
              </a:spcBef>
              <a:spcAft>
                <a:spcPts val="0"/>
              </a:spcAft>
              <a:buSzPct val="100000"/>
              <a:buChar char="●"/>
            </a:pPr>
            <a:r>
              <a:rPr lang="es"/>
              <a:t>Operadores Relacionales (los abordaremos en la próxima presentación)</a:t>
            </a:r>
            <a:endParaRPr/>
          </a:p>
          <a:p>
            <a:pPr indent="-328484" lvl="0" marL="457200" rtl="0" algn="l">
              <a:lnSpc>
                <a:spcPct val="100000"/>
              </a:lnSpc>
              <a:spcBef>
                <a:spcPts val="0"/>
              </a:spcBef>
              <a:spcAft>
                <a:spcPts val="0"/>
              </a:spcAft>
              <a:buSzPct val="100000"/>
              <a:buChar char="●"/>
            </a:pPr>
            <a:r>
              <a:rPr lang="es"/>
              <a:t>Operadores Lógicos (los abordaremos en la próxima presentación)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Operadores aritméticos</a:t>
            </a:r>
            <a:endParaRPr/>
          </a:p>
        </p:txBody>
      </p:sp>
      <p:sp>
        <p:nvSpPr>
          <p:cNvPr id="482" name="Google Shape;482;p31"/>
          <p:cNvSpPr txBox="1"/>
          <p:nvPr/>
        </p:nvSpPr>
        <p:spPr>
          <a:xfrm>
            <a:off x="432000" y="1281675"/>
            <a:ext cx="8279700" cy="6891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199"/>
              </a:spcBef>
              <a:spcAft>
                <a:spcPts val="0"/>
              </a:spcAft>
              <a:buClr>
                <a:schemeClr val="dk1"/>
              </a:buClr>
              <a:buSzPts val="1100"/>
              <a:buFont typeface="Arial"/>
              <a:buNone/>
            </a:pPr>
            <a:r>
              <a:rPr b="0" i="0" lang="es" sz="1650" u="none" cap="none" strike="noStrike">
                <a:solidFill>
                  <a:srgbClr val="595959"/>
                </a:solidFill>
                <a:latin typeface="Montserrat"/>
                <a:ea typeface="Montserrat"/>
                <a:cs typeface="Montserrat"/>
                <a:sym typeface="Montserrat"/>
              </a:rPr>
              <a:t>Realizan operaciones aritméticas. Requieren uno o dos operandos (operadores unarios o binarios). Se aplican las reglas de precedencia.</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50"/>
              <a:buFont typeface="Arial"/>
              <a:buNone/>
            </a:pPr>
            <a:r>
              <a:t/>
            </a:r>
            <a:endParaRPr b="0" i="0" sz="1650" u="none" cap="none" strike="noStrike">
              <a:solidFill>
                <a:srgbClr val="595959"/>
              </a:solidFill>
              <a:latin typeface="Montserrat"/>
              <a:ea typeface="Montserrat"/>
              <a:cs typeface="Montserrat"/>
              <a:sym typeface="Montserrat"/>
            </a:endParaRPr>
          </a:p>
        </p:txBody>
      </p:sp>
      <p:graphicFrame>
        <p:nvGraphicFramePr>
          <p:cNvPr id="483" name="Google Shape;483;p31"/>
          <p:cNvGraphicFramePr/>
          <p:nvPr/>
        </p:nvGraphicFramePr>
        <p:xfrm>
          <a:off x="432030" y="2082295"/>
          <a:ext cx="3000000" cy="3000000"/>
        </p:xfrm>
        <a:graphic>
          <a:graphicData uri="http://schemas.openxmlformats.org/drawingml/2006/table">
            <a:tbl>
              <a:tblPr>
                <a:noFill/>
                <a:tableStyleId>{C1D576FD-4E4F-447F-9ED8-2410FE5220D9}</a:tableStyleId>
              </a:tblPr>
              <a:tblGrid>
                <a:gridCol w="1273325"/>
                <a:gridCol w="7006375"/>
              </a:tblGrid>
              <a:tr h="3001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Operador</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FE66D"/>
                    </a:solidFill>
                  </a:tcPr>
                </a:tc>
                <a:tc>
                  <a:txBody>
                    <a:bodyPr/>
                    <a:lstStyle/>
                    <a:p>
                      <a:pPr indent="0" lvl="0" marL="0" marR="0" rtl="0" algn="ctr">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Descripción</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FE66D"/>
                    </a:solidFill>
                  </a:tcPr>
                </a:tc>
              </a:tr>
              <a:tr h="3001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300" u="none" cap="none" strike="noStrike">
                          <a:solidFill>
                            <a:schemeClr val="dk2"/>
                          </a:solidFill>
                          <a:latin typeface="Montserrat"/>
                          <a:ea typeface="Montserrat"/>
                          <a:cs typeface="Montserrat"/>
                          <a:sym typeface="Montserrat"/>
                        </a:rPr>
                        <a:t>+</a:t>
                      </a:r>
                      <a:endParaRPr b="1" sz="13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Suma: </a:t>
                      </a:r>
                      <a:r>
                        <a:rPr lang="es" sz="1000" u="none" cap="none" strike="noStrike">
                          <a:solidFill>
                            <a:schemeClr val="dk2"/>
                          </a:solidFill>
                          <a:latin typeface="Montserrat"/>
                          <a:ea typeface="Montserrat"/>
                          <a:cs typeface="Montserrat"/>
                          <a:sym typeface="Montserrat"/>
                        </a:rPr>
                        <a:t>Suma dos operandos.</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89975">
                <a:tc>
                  <a:txBody>
                    <a:bodyPr/>
                    <a:lstStyle/>
                    <a:p>
                      <a:pPr indent="0" lvl="0" marL="0" marR="0" rtl="0" algn="ctr">
                        <a:lnSpc>
                          <a:spcPct val="100000"/>
                        </a:lnSpc>
                        <a:spcBef>
                          <a:spcPts val="0"/>
                        </a:spcBef>
                        <a:spcAft>
                          <a:spcPts val="0"/>
                        </a:spcAft>
                        <a:buClr>
                          <a:srgbClr val="000000"/>
                        </a:buClr>
                        <a:buSzPts val="1200"/>
                        <a:buFont typeface="Montserrat"/>
                        <a:buNone/>
                      </a:pPr>
                      <a:r>
                        <a:rPr b="1" lang="es" sz="1300" u="none" cap="none" strike="noStrike">
                          <a:solidFill>
                            <a:schemeClr val="dk2"/>
                          </a:solidFill>
                          <a:latin typeface="Montserrat"/>
                          <a:ea typeface="Montserrat"/>
                          <a:cs typeface="Montserrat"/>
                          <a:sym typeface="Montserrat"/>
                        </a:rPr>
                        <a:t>-</a:t>
                      </a:r>
                      <a:endParaRPr b="1" sz="13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Resta: </a:t>
                      </a:r>
                      <a:r>
                        <a:rPr lang="es" sz="1000" u="none" cap="none" strike="noStrike">
                          <a:solidFill>
                            <a:schemeClr val="dk2"/>
                          </a:solidFill>
                          <a:latin typeface="Montserrat"/>
                          <a:ea typeface="Montserrat"/>
                          <a:cs typeface="Montserrat"/>
                          <a:sym typeface="Montserrat"/>
                        </a:rPr>
                        <a:t>Resta al operando de la izquierda el valor del operando de la derecha. Utilizado sobre un único operando, le cambia el signo.</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001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300" u="none" cap="none" strike="noStrike">
                          <a:solidFill>
                            <a:schemeClr val="dk2"/>
                          </a:solidFill>
                          <a:latin typeface="Montserrat"/>
                          <a:ea typeface="Montserrat"/>
                          <a:cs typeface="Montserrat"/>
                          <a:sym typeface="Montserrat"/>
                        </a:rPr>
                        <a:t>*</a:t>
                      </a:r>
                      <a:endParaRPr b="1" sz="13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Multiplicación: </a:t>
                      </a:r>
                      <a:r>
                        <a:rPr lang="es" sz="1000" u="none" cap="none" strike="noStrike">
                          <a:solidFill>
                            <a:schemeClr val="dk2"/>
                          </a:solidFill>
                          <a:latin typeface="Montserrat"/>
                          <a:ea typeface="Montserrat"/>
                          <a:cs typeface="Montserrat"/>
                          <a:sym typeface="Montserrat"/>
                        </a:rPr>
                        <a:t>Producto de dos operandos.</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001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300" u="none" cap="none" strike="noStrike">
                          <a:solidFill>
                            <a:schemeClr val="dk2"/>
                          </a:solidFill>
                          <a:latin typeface="Montserrat"/>
                          <a:ea typeface="Montserrat"/>
                          <a:cs typeface="Montserrat"/>
                          <a:sym typeface="Montserrat"/>
                        </a:rPr>
                        <a:t>/</a:t>
                      </a:r>
                      <a:endParaRPr b="1" sz="13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División: </a:t>
                      </a:r>
                      <a:r>
                        <a:rPr lang="es" sz="1000" u="none" cap="none" strike="noStrike">
                          <a:solidFill>
                            <a:schemeClr val="dk2"/>
                          </a:solidFill>
                          <a:latin typeface="Montserrat"/>
                          <a:ea typeface="Montserrat"/>
                          <a:cs typeface="Montserrat"/>
                          <a:sym typeface="Montserrat"/>
                        </a:rPr>
                        <a:t>Divide el operando de la izquierda por el de la derecha (el resultado siempre es un float).</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001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300" u="none" cap="none" strike="noStrike">
                          <a:solidFill>
                            <a:schemeClr val="dk2"/>
                          </a:solidFill>
                          <a:latin typeface="Montserrat"/>
                          <a:ea typeface="Montserrat"/>
                          <a:cs typeface="Montserrat"/>
                          <a:sym typeface="Montserrat"/>
                        </a:rPr>
                        <a:t>%</a:t>
                      </a:r>
                      <a:endParaRPr b="1" sz="13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Operador módulo:</a:t>
                      </a:r>
                      <a:r>
                        <a:rPr lang="es" sz="1000" u="none" cap="none" strike="noStrike">
                          <a:solidFill>
                            <a:schemeClr val="dk2"/>
                          </a:solidFill>
                          <a:latin typeface="Montserrat"/>
                          <a:ea typeface="Montserrat"/>
                          <a:cs typeface="Montserrat"/>
                          <a:sym typeface="Montserrat"/>
                        </a:rPr>
                        <a:t> Obtiene el resto de dividir el operando de la izquierda por el de la derecha.</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001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300" u="none" cap="none" strike="noStrike">
                          <a:solidFill>
                            <a:schemeClr val="dk2"/>
                          </a:solidFill>
                          <a:latin typeface="Montserrat"/>
                          <a:ea typeface="Montserrat"/>
                          <a:cs typeface="Montserrat"/>
                          <a:sym typeface="Montserrat"/>
                        </a:rPr>
                        <a:t>//</a:t>
                      </a:r>
                      <a:endParaRPr b="1" sz="13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División entera: </a:t>
                      </a:r>
                      <a:r>
                        <a:rPr lang="es" sz="1000" u="none" cap="none" strike="noStrike">
                          <a:solidFill>
                            <a:schemeClr val="dk2"/>
                          </a:solidFill>
                          <a:latin typeface="Montserrat"/>
                          <a:ea typeface="Montserrat"/>
                          <a:cs typeface="Montserrat"/>
                          <a:sym typeface="Montserrat"/>
                        </a:rPr>
                        <a:t>Obtiene el cociente entero de dividir el operando de la izquierda por el de la derecha.</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285000">
                <a:tc>
                  <a:txBody>
                    <a:bodyPr/>
                    <a:lstStyle/>
                    <a:p>
                      <a:pPr indent="0" lvl="0" marL="0" marR="0" rtl="0" algn="ctr">
                        <a:lnSpc>
                          <a:spcPct val="100000"/>
                        </a:lnSpc>
                        <a:spcBef>
                          <a:spcPts val="0"/>
                        </a:spcBef>
                        <a:spcAft>
                          <a:spcPts val="0"/>
                        </a:spcAft>
                        <a:buClr>
                          <a:srgbClr val="000000"/>
                        </a:buClr>
                        <a:buSzPts val="1200"/>
                        <a:buFont typeface="Montserrat"/>
                        <a:buNone/>
                      </a:pPr>
                      <a:r>
                        <a:rPr b="1" lang="es" sz="1300" u="none" cap="none" strike="noStrike">
                          <a:solidFill>
                            <a:schemeClr val="dk2"/>
                          </a:solidFill>
                          <a:latin typeface="Montserrat"/>
                          <a:ea typeface="Montserrat"/>
                          <a:cs typeface="Montserrat"/>
                          <a:sym typeface="Montserrat"/>
                        </a:rPr>
                        <a:t>**</a:t>
                      </a:r>
                      <a:endParaRPr b="1" sz="13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000" u="none" cap="none" strike="noStrike">
                          <a:solidFill>
                            <a:schemeClr val="dk2"/>
                          </a:solidFill>
                          <a:latin typeface="Montserrat"/>
                          <a:ea typeface="Montserrat"/>
                          <a:cs typeface="Montserrat"/>
                          <a:sym typeface="Montserrat"/>
                        </a:rPr>
                        <a:t>Potencia:</a:t>
                      </a:r>
                      <a:r>
                        <a:rPr lang="es" sz="1000" u="none" cap="none" strike="noStrike">
                          <a:solidFill>
                            <a:schemeClr val="dk2"/>
                          </a:solidFill>
                          <a:latin typeface="Montserrat"/>
                          <a:ea typeface="Montserrat"/>
                          <a:cs typeface="Montserrat"/>
                          <a:sym typeface="Montserrat"/>
                        </a:rPr>
                        <a:t> El resultado es el operando de la izquierda elevado a la potencia del operando de la derecha.</a:t>
                      </a:r>
                      <a:endParaRPr sz="10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Operadores de asignación compuestos</a:t>
            </a:r>
            <a:endParaRPr/>
          </a:p>
        </p:txBody>
      </p:sp>
      <p:sp>
        <p:nvSpPr>
          <p:cNvPr id="489" name="Google Shape;489;p32"/>
          <p:cNvSpPr txBox="1"/>
          <p:nvPr/>
        </p:nvSpPr>
        <p:spPr>
          <a:xfrm>
            <a:off x="432000" y="1281675"/>
            <a:ext cx="8279700" cy="7521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Además del operador de asignación, existen los </a:t>
            </a:r>
            <a:r>
              <a:rPr b="1" i="0" lang="es" sz="1650" u="none" cap="none" strike="noStrike">
                <a:solidFill>
                  <a:srgbClr val="595959"/>
                </a:solidFill>
                <a:latin typeface="Montserrat"/>
                <a:ea typeface="Montserrat"/>
                <a:cs typeface="Montserrat"/>
                <a:sym typeface="Montserrat"/>
              </a:rPr>
              <a:t>operadores de asignación compuestos</a:t>
            </a:r>
            <a:r>
              <a:rPr b="0" i="0" lang="es" sz="1650" u="none" cap="none" strike="noStrike">
                <a:solidFill>
                  <a:srgbClr val="595959"/>
                </a:solidFill>
                <a:latin typeface="Montserrat"/>
                <a:ea typeface="Montserrat"/>
                <a:cs typeface="Montserrat"/>
                <a:sym typeface="Montserrat"/>
              </a:rPr>
              <a:t>. Realizan la operación </a:t>
            </a:r>
            <a:r>
              <a:rPr b="0" i="0" lang="es" sz="1650" u="none" cap="none" strike="noStrike">
                <a:solidFill>
                  <a:schemeClr val="dk2"/>
                </a:solidFill>
                <a:latin typeface="Montserrat"/>
                <a:ea typeface="Montserrat"/>
                <a:cs typeface="Montserrat"/>
                <a:sym typeface="Montserrat"/>
              </a:rPr>
              <a:t>indicada </a:t>
            </a:r>
            <a:r>
              <a:rPr b="0" i="0" lang="es" sz="1650" u="none" cap="none" strike="noStrike">
                <a:solidFill>
                  <a:srgbClr val="595959"/>
                </a:solidFill>
                <a:latin typeface="Montserrat"/>
                <a:ea typeface="Montserrat"/>
                <a:cs typeface="Montserrat"/>
                <a:sym typeface="Montserrat"/>
              </a:rPr>
              <a:t>sobre la misma variable.</a:t>
            </a:r>
            <a:endParaRPr b="0" i="0" sz="1800" u="none" cap="none" strike="noStrike">
              <a:solidFill>
                <a:srgbClr val="000000"/>
              </a:solidFill>
              <a:latin typeface="Arial"/>
              <a:ea typeface="Arial"/>
              <a:cs typeface="Arial"/>
              <a:sym typeface="Arial"/>
            </a:endParaRPr>
          </a:p>
        </p:txBody>
      </p:sp>
      <p:graphicFrame>
        <p:nvGraphicFramePr>
          <p:cNvPr id="490" name="Google Shape;490;p32"/>
          <p:cNvGraphicFramePr/>
          <p:nvPr/>
        </p:nvGraphicFramePr>
        <p:xfrm>
          <a:off x="471263" y="2033900"/>
          <a:ext cx="3000000" cy="3000000"/>
        </p:xfrm>
        <a:graphic>
          <a:graphicData uri="http://schemas.openxmlformats.org/drawingml/2006/table">
            <a:tbl>
              <a:tblPr>
                <a:solidFill>
                  <a:srgbClr val="FFFFFF"/>
                </a:solidFill>
                <a:tableStyleId>{C1D576FD-4E4F-447F-9ED8-2410FE5220D9}</a:tableStyleId>
              </a:tblPr>
              <a:tblGrid>
                <a:gridCol w="1616700"/>
                <a:gridCol w="1511225"/>
                <a:gridCol w="1658075"/>
              </a:tblGrid>
              <a:tr h="373600">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OPERADOR</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EJEMPLO</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EQUIVALENCIA</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12225">
                      <a:solidFill>
                        <a:srgbClr val="000000"/>
                      </a:solidFill>
                      <a:prstDash val="solid"/>
                      <a:round/>
                      <a:headEnd len="sm" w="sm" type="none"/>
                      <a:tailEnd len="sm" w="sm" type="none"/>
                    </a:lnB>
                    <a:solidFill>
                      <a:srgbClr val="FFE66D"/>
                    </a:solidFill>
                  </a:tcPr>
                </a:tc>
              </a:tr>
              <a:tr h="295275">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5275">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5275">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5275">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5275">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5275">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r h="295275">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x = x ** 2</a:t>
                      </a:r>
                      <a:endParaRPr sz="1200" u="none" cap="none" strike="noStrike">
                        <a:solidFill>
                          <a:schemeClr val="dk2"/>
                        </a:solidFill>
                        <a:latin typeface="Montserrat"/>
                        <a:ea typeface="Montserrat"/>
                        <a:cs typeface="Montserrat"/>
                        <a:sym typeface="Montserrat"/>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tcPr>
                </a:tc>
              </a:tr>
            </a:tbl>
          </a:graphicData>
        </a:graphic>
      </p:graphicFrame>
      <p:sp>
        <p:nvSpPr>
          <p:cNvPr id="491" name="Google Shape;491;p32"/>
          <p:cNvSpPr txBox="1"/>
          <p:nvPr/>
        </p:nvSpPr>
        <p:spPr>
          <a:xfrm>
            <a:off x="5479325" y="2407500"/>
            <a:ext cx="2925300" cy="1801500"/>
          </a:xfrm>
          <a:prstGeom prst="rect">
            <a:avLst/>
          </a:prstGeom>
          <a:noFill/>
          <a:ln>
            <a:noFill/>
          </a:ln>
        </p:spPr>
        <p:txBody>
          <a:bodyPr anchorCtr="0" anchor="t" bIns="91425" lIns="0" spcFirstLastPara="1" rIns="0" wrap="square" tIns="91425">
            <a:normAutofit fontScale="77500" lnSpcReduction="20000"/>
          </a:bodyPr>
          <a:lstStyle/>
          <a:p>
            <a:pPr indent="0" lvl="0" marL="0" marR="0" rtl="0" algn="l">
              <a:lnSpc>
                <a:spcPct val="115000"/>
              </a:lnSpc>
              <a:spcBef>
                <a:spcPts val="1199"/>
              </a:spcBef>
              <a:spcAft>
                <a:spcPts val="0"/>
              </a:spcAft>
              <a:buClr>
                <a:srgbClr val="000000"/>
              </a:buClr>
              <a:buSzPct val="100000"/>
              <a:buFont typeface="Arial"/>
              <a:buNone/>
            </a:pPr>
            <a:r>
              <a:rPr b="0" i="0" lang="es" sz="1650" u="none" cap="none" strike="noStrike">
                <a:solidFill>
                  <a:srgbClr val="595959"/>
                </a:solidFill>
                <a:latin typeface="Montserrat"/>
                <a:ea typeface="Montserrat"/>
                <a:cs typeface="Montserrat"/>
                <a:sym typeface="Montserrat"/>
              </a:rPr>
              <a:t>Por ejemplo, </a:t>
            </a:r>
            <a:r>
              <a:rPr b="1" lang="es" sz="1650">
                <a:solidFill>
                  <a:srgbClr val="595959"/>
                </a:solidFill>
                <a:latin typeface="Montserrat"/>
                <a:ea typeface="Montserrat"/>
                <a:cs typeface="Montserrat"/>
                <a:sym typeface="Montserrat"/>
              </a:rPr>
              <a:t> </a:t>
            </a:r>
            <a:r>
              <a:rPr b="0" i="0" lang="es" sz="1650" u="none" cap="none" strike="noStrike">
                <a:solidFill>
                  <a:srgbClr val="595959"/>
                </a:solidFill>
                <a:latin typeface="Montserrat"/>
                <a:ea typeface="Montserrat"/>
                <a:cs typeface="Montserrat"/>
                <a:sym typeface="Montserrat"/>
              </a:rPr>
              <a:t>equivale a </a:t>
            </a:r>
            <a:r>
              <a:rPr b="1" i="0" lang="es" sz="1650" u="none" cap="none" strike="noStrike">
                <a:solidFill>
                  <a:srgbClr val="595959"/>
                </a:solidFill>
                <a:latin typeface="Montserrat"/>
                <a:ea typeface="Montserrat"/>
                <a:cs typeface="Montserrat"/>
                <a:sym typeface="Montserrat"/>
              </a:rPr>
              <a:t>x = x + 1</a:t>
            </a:r>
            <a:r>
              <a:rPr b="0" i="0" lang="es" sz="1650" u="none" cap="none" strike="noStrike">
                <a:solidFill>
                  <a:srgbClr val="595959"/>
                </a:solidFill>
                <a:latin typeface="Montserrat"/>
                <a:ea typeface="Montserrat"/>
                <a:cs typeface="Montserrat"/>
                <a:sym typeface="Montserrat"/>
              </a:rPr>
              <a:t>. Los operadores compuestos realizan la operación indicada antes del signo igual, tomando como operandos la propia variable y el valor a la derecha del signo igual. Y el resultado se guarda en la variable.</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Operadores de pertenencia</a:t>
            </a:r>
            <a:endParaRPr/>
          </a:p>
        </p:txBody>
      </p:sp>
      <p:sp>
        <p:nvSpPr>
          <p:cNvPr id="497" name="Google Shape;497;p33"/>
          <p:cNvSpPr txBox="1"/>
          <p:nvPr/>
        </p:nvSpPr>
        <p:spPr>
          <a:xfrm>
            <a:off x="432000" y="1281675"/>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00"/>
              <a:buFont typeface="Arial"/>
              <a:buNone/>
            </a:pPr>
            <a:r>
              <a:rPr b="0" i="0" lang="es" sz="1600" u="none" cap="none" strike="noStrike">
                <a:solidFill>
                  <a:srgbClr val="595959"/>
                </a:solidFill>
                <a:latin typeface="Montserrat"/>
                <a:ea typeface="Montserrat"/>
                <a:cs typeface="Montserrat"/>
                <a:sym typeface="Montserrat"/>
              </a:rPr>
              <a:t>Los operadores de pertenencia se utilizan para comprobar si un caracter o cadena se encuentran dentro de otra.</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00"/>
              <a:buFont typeface="Arial"/>
              <a:buNone/>
            </a:pPr>
            <a:r>
              <a:t/>
            </a:r>
            <a:endParaRPr b="0" i="0" sz="16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aphicFrame>
        <p:nvGraphicFramePr>
          <p:cNvPr id="498" name="Google Shape;498;p33"/>
          <p:cNvGraphicFramePr/>
          <p:nvPr/>
        </p:nvGraphicFramePr>
        <p:xfrm>
          <a:off x="471113" y="2033900"/>
          <a:ext cx="3000000" cy="3000000"/>
        </p:xfrm>
        <a:graphic>
          <a:graphicData uri="http://schemas.openxmlformats.org/drawingml/2006/table">
            <a:tbl>
              <a:tblPr>
                <a:solidFill>
                  <a:srgbClr val="FFFFFF"/>
                </a:solidFill>
                <a:tableStyleId>{C1D576FD-4E4F-447F-9ED8-2410FE5220D9}</a:tableStyleId>
              </a:tblPr>
              <a:tblGrid>
                <a:gridCol w="1363950"/>
                <a:gridCol w="6632200"/>
              </a:tblGrid>
              <a:tr h="373600">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OPERADOR</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E66D"/>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DESCRIPCION</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E66D"/>
                    </a:solidFill>
                  </a:tcPr>
                </a:tc>
              </a:tr>
              <a:tr h="29527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in</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2"/>
                          </a:solidFill>
                          <a:latin typeface="Montserrat"/>
                          <a:ea typeface="Montserrat"/>
                          <a:cs typeface="Montserrat"/>
                          <a:sym typeface="Montserrat"/>
                        </a:rPr>
                        <a:t>Devuelve </a:t>
                      </a:r>
                      <a:r>
                        <a:rPr b="1" lang="es" sz="1100" u="none" cap="none" strike="noStrike">
                          <a:solidFill>
                            <a:schemeClr val="dk2"/>
                          </a:solidFill>
                          <a:latin typeface="Montserrat"/>
                          <a:ea typeface="Montserrat"/>
                          <a:cs typeface="Montserrat"/>
                          <a:sym typeface="Montserrat"/>
                        </a:rPr>
                        <a:t>True</a:t>
                      </a:r>
                      <a:r>
                        <a:rPr lang="es" sz="1100" u="none" cap="none" strike="noStrike">
                          <a:solidFill>
                            <a:schemeClr val="dk2"/>
                          </a:solidFill>
                          <a:latin typeface="Montserrat"/>
                          <a:ea typeface="Montserrat"/>
                          <a:cs typeface="Montserrat"/>
                          <a:sym typeface="Montserrat"/>
                        </a:rPr>
                        <a:t> si el valor se encuentra en una secuencia; </a:t>
                      </a:r>
                      <a:r>
                        <a:rPr b="1" lang="es" sz="1100" u="none" cap="none" strike="noStrike">
                          <a:solidFill>
                            <a:schemeClr val="dk2"/>
                          </a:solidFill>
                          <a:latin typeface="Montserrat"/>
                          <a:ea typeface="Montserrat"/>
                          <a:cs typeface="Montserrat"/>
                          <a:sym typeface="Montserrat"/>
                        </a:rPr>
                        <a:t>False</a:t>
                      </a:r>
                      <a:r>
                        <a:rPr lang="es" sz="1100" u="none" cap="none" strike="noStrike">
                          <a:solidFill>
                            <a:schemeClr val="dk2"/>
                          </a:solidFill>
                          <a:latin typeface="Montserrat"/>
                          <a:ea typeface="Montserrat"/>
                          <a:cs typeface="Montserrat"/>
                          <a:sym typeface="Montserrat"/>
                        </a:rPr>
                        <a:t> en caso contrario.</a:t>
                      </a:r>
                      <a:endParaRPr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29527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dk2"/>
                          </a:solidFill>
                          <a:latin typeface="Montserrat"/>
                          <a:ea typeface="Montserrat"/>
                          <a:cs typeface="Montserrat"/>
                          <a:sym typeface="Montserrat"/>
                        </a:rPr>
                        <a:t>not in</a:t>
                      </a:r>
                      <a:endParaRPr b="1"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s" sz="1100" u="none" cap="none" strike="noStrike">
                          <a:solidFill>
                            <a:schemeClr val="dk2"/>
                          </a:solidFill>
                          <a:latin typeface="Montserrat"/>
                          <a:ea typeface="Montserrat"/>
                          <a:cs typeface="Montserrat"/>
                          <a:sym typeface="Montserrat"/>
                        </a:rPr>
                        <a:t>Devuelve </a:t>
                      </a:r>
                      <a:r>
                        <a:rPr b="1" lang="es" sz="1100" u="none" cap="none" strike="noStrike">
                          <a:solidFill>
                            <a:schemeClr val="dk2"/>
                          </a:solidFill>
                          <a:latin typeface="Montserrat"/>
                          <a:ea typeface="Montserrat"/>
                          <a:cs typeface="Montserrat"/>
                          <a:sym typeface="Montserrat"/>
                        </a:rPr>
                        <a:t>True</a:t>
                      </a:r>
                      <a:r>
                        <a:rPr lang="es" sz="1100" u="none" cap="none" strike="noStrike">
                          <a:solidFill>
                            <a:schemeClr val="dk2"/>
                          </a:solidFill>
                          <a:latin typeface="Montserrat"/>
                          <a:ea typeface="Montserrat"/>
                          <a:cs typeface="Montserrat"/>
                          <a:sym typeface="Montserrat"/>
                        </a:rPr>
                        <a:t> si el valor no se encuentra en una secuencia; </a:t>
                      </a:r>
                      <a:r>
                        <a:rPr b="1" lang="es" sz="1100" u="none" cap="none" strike="noStrike">
                          <a:solidFill>
                            <a:schemeClr val="dk2"/>
                          </a:solidFill>
                          <a:latin typeface="Montserrat"/>
                          <a:ea typeface="Montserrat"/>
                          <a:cs typeface="Montserrat"/>
                          <a:sym typeface="Montserrat"/>
                        </a:rPr>
                        <a:t>False</a:t>
                      </a:r>
                      <a:r>
                        <a:rPr lang="es" sz="1100" u="none" cap="none" strike="noStrike">
                          <a:solidFill>
                            <a:schemeClr val="dk2"/>
                          </a:solidFill>
                          <a:latin typeface="Montserrat"/>
                          <a:ea typeface="Montserrat"/>
                          <a:cs typeface="Montserrat"/>
                          <a:sym typeface="Montserrat"/>
                        </a:rPr>
                        <a:t> en caso contrario.</a:t>
                      </a:r>
                      <a:endParaRPr sz="1100" u="none" cap="none" strike="noStrike">
                        <a:solidFill>
                          <a:schemeClr val="dk2"/>
                        </a:solidFill>
                        <a:latin typeface="Montserrat"/>
                        <a:ea typeface="Montserrat"/>
                        <a:cs typeface="Montserrat"/>
                        <a:sym typeface="Montserrat"/>
                      </a:endParaRPr>
                    </a:p>
                  </a:txBody>
                  <a:tcPr marT="57150" marB="57150" marR="114300" marL="1143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
        <p:nvSpPr>
          <p:cNvPr id="499" name="Google Shape;499;p33"/>
          <p:cNvSpPr/>
          <p:nvPr/>
        </p:nvSpPr>
        <p:spPr>
          <a:xfrm>
            <a:off x="2140300" y="3488849"/>
            <a:ext cx="4657800" cy="121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"Codo a Codo"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"Codo"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not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True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not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in</a:t>
            </a: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5F6167"/>
                </a:solidFill>
                <a:highlight>
                  <a:srgbClr val="23262E"/>
                </a:highlight>
                <a:latin typeface="Consolas"/>
                <a:ea typeface="Consolas"/>
                <a:cs typeface="Consolas"/>
                <a:sym typeface="Consolas"/>
              </a:rPr>
              <a:t># False</a:t>
            </a:r>
            <a:endParaRPr b="0" i="0" sz="1200" u="none" cap="none" strike="noStrike">
              <a:solidFill>
                <a:srgbClr val="D5CED9"/>
              </a:solidFill>
              <a:latin typeface="Consolas"/>
              <a:ea typeface="Consolas"/>
              <a:cs typeface="Consolas"/>
              <a:sym typeface="Consolas"/>
            </a:endParaRPr>
          </a:p>
        </p:txBody>
      </p:sp>
      <p:sp>
        <p:nvSpPr>
          <p:cNvPr id="500" name="Google Shape;500;p33"/>
          <p:cNvSpPr/>
          <p:nvPr/>
        </p:nvSpPr>
        <p:spPr>
          <a:xfrm>
            <a:off x="2140300" y="3200775"/>
            <a:ext cx="4657800" cy="2880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Ejemplos:</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4"/>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506" name="Google Shape;506;p3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5"/>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512" name="Google Shape;512;p35"/>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Material extra:</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3"/>
              </a:rPr>
              <a:t>Descarga Python</a:t>
            </a:r>
            <a:r>
              <a:rPr b="0" i="0" lang="es" sz="1500" u="none" cap="none" strike="noStrike">
                <a:solidFill>
                  <a:srgbClr val="595959"/>
                </a:solidFill>
                <a:latin typeface="Montserrat"/>
                <a:ea typeface="Montserrat"/>
                <a:cs typeface="Montserrat"/>
                <a:sym typeface="Montserrat"/>
              </a:rPr>
              <a:t> de su sitio oficial.</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4"/>
              </a:rPr>
              <a:t>Guia de estilo PEP8</a:t>
            </a:r>
            <a:r>
              <a:rPr b="0" i="0" lang="es" sz="1500" u="none" cap="none" strike="noStrike">
                <a:solidFill>
                  <a:srgbClr val="595959"/>
                </a:solidFill>
                <a:latin typeface="Montserrat"/>
                <a:ea typeface="Montserrat"/>
                <a:cs typeface="Montserrat"/>
                <a:sym typeface="Montserrat"/>
              </a:rPr>
              <a:t>, o cómo escribir buen código Python</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5"/>
              </a:rPr>
              <a:t>Apuntes de Majo</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6"/>
              </a:rPr>
              <a:t>Curso de Python</a:t>
            </a:r>
            <a:r>
              <a:rPr b="0" i="0" lang="es" sz="1500" u="none" cap="none" strike="noStrike">
                <a:solidFill>
                  <a:srgbClr val="595959"/>
                </a:solidFill>
                <a:latin typeface="Montserrat"/>
                <a:ea typeface="Montserrat"/>
                <a:cs typeface="Montserrat"/>
                <a:sym typeface="Montserrat"/>
              </a:rPr>
              <a:t>, en Código Facilito</a:t>
            </a:r>
            <a:endParaRPr b="0" i="0" sz="15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500"/>
              <a:buFont typeface="Arial"/>
              <a:buNone/>
            </a:pPr>
            <a:r>
              <a:rPr b="0" i="0" lang="es" sz="1500" u="none" cap="none" strike="noStrike">
                <a:solidFill>
                  <a:srgbClr val="595959"/>
                </a:solidFill>
                <a:latin typeface="Montserrat"/>
                <a:ea typeface="Montserrat"/>
                <a:cs typeface="Montserrat"/>
                <a:sym typeface="Montserrat"/>
              </a:rPr>
              <a:t>Videos:</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120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7"/>
              </a:rPr>
              <a:t>¿Qué es Python?</a:t>
            </a:r>
            <a:r>
              <a:rPr b="0" i="0" lang="es" sz="1500" u="none" cap="none" strike="noStrike">
                <a:solidFill>
                  <a:srgbClr val="595959"/>
                </a:solidFill>
                <a:latin typeface="Montserrat"/>
                <a:ea typeface="Montserrat"/>
                <a:cs typeface="Montserrat"/>
                <a:sym typeface="Montserrat"/>
              </a:rPr>
              <a:t> e Instalación de Python, en FAZT</a:t>
            </a:r>
            <a:endParaRPr b="0" i="0" sz="1500" u="none" cap="none" strike="noStrike">
              <a:solidFill>
                <a:srgbClr val="595959"/>
              </a:solidFill>
              <a:latin typeface="Montserrat"/>
              <a:ea typeface="Montserrat"/>
              <a:cs typeface="Montserrat"/>
              <a:sym typeface="Montserrat"/>
            </a:endParaRPr>
          </a:p>
          <a:p>
            <a:pPr indent="-323850" lvl="0" marL="457200" marR="0" rtl="0" algn="l">
              <a:lnSpc>
                <a:spcPct val="115000"/>
              </a:lnSpc>
              <a:spcBef>
                <a:spcPts val="0"/>
              </a:spcBef>
              <a:spcAft>
                <a:spcPts val="0"/>
              </a:spcAft>
              <a:buClr>
                <a:srgbClr val="595959"/>
              </a:buClr>
              <a:buSzPts val="1500"/>
              <a:buFont typeface="Montserrat"/>
              <a:buChar char="●"/>
            </a:pPr>
            <a:r>
              <a:rPr b="0" i="0" lang="es" sz="1500" u="sng" cap="none" strike="noStrike">
                <a:solidFill>
                  <a:schemeClr val="hlink"/>
                </a:solidFill>
                <a:latin typeface="Montserrat"/>
                <a:ea typeface="Montserrat"/>
                <a:cs typeface="Montserrat"/>
                <a:sym typeface="Montserrat"/>
                <a:hlinkClick r:id="rId8"/>
              </a:rPr>
              <a:t>Curso de Python</a:t>
            </a:r>
            <a:r>
              <a:rPr b="0" i="0" lang="es" sz="1500" u="none" cap="none" strike="noStrike">
                <a:solidFill>
                  <a:srgbClr val="595959"/>
                </a:solidFill>
                <a:latin typeface="Montserrat"/>
                <a:ea typeface="Montserrat"/>
                <a:cs typeface="Montserrat"/>
                <a:sym typeface="Montserrat"/>
              </a:rPr>
              <a:t>, en Píldoras informáticas</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6"/>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7"/>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8"/>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1200"/>
              </a:spcBef>
              <a:spcAft>
                <a:spcPts val="0"/>
              </a:spcAft>
              <a:buSzPts val="3700"/>
              <a:buNone/>
            </a:pPr>
            <a:r>
              <a:rPr lang="es"/>
              <a:t>Muchas gracias por tu atención.</a:t>
            </a:r>
            <a:endParaRPr/>
          </a:p>
          <a:p>
            <a:pPr indent="0" lvl="0" marL="0" rtl="0" algn="l">
              <a:lnSpc>
                <a:spcPct val="115000"/>
              </a:lnSpc>
              <a:spcBef>
                <a:spcPts val="1200"/>
              </a:spcBef>
              <a:spcAft>
                <a:spcPts val="1200"/>
              </a:spcAft>
              <a:buSzPts val="3700"/>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