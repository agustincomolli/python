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Lst>
  <p:sldSz cy="5143500" cx="9144000"/>
  <p:notesSz cx="6858000" cy="9144000"/>
  <p:embeddedFontLst>
    <p:embeddedFont>
      <p:font typeface="Montserrat SemiBold"/>
      <p:regular r:id="rId60"/>
      <p:bold r:id="rId61"/>
      <p:italic r:id="rId62"/>
      <p:boldItalic r:id="rId63"/>
    </p:embeddedFont>
    <p:embeddedFont>
      <p:font typeface="Montserrat"/>
      <p:regular r:id="rId64"/>
      <p:bold r:id="rId65"/>
      <p:italic r:id="rId66"/>
      <p:boldItalic r:id="rId67"/>
    </p:embeddedFont>
    <p:embeddedFont>
      <p:font typeface="Montserrat Medium"/>
      <p:regular r:id="rId68"/>
      <p:bold r:id="rId69"/>
      <p:italic r:id="rId70"/>
      <p:boldItalic r:id="rId7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37">
          <p15:clr>
            <a:srgbClr val="A4A3A4"/>
          </p15:clr>
        </p15:guide>
        <p15:guide id="2" pos="2880">
          <p15:clr>
            <a:srgbClr val="A4A3A4"/>
          </p15:clr>
        </p15:guide>
      </p15:sldGuideLst>
    </p:ext>
    <p:ext uri="http://customooxmlschemas.google.com/">
      <go:slidesCustomData xmlns:go="http://customooxmlschemas.google.com/" r:id="rId72" roundtripDataSignature="AMtx7mhRaLM6arVb5HMFr6Wf6SAsVeDeR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38D5ABA-4D10-4F86-B21B-73E0E010D3C4}">
  <a:tblStyle styleId="{538D5ABA-4D10-4F86-B21B-73E0E010D3C4}"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E833AD45-AE5B-4F82-8E0C-4E39678E6C23}"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37"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2" Type="http://customschemas.google.com/relationships/presentationmetadata" Target="meta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MontserratMedium-boldItalic.fntdata"/><Relationship Id="rId70" Type="http://schemas.openxmlformats.org/officeDocument/2006/relationships/font" Target="fonts/MontserratMedium-italic.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MontserratSemiBold-italic.fntdata"/><Relationship Id="rId61" Type="http://schemas.openxmlformats.org/officeDocument/2006/relationships/font" Target="fonts/MontserratSemiBold-bold.fntdata"/><Relationship Id="rId20" Type="http://schemas.openxmlformats.org/officeDocument/2006/relationships/slide" Target="slides/slide14.xml"/><Relationship Id="rId64" Type="http://schemas.openxmlformats.org/officeDocument/2006/relationships/font" Target="fonts/Montserrat-regular.fntdata"/><Relationship Id="rId63" Type="http://schemas.openxmlformats.org/officeDocument/2006/relationships/font" Target="fonts/MontserratSemiBold-boldItalic.fntdata"/><Relationship Id="rId22" Type="http://schemas.openxmlformats.org/officeDocument/2006/relationships/slide" Target="slides/slide16.xml"/><Relationship Id="rId66" Type="http://schemas.openxmlformats.org/officeDocument/2006/relationships/font" Target="fonts/Montserrat-italic.fntdata"/><Relationship Id="rId21" Type="http://schemas.openxmlformats.org/officeDocument/2006/relationships/slide" Target="slides/slide15.xml"/><Relationship Id="rId65" Type="http://schemas.openxmlformats.org/officeDocument/2006/relationships/font" Target="fonts/Montserrat-bold.fntdata"/><Relationship Id="rId24" Type="http://schemas.openxmlformats.org/officeDocument/2006/relationships/slide" Target="slides/slide18.xml"/><Relationship Id="rId68" Type="http://schemas.openxmlformats.org/officeDocument/2006/relationships/font" Target="fonts/MontserratMedium-regular.fntdata"/><Relationship Id="rId23" Type="http://schemas.openxmlformats.org/officeDocument/2006/relationships/slide" Target="slides/slide17.xml"/><Relationship Id="rId67" Type="http://schemas.openxmlformats.org/officeDocument/2006/relationships/font" Target="fonts/Montserrat-boldItalic.fntdata"/><Relationship Id="rId60" Type="http://schemas.openxmlformats.org/officeDocument/2006/relationships/font" Target="fonts/MontserratSemiBold-regular.fntdata"/><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MontserratMedium-bold.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 name="Google Shape;23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0" name="Google Shape;240;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7" name="Google Shape;24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4" name="Google Shape;25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6" name="Google Shape;26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2" name="Google Shape;272;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1" name="Google Shape;281;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9" name="Google Shape;289;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7" name="Google Shape;297;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5" name="Google Shape;305;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8" name="Google Shape;328;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0" name="Google Shape;350;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3" name="Google Shape;363;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0" name="Google Shape;410;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7" name="Google Shape;457;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7" name="Google Shape;467;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3" name="Google Shape;473;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3" name="Google Shape;483;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0" name="Google Shape;490;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5" name="Google Shape;505;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1" name="Google Shape;511;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7" name="Google Shape;517;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6" name="Google Shape;526;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4" name="Google Shape;534;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2" name="Google Shape;542;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1" name="Google Shape;551;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9" name="Google Shape;559;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3" name="Google Shape;573;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9" name="Google Shape;579;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5" name="Google Shape;585;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1" name="Google Shape;591;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7" name="Google Shape;597;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p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4" name="Google Shape;604;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1" name="Google Shape;611;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3" name="Google Shape;623;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p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2" name="Google Shape;632;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0" name="Google Shape;640;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p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8" name="Google Shape;648;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5" name="Google Shape;655;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p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1" name="Google Shape;661;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p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7" name="Google Shape;667;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3" name="Google Shape;673;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p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9" name="Google Shape;679;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p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4" name="Google Shape;684;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p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9" name="Google Shape;689;p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5.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5.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2.png"/><Relationship Id="rId4"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png"/><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0.png"/><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png"/><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6.png"/><Relationship Id="rId4"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10.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png"/><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 name="Shape 9"/>
        <p:cNvGrpSpPr/>
        <p:nvPr/>
      </p:nvGrpSpPr>
      <p:grpSpPr>
        <a:xfrm>
          <a:off x="0" y="0"/>
          <a:ext cx="0" cy="0"/>
          <a:chOff x="0" y="0"/>
          <a:chExt cx="0" cy="0"/>
        </a:xfrm>
      </p:grpSpPr>
      <p:sp>
        <p:nvSpPr>
          <p:cNvPr id="10" name="Google Shape;10;p55"/>
          <p:cNvSpPr txBox="1"/>
          <p:nvPr>
            <p:ph type="title"/>
          </p:nvPr>
        </p:nvSpPr>
        <p:spPr>
          <a:xfrm>
            <a:off x="3335100" y="1617575"/>
            <a:ext cx="5497200" cy="13752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700"/>
              <a:buFont typeface="Montserrat"/>
              <a:buNone/>
              <a:defRPr b="1" sz="3700">
                <a:latin typeface="Montserrat"/>
                <a:ea typeface="Montserrat"/>
                <a:cs typeface="Montserrat"/>
                <a:sym typeface="Montserrat"/>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pic>
        <p:nvPicPr>
          <p:cNvPr id="11" name="Google Shape;11;p55"/>
          <p:cNvPicPr preferRelativeResize="0"/>
          <p:nvPr/>
        </p:nvPicPr>
        <p:blipFill rotWithShape="1">
          <a:blip r:embed="rId2">
            <a:alphaModFix/>
          </a:blip>
          <a:srcRect b="0" l="0" r="0" t="0"/>
          <a:stretch/>
        </p:blipFill>
        <p:spPr>
          <a:xfrm>
            <a:off x="0" y="1290050"/>
            <a:ext cx="3040999" cy="2072300"/>
          </a:xfrm>
          <a:prstGeom prst="rect">
            <a:avLst/>
          </a:prstGeom>
          <a:noFill/>
          <a:ln>
            <a:noFill/>
          </a:ln>
        </p:spPr>
      </p:pic>
      <p:pic>
        <p:nvPicPr>
          <p:cNvPr id="12" name="Google Shape;12;p55"/>
          <p:cNvPicPr preferRelativeResize="0"/>
          <p:nvPr/>
        </p:nvPicPr>
        <p:blipFill rotWithShape="1">
          <a:blip r:embed="rId3">
            <a:alphaModFix/>
          </a:blip>
          <a:srcRect b="0" l="0" r="0" t="0"/>
          <a:stretch/>
        </p:blipFill>
        <p:spPr>
          <a:xfrm>
            <a:off x="8222877" y="4573625"/>
            <a:ext cx="741498" cy="399274"/>
          </a:xfrm>
          <a:prstGeom prst="rect">
            <a:avLst/>
          </a:prstGeom>
          <a:noFill/>
          <a:ln>
            <a:noFill/>
          </a:ln>
        </p:spPr>
      </p:pic>
      <p:sp>
        <p:nvSpPr>
          <p:cNvPr id="13" name="Google Shape;13;p55"/>
          <p:cNvSpPr txBox="1"/>
          <p:nvPr/>
        </p:nvSpPr>
        <p:spPr>
          <a:xfrm>
            <a:off x="3326000" y="3062475"/>
            <a:ext cx="5534400" cy="4002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Medium"/>
              <a:ea typeface="Montserrat Medium"/>
              <a:cs typeface="Montserrat Medium"/>
              <a:sym typeface="Montserrat Medium"/>
            </a:endParaRPr>
          </a:p>
        </p:txBody>
      </p:sp>
      <p:sp>
        <p:nvSpPr>
          <p:cNvPr id="14" name="Google Shape;14;p55"/>
          <p:cNvSpPr txBox="1"/>
          <p:nvPr>
            <p:ph idx="1" type="subTitle"/>
          </p:nvPr>
        </p:nvSpPr>
        <p:spPr>
          <a:xfrm>
            <a:off x="3335025" y="2986525"/>
            <a:ext cx="55344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5" name="Google Shape;15;p55"/>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 name="Google Shape;16;p55"/>
          <p:cNvPicPr preferRelativeResize="0"/>
          <p:nvPr/>
        </p:nvPicPr>
        <p:blipFill rotWithShape="1">
          <a:blip r:embed="rId4">
            <a:alphaModFix/>
          </a:blip>
          <a:srcRect b="0" l="0" r="0" t="0"/>
          <a:stretch/>
        </p:blipFill>
        <p:spPr>
          <a:xfrm>
            <a:off x="8155184" y="33947"/>
            <a:ext cx="876879" cy="3992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con título y subtítulo" type="title">
  <p:cSld name="TITLE">
    <p:spTree>
      <p:nvGrpSpPr>
        <p:cNvPr id="17" name="Shape 17"/>
        <p:cNvGrpSpPr/>
        <p:nvPr/>
      </p:nvGrpSpPr>
      <p:grpSpPr>
        <a:xfrm>
          <a:off x="0" y="0"/>
          <a:ext cx="0" cy="0"/>
          <a:chOff x="0" y="0"/>
          <a:chExt cx="0" cy="0"/>
        </a:xfrm>
      </p:grpSpPr>
      <p:sp>
        <p:nvSpPr>
          <p:cNvPr id="18" name="Google Shape;18;p56"/>
          <p:cNvSpPr/>
          <p:nvPr/>
        </p:nvSpPr>
        <p:spPr>
          <a:xfrm>
            <a:off x="-13650" y="432892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56"/>
          <p:cNvSpPr txBox="1"/>
          <p:nvPr>
            <p:ph type="ctrTitle"/>
          </p:nvPr>
        </p:nvSpPr>
        <p:spPr>
          <a:xfrm>
            <a:off x="311700" y="1226800"/>
            <a:ext cx="8520600" cy="1570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rgbClr val="333333"/>
              </a:buClr>
              <a:buSzPts val="4900"/>
              <a:buFont typeface="Montserrat"/>
              <a:buNone/>
              <a:defRPr b="1" sz="4900">
                <a:solidFill>
                  <a:srgbClr val="333333"/>
                </a:solidFill>
                <a:latin typeface="Montserrat"/>
                <a:ea typeface="Montserrat"/>
                <a:cs typeface="Montserrat"/>
                <a:sym typeface="Montserrat"/>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20" name="Google Shape;20;p5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21" name="Google Shape;21;p56"/>
          <p:cNvPicPr preferRelativeResize="0"/>
          <p:nvPr/>
        </p:nvPicPr>
        <p:blipFill rotWithShape="1">
          <a:blip r:embed="rId2">
            <a:alphaModFix/>
          </a:blip>
          <a:srcRect b="0" l="0" r="0" t="0"/>
          <a:stretch/>
        </p:blipFill>
        <p:spPr>
          <a:xfrm>
            <a:off x="7910675" y="4073939"/>
            <a:ext cx="1365875" cy="1365875"/>
          </a:xfrm>
          <a:prstGeom prst="rect">
            <a:avLst/>
          </a:prstGeom>
          <a:noFill/>
          <a:ln>
            <a:noFill/>
          </a:ln>
        </p:spPr>
      </p:pic>
      <p:sp>
        <p:nvSpPr>
          <p:cNvPr id="22" name="Google Shape;22;p56"/>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 name="Google Shape;23;p56"/>
          <p:cNvPicPr preferRelativeResize="0"/>
          <p:nvPr/>
        </p:nvPicPr>
        <p:blipFill rotWithShape="1">
          <a:blip r:embed="rId3">
            <a:alphaModFix/>
          </a:blip>
          <a:srcRect b="0" l="0" r="0" t="0"/>
          <a:stretch/>
        </p:blipFill>
        <p:spPr>
          <a:xfrm>
            <a:off x="8155184" y="33947"/>
            <a:ext cx="876879" cy="399275"/>
          </a:xfrm>
          <a:prstGeom prst="rect">
            <a:avLst/>
          </a:prstGeom>
          <a:noFill/>
          <a:ln>
            <a:noFill/>
          </a:ln>
        </p:spPr>
      </p:pic>
      <p:pic>
        <p:nvPicPr>
          <p:cNvPr id="24" name="Google Shape;24;p56"/>
          <p:cNvPicPr preferRelativeResize="0"/>
          <p:nvPr/>
        </p:nvPicPr>
        <p:blipFill rotWithShape="1">
          <a:blip r:embed="rId4">
            <a:alphaModFix/>
          </a:blip>
          <a:srcRect b="0" l="0" r="0" t="0"/>
          <a:stretch/>
        </p:blipFill>
        <p:spPr>
          <a:xfrm>
            <a:off x="0" y="4264238"/>
            <a:ext cx="1163080" cy="792599"/>
          </a:xfrm>
          <a:prstGeom prst="rect">
            <a:avLst/>
          </a:prstGeom>
          <a:noFill/>
          <a:ln>
            <a:noFill/>
          </a:ln>
        </p:spPr>
      </p:pic>
    </p:spTree>
  </p:cSld>
  <p:clrMapOvr>
    <a:masterClrMapping/>
  </p:clrMapOvr>
  <p:extLst>
    <p:ext uri="{DCECCB84-F9BA-43D5-87BE-67443E8EF086}">
      <p15:sldGuideLst>
        <p15:guide id="1" pos="5413">
          <p15:clr>
            <a:srgbClr val="FA7B17"/>
          </p15:clr>
        </p15:guide>
        <p15:guide id="2" pos="347">
          <p15:clr>
            <a:srgbClr val="FA7B17"/>
          </p15:clr>
        </p15:guide>
        <p15:guide id="3" orient="horz" pos="2778">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ase 2 - 37">
  <p:cSld name="BLANK_1_1">
    <p:spTree>
      <p:nvGrpSpPr>
        <p:cNvPr id="25" name="Shape 25"/>
        <p:cNvGrpSpPr/>
        <p:nvPr/>
      </p:nvGrpSpPr>
      <p:grpSpPr>
        <a:xfrm>
          <a:off x="0" y="0"/>
          <a:ext cx="0" cy="0"/>
          <a:chOff x="0" y="0"/>
          <a:chExt cx="0" cy="0"/>
        </a:xfrm>
      </p:grpSpPr>
      <p:sp>
        <p:nvSpPr>
          <p:cNvPr id="26" name="Google Shape;26;p57"/>
          <p:cNvSpPr/>
          <p:nvPr/>
        </p:nvSpPr>
        <p:spPr>
          <a:xfrm>
            <a:off x="212425" y="1172325"/>
            <a:ext cx="8636100" cy="436800"/>
          </a:xfrm>
          <a:prstGeom prst="chevron">
            <a:avLst>
              <a:gd fmla="val 50000"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27" name="Google Shape;27;p57"/>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57"/>
          <p:cNvSpPr/>
          <p:nvPr/>
        </p:nvSpPr>
        <p:spPr>
          <a:xfrm>
            <a:off x="1139350" y="7922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57"/>
          <p:cNvSpPr/>
          <p:nvPr/>
        </p:nvSpPr>
        <p:spPr>
          <a:xfrm>
            <a:off x="6745000" y="8084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57"/>
          <p:cNvSpPr txBox="1"/>
          <p:nvPr/>
        </p:nvSpPr>
        <p:spPr>
          <a:xfrm>
            <a:off x="528700" y="2150250"/>
            <a:ext cx="2397900" cy="21312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31" name="Google Shape;31;p57"/>
          <p:cNvSpPr txBox="1"/>
          <p:nvPr/>
        </p:nvSpPr>
        <p:spPr>
          <a:xfrm>
            <a:off x="6134350" y="2150250"/>
            <a:ext cx="2397900" cy="21216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32" name="Google Shape;32;p57"/>
          <p:cNvSpPr txBox="1"/>
          <p:nvPr>
            <p:ph type="title"/>
          </p:nvPr>
        </p:nvSpPr>
        <p:spPr>
          <a:xfrm>
            <a:off x="1271800" y="1159375"/>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33" name="Google Shape;33;p57"/>
          <p:cNvSpPr txBox="1"/>
          <p:nvPr>
            <p:ph idx="2" type="title"/>
          </p:nvPr>
        </p:nvSpPr>
        <p:spPr>
          <a:xfrm>
            <a:off x="3938175" y="1159375"/>
            <a:ext cx="109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400"/>
              <a:buFont typeface="Montserrat"/>
              <a:buNone/>
              <a:defRPr b="1" sz="1400">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34" name="Google Shape;34;p57"/>
          <p:cNvSpPr txBox="1"/>
          <p:nvPr>
            <p:ph idx="3" type="title"/>
          </p:nvPr>
        </p:nvSpPr>
        <p:spPr>
          <a:xfrm>
            <a:off x="6877450" y="1159388"/>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35" name="Google Shape;35;p57"/>
          <p:cNvSpPr txBox="1"/>
          <p:nvPr>
            <p:ph idx="4" type="title"/>
          </p:nvPr>
        </p:nvSpPr>
        <p:spPr>
          <a:xfrm>
            <a:off x="532575" y="2150850"/>
            <a:ext cx="2397900" cy="2112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6" name="Google Shape;36;p57"/>
          <p:cNvSpPr txBox="1"/>
          <p:nvPr>
            <p:ph idx="5" type="title"/>
          </p:nvPr>
        </p:nvSpPr>
        <p:spPr>
          <a:xfrm>
            <a:off x="6130475" y="2159925"/>
            <a:ext cx="2397900" cy="2112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7" name="Google Shape;37;p57"/>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8" name="Google Shape;38;p57"/>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39" name="Google Shape;39;p57"/>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sp>
        <p:nvSpPr>
          <p:cNvPr id="40" name="Google Shape;40;p57"/>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41" name="Google Shape;41;p57"/>
          <p:cNvSpPr txBox="1"/>
          <p:nvPr>
            <p:ph idx="6" type="title"/>
          </p:nvPr>
        </p:nvSpPr>
        <p:spPr>
          <a:xfrm>
            <a:off x="3331525" y="2159925"/>
            <a:ext cx="2397900" cy="2121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42" name="Google Shape;42;p57"/>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epto destacado y explicación">
  <p:cSld name="TITLE_1">
    <p:spTree>
      <p:nvGrpSpPr>
        <p:cNvPr id="43" name="Shape 43"/>
        <p:cNvGrpSpPr/>
        <p:nvPr/>
      </p:nvGrpSpPr>
      <p:grpSpPr>
        <a:xfrm>
          <a:off x="0" y="0"/>
          <a:ext cx="0" cy="0"/>
          <a:chOff x="0" y="0"/>
          <a:chExt cx="0" cy="0"/>
        </a:xfrm>
      </p:grpSpPr>
      <p:sp>
        <p:nvSpPr>
          <p:cNvPr id="44" name="Google Shape;44;p58"/>
          <p:cNvSpPr/>
          <p:nvPr/>
        </p:nvSpPr>
        <p:spPr>
          <a:xfrm>
            <a:off x="-27250" y="-18175"/>
            <a:ext cx="91713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58"/>
          <p:cNvSpPr txBox="1"/>
          <p:nvPr>
            <p:ph type="ctrTitle"/>
          </p:nvPr>
        </p:nvSpPr>
        <p:spPr>
          <a:xfrm>
            <a:off x="550375" y="7600"/>
            <a:ext cx="8043300" cy="1570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lt1"/>
              </a:buClr>
              <a:buSzPts val="4000"/>
              <a:buFont typeface="Montserrat"/>
              <a:buNone/>
              <a:defRPr b="1" sz="4000">
                <a:solidFill>
                  <a:schemeClr val="lt1"/>
                </a:solidFill>
                <a:latin typeface="Montserrat"/>
                <a:ea typeface="Montserrat"/>
                <a:cs typeface="Montserrat"/>
                <a:sym typeface="Montserrat"/>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46" name="Google Shape;46;p58"/>
          <p:cNvSpPr txBox="1"/>
          <p:nvPr>
            <p:ph idx="1" type="subTitle"/>
          </p:nvPr>
        </p:nvSpPr>
        <p:spPr>
          <a:xfrm>
            <a:off x="550375" y="1614925"/>
            <a:ext cx="8043300" cy="2649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700"/>
              <a:buFont typeface="Montserrat Medium"/>
              <a:buNone/>
              <a:defRPr sz="1700">
                <a:latin typeface="Montserrat Medium"/>
                <a:ea typeface="Montserrat Medium"/>
                <a:cs typeface="Montserrat Medium"/>
                <a:sym typeface="Montserrat Medium"/>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47" name="Google Shape;47;p58"/>
          <p:cNvPicPr preferRelativeResize="0"/>
          <p:nvPr/>
        </p:nvPicPr>
        <p:blipFill rotWithShape="1">
          <a:blip r:embed="rId2">
            <a:alphaModFix/>
          </a:blip>
          <a:srcRect b="0" l="0" r="0" t="0"/>
          <a:stretch/>
        </p:blipFill>
        <p:spPr>
          <a:xfrm>
            <a:off x="7910675" y="4073939"/>
            <a:ext cx="1365875" cy="1365875"/>
          </a:xfrm>
          <a:prstGeom prst="rect">
            <a:avLst/>
          </a:prstGeom>
          <a:noFill/>
          <a:ln>
            <a:noFill/>
          </a:ln>
        </p:spPr>
      </p:pic>
      <p:pic>
        <p:nvPicPr>
          <p:cNvPr id="48" name="Google Shape;48;p58"/>
          <p:cNvPicPr preferRelativeResize="0"/>
          <p:nvPr/>
        </p:nvPicPr>
        <p:blipFill rotWithShape="1">
          <a:blip r:embed="rId3">
            <a:alphaModFix/>
          </a:blip>
          <a:srcRect b="0" l="0" r="0" t="0"/>
          <a:stretch/>
        </p:blipFill>
        <p:spPr>
          <a:xfrm>
            <a:off x="8155184" y="33947"/>
            <a:ext cx="876879" cy="399275"/>
          </a:xfrm>
          <a:prstGeom prst="rect">
            <a:avLst/>
          </a:prstGeom>
          <a:noFill/>
          <a:ln>
            <a:noFill/>
          </a:ln>
        </p:spPr>
      </p:pic>
      <p:pic>
        <p:nvPicPr>
          <p:cNvPr id="49" name="Google Shape;49;p58"/>
          <p:cNvPicPr preferRelativeResize="0"/>
          <p:nvPr/>
        </p:nvPicPr>
        <p:blipFill rotWithShape="1">
          <a:blip r:embed="rId4">
            <a:alphaModFix/>
          </a:blip>
          <a:srcRect b="0" l="0" r="0" t="0"/>
          <a:stretch/>
        </p:blipFill>
        <p:spPr>
          <a:xfrm>
            <a:off x="0" y="4264238"/>
            <a:ext cx="1163080" cy="792599"/>
          </a:xfrm>
          <a:prstGeom prst="rect">
            <a:avLst/>
          </a:prstGeom>
          <a:noFill/>
          <a:ln>
            <a:noFill/>
          </a:ln>
        </p:spPr>
      </p:pic>
    </p:spTree>
  </p:cSld>
  <p:clrMapOvr>
    <a:masterClrMapping/>
  </p:clrMapOvr>
  <p:extLst>
    <p:ext uri="{DCECCB84-F9BA-43D5-87BE-67443E8EF086}">
      <p15:sldGuideLst>
        <p15:guide id="1" pos="5413">
          <p15:clr>
            <a:srgbClr val="FA7B17"/>
          </p15:clr>
        </p15:guide>
        <p15:guide id="2" pos="347">
          <p15:clr>
            <a:srgbClr val="FA7B17"/>
          </p15:clr>
        </p15:guide>
        <p15:guide id="3" orient="horz" pos="2778">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0" name="Shape 50"/>
        <p:cNvGrpSpPr/>
        <p:nvPr/>
      </p:nvGrpSpPr>
      <p:grpSpPr>
        <a:xfrm>
          <a:off x="0" y="0"/>
          <a:ext cx="0" cy="0"/>
          <a:chOff x="0" y="0"/>
          <a:chExt cx="0" cy="0"/>
        </a:xfrm>
      </p:grpSpPr>
      <p:sp>
        <p:nvSpPr>
          <p:cNvPr id="51" name="Google Shape;51;p59"/>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700"/>
              <a:buFont typeface="Montserrat Medium"/>
              <a:buNone/>
              <a:defRPr sz="2700">
                <a:latin typeface="Montserrat Medium"/>
                <a:ea typeface="Montserrat Medium"/>
                <a:cs typeface="Montserrat Medium"/>
                <a:sym typeface="Montserrat Medium"/>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2" name="Google Shape;52;p59"/>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Font typeface="Montserrat"/>
              <a:buChar char="●"/>
              <a:defRPr>
                <a:latin typeface="Montserrat"/>
                <a:ea typeface="Montserrat"/>
                <a:cs typeface="Montserrat"/>
                <a:sym typeface="Montserrat"/>
              </a:defRPr>
            </a:lvl1pPr>
            <a:lvl2pPr indent="-317500" lvl="1" marL="914400" algn="l">
              <a:lnSpc>
                <a:spcPct val="115000"/>
              </a:lnSpc>
              <a:spcBef>
                <a:spcPts val="0"/>
              </a:spcBef>
              <a:spcAft>
                <a:spcPts val="0"/>
              </a:spcAft>
              <a:buSzPts val="1400"/>
              <a:buFont typeface="Montserrat"/>
              <a:buChar char="○"/>
              <a:defRPr>
                <a:latin typeface="Montserrat"/>
                <a:ea typeface="Montserrat"/>
                <a:cs typeface="Montserrat"/>
                <a:sym typeface="Montserrat"/>
              </a:defRPr>
            </a:lvl2pPr>
            <a:lvl3pPr indent="-317500" lvl="2" marL="1371600" algn="l">
              <a:lnSpc>
                <a:spcPct val="115000"/>
              </a:lnSpc>
              <a:spcBef>
                <a:spcPts val="0"/>
              </a:spcBef>
              <a:spcAft>
                <a:spcPts val="0"/>
              </a:spcAft>
              <a:buSzPts val="1400"/>
              <a:buFont typeface="Montserrat"/>
              <a:buChar char="■"/>
              <a:defRPr>
                <a:latin typeface="Montserrat"/>
                <a:ea typeface="Montserrat"/>
                <a:cs typeface="Montserrat"/>
                <a:sym typeface="Montserrat"/>
              </a:defRPr>
            </a:lvl3pPr>
            <a:lvl4pPr indent="-317500" lvl="3" marL="1828800" algn="l">
              <a:lnSpc>
                <a:spcPct val="115000"/>
              </a:lnSpc>
              <a:spcBef>
                <a:spcPts val="0"/>
              </a:spcBef>
              <a:spcAft>
                <a:spcPts val="0"/>
              </a:spcAft>
              <a:buSzPts val="1400"/>
              <a:buFont typeface="Montserrat"/>
              <a:buChar char="●"/>
              <a:defRPr>
                <a:latin typeface="Montserrat"/>
                <a:ea typeface="Montserrat"/>
                <a:cs typeface="Montserrat"/>
                <a:sym typeface="Montserrat"/>
              </a:defRPr>
            </a:lvl4pPr>
            <a:lvl5pPr indent="-317500" lvl="4" marL="2286000" algn="l">
              <a:lnSpc>
                <a:spcPct val="115000"/>
              </a:lnSpc>
              <a:spcBef>
                <a:spcPts val="0"/>
              </a:spcBef>
              <a:spcAft>
                <a:spcPts val="0"/>
              </a:spcAft>
              <a:buSzPts val="1400"/>
              <a:buFont typeface="Montserrat"/>
              <a:buChar char="○"/>
              <a:defRPr>
                <a:latin typeface="Montserrat"/>
                <a:ea typeface="Montserrat"/>
                <a:cs typeface="Montserrat"/>
                <a:sym typeface="Montserrat"/>
              </a:defRPr>
            </a:lvl5pPr>
            <a:lvl6pPr indent="-317500" lvl="5" marL="2743200" algn="l">
              <a:lnSpc>
                <a:spcPct val="115000"/>
              </a:lnSpc>
              <a:spcBef>
                <a:spcPts val="0"/>
              </a:spcBef>
              <a:spcAft>
                <a:spcPts val="0"/>
              </a:spcAft>
              <a:buSzPts val="1400"/>
              <a:buFont typeface="Montserrat"/>
              <a:buChar char="■"/>
              <a:defRPr>
                <a:latin typeface="Montserrat"/>
                <a:ea typeface="Montserrat"/>
                <a:cs typeface="Montserrat"/>
                <a:sym typeface="Montserrat"/>
              </a:defRPr>
            </a:lvl6pPr>
            <a:lvl7pPr indent="-317500" lvl="6" marL="3200400" algn="l">
              <a:lnSpc>
                <a:spcPct val="115000"/>
              </a:lnSpc>
              <a:spcBef>
                <a:spcPts val="0"/>
              </a:spcBef>
              <a:spcAft>
                <a:spcPts val="0"/>
              </a:spcAft>
              <a:buSzPts val="1400"/>
              <a:buFont typeface="Montserrat"/>
              <a:buChar char="●"/>
              <a:defRPr>
                <a:latin typeface="Montserrat"/>
                <a:ea typeface="Montserrat"/>
                <a:cs typeface="Montserrat"/>
                <a:sym typeface="Montserrat"/>
              </a:defRPr>
            </a:lvl7pPr>
            <a:lvl8pPr indent="-317500" lvl="7" marL="3657600" algn="l">
              <a:lnSpc>
                <a:spcPct val="115000"/>
              </a:lnSpc>
              <a:spcBef>
                <a:spcPts val="0"/>
              </a:spcBef>
              <a:spcAft>
                <a:spcPts val="0"/>
              </a:spcAft>
              <a:buSzPts val="1400"/>
              <a:buFont typeface="Montserrat"/>
              <a:buChar char="○"/>
              <a:defRPr>
                <a:latin typeface="Montserrat"/>
                <a:ea typeface="Montserrat"/>
                <a:cs typeface="Montserrat"/>
                <a:sym typeface="Montserrat"/>
              </a:defRPr>
            </a:lvl8pPr>
            <a:lvl9pPr indent="-317500" lvl="8" marL="4114800" algn="l">
              <a:lnSpc>
                <a:spcPct val="115000"/>
              </a:lnSpc>
              <a:spcBef>
                <a:spcPts val="0"/>
              </a:spcBef>
              <a:spcAft>
                <a:spcPts val="0"/>
              </a:spcAft>
              <a:buSzPts val="1400"/>
              <a:buFont typeface="Montserrat"/>
              <a:buChar char="■"/>
              <a:defRPr>
                <a:latin typeface="Montserrat"/>
                <a:ea typeface="Montserrat"/>
                <a:cs typeface="Montserrat"/>
                <a:sym typeface="Montserrat"/>
              </a:defRPr>
            </a:lvl9pPr>
          </a:lstStyle>
          <a:p/>
        </p:txBody>
      </p:sp>
      <p:pic>
        <p:nvPicPr>
          <p:cNvPr id="53" name="Google Shape;53;p59"/>
          <p:cNvPicPr preferRelativeResize="0"/>
          <p:nvPr/>
        </p:nvPicPr>
        <p:blipFill rotWithShape="1">
          <a:blip r:embed="rId2">
            <a:alphaModFix/>
          </a:blip>
          <a:srcRect b="0" l="0" r="0" t="0"/>
          <a:stretch/>
        </p:blipFill>
        <p:spPr>
          <a:xfrm>
            <a:off x="8078975" y="4699100"/>
            <a:ext cx="558475" cy="300725"/>
          </a:xfrm>
          <a:prstGeom prst="rect">
            <a:avLst/>
          </a:prstGeom>
          <a:noFill/>
          <a:ln>
            <a:noFill/>
          </a:ln>
        </p:spPr>
      </p:pic>
      <p:sp>
        <p:nvSpPr>
          <p:cNvPr id="54" name="Google Shape;54;p59"/>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5" name="Google Shape;55;p59"/>
          <p:cNvPicPr preferRelativeResize="0"/>
          <p:nvPr/>
        </p:nvPicPr>
        <p:blipFill rotWithShape="1">
          <a:blip r:embed="rId3">
            <a:alphaModFix/>
          </a:blip>
          <a:srcRect b="0" l="0" r="0" t="0"/>
          <a:stretch/>
        </p:blipFill>
        <p:spPr>
          <a:xfrm>
            <a:off x="8155184" y="33947"/>
            <a:ext cx="876879" cy="399275"/>
          </a:xfrm>
          <a:prstGeom prst="rect">
            <a:avLst/>
          </a:prstGeom>
          <a:noFill/>
          <a:ln>
            <a:noFill/>
          </a:ln>
        </p:spPr>
      </p:pic>
      <p:pic>
        <p:nvPicPr>
          <p:cNvPr id="56" name="Google Shape;56;p59"/>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72">
          <p15:clr>
            <a:srgbClr val="FA7B17"/>
          </p15:clr>
        </p15:guide>
        <p15:guide id="2" pos="5488">
          <p15:clr>
            <a:srgbClr val="FA7B17"/>
          </p15:clr>
        </p15:guide>
        <p15:guide id="3" orient="horz" pos="2960">
          <p15:clr>
            <a:srgbClr val="FA7B17"/>
          </p15:clr>
        </p15:guide>
        <p15:guide id="4" orient="horz" pos="3149">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7" name="Shape 57"/>
        <p:cNvGrpSpPr/>
        <p:nvPr/>
      </p:nvGrpSpPr>
      <p:grpSpPr>
        <a:xfrm>
          <a:off x="0" y="0"/>
          <a:ext cx="0" cy="0"/>
          <a:chOff x="0" y="0"/>
          <a:chExt cx="0" cy="0"/>
        </a:xfrm>
      </p:grpSpPr>
      <p:sp>
        <p:nvSpPr>
          <p:cNvPr id="58" name="Google Shape;58;p60"/>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60"/>
          <p:cNvSpPr txBox="1"/>
          <p:nvPr>
            <p:ph type="title"/>
          </p:nvPr>
        </p:nvSpPr>
        <p:spPr>
          <a:xfrm>
            <a:off x="311700" y="5974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Font typeface="Montserrat Medium"/>
              <a:buNone/>
              <a:defRPr>
                <a:latin typeface="Montserrat Medium"/>
                <a:ea typeface="Montserrat Medium"/>
                <a:cs typeface="Montserrat Medium"/>
                <a:sym typeface="Montserrat Medium"/>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0" name="Google Shape;60;p6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Font typeface="Montserrat"/>
              <a:buChar char="●"/>
              <a:defRPr sz="1400">
                <a:latin typeface="Montserrat"/>
                <a:ea typeface="Montserrat"/>
                <a:cs typeface="Montserrat"/>
                <a:sym typeface="Montserrat"/>
              </a:defRPr>
            </a:lvl1pPr>
            <a:lvl2pPr indent="-304800" lvl="1" marL="914400" algn="l">
              <a:lnSpc>
                <a:spcPct val="115000"/>
              </a:lnSpc>
              <a:spcBef>
                <a:spcPts val="0"/>
              </a:spcBef>
              <a:spcAft>
                <a:spcPts val="0"/>
              </a:spcAft>
              <a:buSzPts val="1200"/>
              <a:buFont typeface="Montserrat"/>
              <a:buChar char="○"/>
              <a:defRPr sz="1200">
                <a:latin typeface="Montserrat"/>
                <a:ea typeface="Montserrat"/>
                <a:cs typeface="Montserrat"/>
                <a:sym typeface="Montserrat"/>
              </a:defRPr>
            </a:lvl2pPr>
            <a:lvl3pPr indent="-304800" lvl="2" marL="1371600" algn="l">
              <a:lnSpc>
                <a:spcPct val="115000"/>
              </a:lnSpc>
              <a:spcBef>
                <a:spcPts val="0"/>
              </a:spcBef>
              <a:spcAft>
                <a:spcPts val="0"/>
              </a:spcAft>
              <a:buSzPts val="1200"/>
              <a:buFont typeface="Montserrat"/>
              <a:buChar char="■"/>
              <a:defRPr sz="1200">
                <a:latin typeface="Montserrat"/>
                <a:ea typeface="Montserrat"/>
                <a:cs typeface="Montserrat"/>
                <a:sym typeface="Montserrat"/>
              </a:defRPr>
            </a:lvl3pPr>
            <a:lvl4pPr indent="-304800" lvl="3" marL="1828800" algn="l">
              <a:lnSpc>
                <a:spcPct val="115000"/>
              </a:lnSpc>
              <a:spcBef>
                <a:spcPts val="0"/>
              </a:spcBef>
              <a:spcAft>
                <a:spcPts val="0"/>
              </a:spcAft>
              <a:buSzPts val="1200"/>
              <a:buFont typeface="Montserrat"/>
              <a:buChar char="●"/>
              <a:defRPr sz="1200">
                <a:latin typeface="Montserrat"/>
                <a:ea typeface="Montserrat"/>
                <a:cs typeface="Montserrat"/>
                <a:sym typeface="Montserrat"/>
              </a:defRPr>
            </a:lvl4pPr>
            <a:lvl5pPr indent="-304800" lvl="4" marL="2286000" algn="l">
              <a:lnSpc>
                <a:spcPct val="115000"/>
              </a:lnSpc>
              <a:spcBef>
                <a:spcPts val="0"/>
              </a:spcBef>
              <a:spcAft>
                <a:spcPts val="0"/>
              </a:spcAft>
              <a:buSzPts val="1200"/>
              <a:buFont typeface="Montserrat"/>
              <a:buChar char="○"/>
              <a:defRPr sz="1200">
                <a:latin typeface="Montserrat"/>
                <a:ea typeface="Montserrat"/>
                <a:cs typeface="Montserrat"/>
                <a:sym typeface="Montserrat"/>
              </a:defRPr>
            </a:lvl5pPr>
            <a:lvl6pPr indent="-304800" lvl="5" marL="2743200" algn="l">
              <a:lnSpc>
                <a:spcPct val="115000"/>
              </a:lnSpc>
              <a:spcBef>
                <a:spcPts val="0"/>
              </a:spcBef>
              <a:spcAft>
                <a:spcPts val="0"/>
              </a:spcAft>
              <a:buSzPts val="1200"/>
              <a:buFont typeface="Montserrat"/>
              <a:buChar char="■"/>
              <a:defRPr sz="1200">
                <a:latin typeface="Montserrat"/>
                <a:ea typeface="Montserrat"/>
                <a:cs typeface="Montserrat"/>
                <a:sym typeface="Montserrat"/>
              </a:defRPr>
            </a:lvl6pPr>
            <a:lvl7pPr indent="-304800" lvl="6" marL="3200400" algn="l">
              <a:lnSpc>
                <a:spcPct val="115000"/>
              </a:lnSpc>
              <a:spcBef>
                <a:spcPts val="0"/>
              </a:spcBef>
              <a:spcAft>
                <a:spcPts val="0"/>
              </a:spcAft>
              <a:buSzPts val="1200"/>
              <a:buFont typeface="Montserrat"/>
              <a:buChar char="●"/>
              <a:defRPr sz="1200">
                <a:latin typeface="Montserrat"/>
                <a:ea typeface="Montserrat"/>
                <a:cs typeface="Montserrat"/>
                <a:sym typeface="Montserrat"/>
              </a:defRPr>
            </a:lvl7pPr>
            <a:lvl8pPr indent="-304800" lvl="7" marL="3657600" algn="l">
              <a:lnSpc>
                <a:spcPct val="115000"/>
              </a:lnSpc>
              <a:spcBef>
                <a:spcPts val="0"/>
              </a:spcBef>
              <a:spcAft>
                <a:spcPts val="0"/>
              </a:spcAft>
              <a:buSzPts val="1200"/>
              <a:buFont typeface="Montserrat"/>
              <a:buChar char="○"/>
              <a:defRPr sz="1200">
                <a:latin typeface="Montserrat"/>
                <a:ea typeface="Montserrat"/>
                <a:cs typeface="Montserrat"/>
                <a:sym typeface="Montserrat"/>
              </a:defRPr>
            </a:lvl8pPr>
            <a:lvl9pPr indent="-304800" lvl="8" marL="4114800" algn="l">
              <a:lnSpc>
                <a:spcPct val="115000"/>
              </a:lnSpc>
              <a:spcBef>
                <a:spcPts val="0"/>
              </a:spcBef>
              <a:spcAft>
                <a:spcPts val="0"/>
              </a:spcAft>
              <a:buSzPts val="1200"/>
              <a:buFont typeface="Montserrat"/>
              <a:buChar char="■"/>
              <a:defRPr sz="1200">
                <a:latin typeface="Montserrat"/>
                <a:ea typeface="Montserrat"/>
                <a:cs typeface="Montserrat"/>
                <a:sym typeface="Montserrat"/>
              </a:defRPr>
            </a:lvl9pPr>
          </a:lstStyle>
          <a:p/>
        </p:txBody>
      </p:sp>
      <p:sp>
        <p:nvSpPr>
          <p:cNvPr id="61" name="Google Shape;61;p6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Font typeface="Montserrat"/>
              <a:buChar char="●"/>
              <a:defRPr sz="1400">
                <a:latin typeface="Montserrat"/>
                <a:ea typeface="Montserrat"/>
                <a:cs typeface="Montserrat"/>
                <a:sym typeface="Montserrat"/>
              </a:defRPr>
            </a:lvl1pPr>
            <a:lvl2pPr indent="-304800" lvl="1" marL="914400" algn="l">
              <a:lnSpc>
                <a:spcPct val="115000"/>
              </a:lnSpc>
              <a:spcBef>
                <a:spcPts val="0"/>
              </a:spcBef>
              <a:spcAft>
                <a:spcPts val="0"/>
              </a:spcAft>
              <a:buSzPts val="1200"/>
              <a:buFont typeface="Montserrat"/>
              <a:buChar char="○"/>
              <a:defRPr sz="1200">
                <a:latin typeface="Montserrat"/>
                <a:ea typeface="Montserrat"/>
                <a:cs typeface="Montserrat"/>
                <a:sym typeface="Montserrat"/>
              </a:defRPr>
            </a:lvl2pPr>
            <a:lvl3pPr indent="-304800" lvl="2" marL="1371600" algn="l">
              <a:lnSpc>
                <a:spcPct val="115000"/>
              </a:lnSpc>
              <a:spcBef>
                <a:spcPts val="0"/>
              </a:spcBef>
              <a:spcAft>
                <a:spcPts val="0"/>
              </a:spcAft>
              <a:buSzPts val="1200"/>
              <a:buFont typeface="Montserrat"/>
              <a:buChar char="■"/>
              <a:defRPr sz="1200">
                <a:latin typeface="Montserrat"/>
                <a:ea typeface="Montserrat"/>
                <a:cs typeface="Montserrat"/>
                <a:sym typeface="Montserrat"/>
              </a:defRPr>
            </a:lvl3pPr>
            <a:lvl4pPr indent="-304800" lvl="3" marL="1828800" algn="l">
              <a:lnSpc>
                <a:spcPct val="115000"/>
              </a:lnSpc>
              <a:spcBef>
                <a:spcPts val="0"/>
              </a:spcBef>
              <a:spcAft>
                <a:spcPts val="0"/>
              </a:spcAft>
              <a:buSzPts val="1200"/>
              <a:buFont typeface="Montserrat"/>
              <a:buChar char="●"/>
              <a:defRPr sz="1200">
                <a:latin typeface="Montserrat"/>
                <a:ea typeface="Montserrat"/>
                <a:cs typeface="Montserrat"/>
                <a:sym typeface="Montserrat"/>
              </a:defRPr>
            </a:lvl4pPr>
            <a:lvl5pPr indent="-304800" lvl="4" marL="2286000" algn="l">
              <a:lnSpc>
                <a:spcPct val="115000"/>
              </a:lnSpc>
              <a:spcBef>
                <a:spcPts val="0"/>
              </a:spcBef>
              <a:spcAft>
                <a:spcPts val="0"/>
              </a:spcAft>
              <a:buSzPts val="1200"/>
              <a:buFont typeface="Montserrat"/>
              <a:buChar char="○"/>
              <a:defRPr sz="1200">
                <a:latin typeface="Montserrat"/>
                <a:ea typeface="Montserrat"/>
                <a:cs typeface="Montserrat"/>
                <a:sym typeface="Montserrat"/>
              </a:defRPr>
            </a:lvl5pPr>
            <a:lvl6pPr indent="-304800" lvl="5" marL="2743200" algn="l">
              <a:lnSpc>
                <a:spcPct val="115000"/>
              </a:lnSpc>
              <a:spcBef>
                <a:spcPts val="0"/>
              </a:spcBef>
              <a:spcAft>
                <a:spcPts val="0"/>
              </a:spcAft>
              <a:buSzPts val="1200"/>
              <a:buFont typeface="Montserrat"/>
              <a:buChar char="■"/>
              <a:defRPr sz="1200">
                <a:latin typeface="Montserrat"/>
                <a:ea typeface="Montserrat"/>
                <a:cs typeface="Montserrat"/>
                <a:sym typeface="Montserrat"/>
              </a:defRPr>
            </a:lvl6pPr>
            <a:lvl7pPr indent="-304800" lvl="6" marL="3200400" algn="l">
              <a:lnSpc>
                <a:spcPct val="115000"/>
              </a:lnSpc>
              <a:spcBef>
                <a:spcPts val="0"/>
              </a:spcBef>
              <a:spcAft>
                <a:spcPts val="0"/>
              </a:spcAft>
              <a:buSzPts val="1200"/>
              <a:buFont typeface="Montserrat"/>
              <a:buChar char="●"/>
              <a:defRPr sz="1200">
                <a:latin typeface="Montserrat"/>
                <a:ea typeface="Montserrat"/>
                <a:cs typeface="Montserrat"/>
                <a:sym typeface="Montserrat"/>
              </a:defRPr>
            </a:lvl7pPr>
            <a:lvl8pPr indent="-304800" lvl="7" marL="3657600" algn="l">
              <a:lnSpc>
                <a:spcPct val="115000"/>
              </a:lnSpc>
              <a:spcBef>
                <a:spcPts val="0"/>
              </a:spcBef>
              <a:spcAft>
                <a:spcPts val="0"/>
              </a:spcAft>
              <a:buSzPts val="1200"/>
              <a:buFont typeface="Montserrat"/>
              <a:buChar char="○"/>
              <a:defRPr sz="1200">
                <a:latin typeface="Montserrat"/>
                <a:ea typeface="Montserrat"/>
                <a:cs typeface="Montserrat"/>
                <a:sym typeface="Montserrat"/>
              </a:defRPr>
            </a:lvl8pPr>
            <a:lvl9pPr indent="-304800" lvl="8" marL="4114800" algn="l">
              <a:lnSpc>
                <a:spcPct val="115000"/>
              </a:lnSpc>
              <a:spcBef>
                <a:spcPts val="0"/>
              </a:spcBef>
              <a:spcAft>
                <a:spcPts val="0"/>
              </a:spcAft>
              <a:buSzPts val="1200"/>
              <a:buFont typeface="Montserrat"/>
              <a:buChar char="■"/>
              <a:defRPr sz="1200">
                <a:latin typeface="Montserrat"/>
                <a:ea typeface="Montserrat"/>
                <a:cs typeface="Montserrat"/>
                <a:sym typeface="Montserrat"/>
              </a:defRPr>
            </a:lvl9pPr>
          </a:lstStyle>
          <a:p/>
        </p:txBody>
      </p:sp>
      <p:pic>
        <p:nvPicPr>
          <p:cNvPr id="62" name="Google Shape;62;p60"/>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63" name="Google Shape;63;p60"/>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pic>
        <p:nvPicPr>
          <p:cNvPr id="64" name="Google Shape;64;p60"/>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portante o recordatorio" type="blank">
  <p:cSld name="BLANK">
    <p:spTree>
      <p:nvGrpSpPr>
        <p:cNvPr id="65" name="Shape 65"/>
        <p:cNvGrpSpPr/>
        <p:nvPr/>
      </p:nvGrpSpPr>
      <p:grpSpPr>
        <a:xfrm>
          <a:off x="0" y="0"/>
          <a:ext cx="0" cy="0"/>
          <a:chOff x="0" y="0"/>
          <a:chExt cx="0" cy="0"/>
        </a:xfrm>
      </p:grpSpPr>
      <p:sp>
        <p:nvSpPr>
          <p:cNvPr id="66" name="Google Shape;66;p61"/>
          <p:cNvSpPr/>
          <p:nvPr/>
        </p:nvSpPr>
        <p:spPr>
          <a:xfrm>
            <a:off x="-13650" y="-577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7" name="Google Shape;67;p61"/>
          <p:cNvPicPr preferRelativeResize="0"/>
          <p:nvPr/>
        </p:nvPicPr>
        <p:blipFill rotWithShape="1">
          <a:blip r:embed="rId2">
            <a:alphaModFix/>
          </a:blip>
          <a:srcRect b="0" l="0" r="0" t="0"/>
          <a:stretch/>
        </p:blipFill>
        <p:spPr>
          <a:xfrm>
            <a:off x="7910675" y="-260761"/>
            <a:ext cx="1365875" cy="1365875"/>
          </a:xfrm>
          <a:prstGeom prst="rect">
            <a:avLst/>
          </a:prstGeom>
          <a:noFill/>
          <a:ln>
            <a:noFill/>
          </a:ln>
        </p:spPr>
      </p:pic>
      <p:pic>
        <p:nvPicPr>
          <p:cNvPr id="68" name="Google Shape;68;p61"/>
          <p:cNvPicPr preferRelativeResize="0"/>
          <p:nvPr/>
        </p:nvPicPr>
        <p:blipFill rotWithShape="1">
          <a:blip r:embed="rId3">
            <a:alphaModFix/>
          </a:blip>
          <a:srcRect b="0" l="0" r="0" t="0"/>
          <a:stretch/>
        </p:blipFill>
        <p:spPr>
          <a:xfrm>
            <a:off x="0" y="5738"/>
            <a:ext cx="1163080" cy="792599"/>
          </a:xfrm>
          <a:prstGeom prst="rect">
            <a:avLst/>
          </a:prstGeom>
          <a:noFill/>
          <a:ln>
            <a:noFill/>
          </a:ln>
        </p:spPr>
      </p:pic>
      <p:pic>
        <p:nvPicPr>
          <p:cNvPr id="69" name="Google Shape;69;p61"/>
          <p:cNvPicPr preferRelativeResize="0"/>
          <p:nvPr/>
        </p:nvPicPr>
        <p:blipFill rotWithShape="1">
          <a:blip r:embed="rId4">
            <a:alphaModFix/>
          </a:blip>
          <a:srcRect b="0" l="0" r="0" t="0"/>
          <a:stretch/>
        </p:blipFill>
        <p:spPr>
          <a:xfrm>
            <a:off x="4026135" y="164938"/>
            <a:ext cx="1091725" cy="497100"/>
          </a:xfrm>
          <a:prstGeom prst="rect">
            <a:avLst/>
          </a:prstGeom>
          <a:noFill/>
          <a:ln>
            <a:noFill/>
          </a:ln>
        </p:spPr>
      </p:pic>
      <p:sp>
        <p:nvSpPr>
          <p:cNvPr id="70" name="Google Shape;70;p61"/>
          <p:cNvSpPr txBox="1"/>
          <p:nvPr>
            <p:ph type="title"/>
          </p:nvPr>
        </p:nvSpPr>
        <p:spPr>
          <a:xfrm>
            <a:off x="490250" y="1135950"/>
            <a:ext cx="8097300" cy="36237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333333"/>
              </a:buClr>
              <a:buSzPts val="3700"/>
              <a:buFont typeface="Montserrat"/>
              <a:buNone/>
              <a:defRPr b="1" sz="3700">
                <a:solidFill>
                  <a:srgbClr val="333333"/>
                </a:solidFill>
                <a:latin typeface="Montserrat"/>
                <a:ea typeface="Montserrat"/>
                <a:cs typeface="Montserrat"/>
                <a:sym typeface="Montserrat"/>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ágenes o gráficos" type="titleOnly">
  <p:cSld name="TITLE_ONLY">
    <p:spTree>
      <p:nvGrpSpPr>
        <p:cNvPr id="71" name="Shape 71"/>
        <p:cNvGrpSpPr/>
        <p:nvPr/>
      </p:nvGrpSpPr>
      <p:grpSpPr>
        <a:xfrm>
          <a:off x="0" y="0"/>
          <a:ext cx="0" cy="0"/>
          <a:chOff x="0" y="0"/>
          <a:chExt cx="0" cy="0"/>
        </a:xfrm>
      </p:grpSpPr>
      <p:sp>
        <p:nvSpPr>
          <p:cNvPr id="72" name="Google Shape;72;p62"/>
          <p:cNvSpPr txBox="1"/>
          <p:nvPr>
            <p:ph type="title"/>
          </p:nvPr>
        </p:nvSpPr>
        <p:spPr>
          <a:xfrm>
            <a:off x="311700" y="-12175"/>
            <a:ext cx="77490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73" name="Google Shape;73;p62"/>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74" name="Google Shape;74;p62"/>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pic>
        <p:nvPicPr>
          <p:cNvPr id="75" name="Google Shape;75;p62"/>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6" name="Shape 76"/>
        <p:cNvGrpSpPr/>
        <p:nvPr/>
      </p:nvGrpSpPr>
      <p:grpSpPr>
        <a:xfrm>
          <a:off x="0" y="0"/>
          <a:ext cx="0" cy="0"/>
          <a:chOff x="0" y="0"/>
          <a:chExt cx="0" cy="0"/>
        </a:xfrm>
      </p:grpSpPr>
      <p:sp>
        <p:nvSpPr>
          <p:cNvPr id="77" name="Google Shape;77;p63"/>
          <p:cNvSpPr/>
          <p:nvPr/>
        </p:nvSpPr>
        <p:spPr>
          <a:xfrm>
            <a:off x="-27250" y="-18175"/>
            <a:ext cx="91713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63"/>
          <p:cNvSpPr txBox="1"/>
          <p:nvPr>
            <p:ph type="title"/>
          </p:nvPr>
        </p:nvSpPr>
        <p:spPr>
          <a:xfrm>
            <a:off x="490250" y="450150"/>
            <a:ext cx="8061000" cy="37629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414141"/>
              </a:buClr>
              <a:buSzPts val="4000"/>
              <a:buFont typeface="Montserrat"/>
              <a:buNone/>
              <a:defRPr b="1" sz="4000">
                <a:solidFill>
                  <a:srgbClr val="414141"/>
                </a:solidFill>
                <a:latin typeface="Montserrat"/>
                <a:ea typeface="Montserrat"/>
                <a:cs typeface="Montserrat"/>
                <a:sym typeface="Montserrat"/>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79" name="Google Shape;79;p6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pic>
        <p:nvPicPr>
          <p:cNvPr id="80" name="Google Shape;80;p63"/>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81" name="Google Shape;81;p63"/>
          <p:cNvPicPr preferRelativeResize="0"/>
          <p:nvPr/>
        </p:nvPicPr>
        <p:blipFill rotWithShape="1">
          <a:blip r:embed="rId3">
            <a:alphaModFix/>
          </a:blip>
          <a:srcRect b="0" l="0" r="0" t="0"/>
          <a:stretch/>
        </p:blipFill>
        <p:spPr>
          <a:xfrm>
            <a:off x="7910675" y="4073939"/>
            <a:ext cx="1365875" cy="1365875"/>
          </a:xfrm>
          <a:prstGeom prst="rect">
            <a:avLst/>
          </a:prstGeom>
          <a:noFill/>
          <a:ln>
            <a:noFill/>
          </a:ln>
        </p:spPr>
      </p:pic>
      <p:pic>
        <p:nvPicPr>
          <p:cNvPr id="82" name="Google Shape;82;p63"/>
          <p:cNvPicPr preferRelativeResize="0"/>
          <p:nvPr/>
        </p:nvPicPr>
        <p:blipFill rotWithShape="1">
          <a:blip r:embed="rId4">
            <a:alphaModFix/>
          </a:blip>
          <a:srcRect b="0" l="0" r="0" t="0"/>
          <a:stretch/>
        </p:blipFill>
        <p:spPr>
          <a:xfrm>
            <a:off x="0" y="4264238"/>
            <a:ext cx="1163080" cy="792599"/>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jercicios e imagen">
  <p:cSld name="SECTION_TITLE_AND_DESCRIPTION">
    <p:spTree>
      <p:nvGrpSpPr>
        <p:cNvPr id="83" name="Shape 83"/>
        <p:cNvGrpSpPr/>
        <p:nvPr/>
      </p:nvGrpSpPr>
      <p:grpSpPr>
        <a:xfrm>
          <a:off x="0" y="0"/>
          <a:ext cx="0" cy="0"/>
          <a:chOff x="0" y="0"/>
          <a:chExt cx="0" cy="0"/>
        </a:xfrm>
      </p:grpSpPr>
      <p:sp>
        <p:nvSpPr>
          <p:cNvPr id="84" name="Google Shape;84;p6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64"/>
          <p:cNvSpPr txBox="1"/>
          <p:nvPr>
            <p:ph type="title"/>
          </p:nvPr>
        </p:nvSpPr>
        <p:spPr>
          <a:xfrm>
            <a:off x="265500" y="7759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3800"/>
              <a:buFont typeface="Montserrat"/>
              <a:buNone/>
              <a:defRPr sz="3800">
                <a:latin typeface="Montserrat"/>
                <a:ea typeface="Montserrat"/>
                <a:cs typeface="Montserrat"/>
                <a:sym typeface="Montserrat"/>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6" name="Google Shape;86;p64"/>
          <p:cNvSpPr txBox="1"/>
          <p:nvPr>
            <p:ph idx="1" type="subTitle"/>
          </p:nvPr>
        </p:nvSpPr>
        <p:spPr>
          <a:xfrm>
            <a:off x="265500" y="24982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Montserrat"/>
              <a:buNone/>
              <a:defRPr sz="2100">
                <a:latin typeface="Montserrat"/>
                <a:ea typeface="Montserrat"/>
                <a:cs typeface="Montserrat"/>
                <a:sym typeface="Montserrat"/>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7" name="Google Shape;87;p6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
        <p:nvSpPr>
          <p:cNvPr id="88" name="Google Shape;88;p64"/>
          <p:cNvSpPr/>
          <p:nvPr/>
        </p:nvSpPr>
        <p:spPr>
          <a:xfrm>
            <a:off x="4572150" y="-18175"/>
            <a:ext cx="45720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9" name="Google Shape;89;p64"/>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90" name="Google Shape;90;p64"/>
          <p:cNvPicPr preferRelativeResize="0"/>
          <p:nvPr/>
        </p:nvPicPr>
        <p:blipFill rotWithShape="1">
          <a:blip r:embed="rId3">
            <a:alphaModFix/>
          </a:blip>
          <a:srcRect b="0" l="0" r="0" t="0"/>
          <a:stretch/>
        </p:blipFill>
        <p:spPr>
          <a:xfrm>
            <a:off x="3506975" y="4699100"/>
            <a:ext cx="558475" cy="300725"/>
          </a:xfrm>
          <a:prstGeom prst="rect">
            <a:avLst/>
          </a:prstGeom>
          <a:noFill/>
          <a:ln>
            <a:noFill/>
          </a:ln>
        </p:spPr>
      </p:pic>
      <p:pic>
        <p:nvPicPr>
          <p:cNvPr id="91" name="Google Shape;91;p64"/>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s">
  <p:cSld name="CAPTION_ONLY">
    <p:spTree>
      <p:nvGrpSpPr>
        <p:cNvPr id="92" name="Shape 92"/>
        <p:cNvGrpSpPr/>
        <p:nvPr/>
      </p:nvGrpSpPr>
      <p:grpSpPr>
        <a:xfrm>
          <a:off x="0" y="0"/>
          <a:ext cx="0" cy="0"/>
          <a:chOff x="0" y="0"/>
          <a:chExt cx="0" cy="0"/>
        </a:xfrm>
      </p:grpSpPr>
      <p:sp>
        <p:nvSpPr>
          <p:cNvPr id="93" name="Google Shape;93;p65"/>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65"/>
          <p:cNvSpPr txBox="1"/>
          <p:nvPr>
            <p:ph idx="1" type="body"/>
          </p:nvPr>
        </p:nvSpPr>
        <p:spPr>
          <a:xfrm>
            <a:off x="433800" y="1715975"/>
            <a:ext cx="8203800" cy="14820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000"/>
              <a:buFont typeface="Montserrat"/>
              <a:buNone/>
              <a:defRPr i="1" sz="2000">
                <a:latin typeface="Montserrat"/>
                <a:ea typeface="Montserrat"/>
                <a:cs typeface="Montserrat"/>
                <a:sym typeface="Montserrat"/>
              </a:defRPr>
            </a:lvl1pPr>
          </a:lstStyle>
          <a:p/>
        </p:txBody>
      </p:sp>
      <p:pic>
        <p:nvPicPr>
          <p:cNvPr id="95" name="Google Shape;95;p65"/>
          <p:cNvPicPr preferRelativeResize="0"/>
          <p:nvPr/>
        </p:nvPicPr>
        <p:blipFill rotWithShape="1">
          <a:blip r:embed="rId2">
            <a:alphaModFix/>
          </a:blip>
          <a:srcRect b="0" l="0" r="0" t="0"/>
          <a:stretch/>
        </p:blipFill>
        <p:spPr>
          <a:xfrm>
            <a:off x="127225" y="906000"/>
            <a:ext cx="1429649" cy="936662"/>
          </a:xfrm>
          <a:prstGeom prst="rect">
            <a:avLst/>
          </a:prstGeom>
          <a:noFill/>
          <a:ln>
            <a:noFill/>
          </a:ln>
        </p:spPr>
      </p:pic>
      <p:pic>
        <p:nvPicPr>
          <p:cNvPr id="96" name="Google Shape;96;p65"/>
          <p:cNvPicPr preferRelativeResize="0"/>
          <p:nvPr/>
        </p:nvPicPr>
        <p:blipFill rotWithShape="1">
          <a:blip r:embed="rId3">
            <a:alphaModFix/>
          </a:blip>
          <a:srcRect b="0" l="0" r="0" t="0"/>
          <a:stretch/>
        </p:blipFill>
        <p:spPr>
          <a:xfrm>
            <a:off x="7632800" y="2758064"/>
            <a:ext cx="1385650" cy="907836"/>
          </a:xfrm>
          <a:prstGeom prst="rect">
            <a:avLst/>
          </a:prstGeom>
          <a:noFill/>
          <a:ln>
            <a:noFill/>
          </a:ln>
        </p:spPr>
      </p:pic>
      <p:sp>
        <p:nvSpPr>
          <p:cNvPr id="97" name="Google Shape;97;p65"/>
          <p:cNvSpPr txBox="1"/>
          <p:nvPr/>
        </p:nvSpPr>
        <p:spPr>
          <a:xfrm>
            <a:off x="432025" y="3792225"/>
            <a:ext cx="8401800" cy="4002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s" sz="1400" u="none" cap="none" strike="noStrike">
                <a:solidFill>
                  <a:schemeClr val="dk1"/>
                </a:solidFill>
                <a:latin typeface="Montserrat"/>
                <a:ea typeface="Montserrat"/>
                <a:cs typeface="Montserrat"/>
                <a:sym typeface="Montserrat"/>
              </a:rPr>
              <a:t>Autor/as/es:</a:t>
            </a:r>
            <a:endParaRPr b="1" i="0" sz="1400" u="none" cap="none" strike="noStrike">
              <a:solidFill>
                <a:schemeClr val="dk1"/>
              </a:solidFill>
              <a:latin typeface="Montserrat"/>
              <a:ea typeface="Montserrat"/>
              <a:cs typeface="Montserrat"/>
              <a:sym typeface="Montserrat"/>
            </a:endParaRPr>
          </a:p>
        </p:txBody>
      </p:sp>
      <p:pic>
        <p:nvPicPr>
          <p:cNvPr id="98" name="Google Shape;98;p65"/>
          <p:cNvPicPr preferRelativeResize="0"/>
          <p:nvPr/>
        </p:nvPicPr>
        <p:blipFill rotWithShape="1">
          <a:blip r:embed="rId4">
            <a:alphaModFix/>
          </a:blip>
          <a:srcRect b="0" l="0" r="0" t="0"/>
          <a:stretch/>
        </p:blipFill>
        <p:spPr>
          <a:xfrm>
            <a:off x="8155184" y="33947"/>
            <a:ext cx="876879" cy="399275"/>
          </a:xfrm>
          <a:prstGeom prst="rect">
            <a:avLst/>
          </a:prstGeom>
          <a:noFill/>
          <a:ln>
            <a:noFill/>
          </a:ln>
        </p:spPr>
      </p:pic>
      <p:pic>
        <p:nvPicPr>
          <p:cNvPr id="99" name="Google Shape;99;p65"/>
          <p:cNvPicPr preferRelativeResize="0"/>
          <p:nvPr/>
        </p:nvPicPr>
        <p:blipFill rotWithShape="1">
          <a:blip r:embed="rId5">
            <a:alphaModFix/>
          </a:blip>
          <a:srcRect b="0" l="0" r="0" t="0"/>
          <a:stretch/>
        </p:blipFill>
        <p:spPr>
          <a:xfrm>
            <a:off x="8078975" y="4699100"/>
            <a:ext cx="558475" cy="300725"/>
          </a:xfrm>
          <a:prstGeom prst="rect">
            <a:avLst/>
          </a:prstGeom>
          <a:noFill/>
          <a:ln>
            <a:noFill/>
          </a:ln>
        </p:spPr>
      </p:pic>
      <p:sp>
        <p:nvSpPr>
          <p:cNvPr id="100" name="Google Shape;100;p65"/>
          <p:cNvSpPr txBox="1"/>
          <p:nvPr>
            <p:ph type="title"/>
          </p:nvPr>
        </p:nvSpPr>
        <p:spPr>
          <a:xfrm>
            <a:off x="1766475" y="3773600"/>
            <a:ext cx="7145100" cy="300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500"/>
              <a:buFont typeface="Montserrat Medium"/>
              <a:buNone/>
              <a:defRPr sz="1500">
                <a:latin typeface="Montserrat Medium"/>
                <a:ea typeface="Montserrat Medium"/>
                <a:cs typeface="Montserrat Medium"/>
                <a:sym typeface="Montserrat Medium"/>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1" name="Google Shape;101;p65"/>
          <p:cNvSpPr txBox="1"/>
          <p:nvPr>
            <p:ph idx="2" type="title"/>
          </p:nvPr>
        </p:nvSpPr>
        <p:spPr>
          <a:xfrm>
            <a:off x="432025" y="83275"/>
            <a:ext cx="7145100" cy="399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500"/>
              <a:buFont typeface="Montserrat SemiBold"/>
              <a:buNone/>
              <a:defRPr sz="1500">
                <a:latin typeface="Montserrat SemiBold"/>
                <a:ea typeface="Montserrat SemiBold"/>
                <a:cs typeface="Montserrat SemiBold"/>
                <a:sym typeface="Montserrat SemiBol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02" name="Google Shape;102;p65"/>
          <p:cNvPicPr preferRelativeResize="0"/>
          <p:nvPr/>
        </p:nvPicPr>
        <p:blipFill rotWithShape="1">
          <a:blip r:embed="rId6">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72">
          <p15:clr>
            <a:srgbClr val="FA7B17"/>
          </p15:clr>
        </p15:guide>
        <p15:guide id="2" pos="5441">
          <p15:clr>
            <a:srgbClr val="FA7B17"/>
          </p15:clr>
        </p15:guide>
        <p15:guide id="3" orient="horz" pos="2551">
          <p15:clr>
            <a:srgbClr val="FA7B17"/>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tarea y consigna">
  <p:cSld name="BIG_NUMBER">
    <p:spTree>
      <p:nvGrpSpPr>
        <p:cNvPr id="103" name="Shape 103"/>
        <p:cNvGrpSpPr/>
        <p:nvPr/>
      </p:nvGrpSpPr>
      <p:grpSpPr>
        <a:xfrm>
          <a:off x="0" y="0"/>
          <a:ext cx="0" cy="0"/>
          <a:chOff x="0" y="0"/>
          <a:chExt cx="0" cy="0"/>
        </a:xfrm>
      </p:grpSpPr>
      <p:sp>
        <p:nvSpPr>
          <p:cNvPr id="104" name="Google Shape;104;p66"/>
          <p:cNvSpPr/>
          <p:nvPr/>
        </p:nvSpPr>
        <p:spPr>
          <a:xfrm>
            <a:off x="-13650" y="432892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6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pic>
        <p:nvPicPr>
          <p:cNvPr id="106" name="Google Shape;106;p66"/>
          <p:cNvPicPr preferRelativeResize="0"/>
          <p:nvPr/>
        </p:nvPicPr>
        <p:blipFill rotWithShape="1">
          <a:blip r:embed="rId2">
            <a:alphaModFix/>
          </a:blip>
          <a:srcRect b="0" l="0" r="0" t="0"/>
          <a:stretch/>
        </p:blipFill>
        <p:spPr>
          <a:xfrm>
            <a:off x="4026135" y="4508338"/>
            <a:ext cx="1091725" cy="497100"/>
          </a:xfrm>
          <a:prstGeom prst="rect">
            <a:avLst/>
          </a:prstGeom>
          <a:noFill/>
          <a:ln>
            <a:noFill/>
          </a:ln>
        </p:spPr>
      </p:pic>
      <p:pic>
        <p:nvPicPr>
          <p:cNvPr id="107" name="Google Shape;107;p66"/>
          <p:cNvPicPr preferRelativeResize="0"/>
          <p:nvPr/>
        </p:nvPicPr>
        <p:blipFill rotWithShape="1">
          <a:blip r:embed="rId3">
            <a:alphaModFix/>
          </a:blip>
          <a:srcRect b="0" l="0" r="0" t="0"/>
          <a:stretch/>
        </p:blipFill>
        <p:spPr>
          <a:xfrm>
            <a:off x="0" y="4264238"/>
            <a:ext cx="1163080" cy="792599"/>
          </a:xfrm>
          <a:prstGeom prst="rect">
            <a:avLst/>
          </a:prstGeom>
          <a:noFill/>
          <a:ln>
            <a:noFill/>
          </a:ln>
        </p:spPr>
      </p:pic>
      <p:pic>
        <p:nvPicPr>
          <p:cNvPr id="108" name="Google Shape;108;p66"/>
          <p:cNvPicPr preferRelativeResize="0"/>
          <p:nvPr/>
        </p:nvPicPr>
        <p:blipFill rotWithShape="1">
          <a:blip r:embed="rId4">
            <a:alphaModFix/>
          </a:blip>
          <a:srcRect b="0" l="0" r="0" t="0"/>
          <a:stretch/>
        </p:blipFill>
        <p:spPr>
          <a:xfrm>
            <a:off x="7910675" y="4073939"/>
            <a:ext cx="1365875" cy="1365875"/>
          </a:xfrm>
          <a:prstGeom prst="rect">
            <a:avLst/>
          </a:prstGeom>
          <a:noFill/>
          <a:ln>
            <a:noFill/>
          </a:ln>
        </p:spPr>
      </p:pic>
      <p:sp>
        <p:nvSpPr>
          <p:cNvPr id="109" name="Google Shape;109;p66"/>
          <p:cNvSpPr txBox="1"/>
          <p:nvPr>
            <p:ph type="title"/>
          </p:nvPr>
        </p:nvSpPr>
        <p:spPr>
          <a:xfrm>
            <a:off x="432025" y="187325"/>
            <a:ext cx="7982100" cy="4971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600"/>
              <a:buFont typeface="Montserrat Medium"/>
              <a:buNone/>
              <a:defRPr sz="2600">
                <a:latin typeface="Montserrat Medium"/>
                <a:ea typeface="Montserrat Medium"/>
                <a:cs typeface="Montserrat Medium"/>
                <a:sym typeface="Montserrat Medium"/>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10" name="Google Shape;110;p66"/>
          <p:cNvSpPr txBox="1"/>
          <p:nvPr>
            <p:ph idx="1" type="body"/>
          </p:nvPr>
        </p:nvSpPr>
        <p:spPr>
          <a:xfrm>
            <a:off x="432025" y="847675"/>
            <a:ext cx="8280000" cy="33180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Font typeface="Montserrat"/>
              <a:buChar char="●"/>
              <a:defRPr>
                <a:latin typeface="Montserrat"/>
                <a:ea typeface="Montserrat"/>
                <a:cs typeface="Montserrat"/>
                <a:sym typeface="Montserrat"/>
              </a:defRPr>
            </a:lvl1pPr>
            <a:lvl2pPr indent="-317500" lvl="1" marL="914400" algn="l">
              <a:lnSpc>
                <a:spcPct val="115000"/>
              </a:lnSpc>
              <a:spcBef>
                <a:spcPts val="0"/>
              </a:spcBef>
              <a:spcAft>
                <a:spcPts val="0"/>
              </a:spcAft>
              <a:buSzPts val="1400"/>
              <a:buFont typeface="Montserrat"/>
              <a:buChar char="○"/>
              <a:defRPr>
                <a:latin typeface="Montserrat"/>
                <a:ea typeface="Montserrat"/>
                <a:cs typeface="Montserrat"/>
                <a:sym typeface="Montserrat"/>
              </a:defRPr>
            </a:lvl2pPr>
            <a:lvl3pPr indent="-317500" lvl="2" marL="1371600" algn="l">
              <a:lnSpc>
                <a:spcPct val="115000"/>
              </a:lnSpc>
              <a:spcBef>
                <a:spcPts val="0"/>
              </a:spcBef>
              <a:spcAft>
                <a:spcPts val="0"/>
              </a:spcAft>
              <a:buSzPts val="1400"/>
              <a:buFont typeface="Montserrat"/>
              <a:buChar char="■"/>
              <a:defRPr>
                <a:latin typeface="Montserrat"/>
                <a:ea typeface="Montserrat"/>
                <a:cs typeface="Montserrat"/>
                <a:sym typeface="Montserrat"/>
              </a:defRPr>
            </a:lvl3pPr>
            <a:lvl4pPr indent="-317500" lvl="3" marL="1828800" algn="l">
              <a:lnSpc>
                <a:spcPct val="115000"/>
              </a:lnSpc>
              <a:spcBef>
                <a:spcPts val="0"/>
              </a:spcBef>
              <a:spcAft>
                <a:spcPts val="0"/>
              </a:spcAft>
              <a:buSzPts val="1400"/>
              <a:buFont typeface="Montserrat"/>
              <a:buChar char="●"/>
              <a:defRPr>
                <a:latin typeface="Montserrat"/>
                <a:ea typeface="Montserrat"/>
                <a:cs typeface="Montserrat"/>
                <a:sym typeface="Montserrat"/>
              </a:defRPr>
            </a:lvl4pPr>
            <a:lvl5pPr indent="-317500" lvl="4" marL="2286000" algn="l">
              <a:lnSpc>
                <a:spcPct val="115000"/>
              </a:lnSpc>
              <a:spcBef>
                <a:spcPts val="0"/>
              </a:spcBef>
              <a:spcAft>
                <a:spcPts val="0"/>
              </a:spcAft>
              <a:buSzPts val="1400"/>
              <a:buFont typeface="Montserrat"/>
              <a:buChar char="○"/>
              <a:defRPr>
                <a:latin typeface="Montserrat"/>
                <a:ea typeface="Montserrat"/>
                <a:cs typeface="Montserrat"/>
                <a:sym typeface="Montserrat"/>
              </a:defRPr>
            </a:lvl5pPr>
            <a:lvl6pPr indent="-317500" lvl="5" marL="2743200" algn="l">
              <a:lnSpc>
                <a:spcPct val="115000"/>
              </a:lnSpc>
              <a:spcBef>
                <a:spcPts val="0"/>
              </a:spcBef>
              <a:spcAft>
                <a:spcPts val="0"/>
              </a:spcAft>
              <a:buSzPts val="1400"/>
              <a:buFont typeface="Montserrat"/>
              <a:buChar char="■"/>
              <a:defRPr>
                <a:latin typeface="Montserrat"/>
                <a:ea typeface="Montserrat"/>
                <a:cs typeface="Montserrat"/>
                <a:sym typeface="Montserrat"/>
              </a:defRPr>
            </a:lvl6pPr>
            <a:lvl7pPr indent="-317500" lvl="6" marL="3200400" algn="l">
              <a:lnSpc>
                <a:spcPct val="115000"/>
              </a:lnSpc>
              <a:spcBef>
                <a:spcPts val="0"/>
              </a:spcBef>
              <a:spcAft>
                <a:spcPts val="0"/>
              </a:spcAft>
              <a:buSzPts val="1400"/>
              <a:buFont typeface="Montserrat"/>
              <a:buChar char="●"/>
              <a:defRPr>
                <a:latin typeface="Montserrat"/>
                <a:ea typeface="Montserrat"/>
                <a:cs typeface="Montserrat"/>
                <a:sym typeface="Montserrat"/>
              </a:defRPr>
            </a:lvl7pPr>
            <a:lvl8pPr indent="-317500" lvl="7" marL="3657600" algn="l">
              <a:lnSpc>
                <a:spcPct val="115000"/>
              </a:lnSpc>
              <a:spcBef>
                <a:spcPts val="0"/>
              </a:spcBef>
              <a:spcAft>
                <a:spcPts val="0"/>
              </a:spcAft>
              <a:buSzPts val="1400"/>
              <a:buFont typeface="Montserrat"/>
              <a:buChar char="○"/>
              <a:defRPr>
                <a:latin typeface="Montserrat"/>
                <a:ea typeface="Montserrat"/>
                <a:cs typeface="Montserrat"/>
                <a:sym typeface="Montserrat"/>
              </a:defRPr>
            </a:lvl8pPr>
            <a:lvl9pPr indent="-317500" lvl="8" marL="4114800" algn="l">
              <a:lnSpc>
                <a:spcPct val="115000"/>
              </a:lnSpc>
              <a:spcBef>
                <a:spcPts val="0"/>
              </a:spcBef>
              <a:spcAft>
                <a:spcPts val="0"/>
              </a:spcAft>
              <a:buSzPts val="1400"/>
              <a:buFont typeface="Montserrat"/>
              <a:buChar char="■"/>
              <a:defRPr>
                <a:latin typeface="Montserrat"/>
                <a:ea typeface="Montserrat"/>
                <a:cs typeface="Montserrat"/>
                <a:sym typeface="Montserrat"/>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ase 0">
  <p:cSld name="BLANK_1">
    <p:spTree>
      <p:nvGrpSpPr>
        <p:cNvPr id="111" name="Shape 111"/>
        <p:cNvGrpSpPr/>
        <p:nvPr/>
      </p:nvGrpSpPr>
      <p:grpSpPr>
        <a:xfrm>
          <a:off x="0" y="0"/>
          <a:ext cx="0" cy="0"/>
          <a:chOff x="0" y="0"/>
          <a:chExt cx="0" cy="0"/>
        </a:xfrm>
      </p:grpSpPr>
      <p:sp>
        <p:nvSpPr>
          <p:cNvPr id="112" name="Google Shape;112;p67"/>
          <p:cNvSpPr/>
          <p:nvPr/>
        </p:nvSpPr>
        <p:spPr>
          <a:xfrm>
            <a:off x="212425" y="1172325"/>
            <a:ext cx="8636100" cy="436800"/>
          </a:xfrm>
          <a:prstGeom prst="chevron">
            <a:avLst>
              <a:gd fmla="val 50000"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113" name="Google Shape;113;p67"/>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67"/>
          <p:cNvSpPr/>
          <p:nvPr/>
        </p:nvSpPr>
        <p:spPr>
          <a:xfrm>
            <a:off x="6745000" y="8084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67"/>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16" name="Google Shape;116;p67"/>
          <p:cNvSpPr txBox="1"/>
          <p:nvPr/>
        </p:nvSpPr>
        <p:spPr>
          <a:xfrm>
            <a:off x="6134350" y="2150250"/>
            <a:ext cx="2397900" cy="21216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17" name="Google Shape;117;p67"/>
          <p:cNvSpPr txBox="1"/>
          <p:nvPr>
            <p:ph type="title"/>
          </p:nvPr>
        </p:nvSpPr>
        <p:spPr>
          <a:xfrm>
            <a:off x="3331525" y="2159925"/>
            <a:ext cx="2397900" cy="2121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8" name="Google Shape;118;p67"/>
          <p:cNvSpPr txBox="1"/>
          <p:nvPr>
            <p:ph idx="2" type="title"/>
          </p:nvPr>
        </p:nvSpPr>
        <p:spPr>
          <a:xfrm>
            <a:off x="6134350" y="2196275"/>
            <a:ext cx="2397900" cy="2075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9" name="Google Shape;119;p67"/>
          <p:cNvSpPr txBox="1"/>
          <p:nvPr>
            <p:ph idx="3" type="title"/>
          </p:nvPr>
        </p:nvSpPr>
        <p:spPr>
          <a:xfrm>
            <a:off x="4039950" y="1164225"/>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400"/>
              <a:buFont typeface="Montserrat"/>
              <a:buNone/>
              <a:defRPr b="1" sz="14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0" name="Google Shape;120;p67"/>
          <p:cNvSpPr txBox="1"/>
          <p:nvPr>
            <p:ph idx="4" type="title"/>
          </p:nvPr>
        </p:nvSpPr>
        <p:spPr>
          <a:xfrm>
            <a:off x="6877450" y="1164225"/>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1" name="Google Shape;121;p67"/>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2" name="Google Shape;122;p67"/>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123" name="Google Shape;123;p67"/>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pic>
        <p:nvPicPr>
          <p:cNvPr id="124" name="Google Shape;124;p67"/>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Última clase">
  <p:cSld name="BLANK_1_1_1">
    <p:spTree>
      <p:nvGrpSpPr>
        <p:cNvPr id="125" name="Shape 125"/>
        <p:cNvGrpSpPr/>
        <p:nvPr/>
      </p:nvGrpSpPr>
      <p:grpSpPr>
        <a:xfrm>
          <a:off x="0" y="0"/>
          <a:ext cx="0" cy="0"/>
          <a:chOff x="0" y="0"/>
          <a:chExt cx="0" cy="0"/>
        </a:xfrm>
      </p:grpSpPr>
      <p:sp>
        <p:nvSpPr>
          <p:cNvPr id="126" name="Google Shape;126;p68"/>
          <p:cNvSpPr/>
          <p:nvPr/>
        </p:nvSpPr>
        <p:spPr>
          <a:xfrm>
            <a:off x="212425" y="1172325"/>
            <a:ext cx="4818000" cy="436800"/>
          </a:xfrm>
          <a:prstGeom prst="chevron">
            <a:avLst>
              <a:gd fmla="val 45084"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127" name="Google Shape;127;p68"/>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68"/>
          <p:cNvSpPr/>
          <p:nvPr/>
        </p:nvSpPr>
        <p:spPr>
          <a:xfrm>
            <a:off x="1139350" y="7922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68"/>
          <p:cNvSpPr txBox="1"/>
          <p:nvPr/>
        </p:nvSpPr>
        <p:spPr>
          <a:xfrm>
            <a:off x="528700" y="2150250"/>
            <a:ext cx="2397900" cy="21312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30" name="Google Shape;130;p68"/>
          <p:cNvSpPr txBox="1"/>
          <p:nvPr>
            <p:ph type="title"/>
          </p:nvPr>
        </p:nvSpPr>
        <p:spPr>
          <a:xfrm>
            <a:off x="1271800" y="1159375"/>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31" name="Google Shape;131;p68"/>
          <p:cNvSpPr txBox="1"/>
          <p:nvPr>
            <p:ph idx="2" type="title"/>
          </p:nvPr>
        </p:nvSpPr>
        <p:spPr>
          <a:xfrm>
            <a:off x="3938175" y="1159375"/>
            <a:ext cx="109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400"/>
              <a:buFont typeface="Montserrat"/>
              <a:buNone/>
              <a:defRPr b="1" sz="1400">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32" name="Google Shape;132;p68"/>
          <p:cNvSpPr txBox="1"/>
          <p:nvPr>
            <p:ph idx="3" type="title"/>
          </p:nvPr>
        </p:nvSpPr>
        <p:spPr>
          <a:xfrm>
            <a:off x="532575" y="2150850"/>
            <a:ext cx="2397900" cy="2112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3" name="Google Shape;133;p68"/>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34" name="Google Shape;134;p68"/>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135" name="Google Shape;135;p68"/>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sp>
        <p:nvSpPr>
          <p:cNvPr id="136" name="Google Shape;136;p68"/>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37" name="Google Shape;137;p68"/>
          <p:cNvSpPr txBox="1"/>
          <p:nvPr>
            <p:ph idx="4" type="title"/>
          </p:nvPr>
        </p:nvSpPr>
        <p:spPr>
          <a:xfrm>
            <a:off x="3331525" y="2159925"/>
            <a:ext cx="2397900" cy="2121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38" name="Google Shape;138;p68"/>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5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5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hyperlink" Target="https://vimeo.com/225581128" TargetMode="External"/><Relationship Id="rId4" Type="http://schemas.openxmlformats.org/officeDocument/2006/relationships/image" Target="../media/image11.png"/><Relationship Id="rId5"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4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25.png"/><Relationship Id="rId4" Type="http://schemas.openxmlformats.org/officeDocument/2006/relationships/image" Target="../media/image28.png"/><Relationship Id="rId5" Type="http://schemas.openxmlformats.org/officeDocument/2006/relationships/image" Target="../media/image19.png"/><Relationship Id="rId6" Type="http://schemas.openxmlformats.org/officeDocument/2006/relationships/image" Target="../media/image27.png"/><Relationship Id="rId7" Type="http://schemas.openxmlformats.org/officeDocument/2006/relationships/image" Target="../media/image21.png"/><Relationship Id="rId8"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26.png"/><Relationship Id="rId4" Type="http://schemas.openxmlformats.org/officeDocument/2006/relationships/image" Target="../media/image4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3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2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hyperlink" Target="https://www.tecnologias-informacion.com/tiposrelaciones.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31.png"/><Relationship Id="rId4" Type="http://schemas.openxmlformats.org/officeDocument/2006/relationships/image" Target="../media/image38.png"/><Relationship Id="rId5" Type="http://schemas.openxmlformats.org/officeDocument/2006/relationships/image" Target="../media/image3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image" Target="../media/image3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 Id="rId3" Type="http://schemas.openxmlformats.org/officeDocument/2006/relationships/hyperlink" Target="https://dev.mysql.com/downloads/installer/"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 Id="rId3" Type="http://schemas.openxmlformats.org/officeDocument/2006/relationships/image" Target="../media/image37.png"/><Relationship Id="rId4" Type="http://schemas.openxmlformats.org/officeDocument/2006/relationships/image" Target="../media/image3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 Id="rId3" Type="http://schemas.openxmlformats.org/officeDocument/2006/relationships/image" Target="../media/image32.png"/><Relationship Id="rId4" Type="http://schemas.openxmlformats.org/officeDocument/2006/relationships/image" Target="../media/image4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 Id="rId3" Type="http://schemas.openxmlformats.org/officeDocument/2006/relationships/image" Target="../media/image34.png"/><Relationship Id="rId4" Type="http://schemas.openxmlformats.org/officeDocument/2006/relationships/image" Target="../media/image3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 Id="rId3" Type="http://schemas.openxmlformats.org/officeDocument/2006/relationships/image" Target="../media/image4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 Id="rId3" Type="http://schemas.openxmlformats.org/officeDocument/2006/relationships/image" Target="../media/image43.png"/><Relationship Id="rId4" Type="http://schemas.openxmlformats.org/officeDocument/2006/relationships/image" Target="../media/image4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 Id="rId3" Type="http://schemas.openxmlformats.org/officeDocument/2006/relationships/image" Target="../media/image4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 Id="rId3" Type="http://schemas.openxmlformats.org/officeDocument/2006/relationships/image" Target="../media/image4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 Id="rId3" Type="http://schemas.openxmlformats.org/officeDocument/2006/relationships/image" Target="../media/image5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 Id="rId3" Type="http://schemas.openxmlformats.org/officeDocument/2006/relationships/image" Target="../media/image54.png"/><Relationship Id="rId4" Type="http://schemas.openxmlformats.org/officeDocument/2006/relationships/image" Target="../media/image5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 Id="rId3" Type="http://schemas.openxmlformats.org/officeDocument/2006/relationships/image" Target="../media/image4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 Id="rId3" Type="http://schemas.openxmlformats.org/officeDocument/2006/relationships/image" Target="../media/image47.png"/><Relationship Id="rId4" Type="http://schemas.openxmlformats.org/officeDocument/2006/relationships/image" Target="../media/image5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 Id="rId3" Type="http://schemas.openxmlformats.org/officeDocument/2006/relationships/image" Target="../media/image5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0" Type="http://schemas.openxmlformats.org/officeDocument/2006/relationships/hyperlink" Target="https://www.pildorasinformaticas.es/course/curso-sql/curriculum/" TargetMode="External"/><Relationship Id="rId1" Type="http://schemas.openxmlformats.org/officeDocument/2006/relationships/slideLayout" Target="../slideLayouts/slideLayout5.xml"/><Relationship Id="rId2" Type="http://schemas.openxmlformats.org/officeDocument/2006/relationships/notesSlide" Target="../notesSlides/notesSlide48.xml"/><Relationship Id="rId3" Type="http://schemas.openxmlformats.org/officeDocument/2006/relationships/hyperlink" Target="https://blog.powerdata.es/el-valor-de-la-gestion-de-datos/que-es-un-gestor-de-datos-y-para-que-sirve" TargetMode="External"/><Relationship Id="rId4" Type="http://schemas.openxmlformats.org/officeDocument/2006/relationships/hyperlink" Target="https://aws.amazon.com/es/nosql/" TargetMode="External"/><Relationship Id="rId9" Type="http://schemas.openxmlformats.org/officeDocument/2006/relationships/hyperlink" Target="http://sqlfiddle.com/" TargetMode="External"/><Relationship Id="rId5" Type="http://schemas.openxmlformats.org/officeDocument/2006/relationships/hyperlink" Target="https://www.ecured.cu/Diagrama_entidad_relaci%C3%B3n" TargetMode="External"/><Relationship Id="rId6" Type="http://schemas.openxmlformats.org/officeDocument/2006/relationships/hyperlink" Target="https://www.aprenderaprogramar.com/index.php?option=com_content&amp;view=article&amp;id=688:ique-es-y-para-que-sirve-uml-versiones-de-uml-lenguaje-unificado-de-modelado-tipos-de-diagramas-uml&amp;catid=46&amp;Itemid=163" TargetMode="External"/><Relationship Id="rId7" Type="http://schemas.openxmlformats.org/officeDocument/2006/relationships/hyperlink" Target="https://sites.google.com/site/sqlismysin/home/lenguaje-de-definicion-de-datos-ddl" TargetMode="External"/><Relationship Id="rId8" Type="http://schemas.openxmlformats.org/officeDocument/2006/relationships/hyperlink" Target="http://sqlfiddle.com/"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9.xml"/><Relationship Id="rId3" Type="http://schemas.openxmlformats.org/officeDocument/2006/relationships/hyperlink" Target="https://blog.powerdata.es/el-valor-de-la-gestion-de-datos/que-es-un-gestor-de-datos-y-para-que-sirve" TargetMode="External"/><Relationship Id="rId4" Type="http://schemas.openxmlformats.org/officeDocument/2006/relationships/hyperlink" Target="https://aws.amazon.com/es/nosql/" TargetMode="External"/><Relationship Id="rId5" Type="http://schemas.openxmlformats.org/officeDocument/2006/relationships/hyperlink" Target="https://www.ecured.cu/Diagrama_entidad_relaci%C3%B3n" TargetMode="External"/><Relationship Id="rId6" Type="http://schemas.openxmlformats.org/officeDocument/2006/relationships/hyperlink" Target="https://www.aprenderaprogramar.com/index.php?option=com_content&amp;view=article&amp;id=688:ique-es-y-para-que-sirve-uml-versiones-de-uml-lenguaje-unificado-de-modelado-tipos-de-diagramas-uml&amp;catid=46&amp;Itemid=163" TargetMode="External"/><Relationship Id="rId7" Type="http://schemas.openxmlformats.org/officeDocument/2006/relationships/hyperlink" Target="https://sites.google.com/site/sqlismysin/home/lenguaje-de-definicion-de-datos-ddl" TargetMode="External"/><Relationship Id="rId8" Type="http://schemas.openxmlformats.org/officeDocument/2006/relationships/hyperlink" Target="https://www.pildorasinformaticas.es/course/curso-sql/curriculum/" TargetMode="External"/></Relationships>
</file>

<file path=ppt/slides/_rels/slide50.xml.rels><?xml version="1.0" encoding="UTF-8" standalone="yes"?><Relationships xmlns="http://schemas.openxmlformats.org/package/2006/relationships"><Relationship Id="rId11" Type="http://schemas.openxmlformats.org/officeDocument/2006/relationships/hyperlink" Target="https://www.phpmyadmin.net/" TargetMode="External"/><Relationship Id="rId10" Type="http://schemas.openxmlformats.org/officeDocument/2006/relationships/hyperlink" Target="https://dev.mysql.com/downloads/installer/" TargetMode="External"/><Relationship Id="rId12" Type="http://schemas.openxmlformats.org/officeDocument/2006/relationships/hyperlink" Target="https://dev.mysql.com/downloads/workbench/" TargetMode="External"/><Relationship Id="rId1" Type="http://schemas.openxmlformats.org/officeDocument/2006/relationships/slideLayout" Target="../slideLayouts/slideLayout5.xml"/><Relationship Id="rId2" Type="http://schemas.openxmlformats.org/officeDocument/2006/relationships/notesSlide" Target="../notesSlides/notesSlide50.xml"/><Relationship Id="rId3" Type="http://schemas.openxmlformats.org/officeDocument/2006/relationships/hyperlink" Target="https://www.youtube.com/watch?v=AM6WKqFj27g" TargetMode="External"/><Relationship Id="rId4" Type="http://schemas.openxmlformats.org/officeDocument/2006/relationships/hyperlink" Target="https://drive.google.com/file/d/1fQbKUwVsTUekGm78C9z5EK31Zo_Gipse/view?usp=sharing" TargetMode="External"/><Relationship Id="rId9" Type="http://schemas.openxmlformats.org/officeDocument/2006/relationships/hyperlink" Target="https://www.youtube.com/watch?v=6c4PErvPzgg" TargetMode="External"/><Relationship Id="rId5" Type="http://schemas.openxmlformats.org/officeDocument/2006/relationships/hyperlink" Target="https://www.youtube.com/watch?v=ns72mhweVAc" TargetMode="External"/><Relationship Id="rId6" Type="http://schemas.openxmlformats.org/officeDocument/2006/relationships/hyperlink" Target="https://drive.google.com/file/d/1IV4aMelWW8AVAEXEldfDbthd4gsg5bhB/view?usp=sharing" TargetMode="External"/><Relationship Id="rId7" Type="http://schemas.openxmlformats.org/officeDocument/2006/relationships/hyperlink" Target="https://drive.google.com/file/d/1ihnslrUrACBh8Su-W26M_n80JNjkNVlH/view?usp=sharing" TargetMode="External"/><Relationship Id="rId8" Type="http://schemas.openxmlformats.org/officeDocument/2006/relationships/hyperlink" Target="https://drive.google.com/file/d/1O-7HaalYp-VksMR_JDneIeyOFTr4RCWs/view"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
          <p:cNvSpPr txBox="1"/>
          <p:nvPr/>
        </p:nvSpPr>
        <p:spPr>
          <a:xfrm>
            <a:off x="3335100" y="1617575"/>
            <a:ext cx="5497200" cy="1375200"/>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3700"/>
              <a:buFont typeface="Arial"/>
              <a:buNone/>
            </a:pPr>
            <a:r>
              <a:rPr b="1" i="0" lang="es" sz="3700" u="none" cap="none" strike="noStrike">
                <a:solidFill>
                  <a:srgbClr val="000000"/>
                </a:solidFill>
                <a:latin typeface="Montserrat"/>
                <a:ea typeface="Montserrat"/>
                <a:cs typeface="Montserrat"/>
                <a:sym typeface="Montserrat"/>
              </a:rPr>
              <a:t>FULL STACK PYTHON</a:t>
            </a:r>
            <a:endParaRPr b="1" i="0" sz="3700" u="none" cap="none" strike="noStrike">
              <a:solidFill>
                <a:srgbClr val="000000"/>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3700"/>
              <a:buFont typeface="Arial"/>
              <a:buNone/>
            </a:pPr>
            <a:r>
              <a:rPr b="1" i="0" lang="es" sz="3700" u="none" cap="none" strike="noStrike">
                <a:solidFill>
                  <a:srgbClr val="000000"/>
                </a:solidFill>
                <a:latin typeface="Montserrat"/>
                <a:ea typeface="Montserrat"/>
                <a:cs typeface="Montserrat"/>
                <a:sym typeface="Montserrat"/>
              </a:rPr>
              <a:t>Clase 22</a:t>
            </a:r>
            <a:endParaRPr b="1" i="0" sz="3700" u="none" cap="none" strike="noStrike">
              <a:solidFill>
                <a:srgbClr val="000000"/>
              </a:solidFill>
              <a:latin typeface="Montserrat"/>
              <a:ea typeface="Montserrat"/>
              <a:cs typeface="Montserrat"/>
              <a:sym typeface="Montserrat"/>
            </a:endParaRPr>
          </a:p>
        </p:txBody>
      </p:sp>
      <p:sp>
        <p:nvSpPr>
          <p:cNvPr id="144" name="Google Shape;144;p1"/>
          <p:cNvSpPr txBox="1"/>
          <p:nvPr/>
        </p:nvSpPr>
        <p:spPr>
          <a:xfrm>
            <a:off x="3335025" y="2986525"/>
            <a:ext cx="5534400" cy="792600"/>
          </a:xfrm>
          <a:prstGeom prst="rect">
            <a:avLst/>
          </a:prstGeom>
          <a:noFill/>
          <a:ln>
            <a:noFill/>
          </a:ln>
        </p:spPr>
        <p:txBody>
          <a:bodyPr anchorCtr="0" anchor="t"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2500"/>
              <a:buFont typeface="Arial"/>
              <a:buNone/>
            </a:pPr>
            <a:r>
              <a:rPr b="0" i="0" lang="es" sz="2500" u="none" cap="none" strike="noStrike">
                <a:solidFill>
                  <a:srgbClr val="595959"/>
                </a:solidFill>
                <a:latin typeface="Montserrat Medium"/>
                <a:ea typeface="Montserrat Medium"/>
                <a:cs typeface="Montserrat Medium"/>
                <a:sym typeface="Montserrat Medium"/>
              </a:rPr>
              <a:t>SQL 1</a:t>
            </a:r>
            <a:endParaRPr b="0" i="0" sz="2500" u="none" cap="none" strike="noStrike">
              <a:solidFill>
                <a:srgbClr val="595959"/>
              </a:solidFill>
              <a:latin typeface="Montserrat Medium"/>
              <a:ea typeface="Montserrat Medium"/>
              <a:cs typeface="Montserrat Medium"/>
              <a:sym typeface="Montserrat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
          <p:cNvSpPr txBox="1"/>
          <p:nvPr>
            <p:ph type="ctrTitle"/>
          </p:nvPr>
        </p:nvSpPr>
        <p:spPr>
          <a:xfrm>
            <a:off x="311700" y="1226800"/>
            <a:ext cx="8520600" cy="1570500"/>
          </a:xfrm>
          <a:prstGeom prst="rect">
            <a:avLst/>
          </a:prstGeom>
          <a:noFill/>
          <a:ln>
            <a:noFill/>
          </a:ln>
        </p:spPr>
        <p:txBody>
          <a:bodyPr anchorCtr="0" anchor="ctr"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b="0" lang="es"/>
              <a:t>Introducción a Base de Datos</a:t>
            </a:r>
            <a:endParaRPr b="0"/>
          </a:p>
        </p:txBody>
      </p:sp>
      <p:sp>
        <p:nvSpPr>
          <p:cNvPr id="150" name="Google Shape;150;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500"/>
              <a:buNone/>
            </a:pPr>
            <a:r>
              <a:t/>
            </a:r>
            <a:endParaRPr/>
          </a:p>
        </p:txBody>
      </p:sp>
      <p:pic>
        <p:nvPicPr>
          <p:cNvPr id="151" name="Google Shape;151;p2"/>
          <p:cNvPicPr preferRelativeResize="0"/>
          <p:nvPr/>
        </p:nvPicPr>
        <p:blipFill rotWithShape="1">
          <a:blip r:embed="rId3">
            <a:alphaModFix/>
          </a:blip>
          <a:srcRect b="0" l="0" r="0" t="0"/>
          <a:stretch/>
        </p:blipFill>
        <p:spPr>
          <a:xfrm>
            <a:off x="4214813" y="2868475"/>
            <a:ext cx="714375" cy="7239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
          <p:cNvSpPr txBox="1"/>
          <p:nvPr>
            <p:ph type="ctrTitle"/>
          </p:nvPr>
        </p:nvSpPr>
        <p:spPr>
          <a:xfrm>
            <a:off x="311700" y="1226800"/>
            <a:ext cx="8520600" cy="15705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Clr>
                <a:schemeClr val="dk1"/>
              </a:buClr>
              <a:buSzPts val="1100"/>
              <a:buFont typeface="Arial"/>
              <a:buNone/>
            </a:pPr>
            <a:r>
              <a:rPr lang="es"/>
              <a:t>Les damos la bienvenida</a:t>
            </a:r>
            <a:endParaRPr/>
          </a:p>
        </p:txBody>
      </p:sp>
      <p:sp>
        <p:nvSpPr>
          <p:cNvPr id="157" name="Google Shape;157;p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500"/>
              <a:buNone/>
            </a:pPr>
            <a:r>
              <a:rPr lang="es"/>
              <a:t>Vamos a comenzar a grabar la clase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4"/>
          <p:cNvSpPr txBox="1"/>
          <p:nvPr>
            <p:ph idx="2" type="title"/>
          </p:nvPr>
        </p:nvSpPr>
        <p:spPr>
          <a:xfrm>
            <a:off x="3938175" y="1159375"/>
            <a:ext cx="1091700" cy="3006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s"/>
              <a:t>Clase 22</a:t>
            </a:r>
            <a:endParaRPr/>
          </a:p>
        </p:txBody>
      </p:sp>
      <p:sp>
        <p:nvSpPr>
          <p:cNvPr id="163" name="Google Shape;163;p4"/>
          <p:cNvSpPr txBox="1"/>
          <p:nvPr>
            <p:ph type="title"/>
          </p:nvPr>
        </p:nvSpPr>
        <p:spPr>
          <a:xfrm>
            <a:off x="1275675" y="1159375"/>
            <a:ext cx="911700" cy="3006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s"/>
              <a:t>Clase 21</a:t>
            </a:r>
            <a:endParaRPr/>
          </a:p>
        </p:txBody>
      </p:sp>
      <p:sp>
        <p:nvSpPr>
          <p:cNvPr id="164" name="Google Shape;164;p4"/>
          <p:cNvSpPr txBox="1"/>
          <p:nvPr>
            <p:ph idx="3" type="title"/>
          </p:nvPr>
        </p:nvSpPr>
        <p:spPr>
          <a:xfrm>
            <a:off x="6877450" y="1159388"/>
            <a:ext cx="911700" cy="3006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Clr>
                <a:schemeClr val="dk1"/>
              </a:buClr>
              <a:buSzPct val="78571"/>
              <a:buFont typeface="Arial"/>
              <a:buNone/>
            </a:pPr>
            <a:r>
              <a:rPr lang="es"/>
              <a:t>Clase 23</a:t>
            </a:r>
            <a:endParaRPr/>
          </a:p>
        </p:txBody>
      </p:sp>
      <p:sp>
        <p:nvSpPr>
          <p:cNvPr id="165" name="Google Shape;165;p4"/>
          <p:cNvSpPr txBox="1"/>
          <p:nvPr>
            <p:ph idx="4" type="title"/>
          </p:nvPr>
        </p:nvSpPr>
        <p:spPr>
          <a:xfrm>
            <a:off x="532575" y="2150850"/>
            <a:ext cx="2397900" cy="2112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000"/>
              <a:buNone/>
            </a:pPr>
            <a:r>
              <a:rPr b="1" lang="es"/>
              <a:t>SPA y Asincronía</a:t>
            </a:r>
            <a:endParaRPr b="1"/>
          </a:p>
          <a:p>
            <a:pPr indent="0" lvl="0" marL="0" rtl="0" algn="l">
              <a:lnSpc>
                <a:spcPct val="100000"/>
              </a:lnSpc>
              <a:spcBef>
                <a:spcPts val="0"/>
              </a:spcBef>
              <a:spcAft>
                <a:spcPts val="0"/>
              </a:spcAft>
              <a:buClr>
                <a:schemeClr val="dk1"/>
              </a:buClr>
              <a:buSzPts val="1100"/>
              <a:buFont typeface="Arial"/>
              <a:buNone/>
            </a:pPr>
            <a:r>
              <a:t/>
            </a:r>
            <a:endParaRPr b="1"/>
          </a:p>
          <a:p>
            <a:pPr indent="-285750" lvl="0" marL="457200" rtl="0" algn="l">
              <a:lnSpc>
                <a:spcPct val="115000"/>
              </a:lnSpc>
              <a:spcBef>
                <a:spcPts val="0"/>
              </a:spcBef>
              <a:spcAft>
                <a:spcPts val="0"/>
              </a:spcAft>
              <a:buSzPts val="900"/>
              <a:buChar char="●"/>
            </a:pPr>
            <a:r>
              <a:rPr lang="es" sz="900"/>
              <a:t>Introducción a SPA.</a:t>
            </a:r>
            <a:endParaRPr sz="900"/>
          </a:p>
          <a:p>
            <a:pPr indent="-285750" lvl="0" marL="457200" rtl="0" algn="l">
              <a:lnSpc>
                <a:spcPct val="115000"/>
              </a:lnSpc>
              <a:spcBef>
                <a:spcPts val="0"/>
              </a:spcBef>
              <a:spcAft>
                <a:spcPts val="0"/>
              </a:spcAft>
              <a:buSzPts val="900"/>
              <a:buChar char="●"/>
            </a:pPr>
            <a:r>
              <a:rPr lang="es" sz="900"/>
              <a:t>SPA. ¿Qué es y qué beneficios tiene?</a:t>
            </a:r>
            <a:endParaRPr sz="900"/>
          </a:p>
          <a:p>
            <a:pPr indent="-285750" lvl="0" marL="457200" rtl="0" algn="l">
              <a:lnSpc>
                <a:spcPct val="115000"/>
              </a:lnSpc>
              <a:spcBef>
                <a:spcPts val="0"/>
              </a:spcBef>
              <a:spcAft>
                <a:spcPts val="0"/>
              </a:spcAft>
              <a:buSzPts val="900"/>
              <a:buChar char="●"/>
            </a:pPr>
            <a:r>
              <a:rPr lang="es" sz="900"/>
              <a:t>Ejemplo práctico de un SPA en Vue.</a:t>
            </a:r>
            <a:endParaRPr sz="900"/>
          </a:p>
          <a:p>
            <a:pPr indent="-285750" lvl="0" marL="457200" rtl="0" algn="l">
              <a:lnSpc>
                <a:spcPct val="115000"/>
              </a:lnSpc>
              <a:spcBef>
                <a:spcPts val="0"/>
              </a:spcBef>
              <a:spcAft>
                <a:spcPts val="0"/>
              </a:spcAft>
              <a:buSzPts val="900"/>
              <a:buChar char="●"/>
            </a:pPr>
            <a:r>
              <a:rPr lang="es" sz="900"/>
              <a:t>Enviar y pedir datos a un servidor</a:t>
            </a:r>
            <a:endParaRPr sz="900"/>
          </a:p>
          <a:p>
            <a:pPr indent="-285750" lvl="0" marL="457200" rtl="0" algn="l">
              <a:lnSpc>
                <a:spcPct val="115000"/>
              </a:lnSpc>
              <a:spcBef>
                <a:spcPts val="0"/>
              </a:spcBef>
              <a:spcAft>
                <a:spcPts val="0"/>
              </a:spcAft>
              <a:buSzPts val="900"/>
              <a:buChar char="●"/>
            </a:pPr>
            <a:r>
              <a:rPr lang="es" sz="900"/>
              <a:t>Asincronía.</a:t>
            </a:r>
            <a:endParaRPr sz="900"/>
          </a:p>
          <a:p>
            <a:pPr indent="-292100" lvl="0" marL="457200" rtl="0" algn="l">
              <a:lnSpc>
                <a:spcPct val="115000"/>
              </a:lnSpc>
              <a:spcBef>
                <a:spcPts val="0"/>
              </a:spcBef>
              <a:spcAft>
                <a:spcPts val="0"/>
              </a:spcAft>
              <a:buSzPts val="1000"/>
              <a:buChar char="●"/>
            </a:pPr>
            <a:r>
              <a:rPr lang="es" sz="900"/>
              <a:t>Consumo de API REST a través de fetch y Axios.</a:t>
            </a:r>
            <a:r>
              <a:rPr lang="es"/>
              <a:t>.</a:t>
            </a:r>
            <a:endParaRPr/>
          </a:p>
          <a:p>
            <a:pPr indent="0" lvl="0" marL="0" rtl="0" algn="l">
              <a:lnSpc>
                <a:spcPct val="100000"/>
              </a:lnSpc>
              <a:spcBef>
                <a:spcPts val="0"/>
              </a:spcBef>
              <a:spcAft>
                <a:spcPts val="0"/>
              </a:spcAft>
              <a:buSzPts val="1000"/>
              <a:buNone/>
            </a:pPr>
            <a:r>
              <a:t/>
            </a:r>
            <a:endParaRPr b="1"/>
          </a:p>
        </p:txBody>
      </p:sp>
      <p:sp>
        <p:nvSpPr>
          <p:cNvPr id="166" name="Google Shape;166;p4"/>
          <p:cNvSpPr txBox="1"/>
          <p:nvPr>
            <p:ph idx="5" type="title"/>
          </p:nvPr>
        </p:nvSpPr>
        <p:spPr>
          <a:xfrm>
            <a:off x="6130475" y="2159925"/>
            <a:ext cx="2397900" cy="2112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s"/>
              <a:t>Lenguaje SQL y Sublenguaje DML</a:t>
            </a:r>
            <a:endParaRPr b="1"/>
          </a:p>
          <a:p>
            <a:pPr indent="0" lvl="0" marL="0" rtl="0" algn="l">
              <a:lnSpc>
                <a:spcPct val="100000"/>
              </a:lnSpc>
              <a:spcBef>
                <a:spcPts val="0"/>
              </a:spcBef>
              <a:spcAft>
                <a:spcPts val="0"/>
              </a:spcAft>
              <a:buClr>
                <a:schemeClr val="dk1"/>
              </a:buClr>
              <a:buSzPts val="1100"/>
              <a:buFont typeface="Arial"/>
              <a:buNone/>
            </a:pPr>
            <a:r>
              <a:t/>
            </a:r>
            <a:endParaRPr b="1"/>
          </a:p>
          <a:p>
            <a:pPr indent="-285750" lvl="0" marL="457200" rtl="0" algn="l">
              <a:lnSpc>
                <a:spcPct val="115000"/>
              </a:lnSpc>
              <a:spcBef>
                <a:spcPts val="0"/>
              </a:spcBef>
              <a:spcAft>
                <a:spcPts val="0"/>
              </a:spcAft>
              <a:buSzPts val="900"/>
              <a:buChar char="●"/>
            </a:pPr>
            <a:r>
              <a:rPr lang="es" sz="900"/>
              <a:t>Gestión y manipulación de datos.</a:t>
            </a:r>
            <a:endParaRPr sz="900"/>
          </a:p>
          <a:p>
            <a:pPr indent="-285750" lvl="0" marL="457200" rtl="0" algn="l">
              <a:lnSpc>
                <a:spcPct val="115000"/>
              </a:lnSpc>
              <a:spcBef>
                <a:spcPts val="0"/>
              </a:spcBef>
              <a:spcAft>
                <a:spcPts val="0"/>
              </a:spcAft>
              <a:buSzPts val="900"/>
              <a:buChar char="●"/>
            </a:pPr>
            <a:r>
              <a:rPr lang="es" sz="900"/>
              <a:t>Implementación de sublenguaje DML.</a:t>
            </a:r>
            <a:endParaRPr sz="900"/>
          </a:p>
          <a:p>
            <a:pPr indent="-285750" lvl="0" marL="457200" rtl="0" algn="l">
              <a:lnSpc>
                <a:spcPct val="115000"/>
              </a:lnSpc>
              <a:spcBef>
                <a:spcPts val="0"/>
              </a:spcBef>
              <a:spcAft>
                <a:spcPts val="0"/>
              </a:spcAft>
              <a:buSzPts val="900"/>
              <a:buChar char="●"/>
            </a:pPr>
            <a:r>
              <a:rPr lang="es" sz="900"/>
              <a:t>Consultas: Estructura. Cláusulas SELECT, FROM, WHERE.</a:t>
            </a:r>
            <a:endParaRPr sz="900"/>
          </a:p>
          <a:p>
            <a:pPr indent="-285750" lvl="0" marL="457200" rtl="0" algn="l">
              <a:lnSpc>
                <a:spcPct val="115000"/>
              </a:lnSpc>
              <a:spcBef>
                <a:spcPts val="0"/>
              </a:spcBef>
              <a:spcAft>
                <a:spcPts val="0"/>
              </a:spcAft>
              <a:buSzPts val="900"/>
              <a:buChar char="●"/>
            </a:pPr>
            <a:r>
              <a:rPr lang="es" sz="900"/>
              <a:t>Alias y literales. ORDER BY.</a:t>
            </a:r>
            <a:endParaRPr sz="900"/>
          </a:p>
          <a:p>
            <a:pPr indent="-285750" lvl="0" marL="457200" rtl="0" algn="l">
              <a:lnSpc>
                <a:spcPct val="115000"/>
              </a:lnSpc>
              <a:spcBef>
                <a:spcPts val="0"/>
              </a:spcBef>
              <a:spcAft>
                <a:spcPts val="0"/>
              </a:spcAft>
              <a:buSzPts val="900"/>
              <a:buChar char="●"/>
            </a:pPr>
            <a:r>
              <a:rPr lang="es" sz="900"/>
              <a:t>Funciones escalares</a:t>
            </a:r>
            <a:endParaRPr sz="900"/>
          </a:p>
        </p:txBody>
      </p:sp>
      <p:sp>
        <p:nvSpPr>
          <p:cNvPr id="167" name="Google Shape;167;p4"/>
          <p:cNvSpPr txBox="1"/>
          <p:nvPr>
            <p:ph idx="6" type="title"/>
          </p:nvPr>
        </p:nvSpPr>
        <p:spPr>
          <a:xfrm>
            <a:off x="3331525" y="2155125"/>
            <a:ext cx="2397900" cy="2121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000"/>
              <a:buNone/>
            </a:pPr>
            <a:r>
              <a:rPr b="1" lang="es"/>
              <a:t>Introducción a Base de Datos</a:t>
            </a:r>
            <a:endParaRPr b="1"/>
          </a:p>
          <a:p>
            <a:pPr indent="0" lvl="0" marL="0" rtl="0" algn="l">
              <a:lnSpc>
                <a:spcPct val="100000"/>
              </a:lnSpc>
              <a:spcBef>
                <a:spcPts val="0"/>
              </a:spcBef>
              <a:spcAft>
                <a:spcPts val="0"/>
              </a:spcAft>
              <a:buSzPts val="1000"/>
              <a:buNone/>
            </a:pPr>
            <a:r>
              <a:t/>
            </a:r>
            <a:endParaRPr b="1"/>
          </a:p>
          <a:p>
            <a:pPr indent="-285750" lvl="0" marL="457200" rtl="0" algn="l">
              <a:lnSpc>
                <a:spcPct val="115000"/>
              </a:lnSpc>
              <a:spcBef>
                <a:spcPts val="0"/>
              </a:spcBef>
              <a:spcAft>
                <a:spcPts val="0"/>
              </a:spcAft>
              <a:buSzPts val="900"/>
              <a:buChar char="●"/>
            </a:pPr>
            <a:r>
              <a:rPr lang="es" sz="900"/>
              <a:t>¿Qué es una Base de datos?</a:t>
            </a:r>
            <a:endParaRPr sz="900"/>
          </a:p>
          <a:p>
            <a:pPr indent="-285750" lvl="0" marL="457200" rtl="0" algn="l">
              <a:lnSpc>
                <a:spcPct val="115000"/>
              </a:lnSpc>
              <a:spcBef>
                <a:spcPts val="0"/>
              </a:spcBef>
              <a:spcAft>
                <a:spcPts val="0"/>
              </a:spcAft>
              <a:buSzPts val="900"/>
              <a:buChar char="●"/>
            </a:pPr>
            <a:r>
              <a:rPr lang="es" sz="900"/>
              <a:t>BBDD relacionales y no relacionales.</a:t>
            </a:r>
            <a:endParaRPr sz="900"/>
          </a:p>
          <a:p>
            <a:pPr indent="-285750" lvl="0" marL="457200" rtl="0" algn="l">
              <a:lnSpc>
                <a:spcPct val="115000"/>
              </a:lnSpc>
              <a:spcBef>
                <a:spcPts val="0"/>
              </a:spcBef>
              <a:spcAft>
                <a:spcPts val="0"/>
              </a:spcAft>
              <a:buSzPts val="900"/>
              <a:buChar char="●"/>
            </a:pPr>
            <a:r>
              <a:rPr lang="es" sz="900"/>
              <a:t>Entorno MySQL. Instalación. Clientes MySQL.</a:t>
            </a:r>
            <a:endParaRPr sz="900"/>
          </a:p>
          <a:p>
            <a:pPr indent="-285750" lvl="0" marL="457200" rtl="0" algn="l">
              <a:lnSpc>
                <a:spcPct val="115000"/>
              </a:lnSpc>
              <a:spcBef>
                <a:spcPts val="0"/>
              </a:spcBef>
              <a:spcAft>
                <a:spcPts val="0"/>
              </a:spcAft>
              <a:buSzPts val="900"/>
              <a:buChar char="●"/>
            </a:pPr>
            <a:r>
              <a:rPr lang="es" sz="900"/>
              <a:t>DER. Entidad, atributo y tipo de datos. Primary key.</a:t>
            </a:r>
            <a:endParaRPr sz="900"/>
          </a:p>
          <a:p>
            <a:pPr indent="-285750" lvl="0" marL="457200" rtl="0" algn="l">
              <a:lnSpc>
                <a:spcPct val="115000"/>
              </a:lnSpc>
              <a:spcBef>
                <a:spcPts val="0"/>
              </a:spcBef>
              <a:spcAft>
                <a:spcPts val="0"/>
              </a:spcAft>
              <a:buSzPts val="900"/>
              <a:buChar char="●"/>
            </a:pPr>
            <a:r>
              <a:rPr lang="es" sz="900"/>
              <a:t>Lenguaje SQL y DDL.</a:t>
            </a:r>
            <a:endParaRPr sz="900"/>
          </a:p>
          <a:p>
            <a:pPr indent="-285750" lvl="0" marL="457200" rtl="0" algn="l">
              <a:lnSpc>
                <a:spcPct val="115000"/>
              </a:lnSpc>
              <a:spcBef>
                <a:spcPts val="0"/>
              </a:spcBef>
              <a:spcAft>
                <a:spcPts val="0"/>
              </a:spcAft>
              <a:buSzPts val="900"/>
              <a:buChar char="●"/>
            </a:pPr>
            <a:r>
              <a:rPr lang="es" sz="900"/>
              <a:t>Backup y restauración de bases de datos.</a:t>
            </a:r>
            <a:endParaRPr sz="9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5"/>
          <p:cNvSpPr txBox="1"/>
          <p:nvPr>
            <p:ph type="ctrTitle"/>
          </p:nvPr>
        </p:nvSpPr>
        <p:spPr>
          <a:xfrm>
            <a:off x="550375" y="7600"/>
            <a:ext cx="8043300" cy="1570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000"/>
              <a:buNone/>
            </a:pPr>
            <a:r>
              <a:rPr lang="es"/>
              <a:t>Bases de Datos</a:t>
            </a:r>
            <a:endParaRPr/>
          </a:p>
        </p:txBody>
      </p:sp>
      <p:sp>
        <p:nvSpPr>
          <p:cNvPr id="173" name="Google Shape;173;p5"/>
          <p:cNvSpPr txBox="1"/>
          <p:nvPr>
            <p:ph idx="1" type="subTitle"/>
          </p:nvPr>
        </p:nvSpPr>
        <p:spPr>
          <a:xfrm>
            <a:off x="550375" y="1614925"/>
            <a:ext cx="8043300" cy="26493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SzPts val="1700"/>
              <a:buNone/>
            </a:pPr>
            <a:r>
              <a:rPr lang="es" sz="1600"/>
              <a:t>Una </a:t>
            </a:r>
            <a:r>
              <a:rPr b="1" lang="es" sz="1600">
                <a:latin typeface="Montserrat"/>
                <a:ea typeface="Montserrat"/>
                <a:cs typeface="Montserrat"/>
                <a:sym typeface="Montserrat"/>
              </a:rPr>
              <a:t>base de datos </a:t>
            </a:r>
            <a:r>
              <a:rPr lang="es" sz="1600"/>
              <a:t>es un conjunto de datos pertenecientes a un mismo contexto y almacenados sistemáticamente para su posterior uso. Es una forma de almacenar información en forma más eficiente de lo que sería un archivo de texto.</a:t>
            </a:r>
            <a:endParaRPr sz="1600"/>
          </a:p>
          <a:p>
            <a:pPr indent="0" lvl="0" marL="0" rtl="0" algn="l">
              <a:lnSpc>
                <a:spcPct val="90000"/>
              </a:lnSpc>
              <a:spcBef>
                <a:spcPts val="0"/>
              </a:spcBef>
              <a:spcAft>
                <a:spcPts val="0"/>
              </a:spcAft>
              <a:buSzPts val="1700"/>
              <a:buNone/>
            </a:pPr>
            <a:r>
              <a:rPr lang="es" sz="1600"/>
              <a:t>Se crean y mantienen a través de un </a:t>
            </a:r>
            <a:r>
              <a:rPr b="1" lang="es" sz="1600">
                <a:latin typeface="Montserrat"/>
                <a:ea typeface="Montserrat"/>
                <a:cs typeface="Montserrat"/>
                <a:sym typeface="Montserrat"/>
              </a:rPr>
              <a:t>DBMS o motor de base de datos</a:t>
            </a:r>
            <a:r>
              <a:rPr lang="es" sz="1600"/>
              <a:t>, que facilita la definición, construcción, manipulación y compartición de bases de datos entre usuarios y aplicaciones.</a:t>
            </a:r>
            <a:endParaRPr sz="1600"/>
          </a:p>
          <a:p>
            <a:pPr indent="0" lvl="0" marL="0" rtl="0" algn="l">
              <a:lnSpc>
                <a:spcPct val="90000"/>
              </a:lnSpc>
              <a:spcBef>
                <a:spcPts val="0"/>
              </a:spcBef>
              <a:spcAft>
                <a:spcPts val="0"/>
              </a:spcAft>
              <a:buSzPts val="1700"/>
              <a:buNone/>
            </a:pPr>
            <a:r>
              <a:rPr lang="es" sz="1600"/>
              <a:t>Contienen datos que pueden diferir entre sí pero poseen relaciones en común. Por ejemplo: alumnos y libros en el contexto de una biblioteca.</a:t>
            </a: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6"/>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Bases de datos relacionales</a:t>
            </a:r>
            <a:endParaRPr/>
          </a:p>
        </p:txBody>
      </p:sp>
      <p:sp>
        <p:nvSpPr>
          <p:cNvPr id="179" name="Google Shape;179;p6"/>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s" sz="1650"/>
              <a:t>Las bases de datos relacionales permiten </a:t>
            </a:r>
            <a:r>
              <a:rPr b="1" lang="es" sz="1650"/>
              <a:t>gestionar el acceso a los datos</a:t>
            </a:r>
            <a:r>
              <a:rPr lang="es" sz="1650"/>
              <a:t>, </a:t>
            </a:r>
            <a:r>
              <a:rPr b="1" lang="es" sz="1650"/>
              <a:t>su almacenamiento, modificación, eliminación, consulta y el múltiple acceso</a:t>
            </a:r>
            <a:r>
              <a:rPr lang="es" sz="1650"/>
              <a:t> desde distintas aplicaciones y usuarios. Además permiten gestionar permisos para que una parte de los datos estén disponibles para ciertos usuarios y no para otros. Todo esto es resuelto por un motor de base de datos, generando una independencia entre la base de datos y la aplicación que la consulte.</a:t>
            </a:r>
            <a:endParaRPr sz="1650"/>
          </a:p>
          <a:p>
            <a:pPr indent="0" lvl="0" marL="0" rtl="0" algn="l">
              <a:lnSpc>
                <a:spcPct val="115000"/>
              </a:lnSpc>
              <a:spcBef>
                <a:spcPts val="1200"/>
              </a:spcBef>
              <a:spcAft>
                <a:spcPts val="1200"/>
              </a:spcAft>
              <a:buSzPts val="1800"/>
              <a:buNone/>
            </a:pPr>
            <a:r>
              <a:rPr lang="es" sz="1650"/>
              <a:t>Son más eficientes en cuanto al almacenamiento y búsqueda de información, comparadas con un archivo de texto plano donde la lectura la haríamos en forma secuencial (línea por línea), cargándola toda en memoria, ni tampoco podríamos acceder y guardar información al mismo tiempo.</a:t>
            </a:r>
            <a:endParaRPr sz="165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400"/>
              <a:buNone/>
            </a:pPr>
            <a:r>
              <a:t/>
            </a:r>
            <a:endParaRPr/>
          </a:p>
        </p:txBody>
      </p:sp>
      <p:sp>
        <p:nvSpPr>
          <p:cNvPr id="185" name="Google Shape;185;p7"/>
          <p:cNvSpPr txBox="1"/>
          <p:nvPr>
            <p:ph type="title"/>
          </p:nvPr>
        </p:nvSpPr>
        <p:spPr>
          <a:xfrm>
            <a:off x="311700" y="5974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39285"/>
              <a:buFont typeface="Arial"/>
              <a:buNone/>
            </a:pPr>
            <a:r>
              <a:rPr lang="es"/>
              <a:t>¿Por qué son necesarias las bases de datos?</a:t>
            </a:r>
            <a:endParaRPr/>
          </a:p>
        </p:txBody>
      </p:sp>
      <p:sp>
        <p:nvSpPr>
          <p:cNvPr id="186" name="Google Shape;186;p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Clr>
                <a:schemeClr val="dk1"/>
              </a:buClr>
              <a:buSzPts val="1100"/>
              <a:buFont typeface="Arial"/>
              <a:buNone/>
            </a:pPr>
            <a:r>
              <a:rPr lang="es" sz="1526"/>
              <a:t>Si tenemos una empresa es conveniente tener un sistema para registrar ventas, empleados, sueldos, etc. Estos datos pueden guardarse en una </a:t>
            </a:r>
            <a:r>
              <a:rPr b="1" lang="es" sz="1526"/>
              <a:t>base de datos </a:t>
            </a:r>
            <a:r>
              <a:rPr lang="es" sz="1526"/>
              <a:t>con tablas para registrar esa información.</a:t>
            </a:r>
            <a:endParaRPr sz="1526"/>
          </a:p>
          <a:p>
            <a:pPr indent="0" lvl="0" marL="0" rtl="0" algn="l">
              <a:lnSpc>
                <a:spcPct val="105000"/>
              </a:lnSpc>
              <a:spcBef>
                <a:spcPts val="1200"/>
              </a:spcBef>
              <a:spcAft>
                <a:spcPts val="1200"/>
              </a:spcAft>
              <a:buClr>
                <a:schemeClr val="dk1"/>
              </a:buClr>
              <a:buSzPts val="1100"/>
              <a:buFont typeface="Arial"/>
              <a:buNone/>
            </a:pPr>
            <a:r>
              <a:rPr lang="es" sz="1526"/>
              <a:t>Esta información podrá ser </a:t>
            </a:r>
            <a:r>
              <a:rPr b="1" lang="es" sz="1526"/>
              <a:t>consultada</a:t>
            </a:r>
            <a:r>
              <a:rPr lang="es" sz="1526"/>
              <a:t> por usuarios (</a:t>
            </a:r>
            <a:r>
              <a:rPr i="1" lang="es" sz="1526"/>
              <a:t>vistas</a:t>
            </a:r>
            <a:r>
              <a:rPr lang="es" sz="1526"/>
              <a:t>), </a:t>
            </a:r>
            <a:r>
              <a:rPr b="1" lang="es" sz="1526"/>
              <a:t>administrada</a:t>
            </a:r>
            <a:r>
              <a:rPr lang="es" sz="1526"/>
              <a:t> por un sistema con tablas relacionadas (</a:t>
            </a:r>
            <a:r>
              <a:rPr i="1" lang="es" sz="1526"/>
              <a:t>esquema conceptual</a:t>
            </a:r>
            <a:r>
              <a:rPr lang="es" sz="1526"/>
              <a:t>) y </a:t>
            </a:r>
            <a:r>
              <a:rPr b="1" lang="es" sz="1526"/>
              <a:t>almacenada</a:t>
            </a:r>
            <a:r>
              <a:rPr lang="es" sz="1526"/>
              <a:t> en una base de datos (</a:t>
            </a:r>
            <a:r>
              <a:rPr i="1" lang="es" sz="1526"/>
              <a:t>esquema interno</a:t>
            </a:r>
            <a:r>
              <a:rPr lang="es" sz="1526"/>
              <a:t>). </a:t>
            </a:r>
            <a:r>
              <a:rPr lang="es" sz="1526" u="sng">
                <a:solidFill>
                  <a:schemeClr val="hlink"/>
                </a:solidFill>
                <a:hlinkClick r:id="rId3"/>
              </a:rPr>
              <a:t>Video</a:t>
            </a:r>
            <a:endParaRPr sz="1526"/>
          </a:p>
        </p:txBody>
      </p:sp>
      <p:grpSp>
        <p:nvGrpSpPr>
          <p:cNvPr id="187" name="Google Shape;187;p7"/>
          <p:cNvGrpSpPr/>
          <p:nvPr/>
        </p:nvGrpSpPr>
        <p:grpSpPr>
          <a:xfrm>
            <a:off x="4845306" y="1124171"/>
            <a:ext cx="3999862" cy="3416488"/>
            <a:chOff x="4576796" y="1124149"/>
            <a:chExt cx="4039856" cy="3559213"/>
          </a:xfrm>
        </p:grpSpPr>
        <p:cxnSp>
          <p:nvCxnSpPr>
            <p:cNvPr id="188" name="Google Shape;188;p7"/>
            <p:cNvCxnSpPr/>
            <p:nvPr/>
          </p:nvCxnSpPr>
          <p:spPr>
            <a:xfrm flipH="1" rot="10800000">
              <a:off x="4576796" y="3201849"/>
              <a:ext cx="3873478" cy="8637"/>
            </a:xfrm>
            <a:prstGeom prst="straightConnector1">
              <a:avLst/>
            </a:prstGeom>
            <a:noFill/>
            <a:ln cap="flat" cmpd="sng" w="9525">
              <a:solidFill>
                <a:srgbClr val="F8C823"/>
              </a:solidFill>
              <a:prstDash val="dash"/>
              <a:round/>
              <a:headEnd len="sm" w="sm" type="none"/>
              <a:tailEnd len="sm" w="sm" type="none"/>
            </a:ln>
          </p:spPr>
        </p:cxnSp>
        <p:cxnSp>
          <p:nvCxnSpPr>
            <p:cNvPr id="189" name="Google Shape;189;p7"/>
            <p:cNvCxnSpPr/>
            <p:nvPr/>
          </p:nvCxnSpPr>
          <p:spPr>
            <a:xfrm flipH="1" rot="10800000">
              <a:off x="4653698" y="2373360"/>
              <a:ext cx="3873478" cy="8637"/>
            </a:xfrm>
            <a:prstGeom prst="straightConnector1">
              <a:avLst/>
            </a:prstGeom>
            <a:noFill/>
            <a:ln cap="flat" cmpd="sng" w="9525">
              <a:solidFill>
                <a:srgbClr val="F8C823"/>
              </a:solidFill>
              <a:prstDash val="dash"/>
              <a:round/>
              <a:headEnd len="sm" w="sm" type="none"/>
              <a:tailEnd len="sm" w="sm" type="none"/>
            </a:ln>
          </p:spPr>
        </p:cxnSp>
        <p:sp>
          <p:nvSpPr>
            <p:cNvPr id="190" name="Google Shape;190;p7"/>
            <p:cNvSpPr/>
            <p:nvPr/>
          </p:nvSpPr>
          <p:spPr>
            <a:xfrm>
              <a:off x="4762584" y="1481195"/>
              <a:ext cx="1118237" cy="490426"/>
            </a:xfrm>
            <a:prstGeom prst="rect">
              <a:avLst/>
            </a:prstGeom>
            <a:solidFill>
              <a:srgbClr val="F8C82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1" lang="es" sz="1100" u="none" cap="none" strike="noStrike">
                  <a:solidFill>
                    <a:srgbClr val="000000"/>
                  </a:solidFill>
                  <a:latin typeface="Montserrat"/>
                  <a:ea typeface="Montserrat"/>
                  <a:cs typeface="Montserrat"/>
                  <a:sym typeface="Montserrat"/>
                </a:rPr>
                <a:t>Nivel externo o vistas</a:t>
              </a:r>
              <a:endParaRPr b="0" i="1" sz="1100" u="none" cap="none" strike="noStrike">
                <a:solidFill>
                  <a:srgbClr val="000000"/>
                </a:solidFill>
                <a:latin typeface="Montserrat"/>
                <a:ea typeface="Montserrat"/>
                <a:cs typeface="Montserrat"/>
                <a:sym typeface="Montserrat"/>
              </a:endParaRPr>
            </a:p>
          </p:txBody>
        </p:sp>
        <p:sp>
          <p:nvSpPr>
            <p:cNvPr id="191" name="Google Shape;191;p7"/>
            <p:cNvSpPr/>
            <p:nvPr/>
          </p:nvSpPr>
          <p:spPr>
            <a:xfrm>
              <a:off x="4762584" y="2530583"/>
              <a:ext cx="1118237" cy="490426"/>
            </a:xfrm>
            <a:prstGeom prst="rect">
              <a:avLst/>
            </a:prstGeom>
            <a:solidFill>
              <a:srgbClr val="F8C82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1" lang="es" sz="1100" u="none" cap="none" strike="noStrike">
                  <a:solidFill>
                    <a:srgbClr val="000000"/>
                  </a:solidFill>
                  <a:latin typeface="Montserrat"/>
                  <a:ea typeface="Montserrat"/>
                  <a:cs typeface="Montserrat"/>
                  <a:sym typeface="Montserrat"/>
                </a:rPr>
                <a:t>Nivel conceptual</a:t>
              </a:r>
              <a:endParaRPr b="0" i="1" sz="1100" u="none" cap="none" strike="noStrike">
                <a:solidFill>
                  <a:srgbClr val="000000"/>
                </a:solidFill>
                <a:latin typeface="Montserrat"/>
                <a:ea typeface="Montserrat"/>
                <a:cs typeface="Montserrat"/>
                <a:sym typeface="Montserrat"/>
              </a:endParaRPr>
            </a:p>
          </p:txBody>
        </p:sp>
        <p:sp>
          <p:nvSpPr>
            <p:cNvPr id="192" name="Google Shape;192;p7"/>
            <p:cNvSpPr/>
            <p:nvPr/>
          </p:nvSpPr>
          <p:spPr>
            <a:xfrm>
              <a:off x="4762584" y="3674561"/>
              <a:ext cx="1118237" cy="490426"/>
            </a:xfrm>
            <a:prstGeom prst="rect">
              <a:avLst/>
            </a:prstGeom>
            <a:solidFill>
              <a:srgbClr val="F8C82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1" lang="es" sz="1100" u="none" cap="none" strike="noStrike">
                  <a:solidFill>
                    <a:srgbClr val="000000"/>
                  </a:solidFill>
                  <a:latin typeface="Montserrat"/>
                  <a:ea typeface="Montserrat"/>
                  <a:cs typeface="Montserrat"/>
                  <a:sym typeface="Montserrat"/>
                </a:rPr>
                <a:t>Nivel interno</a:t>
              </a:r>
              <a:endParaRPr b="0" i="1" sz="1100" u="none" cap="none" strike="noStrike">
                <a:solidFill>
                  <a:srgbClr val="000000"/>
                </a:solidFill>
                <a:latin typeface="Montserrat"/>
                <a:ea typeface="Montserrat"/>
                <a:cs typeface="Montserrat"/>
                <a:sym typeface="Montserrat"/>
              </a:endParaRPr>
            </a:p>
          </p:txBody>
        </p:sp>
        <p:grpSp>
          <p:nvGrpSpPr>
            <p:cNvPr id="193" name="Google Shape;193;p7"/>
            <p:cNvGrpSpPr/>
            <p:nvPr/>
          </p:nvGrpSpPr>
          <p:grpSpPr>
            <a:xfrm>
              <a:off x="5892576" y="1124149"/>
              <a:ext cx="2724076" cy="1104927"/>
              <a:chOff x="5644190" y="597425"/>
              <a:chExt cx="3027760" cy="1228106"/>
            </a:xfrm>
          </p:grpSpPr>
          <p:grpSp>
            <p:nvGrpSpPr>
              <p:cNvPr id="194" name="Google Shape;194;p7"/>
              <p:cNvGrpSpPr/>
              <p:nvPr/>
            </p:nvGrpSpPr>
            <p:grpSpPr>
              <a:xfrm>
                <a:off x="5644190" y="597425"/>
                <a:ext cx="1316400" cy="881465"/>
                <a:chOff x="5628003" y="597425"/>
                <a:chExt cx="1316400" cy="881465"/>
              </a:xfrm>
            </p:grpSpPr>
            <p:sp>
              <p:nvSpPr>
                <p:cNvPr id="195" name="Google Shape;195;p7"/>
                <p:cNvSpPr txBox="1"/>
                <p:nvPr/>
              </p:nvSpPr>
              <p:spPr>
                <a:xfrm>
                  <a:off x="5628003" y="1122490"/>
                  <a:ext cx="1316400" cy="356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0" lang="es" sz="800" u="none" cap="none" strike="noStrike">
                      <a:solidFill>
                        <a:srgbClr val="000000"/>
                      </a:solidFill>
                      <a:latin typeface="Montserrat"/>
                      <a:ea typeface="Montserrat"/>
                      <a:cs typeface="Montserrat"/>
                      <a:sym typeface="Montserrat"/>
                    </a:rPr>
                    <a:t>Usuario final</a:t>
                  </a:r>
                  <a:endParaRPr b="1" i="0" sz="800" u="none" cap="none" strike="noStrike">
                    <a:solidFill>
                      <a:srgbClr val="000000"/>
                    </a:solidFill>
                    <a:latin typeface="Montserrat"/>
                    <a:ea typeface="Montserrat"/>
                    <a:cs typeface="Montserrat"/>
                    <a:sym typeface="Montserrat"/>
                  </a:endParaRPr>
                </a:p>
              </p:txBody>
            </p:sp>
            <p:pic>
              <p:nvPicPr>
                <p:cNvPr id="196" name="Google Shape;196;p7"/>
                <p:cNvPicPr preferRelativeResize="0"/>
                <p:nvPr/>
              </p:nvPicPr>
              <p:blipFill rotWithShape="1">
                <a:blip r:embed="rId4">
                  <a:alphaModFix/>
                </a:blip>
                <a:srcRect b="0" l="0" r="0" t="0"/>
                <a:stretch/>
              </p:blipFill>
              <p:spPr>
                <a:xfrm>
                  <a:off x="6023575" y="597425"/>
                  <a:ext cx="572700" cy="572700"/>
                </a:xfrm>
                <a:prstGeom prst="rect">
                  <a:avLst/>
                </a:prstGeom>
                <a:noFill/>
                <a:ln>
                  <a:noFill/>
                </a:ln>
              </p:spPr>
            </p:pic>
          </p:grpSp>
          <p:grpSp>
            <p:nvGrpSpPr>
              <p:cNvPr id="197" name="Google Shape;197;p7"/>
              <p:cNvGrpSpPr/>
              <p:nvPr/>
            </p:nvGrpSpPr>
            <p:grpSpPr>
              <a:xfrm>
                <a:off x="7355550" y="597425"/>
                <a:ext cx="1316400" cy="881465"/>
                <a:chOff x="5628062" y="597425"/>
                <a:chExt cx="1316400" cy="881465"/>
              </a:xfrm>
            </p:grpSpPr>
            <p:sp>
              <p:nvSpPr>
                <p:cNvPr id="198" name="Google Shape;198;p7"/>
                <p:cNvSpPr txBox="1"/>
                <p:nvPr/>
              </p:nvSpPr>
              <p:spPr>
                <a:xfrm>
                  <a:off x="5628062" y="1122490"/>
                  <a:ext cx="1316400" cy="356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0" lang="es" sz="800" u="none" cap="none" strike="noStrike">
                      <a:solidFill>
                        <a:srgbClr val="000000"/>
                      </a:solidFill>
                      <a:latin typeface="Montserrat"/>
                      <a:ea typeface="Montserrat"/>
                      <a:cs typeface="Montserrat"/>
                      <a:sym typeface="Montserrat"/>
                    </a:rPr>
                    <a:t>Usuario final</a:t>
                  </a:r>
                  <a:endParaRPr b="1" i="0" sz="800" u="none" cap="none" strike="noStrike">
                    <a:solidFill>
                      <a:srgbClr val="000000"/>
                    </a:solidFill>
                    <a:latin typeface="Montserrat"/>
                    <a:ea typeface="Montserrat"/>
                    <a:cs typeface="Montserrat"/>
                    <a:sym typeface="Montserrat"/>
                  </a:endParaRPr>
                </a:p>
              </p:txBody>
            </p:sp>
            <p:pic>
              <p:nvPicPr>
                <p:cNvPr id="199" name="Google Shape;199;p7"/>
                <p:cNvPicPr preferRelativeResize="0"/>
                <p:nvPr/>
              </p:nvPicPr>
              <p:blipFill rotWithShape="1">
                <a:blip r:embed="rId4">
                  <a:alphaModFix/>
                </a:blip>
                <a:srcRect b="0" l="0" r="0" t="0"/>
                <a:stretch/>
              </p:blipFill>
              <p:spPr>
                <a:xfrm>
                  <a:off x="6023575" y="597425"/>
                  <a:ext cx="572700" cy="572700"/>
                </a:xfrm>
                <a:prstGeom prst="rect">
                  <a:avLst/>
                </a:prstGeom>
                <a:noFill/>
                <a:ln>
                  <a:noFill/>
                </a:ln>
              </p:spPr>
            </p:pic>
          </p:grpSp>
          <p:sp>
            <p:nvSpPr>
              <p:cNvPr id="200" name="Google Shape;200;p7"/>
              <p:cNvSpPr/>
              <p:nvPr/>
            </p:nvSpPr>
            <p:spPr>
              <a:xfrm>
                <a:off x="5872113" y="1401031"/>
                <a:ext cx="860700" cy="4245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1" lang="es" sz="1100" u="none" cap="none" strike="noStrike">
                    <a:solidFill>
                      <a:srgbClr val="000000"/>
                    </a:solidFill>
                    <a:latin typeface="Montserrat"/>
                    <a:ea typeface="Montserrat"/>
                    <a:cs typeface="Montserrat"/>
                    <a:sym typeface="Montserrat"/>
                  </a:rPr>
                  <a:t>Vista Externa</a:t>
                </a:r>
                <a:endParaRPr b="0" i="1" sz="1100" u="none" cap="none" strike="noStrike">
                  <a:solidFill>
                    <a:srgbClr val="000000"/>
                  </a:solidFill>
                  <a:latin typeface="Montserrat"/>
                  <a:ea typeface="Montserrat"/>
                  <a:cs typeface="Montserrat"/>
                  <a:sym typeface="Montserrat"/>
                </a:endParaRPr>
              </a:p>
            </p:txBody>
          </p:sp>
        </p:grpSp>
        <p:sp>
          <p:nvSpPr>
            <p:cNvPr id="201" name="Google Shape;201;p7"/>
            <p:cNvSpPr/>
            <p:nvPr/>
          </p:nvSpPr>
          <p:spPr>
            <a:xfrm>
              <a:off x="7637294" y="1847154"/>
              <a:ext cx="774372" cy="381923"/>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1" lang="es" sz="1100" u="none" cap="none" strike="noStrike">
                  <a:solidFill>
                    <a:srgbClr val="000000"/>
                  </a:solidFill>
                  <a:latin typeface="Montserrat"/>
                  <a:ea typeface="Montserrat"/>
                  <a:cs typeface="Montserrat"/>
                  <a:sym typeface="Montserrat"/>
                </a:rPr>
                <a:t>Vista Externa</a:t>
              </a:r>
              <a:endParaRPr b="0" i="1" sz="1100" u="none" cap="none" strike="noStrike">
                <a:solidFill>
                  <a:srgbClr val="000000"/>
                </a:solidFill>
                <a:latin typeface="Montserrat"/>
                <a:ea typeface="Montserrat"/>
                <a:cs typeface="Montserrat"/>
                <a:sym typeface="Montserrat"/>
              </a:endParaRPr>
            </a:p>
          </p:txBody>
        </p:sp>
        <p:sp>
          <p:nvSpPr>
            <p:cNvPr id="202" name="Google Shape;202;p7"/>
            <p:cNvSpPr/>
            <p:nvPr/>
          </p:nvSpPr>
          <p:spPr>
            <a:xfrm>
              <a:off x="6568810" y="2610652"/>
              <a:ext cx="1371683" cy="381923"/>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1" lang="es" sz="1100" u="none" cap="none" strike="noStrike">
                  <a:solidFill>
                    <a:srgbClr val="000000"/>
                  </a:solidFill>
                  <a:latin typeface="Montserrat"/>
                  <a:ea typeface="Montserrat"/>
                  <a:cs typeface="Montserrat"/>
                  <a:sym typeface="Montserrat"/>
                </a:rPr>
                <a:t>Esquema conceptual</a:t>
              </a:r>
              <a:endParaRPr b="0" i="1" sz="1100" u="none" cap="none" strike="noStrike">
                <a:solidFill>
                  <a:srgbClr val="000000"/>
                </a:solidFill>
                <a:latin typeface="Montserrat"/>
                <a:ea typeface="Montserrat"/>
                <a:cs typeface="Montserrat"/>
                <a:sym typeface="Montserrat"/>
              </a:endParaRPr>
            </a:p>
          </p:txBody>
        </p:sp>
        <p:sp>
          <p:nvSpPr>
            <p:cNvPr id="203" name="Google Shape;203;p7"/>
            <p:cNvSpPr/>
            <p:nvPr/>
          </p:nvSpPr>
          <p:spPr>
            <a:xfrm>
              <a:off x="6568810" y="3356957"/>
              <a:ext cx="1371683" cy="381923"/>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1" lang="es" sz="1100" u="none" cap="none" strike="noStrike">
                  <a:solidFill>
                    <a:srgbClr val="000000"/>
                  </a:solidFill>
                  <a:latin typeface="Montserrat"/>
                  <a:ea typeface="Montserrat"/>
                  <a:cs typeface="Montserrat"/>
                  <a:sym typeface="Montserrat"/>
                </a:rPr>
                <a:t>Esquema interno</a:t>
              </a:r>
              <a:endParaRPr b="0" i="1" sz="1100" u="none" cap="none" strike="noStrike">
                <a:solidFill>
                  <a:srgbClr val="000000"/>
                </a:solidFill>
                <a:latin typeface="Montserrat"/>
                <a:ea typeface="Montserrat"/>
                <a:cs typeface="Montserrat"/>
                <a:sym typeface="Montserrat"/>
              </a:endParaRPr>
            </a:p>
          </p:txBody>
        </p:sp>
        <p:grpSp>
          <p:nvGrpSpPr>
            <p:cNvPr id="204" name="Google Shape;204;p7"/>
            <p:cNvGrpSpPr/>
            <p:nvPr/>
          </p:nvGrpSpPr>
          <p:grpSpPr>
            <a:xfrm>
              <a:off x="6354671" y="4103258"/>
              <a:ext cx="1799962" cy="580104"/>
              <a:chOff x="6157800" y="3908650"/>
              <a:chExt cx="2000624" cy="644774"/>
            </a:xfrm>
          </p:grpSpPr>
          <p:pic>
            <p:nvPicPr>
              <p:cNvPr id="205" name="Google Shape;205;p7"/>
              <p:cNvPicPr preferRelativeResize="0"/>
              <p:nvPr/>
            </p:nvPicPr>
            <p:blipFill rotWithShape="1">
              <a:blip r:embed="rId5">
                <a:alphaModFix/>
              </a:blip>
              <a:srcRect b="0" l="0" r="0" t="0"/>
              <a:stretch/>
            </p:blipFill>
            <p:spPr>
              <a:xfrm>
                <a:off x="6157800" y="3908650"/>
                <a:ext cx="644774" cy="644774"/>
              </a:xfrm>
              <a:prstGeom prst="rect">
                <a:avLst/>
              </a:prstGeom>
              <a:noFill/>
              <a:ln>
                <a:noFill/>
              </a:ln>
            </p:spPr>
          </p:pic>
          <p:pic>
            <p:nvPicPr>
              <p:cNvPr id="206" name="Google Shape;206;p7"/>
              <p:cNvPicPr preferRelativeResize="0"/>
              <p:nvPr/>
            </p:nvPicPr>
            <p:blipFill rotWithShape="1">
              <a:blip r:embed="rId5">
                <a:alphaModFix/>
              </a:blip>
              <a:srcRect b="0" l="0" r="0" t="0"/>
              <a:stretch/>
            </p:blipFill>
            <p:spPr>
              <a:xfrm>
                <a:off x="6835725" y="3908650"/>
                <a:ext cx="644774" cy="644774"/>
              </a:xfrm>
              <a:prstGeom prst="rect">
                <a:avLst/>
              </a:prstGeom>
              <a:noFill/>
              <a:ln>
                <a:noFill/>
              </a:ln>
            </p:spPr>
          </p:pic>
          <p:pic>
            <p:nvPicPr>
              <p:cNvPr id="207" name="Google Shape;207;p7"/>
              <p:cNvPicPr preferRelativeResize="0"/>
              <p:nvPr/>
            </p:nvPicPr>
            <p:blipFill rotWithShape="1">
              <a:blip r:embed="rId5">
                <a:alphaModFix/>
              </a:blip>
              <a:srcRect b="0" l="0" r="0" t="0"/>
              <a:stretch/>
            </p:blipFill>
            <p:spPr>
              <a:xfrm>
                <a:off x="7513650" y="3908650"/>
                <a:ext cx="644774" cy="644774"/>
              </a:xfrm>
              <a:prstGeom prst="rect">
                <a:avLst/>
              </a:prstGeom>
              <a:noFill/>
              <a:ln>
                <a:noFill/>
              </a:ln>
            </p:spPr>
          </p:pic>
        </p:grpSp>
        <p:cxnSp>
          <p:nvCxnSpPr>
            <p:cNvPr id="208" name="Google Shape;208;p7"/>
            <p:cNvCxnSpPr/>
            <p:nvPr/>
          </p:nvCxnSpPr>
          <p:spPr>
            <a:xfrm flipH="1" rot="10800000">
              <a:off x="6641323" y="3919652"/>
              <a:ext cx="1227011" cy="5938"/>
            </a:xfrm>
            <a:prstGeom prst="straightConnector1">
              <a:avLst/>
            </a:prstGeom>
            <a:noFill/>
            <a:ln cap="flat" cmpd="sng" w="9525">
              <a:solidFill>
                <a:schemeClr val="dk2"/>
              </a:solidFill>
              <a:prstDash val="solid"/>
              <a:round/>
              <a:headEnd len="sm" w="sm" type="none"/>
              <a:tailEnd len="sm" w="sm" type="none"/>
            </a:ln>
          </p:spPr>
        </p:cxnSp>
        <p:cxnSp>
          <p:nvCxnSpPr>
            <p:cNvPr id="209" name="Google Shape;209;p7"/>
            <p:cNvCxnSpPr>
              <a:stCxn id="203" idx="2"/>
              <a:endCxn id="206" idx="0"/>
            </p:cNvCxnSpPr>
            <p:nvPr/>
          </p:nvCxnSpPr>
          <p:spPr>
            <a:xfrm>
              <a:off x="7254652" y="3738880"/>
              <a:ext cx="0" cy="364500"/>
            </a:xfrm>
            <a:prstGeom prst="straightConnector1">
              <a:avLst/>
            </a:prstGeom>
            <a:noFill/>
            <a:ln cap="flat" cmpd="sng" w="9525">
              <a:solidFill>
                <a:schemeClr val="dk2"/>
              </a:solidFill>
              <a:prstDash val="solid"/>
              <a:round/>
              <a:headEnd len="sm" w="sm" type="none"/>
              <a:tailEnd len="sm" w="sm" type="none"/>
            </a:ln>
          </p:spPr>
        </p:cxnSp>
        <p:cxnSp>
          <p:nvCxnSpPr>
            <p:cNvPr id="210" name="Google Shape;210;p7"/>
            <p:cNvCxnSpPr>
              <a:endCxn id="205" idx="0"/>
            </p:cNvCxnSpPr>
            <p:nvPr/>
          </p:nvCxnSpPr>
          <p:spPr>
            <a:xfrm flipH="1">
              <a:off x="6644723" y="3925058"/>
              <a:ext cx="900" cy="178200"/>
            </a:xfrm>
            <a:prstGeom prst="straightConnector1">
              <a:avLst/>
            </a:prstGeom>
            <a:noFill/>
            <a:ln cap="flat" cmpd="sng" w="9525">
              <a:solidFill>
                <a:schemeClr val="dk2"/>
              </a:solidFill>
              <a:prstDash val="solid"/>
              <a:round/>
              <a:headEnd len="sm" w="sm" type="none"/>
              <a:tailEnd len="sm" w="sm" type="none"/>
            </a:ln>
          </p:spPr>
        </p:cxnSp>
        <p:cxnSp>
          <p:nvCxnSpPr>
            <p:cNvPr id="211" name="Google Shape;211;p7"/>
            <p:cNvCxnSpPr>
              <a:endCxn id="207" idx="0"/>
            </p:cNvCxnSpPr>
            <p:nvPr/>
          </p:nvCxnSpPr>
          <p:spPr>
            <a:xfrm flipH="1">
              <a:off x="7864581" y="3918758"/>
              <a:ext cx="600" cy="184500"/>
            </a:xfrm>
            <a:prstGeom prst="straightConnector1">
              <a:avLst/>
            </a:prstGeom>
            <a:noFill/>
            <a:ln cap="flat" cmpd="sng" w="9525">
              <a:solidFill>
                <a:schemeClr val="dk2"/>
              </a:solidFill>
              <a:prstDash val="solid"/>
              <a:round/>
              <a:headEnd len="sm" w="sm" type="none"/>
              <a:tailEnd len="sm" w="sm" type="none"/>
            </a:ln>
          </p:spPr>
        </p:cxnSp>
        <p:cxnSp>
          <p:nvCxnSpPr>
            <p:cNvPr id="212" name="Google Shape;212;p7"/>
            <p:cNvCxnSpPr/>
            <p:nvPr/>
          </p:nvCxnSpPr>
          <p:spPr>
            <a:xfrm>
              <a:off x="7254652" y="2983975"/>
              <a:ext cx="0" cy="364379"/>
            </a:xfrm>
            <a:prstGeom prst="straightConnector1">
              <a:avLst/>
            </a:prstGeom>
            <a:noFill/>
            <a:ln cap="flat" cmpd="sng" w="9525">
              <a:solidFill>
                <a:schemeClr val="dk2"/>
              </a:solidFill>
              <a:prstDash val="solid"/>
              <a:round/>
              <a:headEnd len="med" w="med" type="triangle"/>
              <a:tailEnd len="med" w="med" type="triangle"/>
            </a:ln>
          </p:spPr>
        </p:cxnSp>
        <p:cxnSp>
          <p:nvCxnSpPr>
            <p:cNvPr id="213" name="Google Shape;213;p7"/>
            <p:cNvCxnSpPr>
              <a:stCxn id="200" idx="2"/>
            </p:cNvCxnSpPr>
            <p:nvPr/>
          </p:nvCxnSpPr>
          <p:spPr>
            <a:xfrm>
              <a:off x="6484824" y="2229076"/>
              <a:ext cx="551400" cy="364500"/>
            </a:xfrm>
            <a:prstGeom prst="straightConnector1">
              <a:avLst/>
            </a:prstGeom>
            <a:noFill/>
            <a:ln cap="flat" cmpd="sng" w="9525">
              <a:solidFill>
                <a:schemeClr val="dk2"/>
              </a:solidFill>
              <a:prstDash val="solid"/>
              <a:round/>
              <a:headEnd len="med" w="med" type="triangle"/>
              <a:tailEnd len="med" w="med" type="triangle"/>
            </a:ln>
          </p:spPr>
        </p:cxnSp>
        <p:cxnSp>
          <p:nvCxnSpPr>
            <p:cNvPr id="214" name="Google Shape;214;p7"/>
            <p:cNvCxnSpPr>
              <a:stCxn id="201" idx="2"/>
            </p:cNvCxnSpPr>
            <p:nvPr/>
          </p:nvCxnSpPr>
          <p:spPr>
            <a:xfrm flipH="1">
              <a:off x="7519280" y="2229077"/>
              <a:ext cx="505200" cy="372900"/>
            </a:xfrm>
            <a:prstGeom prst="straightConnector1">
              <a:avLst/>
            </a:prstGeom>
            <a:noFill/>
            <a:ln cap="flat" cmpd="sng" w="9525">
              <a:solidFill>
                <a:schemeClr val="dk2"/>
              </a:solidFill>
              <a:prstDash val="solid"/>
              <a:round/>
              <a:headEnd len="med" w="med" type="triangle"/>
              <a:tailEnd len="med" w="med" type="triangle"/>
            </a:ln>
          </p:spPr>
        </p:cxn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8"/>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Ejemplo de uso de una base de datos</a:t>
            </a:r>
            <a:endParaRPr/>
          </a:p>
        </p:txBody>
      </p:sp>
      <p:sp>
        <p:nvSpPr>
          <p:cNvPr id="220" name="Google Shape;220;p8"/>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sz="1650"/>
              <a:t>.</a:t>
            </a:r>
            <a:endParaRPr sz="1650"/>
          </a:p>
          <a:p>
            <a:pPr indent="0" lvl="0" marL="0" rtl="0" algn="l">
              <a:lnSpc>
                <a:spcPct val="115000"/>
              </a:lnSpc>
              <a:spcBef>
                <a:spcPts val="1200"/>
              </a:spcBef>
              <a:spcAft>
                <a:spcPts val="1200"/>
              </a:spcAft>
              <a:buSzPts val="1800"/>
              <a:buNone/>
            </a:pPr>
            <a:r>
              <a:rPr lang="es" sz="1650"/>
              <a:t>.</a:t>
            </a:r>
            <a:endParaRPr b="1" sz="1650"/>
          </a:p>
        </p:txBody>
      </p:sp>
      <p:pic>
        <p:nvPicPr>
          <p:cNvPr id="221" name="Google Shape;221;p8"/>
          <p:cNvPicPr preferRelativeResize="0"/>
          <p:nvPr/>
        </p:nvPicPr>
        <p:blipFill rotWithShape="1">
          <a:blip r:embed="rId3">
            <a:alphaModFix/>
          </a:blip>
          <a:srcRect b="0" l="0" r="0" t="0"/>
          <a:stretch/>
        </p:blipFill>
        <p:spPr>
          <a:xfrm>
            <a:off x="2208337" y="1382850"/>
            <a:ext cx="4709925" cy="3240025"/>
          </a:xfrm>
          <a:prstGeom prst="rect">
            <a:avLst/>
          </a:prstGeom>
          <a:noFill/>
          <a:ln>
            <a:noFill/>
          </a:ln>
        </p:spPr>
      </p:pic>
      <p:sp>
        <p:nvSpPr>
          <p:cNvPr id="222" name="Google Shape;222;p8"/>
          <p:cNvSpPr/>
          <p:nvPr/>
        </p:nvSpPr>
        <p:spPr>
          <a:xfrm>
            <a:off x="322350" y="1481200"/>
            <a:ext cx="1782600" cy="1204800"/>
          </a:xfrm>
          <a:prstGeom prst="rect">
            <a:avLst/>
          </a:prstGeom>
          <a:solidFill>
            <a:srgbClr val="FFE66D"/>
          </a:solidFill>
          <a:ln cap="flat" cmpd="sng" w="9525">
            <a:solidFill>
              <a:srgbClr val="F8C82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1" lang="es" sz="1000" u="none" cap="none" strike="noStrike">
                <a:solidFill>
                  <a:srgbClr val="000000"/>
                </a:solidFill>
                <a:latin typeface="Montserrat"/>
                <a:ea typeface="Montserrat"/>
                <a:cs typeface="Montserrat"/>
                <a:sym typeface="Montserrat"/>
              </a:rPr>
              <a:t>Los </a:t>
            </a:r>
            <a:r>
              <a:rPr b="1" i="1" lang="es" sz="1000" u="none" cap="none" strike="noStrike">
                <a:solidFill>
                  <a:srgbClr val="000000"/>
                </a:solidFill>
                <a:latin typeface="Montserrat"/>
                <a:ea typeface="Montserrat"/>
                <a:cs typeface="Montserrat"/>
                <a:sym typeface="Montserrat"/>
              </a:rPr>
              <a:t>productos </a:t>
            </a:r>
            <a:r>
              <a:rPr b="0" i="1" lang="es" sz="1000" u="none" cap="none" strike="noStrike">
                <a:solidFill>
                  <a:srgbClr val="000000"/>
                </a:solidFill>
                <a:latin typeface="Montserrat"/>
                <a:ea typeface="Montserrat"/>
                <a:cs typeface="Montserrat"/>
                <a:sym typeface="Montserrat"/>
              </a:rPr>
              <a:t>existen en la base de datos; al buscarlos, la aplicación consulta la lista de productos de acuerdo a la condición de la búsqueda..</a:t>
            </a:r>
            <a:endParaRPr b="0" i="1" sz="1000" u="none" cap="none" strike="noStrike">
              <a:solidFill>
                <a:srgbClr val="000000"/>
              </a:solidFill>
              <a:latin typeface="Montserrat"/>
              <a:ea typeface="Montserrat"/>
              <a:cs typeface="Montserrat"/>
              <a:sym typeface="Montserrat"/>
            </a:endParaRPr>
          </a:p>
        </p:txBody>
      </p:sp>
      <p:sp>
        <p:nvSpPr>
          <p:cNvPr id="223" name="Google Shape;223;p8"/>
          <p:cNvSpPr/>
          <p:nvPr/>
        </p:nvSpPr>
        <p:spPr>
          <a:xfrm>
            <a:off x="322350" y="3427675"/>
            <a:ext cx="1782600" cy="1204800"/>
          </a:xfrm>
          <a:prstGeom prst="rect">
            <a:avLst/>
          </a:prstGeom>
          <a:solidFill>
            <a:srgbClr val="FFE66D"/>
          </a:solidFill>
          <a:ln cap="flat" cmpd="sng" w="9525">
            <a:solidFill>
              <a:srgbClr val="F39C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1" lang="es" sz="1000" u="none" cap="none" strike="noStrike">
                <a:solidFill>
                  <a:srgbClr val="000000"/>
                </a:solidFill>
                <a:latin typeface="Montserrat"/>
                <a:ea typeface="Montserrat"/>
                <a:cs typeface="Montserrat"/>
                <a:sym typeface="Montserrat"/>
              </a:rPr>
              <a:t>Las </a:t>
            </a:r>
            <a:r>
              <a:rPr b="1" i="1" lang="es" sz="1000" u="none" cap="none" strike="noStrike">
                <a:solidFill>
                  <a:srgbClr val="000000"/>
                </a:solidFill>
                <a:latin typeface="Montserrat"/>
                <a:ea typeface="Montserrat"/>
                <a:cs typeface="Montserrat"/>
                <a:sym typeface="Montserrat"/>
              </a:rPr>
              <a:t>categorías </a:t>
            </a:r>
            <a:r>
              <a:rPr b="0" i="1" lang="es" sz="1000" u="none" cap="none" strike="noStrike">
                <a:solidFill>
                  <a:srgbClr val="000000"/>
                </a:solidFill>
                <a:latin typeface="Montserrat"/>
                <a:ea typeface="Montserrat"/>
                <a:cs typeface="Montserrat"/>
                <a:sym typeface="Montserrat"/>
              </a:rPr>
              <a:t>son también datos que se encuentran en la base de datos, por eso se puede contar cuántos productos hay en cada una.</a:t>
            </a:r>
            <a:endParaRPr b="0" i="1" sz="1000" u="none" cap="none" strike="noStrike">
              <a:solidFill>
                <a:srgbClr val="000000"/>
              </a:solidFill>
              <a:latin typeface="Montserrat"/>
              <a:ea typeface="Montserrat"/>
              <a:cs typeface="Montserrat"/>
              <a:sym typeface="Montserrat"/>
            </a:endParaRPr>
          </a:p>
        </p:txBody>
      </p:sp>
      <p:sp>
        <p:nvSpPr>
          <p:cNvPr id="224" name="Google Shape;224;p8"/>
          <p:cNvSpPr/>
          <p:nvPr/>
        </p:nvSpPr>
        <p:spPr>
          <a:xfrm>
            <a:off x="7021650" y="1481200"/>
            <a:ext cx="1782600" cy="1033500"/>
          </a:xfrm>
          <a:prstGeom prst="rect">
            <a:avLst/>
          </a:prstGeom>
          <a:solidFill>
            <a:srgbClr val="FFE66D"/>
          </a:solidFill>
          <a:ln cap="flat" cmpd="sng" w="9525">
            <a:solidFill>
              <a:srgbClr val="F8C82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1" lang="es" sz="1000" u="none" cap="none" strike="noStrike">
                <a:solidFill>
                  <a:srgbClr val="000000"/>
                </a:solidFill>
                <a:latin typeface="Montserrat"/>
                <a:ea typeface="Montserrat"/>
                <a:cs typeface="Montserrat"/>
                <a:sym typeface="Montserrat"/>
              </a:rPr>
              <a:t>Para </a:t>
            </a:r>
            <a:r>
              <a:rPr b="1" i="1" lang="es" sz="1000" u="none" cap="none" strike="noStrike">
                <a:solidFill>
                  <a:srgbClr val="000000"/>
                </a:solidFill>
                <a:latin typeface="Montserrat"/>
                <a:ea typeface="Montserrat"/>
                <a:cs typeface="Montserrat"/>
                <a:sym typeface="Montserrat"/>
              </a:rPr>
              <a:t>ingresar</a:t>
            </a:r>
            <a:r>
              <a:rPr b="0" i="1" lang="es" sz="1000" u="none" cap="none" strike="noStrike">
                <a:solidFill>
                  <a:srgbClr val="000000"/>
                </a:solidFill>
                <a:latin typeface="Montserrat"/>
                <a:ea typeface="Montserrat"/>
                <a:cs typeface="Montserrat"/>
                <a:sym typeface="Montserrat"/>
              </a:rPr>
              <a:t>, los usuarios deben haberse dado de alta primero, de esta manera serán ingresados a la base de datos..</a:t>
            </a:r>
            <a:endParaRPr b="0" i="1" sz="1000" u="none" cap="none" strike="noStrike">
              <a:solidFill>
                <a:srgbClr val="000000"/>
              </a:solidFill>
              <a:latin typeface="Montserrat"/>
              <a:ea typeface="Montserrat"/>
              <a:cs typeface="Montserrat"/>
              <a:sym typeface="Montserrat"/>
            </a:endParaRPr>
          </a:p>
        </p:txBody>
      </p:sp>
      <p:sp>
        <p:nvSpPr>
          <p:cNvPr id="225" name="Google Shape;225;p8"/>
          <p:cNvSpPr/>
          <p:nvPr/>
        </p:nvSpPr>
        <p:spPr>
          <a:xfrm>
            <a:off x="7021650" y="3233800"/>
            <a:ext cx="1782600" cy="1347600"/>
          </a:xfrm>
          <a:prstGeom prst="rect">
            <a:avLst/>
          </a:prstGeom>
          <a:solidFill>
            <a:srgbClr val="FFE66D"/>
          </a:solidFill>
          <a:ln cap="flat" cmpd="sng" w="9525">
            <a:solidFill>
              <a:srgbClr val="F8C82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1" lang="es" sz="1000" u="none" cap="none" strike="noStrike">
                <a:solidFill>
                  <a:srgbClr val="000000"/>
                </a:solidFill>
                <a:latin typeface="Montserrat"/>
                <a:ea typeface="Montserrat"/>
                <a:cs typeface="Montserrat"/>
                <a:sym typeface="Montserrat"/>
              </a:rPr>
              <a:t>Todos los </a:t>
            </a:r>
            <a:r>
              <a:rPr b="1" i="1" lang="es" sz="1000" u="none" cap="none" strike="noStrike">
                <a:solidFill>
                  <a:srgbClr val="000000"/>
                </a:solidFill>
                <a:latin typeface="Montserrat"/>
                <a:ea typeface="Montserrat"/>
                <a:cs typeface="Montserrat"/>
                <a:sym typeface="Montserrat"/>
              </a:rPr>
              <a:t>datos de los productos </a:t>
            </a:r>
            <a:r>
              <a:rPr b="0" i="1" lang="es" sz="1000" u="none" cap="none" strike="noStrike">
                <a:solidFill>
                  <a:srgbClr val="000000"/>
                </a:solidFill>
                <a:latin typeface="Montserrat"/>
                <a:ea typeface="Montserrat"/>
                <a:cs typeface="Montserrat"/>
                <a:sym typeface="Montserrat"/>
              </a:rPr>
              <a:t>que aparecen en la lista están dentro de la base de datos almacenados (precio, ubicación, vendedor, descripción, etc) .</a:t>
            </a:r>
            <a:endParaRPr b="0" i="1" sz="1000" u="none" cap="none" strike="noStrike">
              <a:solidFill>
                <a:srgbClr val="000000"/>
              </a:solidFill>
              <a:latin typeface="Montserrat"/>
              <a:ea typeface="Montserrat"/>
              <a:cs typeface="Montserrat"/>
              <a:sym typeface="Montserrat"/>
            </a:endParaRPr>
          </a:p>
        </p:txBody>
      </p:sp>
      <p:sp>
        <p:nvSpPr>
          <p:cNvPr id="226" name="Google Shape;226;p8"/>
          <p:cNvSpPr/>
          <p:nvPr/>
        </p:nvSpPr>
        <p:spPr>
          <a:xfrm>
            <a:off x="2228100" y="4046800"/>
            <a:ext cx="4690200" cy="572700"/>
          </a:xfrm>
          <a:prstGeom prst="rect">
            <a:avLst/>
          </a:prstGeom>
          <a:solidFill>
            <a:srgbClr val="F8C82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1" lang="es" sz="1000" u="none" cap="none" strike="noStrike">
                <a:solidFill>
                  <a:srgbClr val="000000"/>
                </a:solidFill>
                <a:latin typeface="Montserrat"/>
                <a:ea typeface="Montserrat"/>
                <a:cs typeface="Montserrat"/>
                <a:sym typeface="Montserrat"/>
              </a:rPr>
              <a:t>Con estos datos podemos empezar a pensar que podemos organizar la información en tablas: productos, proveedores, usuarios, categorías.</a:t>
            </a:r>
            <a:endParaRPr b="0" i="1" sz="1000" u="none" cap="none" strike="noStrike">
              <a:solidFill>
                <a:srgbClr val="000000"/>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1000"/>
              <a:buFont typeface="Arial"/>
              <a:buNone/>
            </a:pPr>
            <a:r>
              <a:rPr b="0" i="1" lang="es" sz="1000" u="none" cap="none" strike="noStrike">
                <a:solidFill>
                  <a:srgbClr val="000000"/>
                </a:solidFill>
                <a:latin typeface="Montserrat"/>
                <a:ea typeface="Montserrat"/>
                <a:cs typeface="Montserrat"/>
                <a:sym typeface="Montserrat"/>
              </a:rPr>
              <a:t>Estas tablas tendrán atributos asociados que serán </a:t>
            </a:r>
            <a:r>
              <a:rPr b="1" i="1" lang="es" sz="1000" u="none" cap="none" strike="noStrike">
                <a:solidFill>
                  <a:srgbClr val="000000"/>
                </a:solidFill>
                <a:latin typeface="Montserrat"/>
                <a:ea typeface="Montserrat"/>
                <a:cs typeface="Montserrat"/>
                <a:sym typeface="Montserrat"/>
              </a:rPr>
              <a:t>sustantivos</a:t>
            </a:r>
            <a:r>
              <a:rPr b="0" i="1" lang="es" sz="1000" u="none" cap="none" strike="noStrike">
                <a:solidFill>
                  <a:srgbClr val="000000"/>
                </a:solidFill>
                <a:latin typeface="Montserrat"/>
                <a:ea typeface="Montserrat"/>
                <a:cs typeface="Montserrat"/>
                <a:sym typeface="Montserrat"/>
              </a:rPr>
              <a:t>.</a:t>
            </a:r>
            <a:endParaRPr b="0" i="1" sz="1000" u="none" cap="none" strike="noStrike">
              <a:solidFill>
                <a:srgbClr val="000000"/>
              </a:solidFill>
              <a:latin typeface="Montserrat"/>
              <a:ea typeface="Montserrat"/>
              <a:cs typeface="Montserrat"/>
              <a:sym typeface="Montserrat"/>
            </a:endParaRPr>
          </a:p>
        </p:txBody>
      </p:sp>
      <p:cxnSp>
        <p:nvCxnSpPr>
          <p:cNvPr id="227" name="Google Shape;227;p8"/>
          <p:cNvCxnSpPr>
            <a:stCxn id="225" idx="1"/>
          </p:cNvCxnSpPr>
          <p:nvPr/>
        </p:nvCxnSpPr>
        <p:spPr>
          <a:xfrm rot="10800000">
            <a:off x="4905450" y="3781300"/>
            <a:ext cx="2116200" cy="126300"/>
          </a:xfrm>
          <a:prstGeom prst="straightConnector1">
            <a:avLst/>
          </a:prstGeom>
          <a:noFill/>
          <a:ln cap="flat" cmpd="sng" w="19050">
            <a:solidFill>
              <a:srgbClr val="F39C12"/>
            </a:solidFill>
            <a:prstDash val="solid"/>
            <a:round/>
            <a:headEnd len="sm" w="sm" type="none"/>
            <a:tailEnd len="med" w="med" type="triangle"/>
          </a:ln>
        </p:spPr>
      </p:cxnSp>
      <p:cxnSp>
        <p:nvCxnSpPr>
          <p:cNvPr id="228" name="Google Shape;228;p8"/>
          <p:cNvCxnSpPr>
            <a:stCxn id="222" idx="3"/>
          </p:cNvCxnSpPr>
          <p:nvPr/>
        </p:nvCxnSpPr>
        <p:spPr>
          <a:xfrm>
            <a:off x="2104950" y="2083600"/>
            <a:ext cx="1514700" cy="516600"/>
          </a:xfrm>
          <a:prstGeom prst="straightConnector1">
            <a:avLst/>
          </a:prstGeom>
          <a:noFill/>
          <a:ln cap="flat" cmpd="sng" w="19050">
            <a:solidFill>
              <a:srgbClr val="F39C12"/>
            </a:solidFill>
            <a:prstDash val="solid"/>
            <a:round/>
            <a:headEnd len="sm" w="sm" type="none"/>
            <a:tailEnd len="med" w="med" type="triangle"/>
          </a:ln>
        </p:spPr>
      </p:cxnSp>
      <p:cxnSp>
        <p:nvCxnSpPr>
          <p:cNvPr id="229" name="Google Shape;229;p8"/>
          <p:cNvCxnSpPr>
            <a:stCxn id="223" idx="3"/>
          </p:cNvCxnSpPr>
          <p:nvPr/>
        </p:nvCxnSpPr>
        <p:spPr>
          <a:xfrm flipH="1" rot="10800000">
            <a:off x="2104950" y="3971875"/>
            <a:ext cx="447900" cy="58200"/>
          </a:xfrm>
          <a:prstGeom prst="straightConnector1">
            <a:avLst/>
          </a:prstGeom>
          <a:noFill/>
          <a:ln cap="flat" cmpd="sng" w="19050">
            <a:solidFill>
              <a:srgbClr val="F39C12"/>
            </a:solidFill>
            <a:prstDash val="solid"/>
            <a:round/>
            <a:headEnd len="sm" w="sm" type="none"/>
            <a:tailEnd len="med" w="med" type="triangle"/>
          </a:ln>
        </p:spPr>
      </p:cxnSp>
      <p:cxnSp>
        <p:nvCxnSpPr>
          <p:cNvPr id="230" name="Google Shape;230;p8"/>
          <p:cNvCxnSpPr>
            <a:stCxn id="224" idx="1"/>
          </p:cNvCxnSpPr>
          <p:nvPr/>
        </p:nvCxnSpPr>
        <p:spPr>
          <a:xfrm rot="10800000">
            <a:off x="6334050" y="1742950"/>
            <a:ext cx="687600" cy="255000"/>
          </a:xfrm>
          <a:prstGeom prst="straightConnector1">
            <a:avLst/>
          </a:prstGeom>
          <a:noFill/>
          <a:ln cap="flat" cmpd="sng" w="19050">
            <a:solidFill>
              <a:srgbClr val="F39C12"/>
            </a:solidFill>
            <a:prstDash val="solid"/>
            <a:round/>
            <a:headEnd len="sm" w="sm"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9"/>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Ubicación de las Bases de Datos</a:t>
            </a:r>
            <a:endParaRPr/>
          </a:p>
        </p:txBody>
      </p:sp>
      <p:sp>
        <p:nvSpPr>
          <p:cNvPr id="236" name="Google Shape;236;p9"/>
          <p:cNvSpPr txBox="1"/>
          <p:nvPr>
            <p:ph idx="1" type="body"/>
          </p:nvPr>
        </p:nvSpPr>
        <p:spPr>
          <a:xfrm>
            <a:off x="432025" y="1304875"/>
            <a:ext cx="4140000" cy="3302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rPr lang="es" sz="1500"/>
              <a:t>Dentro de un entorno de un sistema de bases de datos se encuentran en el nivel más bajo. Generalmente se los considera como la </a:t>
            </a:r>
            <a:r>
              <a:rPr b="1" lang="es" sz="1500"/>
              <a:t>parte "física"</a:t>
            </a:r>
            <a:r>
              <a:rPr lang="es" sz="1500"/>
              <a:t>, ya que, aunque sean un contenido lógico, se encuentran almacenadas o creadas en un dispositivo físico. Por ejemplo: un servidor.</a:t>
            </a:r>
            <a:br>
              <a:rPr lang="es" sz="1500"/>
            </a:br>
            <a:r>
              <a:rPr lang="es" sz="1500"/>
              <a:t>Para que un usuario acceda a los datos en una Base de Datos, necesita de un software especial conocido como </a:t>
            </a:r>
            <a:r>
              <a:rPr b="1" lang="es" sz="1500"/>
              <a:t>SGBD (Sistema Gestor de Base de Datos)</a:t>
            </a:r>
            <a:r>
              <a:rPr lang="es" sz="1500"/>
              <a:t> o DBMS (</a:t>
            </a:r>
            <a:r>
              <a:rPr i="1" lang="es" sz="1500"/>
              <a:t>Data Base Managment System</a:t>
            </a:r>
            <a:r>
              <a:rPr lang="es" sz="1500"/>
              <a:t>).</a:t>
            </a:r>
            <a:endParaRPr sz="1526"/>
          </a:p>
        </p:txBody>
      </p:sp>
      <p:pic>
        <p:nvPicPr>
          <p:cNvPr id="237" name="Google Shape;237;p9"/>
          <p:cNvPicPr preferRelativeResize="0"/>
          <p:nvPr/>
        </p:nvPicPr>
        <p:blipFill rotWithShape="1">
          <a:blip r:embed="rId3">
            <a:alphaModFix/>
          </a:blip>
          <a:srcRect b="0" l="0" r="0" t="0"/>
          <a:stretch/>
        </p:blipFill>
        <p:spPr>
          <a:xfrm>
            <a:off x="4777262" y="1177300"/>
            <a:ext cx="3279087" cy="35822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0"/>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¿Cómo empezamos a pensar en una BD?</a:t>
            </a:r>
            <a:endParaRPr/>
          </a:p>
        </p:txBody>
      </p:sp>
      <p:sp>
        <p:nvSpPr>
          <p:cNvPr id="243" name="Google Shape;243;p10"/>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a:bodyPr>
          <a:lstStyle/>
          <a:p>
            <a:pPr indent="0" lvl="0" marL="0" rtl="0" algn="l">
              <a:lnSpc>
                <a:spcPct val="105000"/>
              </a:lnSpc>
              <a:spcBef>
                <a:spcPts val="0"/>
              </a:spcBef>
              <a:spcAft>
                <a:spcPts val="1200"/>
              </a:spcAft>
              <a:buSzPts val="1800"/>
              <a:buNone/>
            </a:pPr>
            <a:r>
              <a:rPr lang="es" sz="1500"/>
              <a:t>Se realiza una </a:t>
            </a:r>
            <a:r>
              <a:rPr b="1" lang="es" sz="1500"/>
              <a:t>entrevista </a:t>
            </a:r>
            <a:r>
              <a:rPr lang="es" sz="1500"/>
              <a:t>con el cliente para hacer un relevamiento de datos. El relato del cliente nos permite identificar qué información va a necesitar. Si el cliente nos cuenta que tiene empleados, su registro es candidato a ser una tabla que va a tener </a:t>
            </a:r>
            <a:r>
              <a:rPr b="1" lang="es" sz="1500"/>
              <a:t>atributos asociados </a:t>
            </a:r>
            <a:r>
              <a:rPr lang="es" sz="1500"/>
              <a:t>(</a:t>
            </a:r>
            <a:r>
              <a:rPr i="1" lang="es" sz="1500"/>
              <a:t>sustantivos</a:t>
            </a:r>
            <a:r>
              <a:rPr lang="es" sz="1500"/>
              <a:t>): nombre, apellido, DNI, fecha de nacimiento, etc. Estas tablas se llaman </a:t>
            </a:r>
            <a:r>
              <a:rPr b="1" lang="es" sz="1500"/>
              <a:t>entidades </a:t>
            </a:r>
            <a:r>
              <a:rPr lang="es" sz="1500"/>
              <a:t>y permitirán almacenar los datos.</a:t>
            </a:r>
            <a:br>
              <a:rPr lang="es" sz="1500"/>
            </a:br>
            <a:r>
              <a:rPr lang="es" sz="1500"/>
              <a:t>Por ejemplo: en el sistema de venta online tendría productos, marcas y conceptos candidatos a ser tablas o atributos.</a:t>
            </a:r>
            <a:endParaRPr sz="1500"/>
          </a:p>
        </p:txBody>
      </p:sp>
      <p:pic>
        <p:nvPicPr>
          <p:cNvPr id="244" name="Google Shape;244;p10"/>
          <p:cNvPicPr preferRelativeResize="0"/>
          <p:nvPr/>
        </p:nvPicPr>
        <p:blipFill rotWithShape="1">
          <a:blip r:embed="rId3">
            <a:alphaModFix/>
          </a:blip>
          <a:srcRect b="0" l="0" r="0" t="0"/>
          <a:stretch/>
        </p:blipFill>
        <p:spPr>
          <a:xfrm>
            <a:off x="1666138" y="3112557"/>
            <a:ext cx="5794325" cy="15390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8" name="Shape 248"/>
        <p:cNvGrpSpPr/>
        <p:nvPr/>
      </p:nvGrpSpPr>
      <p:grpSpPr>
        <a:xfrm>
          <a:off x="0" y="0"/>
          <a:ext cx="0" cy="0"/>
          <a:chOff x="0" y="0"/>
          <a:chExt cx="0" cy="0"/>
        </a:xfrm>
      </p:grpSpPr>
      <p:sp>
        <p:nvSpPr>
          <p:cNvPr id="249" name="Google Shape;249;p11"/>
          <p:cNvSpPr/>
          <p:nvPr/>
        </p:nvSpPr>
        <p:spPr>
          <a:xfrm rot="5400000">
            <a:off x="5267575" y="-1283275"/>
            <a:ext cx="108300" cy="6344400"/>
          </a:xfrm>
          <a:prstGeom prst="leftBracket">
            <a:avLst>
              <a:gd fmla="val 57156" name="adj"/>
            </a:avLst>
          </a:prstGeom>
          <a:noFill/>
          <a:ln cap="flat" cmpd="sng" w="19050">
            <a:solidFill>
              <a:srgbClr val="F39C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250" name="Google Shape;250;p11"/>
          <p:cNvGraphicFramePr/>
          <p:nvPr/>
        </p:nvGraphicFramePr>
        <p:xfrm>
          <a:off x="700125" y="1170000"/>
          <a:ext cx="3000000" cy="3000000"/>
        </p:xfrm>
        <a:graphic>
          <a:graphicData uri="http://schemas.openxmlformats.org/drawingml/2006/table">
            <a:tbl>
              <a:tblPr>
                <a:noFill/>
                <a:tableStyleId>{538D5ABA-4D10-4F86-B21B-73E0E010D3C4}</a:tableStyleId>
              </a:tblPr>
              <a:tblGrid>
                <a:gridCol w="984950"/>
                <a:gridCol w="511925"/>
                <a:gridCol w="2375000"/>
                <a:gridCol w="1290625"/>
                <a:gridCol w="1290625"/>
                <a:gridCol w="1290625"/>
              </a:tblGrid>
              <a:tr h="349225">
                <a:tc gridSpan="2">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Entidad (tabla)</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gridSpan="4">
                  <a:txBody>
                    <a:bodyPr/>
                    <a:lstStyle/>
                    <a:p>
                      <a:pPr indent="0" lvl="0" marL="0" marR="0" rtl="0" algn="ctr">
                        <a:lnSpc>
                          <a:spcPct val="100000"/>
                        </a:lnSpc>
                        <a:spcBef>
                          <a:spcPts val="0"/>
                        </a:spcBef>
                        <a:spcAft>
                          <a:spcPts val="0"/>
                        </a:spcAft>
                        <a:buClr>
                          <a:srgbClr val="000000"/>
                        </a:buClr>
                        <a:buSzPts val="1400"/>
                        <a:buFont typeface="Arial"/>
                        <a:buNone/>
                      </a:pPr>
                      <a:r>
                        <a:rPr b="1" lang="es" sz="1400" u="none" cap="none" strike="noStrike">
                          <a:solidFill>
                            <a:schemeClr val="dk2"/>
                          </a:solidFill>
                          <a:latin typeface="Montserrat"/>
                          <a:ea typeface="Montserrat"/>
                          <a:cs typeface="Montserrat"/>
                          <a:sym typeface="Montserrat"/>
                        </a:rPr>
                        <a:t>Empleados</a:t>
                      </a:r>
                      <a:endParaRPr b="1" sz="14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8C823"/>
                    </a:solidFill>
                  </a:tcPr>
                </a:tc>
                <a:tc hMerge="1"/>
                <a:tc hMerge="1"/>
                <a:tc hMerge="1"/>
              </a:tr>
              <a:tr h="240075">
                <a:tc>
                  <a:txBody>
                    <a:bodyPr/>
                    <a:lstStyle/>
                    <a:p>
                      <a:pPr indent="0" lvl="0" marL="0" marR="0" rtl="0" algn="ctr">
                        <a:lnSpc>
                          <a:spcPct val="100000"/>
                        </a:lnSpc>
                        <a:spcBef>
                          <a:spcPts val="0"/>
                        </a:spcBef>
                        <a:spcAft>
                          <a:spcPts val="0"/>
                        </a:spcAft>
                        <a:buClr>
                          <a:srgbClr val="000000"/>
                        </a:buClr>
                        <a:buSzPts val="1000"/>
                        <a:buFont typeface="Arial"/>
                        <a:buNone/>
                      </a:pPr>
                      <a:r>
                        <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gridSpan="4">
                  <a:txBody>
                    <a:bodyPr/>
                    <a:lstStyle/>
                    <a:p>
                      <a:pPr indent="0" lvl="0" marL="0" marR="0" rtl="0" algn="ctr">
                        <a:lnSpc>
                          <a:spcPct val="115000"/>
                        </a:lnSpc>
                        <a:spcBef>
                          <a:spcPts val="0"/>
                        </a:spcBef>
                        <a:spcAft>
                          <a:spcPts val="0"/>
                        </a:spcAft>
                        <a:buClr>
                          <a:srgbClr val="000000"/>
                        </a:buClr>
                        <a:buSzPts val="1000"/>
                        <a:buFont typeface="Arial"/>
                        <a:buNone/>
                      </a:pPr>
                      <a:r>
                        <a:rPr b="1" i="1" lang="es" sz="1000" u="none" cap="none" strike="noStrike">
                          <a:solidFill>
                            <a:schemeClr val="dk2"/>
                          </a:solidFill>
                          <a:latin typeface="Montserrat"/>
                          <a:ea typeface="Montserrat"/>
                          <a:cs typeface="Montserrat"/>
                          <a:sym typeface="Montserrat"/>
                        </a:rPr>
                        <a:t>Campos/Atributos (columnas)</a:t>
                      </a:r>
                      <a:endParaRPr b="1" sz="1000" u="none" cap="none" strike="noStrike">
                        <a:solidFill>
                          <a:schemeClr val="dk2"/>
                        </a:solidFill>
                        <a:latin typeface="Montserrat"/>
                        <a:ea typeface="Montserrat"/>
                        <a:cs typeface="Montserrat"/>
                        <a:sym typeface="Montserrat"/>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hMerge="1"/>
                <a:tc hMerge="1"/>
                <a:tc hMerge="1"/>
              </a:tr>
              <a:tr h="240075">
                <a:tc gridSpan="2" rowSpan="3">
                  <a:txBody>
                    <a:bodyPr/>
                    <a:lstStyle/>
                    <a:p>
                      <a:pPr indent="0" lvl="0" marL="0" marR="0" rtl="0" algn="ctr">
                        <a:lnSpc>
                          <a:spcPct val="115000"/>
                        </a:lnSpc>
                        <a:spcBef>
                          <a:spcPts val="0"/>
                        </a:spcBef>
                        <a:spcAft>
                          <a:spcPts val="0"/>
                        </a:spcAft>
                        <a:buClr>
                          <a:srgbClr val="000000"/>
                        </a:buClr>
                        <a:buSzPts val="1000"/>
                        <a:buFont typeface="Arial"/>
                        <a:buNone/>
                      </a:pPr>
                      <a:r>
                        <a:rPr b="1" i="1" lang="es" sz="1000" u="none" cap="none" strike="noStrike">
                          <a:solidFill>
                            <a:schemeClr val="dk2"/>
                          </a:solidFill>
                          <a:latin typeface="Montserrat"/>
                          <a:ea typeface="Montserrat"/>
                          <a:cs typeface="Montserrat"/>
                          <a:sym typeface="Montserrat"/>
                        </a:rPr>
                        <a:t>Filas/Registros</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3" hMerge="1"/>
                <a:tc>
                  <a:txBody>
                    <a:bodyPr/>
                    <a:lstStyle/>
                    <a:p>
                      <a:pPr indent="0" lvl="0" marL="0" marR="0" rtl="0" algn="ctr">
                        <a:lnSpc>
                          <a:spcPct val="115000"/>
                        </a:lnSpc>
                        <a:spcBef>
                          <a:spcPts val="0"/>
                        </a:spcBef>
                        <a:spcAft>
                          <a:spcPts val="0"/>
                        </a:spcAft>
                        <a:buClr>
                          <a:srgbClr val="000000"/>
                        </a:buClr>
                        <a:buSzPts val="1300"/>
                        <a:buFont typeface="Arial"/>
                        <a:buNone/>
                      </a:pPr>
                      <a:r>
                        <a:rPr b="1" lang="es" sz="1300" u="none" cap="none" strike="noStrike">
                          <a:solidFill>
                            <a:schemeClr val="dk2"/>
                          </a:solidFill>
                          <a:latin typeface="Montserrat"/>
                          <a:ea typeface="Montserrat"/>
                          <a:cs typeface="Montserrat"/>
                          <a:sym typeface="Montserrat"/>
                        </a:rPr>
                        <a:t>DNI</a:t>
                      </a:r>
                      <a:endParaRPr b="1" sz="13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c>
                  <a:txBody>
                    <a:bodyPr/>
                    <a:lstStyle/>
                    <a:p>
                      <a:pPr indent="0" lvl="0" marL="0" marR="0" rtl="0" algn="ctr">
                        <a:lnSpc>
                          <a:spcPct val="115000"/>
                        </a:lnSpc>
                        <a:spcBef>
                          <a:spcPts val="0"/>
                        </a:spcBef>
                        <a:spcAft>
                          <a:spcPts val="0"/>
                        </a:spcAft>
                        <a:buClr>
                          <a:srgbClr val="000000"/>
                        </a:buClr>
                        <a:buSzPts val="1300"/>
                        <a:buFont typeface="Arial"/>
                        <a:buNone/>
                      </a:pPr>
                      <a:r>
                        <a:rPr b="1" lang="es" sz="1300" u="none" cap="none" strike="noStrike">
                          <a:solidFill>
                            <a:schemeClr val="dk2"/>
                          </a:solidFill>
                          <a:latin typeface="Montserrat"/>
                          <a:ea typeface="Montserrat"/>
                          <a:cs typeface="Montserrat"/>
                          <a:sym typeface="Montserrat"/>
                        </a:rPr>
                        <a:t>Apellido</a:t>
                      </a:r>
                      <a:endParaRPr b="1" sz="13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c>
                  <a:txBody>
                    <a:bodyPr/>
                    <a:lstStyle/>
                    <a:p>
                      <a:pPr indent="0" lvl="0" marL="0" marR="0" rtl="0" algn="ctr">
                        <a:lnSpc>
                          <a:spcPct val="115000"/>
                        </a:lnSpc>
                        <a:spcBef>
                          <a:spcPts val="0"/>
                        </a:spcBef>
                        <a:spcAft>
                          <a:spcPts val="0"/>
                        </a:spcAft>
                        <a:buClr>
                          <a:srgbClr val="000000"/>
                        </a:buClr>
                        <a:buSzPts val="1300"/>
                        <a:buFont typeface="Arial"/>
                        <a:buNone/>
                      </a:pPr>
                      <a:r>
                        <a:rPr b="1" lang="es" sz="1300" u="none" cap="none" strike="noStrike">
                          <a:solidFill>
                            <a:schemeClr val="dk2"/>
                          </a:solidFill>
                          <a:latin typeface="Montserrat"/>
                          <a:ea typeface="Montserrat"/>
                          <a:cs typeface="Montserrat"/>
                          <a:sym typeface="Montserrat"/>
                        </a:rPr>
                        <a:t>Nombre</a:t>
                      </a:r>
                      <a:endParaRPr b="1" sz="13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c>
                  <a:txBody>
                    <a:bodyPr/>
                    <a:lstStyle/>
                    <a:p>
                      <a:pPr indent="0" lvl="0" marL="0" marR="0" rtl="0" algn="ctr">
                        <a:lnSpc>
                          <a:spcPct val="115000"/>
                        </a:lnSpc>
                        <a:spcBef>
                          <a:spcPts val="0"/>
                        </a:spcBef>
                        <a:spcAft>
                          <a:spcPts val="0"/>
                        </a:spcAft>
                        <a:buClr>
                          <a:srgbClr val="000000"/>
                        </a:buClr>
                        <a:buSzPts val="1300"/>
                        <a:buFont typeface="Arial"/>
                        <a:buNone/>
                      </a:pPr>
                      <a:r>
                        <a:rPr b="1" lang="es" sz="1300" u="none" cap="none" strike="noStrike">
                          <a:solidFill>
                            <a:schemeClr val="dk2"/>
                          </a:solidFill>
                          <a:latin typeface="Montserrat"/>
                          <a:ea typeface="Montserrat"/>
                          <a:cs typeface="Montserrat"/>
                          <a:sym typeface="Montserrat"/>
                        </a:rPr>
                        <a:t>Fecha Nac.</a:t>
                      </a:r>
                      <a:endParaRPr b="1" sz="13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r>
              <a:tr h="240075">
                <a:tc gridSpan="2" vMerge="1"/>
                <a:tc hMerge="1" vMerge="1"/>
                <a:tc>
                  <a:txBody>
                    <a:bodyPr/>
                    <a:lstStyle/>
                    <a:p>
                      <a:pPr indent="0" lvl="0" marL="0" marR="0" rtl="0" algn="ctr">
                        <a:lnSpc>
                          <a:spcPct val="115000"/>
                        </a:lnSpc>
                        <a:spcBef>
                          <a:spcPts val="0"/>
                        </a:spcBef>
                        <a:spcAft>
                          <a:spcPts val="0"/>
                        </a:spcAft>
                        <a:buClr>
                          <a:srgbClr val="000000"/>
                        </a:buClr>
                        <a:buSzPts val="1300"/>
                        <a:buFont typeface="Arial"/>
                        <a:buNone/>
                      </a:pPr>
                      <a:r>
                        <a:rPr lang="es" sz="1300" u="none" cap="none" strike="noStrike">
                          <a:solidFill>
                            <a:schemeClr val="dk2"/>
                          </a:solidFill>
                          <a:latin typeface="Montserrat"/>
                          <a:ea typeface="Montserrat"/>
                          <a:cs typeface="Montserrat"/>
                          <a:sym typeface="Montserrat"/>
                        </a:rPr>
                        <a:t>12.345.678</a:t>
                      </a:r>
                      <a:endParaRPr sz="13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lang="es" sz="1300" u="none" cap="none" strike="noStrike">
                          <a:solidFill>
                            <a:schemeClr val="dk2"/>
                          </a:solidFill>
                          <a:latin typeface="Montserrat"/>
                          <a:ea typeface="Montserrat"/>
                          <a:cs typeface="Montserrat"/>
                          <a:sym typeface="Montserrat"/>
                        </a:rPr>
                        <a:t>Gómez</a:t>
                      </a:r>
                      <a:endParaRPr sz="13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lang="es" sz="1300" u="none" cap="none" strike="noStrike">
                          <a:solidFill>
                            <a:schemeClr val="dk2"/>
                          </a:solidFill>
                          <a:latin typeface="Montserrat"/>
                          <a:ea typeface="Montserrat"/>
                          <a:cs typeface="Montserrat"/>
                          <a:sym typeface="Montserrat"/>
                        </a:rPr>
                        <a:t>Juan</a:t>
                      </a:r>
                      <a:endParaRPr sz="13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lang="es" sz="1300" u="none" cap="none" strike="noStrike">
                          <a:solidFill>
                            <a:schemeClr val="dk2"/>
                          </a:solidFill>
                          <a:latin typeface="Montserrat"/>
                          <a:ea typeface="Montserrat"/>
                          <a:cs typeface="Montserrat"/>
                          <a:sym typeface="Montserrat"/>
                        </a:rPr>
                        <a:t>25/09/1945</a:t>
                      </a:r>
                      <a:endParaRPr sz="13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40075">
                <a:tc gridSpan="2" vMerge="1"/>
                <a:tc hMerge="1" vMerge="1"/>
                <a:tc>
                  <a:txBody>
                    <a:bodyPr/>
                    <a:lstStyle/>
                    <a:p>
                      <a:pPr indent="0" lvl="0" marL="0" marR="0" rtl="0" algn="ctr">
                        <a:lnSpc>
                          <a:spcPct val="115000"/>
                        </a:lnSpc>
                        <a:spcBef>
                          <a:spcPts val="0"/>
                        </a:spcBef>
                        <a:spcAft>
                          <a:spcPts val="0"/>
                        </a:spcAft>
                        <a:buClr>
                          <a:srgbClr val="000000"/>
                        </a:buClr>
                        <a:buSzPts val="1300"/>
                        <a:buFont typeface="Arial"/>
                        <a:buNone/>
                      </a:pPr>
                      <a:r>
                        <a:rPr lang="es" sz="1300" u="none" cap="none" strike="noStrike">
                          <a:solidFill>
                            <a:schemeClr val="dk2"/>
                          </a:solidFill>
                          <a:latin typeface="Montserrat"/>
                          <a:ea typeface="Montserrat"/>
                          <a:cs typeface="Montserrat"/>
                          <a:sym typeface="Montserrat"/>
                        </a:rPr>
                        <a:t>23.456.789</a:t>
                      </a:r>
                      <a:endParaRPr sz="13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lang="es" sz="1300" u="none" cap="none" strike="noStrike">
                          <a:solidFill>
                            <a:schemeClr val="dk2"/>
                          </a:solidFill>
                          <a:latin typeface="Montserrat"/>
                          <a:ea typeface="Montserrat"/>
                          <a:cs typeface="Montserrat"/>
                          <a:sym typeface="Montserrat"/>
                        </a:rPr>
                        <a:t>Fernández</a:t>
                      </a:r>
                      <a:endParaRPr sz="13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lang="es" sz="1300" u="none" cap="none" strike="noStrike">
                          <a:solidFill>
                            <a:schemeClr val="dk2"/>
                          </a:solidFill>
                          <a:latin typeface="Montserrat"/>
                          <a:ea typeface="Montserrat"/>
                          <a:cs typeface="Montserrat"/>
                          <a:sym typeface="Montserrat"/>
                        </a:rPr>
                        <a:t>Ana</a:t>
                      </a:r>
                      <a:endParaRPr sz="13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lang="es" sz="1300" u="none" cap="none" strike="noStrike">
                          <a:solidFill>
                            <a:schemeClr val="dk2"/>
                          </a:solidFill>
                          <a:latin typeface="Montserrat"/>
                          <a:ea typeface="Montserrat"/>
                          <a:cs typeface="Montserrat"/>
                          <a:sym typeface="Montserrat"/>
                        </a:rPr>
                        <a:t>12/07/1973</a:t>
                      </a:r>
                      <a:endParaRPr sz="13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251" name="Google Shape;251;p11"/>
          <p:cNvSpPr/>
          <p:nvPr/>
        </p:nvSpPr>
        <p:spPr>
          <a:xfrm>
            <a:off x="2063719" y="1991323"/>
            <a:ext cx="108300" cy="1039200"/>
          </a:xfrm>
          <a:prstGeom prst="leftBracket">
            <a:avLst>
              <a:gd fmla="val 57156" name="adj"/>
            </a:avLst>
          </a:prstGeom>
          <a:noFill/>
          <a:ln cap="flat" cmpd="sng" w="19050">
            <a:solidFill>
              <a:srgbClr val="F39C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2"/>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SGBD más conocidos</a:t>
            </a:r>
            <a:endParaRPr/>
          </a:p>
        </p:txBody>
      </p:sp>
      <p:sp>
        <p:nvSpPr>
          <p:cNvPr id="257" name="Google Shape;257;p12"/>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s" sz="1600"/>
              <a:t>Existen diferentes Sistemas de Gestión de Base de Datos:</a:t>
            </a:r>
            <a:endParaRPr sz="1600"/>
          </a:p>
          <a:p>
            <a:pPr indent="-330200" lvl="1" marL="914400" rtl="0" algn="l">
              <a:lnSpc>
                <a:spcPct val="115000"/>
              </a:lnSpc>
              <a:spcBef>
                <a:spcPts val="0"/>
              </a:spcBef>
              <a:spcAft>
                <a:spcPts val="0"/>
              </a:spcAft>
              <a:buSzPts val="1600"/>
              <a:buChar char="○"/>
            </a:pPr>
            <a:r>
              <a:rPr b="1" lang="es" sz="1600"/>
              <a:t>Relacionales</a:t>
            </a:r>
            <a:r>
              <a:rPr lang="es" sz="1600"/>
              <a:t>: MySQL, MaríaDB, PostgreSQL, Ms. Access, entre otros…</a:t>
            </a:r>
            <a:endParaRPr sz="1600"/>
          </a:p>
          <a:p>
            <a:pPr indent="-330200" lvl="1" marL="914400" rtl="0" algn="l">
              <a:lnSpc>
                <a:spcPct val="115000"/>
              </a:lnSpc>
              <a:spcBef>
                <a:spcPts val="0"/>
              </a:spcBef>
              <a:spcAft>
                <a:spcPts val="0"/>
              </a:spcAft>
              <a:buSzPts val="1600"/>
              <a:buChar char="○"/>
            </a:pPr>
            <a:r>
              <a:rPr b="1" lang="es" sz="1600"/>
              <a:t>No relacionales</a:t>
            </a:r>
            <a:r>
              <a:rPr lang="es" sz="1600"/>
              <a:t>: Mongo DB, Redis, Elasticsearch y Cassandra.</a:t>
            </a:r>
            <a:endParaRPr sz="1600"/>
          </a:p>
        </p:txBody>
      </p:sp>
      <p:pic>
        <p:nvPicPr>
          <p:cNvPr id="258" name="Google Shape;258;p12"/>
          <p:cNvPicPr preferRelativeResize="0"/>
          <p:nvPr/>
        </p:nvPicPr>
        <p:blipFill rotWithShape="1">
          <a:blip r:embed="rId3">
            <a:alphaModFix/>
          </a:blip>
          <a:srcRect b="0" l="0" r="0" t="0"/>
          <a:stretch/>
        </p:blipFill>
        <p:spPr>
          <a:xfrm>
            <a:off x="4074517" y="2512300"/>
            <a:ext cx="882129" cy="862524"/>
          </a:xfrm>
          <a:prstGeom prst="rect">
            <a:avLst/>
          </a:prstGeom>
          <a:noFill/>
          <a:ln>
            <a:noFill/>
          </a:ln>
        </p:spPr>
      </p:pic>
      <p:pic>
        <p:nvPicPr>
          <p:cNvPr id="259" name="Google Shape;259;p12"/>
          <p:cNvPicPr preferRelativeResize="0"/>
          <p:nvPr/>
        </p:nvPicPr>
        <p:blipFill rotWithShape="1">
          <a:blip r:embed="rId4">
            <a:alphaModFix/>
          </a:blip>
          <a:srcRect b="0" l="0" r="0" t="0"/>
          <a:stretch/>
        </p:blipFill>
        <p:spPr>
          <a:xfrm>
            <a:off x="1922934" y="3416494"/>
            <a:ext cx="1143500" cy="1143498"/>
          </a:xfrm>
          <a:prstGeom prst="rect">
            <a:avLst/>
          </a:prstGeom>
          <a:noFill/>
          <a:ln>
            <a:noFill/>
          </a:ln>
        </p:spPr>
      </p:pic>
      <p:pic>
        <p:nvPicPr>
          <p:cNvPr id="260" name="Google Shape;260;p12"/>
          <p:cNvPicPr preferRelativeResize="0"/>
          <p:nvPr/>
        </p:nvPicPr>
        <p:blipFill rotWithShape="1">
          <a:blip r:embed="rId5">
            <a:alphaModFix/>
          </a:blip>
          <a:srcRect b="0" l="0" r="0" t="0"/>
          <a:stretch/>
        </p:blipFill>
        <p:spPr>
          <a:xfrm>
            <a:off x="6121286" y="2371813"/>
            <a:ext cx="1471556" cy="1143500"/>
          </a:xfrm>
          <a:prstGeom prst="rect">
            <a:avLst/>
          </a:prstGeom>
          <a:noFill/>
          <a:ln>
            <a:noFill/>
          </a:ln>
        </p:spPr>
      </p:pic>
      <p:pic>
        <p:nvPicPr>
          <p:cNvPr id="261" name="Google Shape;261;p12"/>
          <p:cNvPicPr preferRelativeResize="0"/>
          <p:nvPr/>
        </p:nvPicPr>
        <p:blipFill rotWithShape="1">
          <a:blip r:embed="rId6">
            <a:alphaModFix/>
          </a:blip>
          <a:srcRect b="0" l="0" r="0" t="0"/>
          <a:stretch/>
        </p:blipFill>
        <p:spPr>
          <a:xfrm>
            <a:off x="3683001" y="3658262"/>
            <a:ext cx="2149781" cy="659962"/>
          </a:xfrm>
          <a:prstGeom prst="rect">
            <a:avLst/>
          </a:prstGeom>
          <a:noFill/>
          <a:ln>
            <a:noFill/>
          </a:ln>
        </p:spPr>
      </p:pic>
      <p:pic>
        <p:nvPicPr>
          <p:cNvPr id="262" name="Google Shape;262;p12"/>
          <p:cNvPicPr preferRelativeResize="0"/>
          <p:nvPr/>
        </p:nvPicPr>
        <p:blipFill rotWithShape="1">
          <a:blip r:embed="rId7">
            <a:alphaModFix/>
          </a:blip>
          <a:srcRect b="0" l="0" r="0" t="0"/>
          <a:stretch/>
        </p:blipFill>
        <p:spPr>
          <a:xfrm>
            <a:off x="6449348" y="3505600"/>
            <a:ext cx="1143500" cy="965284"/>
          </a:xfrm>
          <a:prstGeom prst="rect">
            <a:avLst/>
          </a:prstGeom>
          <a:noFill/>
          <a:ln>
            <a:noFill/>
          </a:ln>
        </p:spPr>
      </p:pic>
      <p:pic>
        <p:nvPicPr>
          <p:cNvPr id="263" name="Google Shape;263;p12"/>
          <p:cNvPicPr preferRelativeResize="0"/>
          <p:nvPr/>
        </p:nvPicPr>
        <p:blipFill rotWithShape="1">
          <a:blip r:embed="rId8">
            <a:alphaModFix/>
          </a:blip>
          <a:srcRect b="0" l="0" r="0" t="0"/>
          <a:stretch/>
        </p:blipFill>
        <p:spPr>
          <a:xfrm>
            <a:off x="2027751" y="2496619"/>
            <a:ext cx="882125" cy="89388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13"/>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Bases de datos no relacionales</a:t>
            </a:r>
            <a:endParaRPr/>
          </a:p>
        </p:txBody>
      </p:sp>
      <p:sp>
        <p:nvSpPr>
          <p:cNvPr id="269" name="Google Shape;269;p13"/>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Autofit/>
          </a:bodyPr>
          <a:lstStyle/>
          <a:p>
            <a:pPr indent="-333375" lvl="0" marL="457200" rtl="0" algn="l">
              <a:lnSpc>
                <a:spcPct val="115000"/>
              </a:lnSpc>
              <a:spcBef>
                <a:spcPts val="0"/>
              </a:spcBef>
              <a:spcAft>
                <a:spcPts val="0"/>
              </a:spcAft>
              <a:buSzPts val="1650"/>
              <a:buChar char="●"/>
            </a:pPr>
            <a:r>
              <a:rPr lang="es" sz="1650"/>
              <a:t>No tienen un identificador que sirva de relación entre un conjunto de datos y otros.</a:t>
            </a:r>
            <a:endParaRPr sz="1650"/>
          </a:p>
          <a:p>
            <a:pPr indent="-333375" lvl="0" marL="457200" rtl="0" algn="l">
              <a:lnSpc>
                <a:spcPct val="115000"/>
              </a:lnSpc>
              <a:spcBef>
                <a:spcPts val="0"/>
              </a:spcBef>
              <a:spcAft>
                <a:spcPts val="0"/>
              </a:spcAft>
              <a:buSzPts val="1650"/>
              <a:buChar char="●"/>
            </a:pPr>
            <a:r>
              <a:rPr lang="es" sz="1650"/>
              <a:t>Normalmente la información se organiza en </a:t>
            </a:r>
            <a:r>
              <a:rPr b="1" lang="es" sz="1650"/>
              <a:t>documentos </a:t>
            </a:r>
            <a:r>
              <a:rPr lang="es" sz="1650"/>
              <a:t>y es muy útil cuando no tenemos un esquema exacto de lo que se va a almacenar.</a:t>
            </a:r>
            <a:endParaRPr sz="1650"/>
          </a:p>
          <a:p>
            <a:pPr indent="-333375" lvl="0" marL="457200" rtl="0" algn="l">
              <a:lnSpc>
                <a:spcPct val="115000"/>
              </a:lnSpc>
              <a:spcBef>
                <a:spcPts val="0"/>
              </a:spcBef>
              <a:spcAft>
                <a:spcPts val="0"/>
              </a:spcAft>
              <a:buSzPts val="1650"/>
              <a:buChar char="●"/>
            </a:pPr>
            <a:r>
              <a:rPr lang="es" sz="1650"/>
              <a:t>Suelen utilizar </a:t>
            </a:r>
            <a:r>
              <a:rPr b="1" lang="es" sz="1650"/>
              <a:t>documentos JSON</a:t>
            </a:r>
            <a:r>
              <a:rPr lang="es" sz="1650"/>
              <a:t>, a diferencia de las bases de datos relacionales que despliegan su información en tablas.</a:t>
            </a:r>
            <a:endParaRPr sz="1650"/>
          </a:p>
          <a:p>
            <a:pPr indent="-333375" lvl="0" marL="457200" rtl="0" algn="l">
              <a:lnSpc>
                <a:spcPct val="115000"/>
              </a:lnSpc>
              <a:spcBef>
                <a:spcPts val="0"/>
              </a:spcBef>
              <a:spcAft>
                <a:spcPts val="0"/>
              </a:spcAft>
              <a:buSzPts val="1650"/>
              <a:buChar char="●"/>
            </a:pPr>
            <a:r>
              <a:rPr lang="es" sz="1650"/>
              <a:t>Las bases de datos más competitivas suelen permitir operaciones de ambos tipos: relacionales y no relacionales.</a:t>
            </a:r>
            <a:endParaRPr sz="1650"/>
          </a:p>
          <a:p>
            <a:pPr indent="0" lvl="0" marL="0" rtl="0" algn="l">
              <a:lnSpc>
                <a:spcPct val="115000"/>
              </a:lnSpc>
              <a:spcBef>
                <a:spcPts val="1200"/>
              </a:spcBef>
              <a:spcAft>
                <a:spcPts val="1200"/>
              </a:spcAft>
              <a:buSzPts val="1800"/>
              <a:buNone/>
            </a:pPr>
            <a:r>
              <a:rPr i="1" lang="es" sz="1450"/>
              <a:t>La diferencia entre el éxito y el fracaso de una base de datos recae en el </a:t>
            </a:r>
            <a:r>
              <a:rPr b="1" i="1" lang="es" sz="1450"/>
              <a:t>diseño del modelo</a:t>
            </a:r>
            <a:r>
              <a:rPr i="1" lang="es" sz="1450"/>
              <a:t>. De nada sirve elegir la base de datos más apropiada para nuestro sistema, si luego no se hace un buen diseño.</a:t>
            </a:r>
            <a:endParaRPr i="1" sz="145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14"/>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Bases de datos no relacionales</a:t>
            </a:r>
            <a:endParaRPr/>
          </a:p>
        </p:txBody>
      </p:sp>
      <p:sp>
        <p:nvSpPr>
          <p:cNvPr id="275" name="Google Shape;275;p14"/>
          <p:cNvSpPr txBox="1"/>
          <p:nvPr>
            <p:ph idx="1" type="body"/>
          </p:nvPr>
        </p:nvSpPr>
        <p:spPr>
          <a:xfrm>
            <a:off x="432025" y="1304875"/>
            <a:ext cx="4395900" cy="33021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1200"/>
              </a:spcAft>
              <a:buClr>
                <a:schemeClr val="dk1"/>
              </a:buClr>
              <a:buSzPts val="1100"/>
              <a:buFont typeface="Arial"/>
              <a:buNone/>
            </a:pPr>
            <a:r>
              <a:rPr lang="es" sz="1526"/>
              <a:t>Una tabla puede transformarse en documentos, cada uno formado por cada fila de la tabla. Solo es una cuestión de visualización.</a:t>
            </a:r>
            <a:endParaRPr sz="1526"/>
          </a:p>
        </p:txBody>
      </p:sp>
      <p:graphicFrame>
        <p:nvGraphicFramePr>
          <p:cNvPr id="276" name="Google Shape;276;p14"/>
          <p:cNvGraphicFramePr/>
          <p:nvPr/>
        </p:nvGraphicFramePr>
        <p:xfrm>
          <a:off x="1369813" y="2647650"/>
          <a:ext cx="3000000" cy="3000000"/>
        </p:xfrm>
        <a:graphic>
          <a:graphicData uri="http://schemas.openxmlformats.org/drawingml/2006/table">
            <a:tbl>
              <a:tblPr>
                <a:noFill/>
                <a:tableStyleId>{E833AD45-AE5B-4F82-8E0C-4E39678E6C23}</a:tableStyleId>
              </a:tblPr>
              <a:tblGrid>
                <a:gridCol w="836575"/>
                <a:gridCol w="688325"/>
                <a:gridCol w="995425"/>
              </a:tblGrid>
              <a:tr h="333375">
                <a:tc>
                  <a:txBody>
                    <a:bodyPr/>
                    <a:lstStyle/>
                    <a:p>
                      <a:pPr indent="0" lvl="0" marL="0" marR="0" rtl="0" algn="ctr">
                        <a:lnSpc>
                          <a:spcPct val="115000"/>
                        </a:lnSpc>
                        <a:spcBef>
                          <a:spcPts val="0"/>
                        </a:spcBef>
                        <a:spcAft>
                          <a:spcPts val="0"/>
                        </a:spcAft>
                        <a:buClr>
                          <a:srgbClr val="000000"/>
                        </a:buClr>
                        <a:buSzPts val="1200"/>
                        <a:buFont typeface="Arial"/>
                        <a:buNone/>
                      </a:pPr>
                      <a:r>
                        <a:rPr b="1" lang="es" sz="1200" u="none" cap="none" strike="noStrike">
                          <a:solidFill>
                            <a:schemeClr val="dk2"/>
                          </a:solidFill>
                          <a:latin typeface="Montserrat"/>
                          <a:ea typeface="Montserrat"/>
                          <a:cs typeface="Montserrat"/>
                          <a:sym typeface="Montserrat"/>
                        </a:rPr>
                        <a:t>ID</a:t>
                      </a:r>
                      <a:endParaRPr b="1" sz="1200" u="none" cap="none" strike="noStrike">
                        <a:solidFill>
                          <a:schemeClr val="dk2"/>
                        </a:solidFill>
                        <a:latin typeface="Montserrat"/>
                        <a:ea typeface="Montserrat"/>
                        <a:cs typeface="Montserrat"/>
                        <a:sym typeface="Montserrat"/>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8C823"/>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lang="es" sz="1200" u="none" cap="none" strike="noStrike">
                          <a:solidFill>
                            <a:schemeClr val="dk2"/>
                          </a:solidFill>
                          <a:latin typeface="Montserrat"/>
                          <a:ea typeface="Montserrat"/>
                          <a:cs typeface="Montserrat"/>
                          <a:sym typeface="Montserrat"/>
                        </a:rPr>
                        <a:t>EDAD</a:t>
                      </a:r>
                      <a:endParaRPr b="1" sz="1200" u="none" cap="none" strike="noStrike">
                        <a:solidFill>
                          <a:schemeClr val="dk2"/>
                        </a:solidFill>
                        <a:latin typeface="Montserrat"/>
                        <a:ea typeface="Montserrat"/>
                        <a:cs typeface="Montserrat"/>
                        <a:sym typeface="Montserrat"/>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8C823"/>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lang="es" sz="1200" u="none" cap="none" strike="noStrike">
                          <a:solidFill>
                            <a:schemeClr val="dk2"/>
                          </a:solidFill>
                          <a:latin typeface="Montserrat"/>
                          <a:ea typeface="Montserrat"/>
                          <a:cs typeface="Montserrat"/>
                          <a:sym typeface="Montserrat"/>
                        </a:rPr>
                        <a:t>PUNTAJE</a:t>
                      </a:r>
                      <a:endParaRPr b="1" sz="1200" u="none" cap="none" strike="noStrike">
                        <a:solidFill>
                          <a:schemeClr val="dk2"/>
                        </a:solidFill>
                        <a:latin typeface="Montserrat"/>
                        <a:ea typeface="Montserrat"/>
                        <a:cs typeface="Montserrat"/>
                        <a:sym typeface="Montserrat"/>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8C823"/>
                    </a:solidFill>
                  </a:tcPr>
                </a:tc>
              </a:tr>
              <a:tr h="333375">
                <a:tc>
                  <a:txBody>
                    <a:bodyPr/>
                    <a:lstStyle/>
                    <a:p>
                      <a:pPr indent="0" lvl="0" marL="0" marR="0" rtl="0" algn="ctr">
                        <a:lnSpc>
                          <a:spcPct val="115000"/>
                        </a:lnSpc>
                        <a:spcBef>
                          <a:spcPts val="0"/>
                        </a:spcBef>
                        <a:spcAft>
                          <a:spcPts val="0"/>
                        </a:spcAft>
                        <a:buClr>
                          <a:srgbClr val="000000"/>
                        </a:buClr>
                        <a:buSzPts val="1200"/>
                        <a:buFont typeface="Arial"/>
                        <a:buNone/>
                      </a:pPr>
                      <a:r>
                        <a:rPr lang="es" sz="1200" u="none" cap="none" strike="noStrike">
                          <a:solidFill>
                            <a:schemeClr val="dk2"/>
                          </a:solidFill>
                          <a:latin typeface="Montserrat"/>
                          <a:ea typeface="Montserrat"/>
                          <a:cs typeface="Montserrat"/>
                          <a:sym typeface="Montserrat"/>
                        </a:rPr>
                        <a:t>1</a:t>
                      </a:r>
                      <a:endParaRPr sz="1200" u="none" cap="none" strike="noStrike">
                        <a:solidFill>
                          <a:schemeClr val="dk2"/>
                        </a:solidFill>
                        <a:latin typeface="Montserrat"/>
                        <a:ea typeface="Montserrat"/>
                        <a:cs typeface="Montserrat"/>
                        <a:sym typeface="Montserrat"/>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s" sz="1200" u="none" cap="none" strike="noStrike">
                          <a:solidFill>
                            <a:schemeClr val="dk2"/>
                          </a:solidFill>
                          <a:latin typeface="Montserrat"/>
                          <a:ea typeface="Montserrat"/>
                          <a:cs typeface="Montserrat"/>
                          <a:sym typeface="Montserrat"/>
                        </a:rPr>
                        <a:t>12</a:t>
                      </a:r>
                      <a:endParaRPr sz="1200" u="none" cap="none" strike="noStrike">
                        <a:solidFill>
                          <a:schemeClr val="dk2"/>
                        </a:solidFill>
                        <a:latin typeface="Montserrat"/>
                        <a:ea typeface="Montserrat"/>
                        <a:cs typeface="Montserrat"/>
                        <a:sym typeface="Montserrat"/>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s" sz="1200" u="none" cap="none" strike="noStrike">
                          <a:solidFill>
                            <a:schemeClr val="dk2"/>
                          </a:solidFill>
                          <a:latin typeface="Montserrat"/>
                          <a:ea typeface="Montserrat"/>
                          <a:cs typeface="Montserrat"/>
                          <a:sym typeface="Montserrat"/>
                        </a:rPr>
                        <a:t>77</a:t>
                      </a:r>
                      <a:endParaRPr sz="1200" u="none" cap="none" strike="noStrike">
                        <a:solidFill>
                          <a:schemeClr val="dk2"/>
                        </a:solidFill>
                        <a:latin typeface="Montserrat"/>
                        <a:ea typeface="Montserrat"/>
                        <a:cs typeface="Montserrat"/>
                        <a:sym typeface="Montserrat"/>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33375">
                <a:tc>
                  <a:txBody>
                    <a:bodyPr/>
                    <a:lstStyle/>
                    <a:p>
                      <a:pPr indent="0" lvl="0" marL="0" marR="0" rtl="0" algn="ctr">
                        <a:lnSpc>
                          <a:spcPct val="115000"/>
                        </a:lnSpc>
                        <a:spcBef>
                          <a:spcPts val="0"/>
                        </a:spcBef>
                        <a:spcAft>
                          <a:spcPts val="0"/>
                        </a:spcAft>
                        <a:buClr>
                          <a:srgbClr val="000000"/>
                        </a:buClr>
                        <a:buSzPts val="1200"/>
                        <a:buFont typeface="Arial"/>
                        <a:buNone/>
                      </a:pPr>
                      <a:r>
                        <a:rPr lang="es" sz="1200" u="none" cap="none" strike="noStrike">
                          <a:solidFill>
                            <a:schemeClr val="dk2"/>
                          </a:solidFill>
                          <a:latin typeface="Montserrat"/>
                          <a:ea typeface="Montserrat"/>
                          <a:cs typeface="Montserrat"/>
                          <a:sym typeface="Montserrat"/>
                        </a:rPr>
                        <a:t>2</a:t>
                      </a:r>
                      <a:endParaRPr sz="1200" u="none" cap="none" strike="noStrike">
                        <a:solidFill>
                          <a:schemeClr val="dk2"/>
                        </a:solidFill>
                        <a:latin typeface="Montserrat"/>
                        <a:ea typeface="Montserrat"/>
                        <a:cs typeface="Montserrat"/>
                        <a:sym typeface="Montserrat"/>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s" sz="1200" u="none" cap="none" strike="noStrike">
                          <a:solidFill>
                            <a:schemeClr val="dk2"/>
                          </a:solidFill>
                          <a:latin typeface="Montserrat"/>
                          <a:ea typeface="Montserrat"/>
                          <a:cs typeface="Montserrat"/>
                          <a:sym typeface="Montserrat"/>
                        </a:rPr>
                        <a:t>12</a:t>
                      </a:r>
                      <a:endParaRPr sz="1200" u="none" cap="none" strike="noStrike">
                        <a:solidFill>
                          <a:schemeClr val="dk2"/>
                        </a:solidFill>
                        <a:latin typeface="Montserrat"/>
                        <a:ea typeface="Montserrat"/>
                        <a:cs typeface="Montserrat"/>
                        <a:sym typeface="Montserrat"/>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s" sz="1200" u="none" cap="none" strike="noStrike">
                          <a:solidFill>
                            <a:schemeClr val="dk2"/>
                          </a:solidFill>
                          <a:latin typeface="Montserrat"/>
                          <a:ea typeface="Montserrat"/>
                          <a:cs typeface="Montserrat"/>
                          <a:sym typeface="Montserrat"/>
                        </a:rPr>
                        <a:t>68</a:t>
                      </a:r>
                      <a:endParaRPr sz="1200" u="none" cap="none" strike="noStrike">
                        <a:solidFill>
                          <a:schemeClr val="dk2"/>
                        </a:solidFill>
                        <a:latin typeface="Montserrat"/>
                        <a:ea typeface="Montserrat"/>
                        <a:cs typeface="Montserrat"/>
                        <a:sym typeface="Montserrat"/>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33375">
                <a:tc>
                  <a:txBody>
                    <a:bodyPr/>
                    <a:lstStyle/>
                    <a:p>
                      <a:pPr indent="0" lvl="0" marL="0" marR="0" rtl="0" algn="ctr">
                        <a:lnSpc>
                          <a:spcPct val="115000"/>
                        </a:lnSpc>
                        <a:spcBef>
                          <a:spcPts val="0"/>
                        </a:spcBef>
                        <a:spcAft>
                          <a:spcPts val="0"/>
                        </a:spcAft>
                        <a:buClr>
                          <a:srgbClr val="000000"/>
                        </a:buClr>
                        <a:buSzPts val="1200"/>
                        <a:buFont typeface="Arial"/>
                        <a:buNone/>
                      </a:pPr>
                      <a:r>
                        <a:rPr lang="es" sz="1200" u="none" cap="none" strike="noStrike">
                          <a:solidFill>
                            <a:schemeClr val="dk2"/>
                          </a:solidFill>
                          <a:latin typeface="Montserrat"/>
                          <a:ea typeface="Montserrat"/>
                          <a:cs typeface="Montserrat"/>
                          <a:sym typeface="Montserrat"/>
                        </a:rPr>
                        <a:t>3</a:t>
                      </a:r>
                      <a:endParaRPr sz="1200" u="none" cap="none" strike="noStrike">
                        <a:solidFill>
                          <a:schemeClr val="dk2"/>
                        </a:solidFill>
                        <a:latin typeface="Montserrat"/>
                        <a:ea typeface="Montserrat"/>
                        <a:cs typeface="Montserrat"/>
                        <a:sym typeface="Montserrat"/>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s" sz="1200" u="none" cap="none" strike="noStrike">
                          <a:solidFill>
                            <a:schemeClr val="dk2"/>
                          </a:solidFill>
                          <a:latin typeface="Montserrat"/>
                          <a:ea typeface="Montserrat"/>
                          <a:cs typeface="Montserrat"/>
                          <a:sym typeface="Montserrat"/>
                        </a:rPr>
                        <a:t>11</a:t>
                      </a:r>
                      <a:endParaRPr sz="1200" u="none" cap="none" strike="noStrike">
                        <a:solidFill>
                          <a:schemeClr val="dk2"/>
                        </a:solidFill>
                        <a:latin typeface="Montserrat"/>
                        <a:ea typeface="Montserrat"/>
                        <a:cs typeface="Montserrat"/>
                        <a:sym typeface="Montserrat"/>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s" sz="1200" u="none" cap="none" strike="noStrike">
                          <a:solidFill>
                            <a:schemeClr val="dk2"/>
                          </a:solidFill>
                          <a:latin typeface="Montserrat"/>
                          <a:ea typeface="Montserrat"/>
                          <a:cs typeface="Montserrat"/>
                          <a:sym typeface="Montserrat"/>
                        </a:rPr>
                        <a:t>75</a:t>
                      </a:r>
                      <a:endParaRPr sz="1200" u="none" cap="none" strike="noStrike">
                        <a:solidFill>
                          <a:schemeClr val="dk2"/>
                        </a:solidFill>
                        <a:latin typeface="Montserrat"/>
                        <a:ea typeface="Montserrat"/>
                        <a:cs typeface="Montserrat"/>
                        <a:sym typeface="Montserrat"/>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pic>
        <p:nvPicPr>
          <p:cNvPr id="277" name="Google Shape;277;p14"/>
          <p:cNvPicPr preferRelativeResize="0"/>
          <p:nvPr/>
        </p:nvPicPr>
        <p:blipFill rotWithShape="1">
          <a:blip r:embed="rId3">
            <a:alphaModFix/>
          </a:blip>
          <a:srcRect b="0" l="0" r="0" t="0"/>
          <a:stretch/>
        </p:blipFill>
        <p:spPr>
          <a:xfrm>
            <a:off x="5054767" y="1474925"/>
            <a:ext cx="2631883" cy="3302100"/>
          </a:xfrm>
          <a:prstGeom prst="rect">
            <a:avLst/>
          </a:prstGeom>
          <a:noFill/>
          <a:ln>
            <a:noFill/>
          </a:ln>
        </p:spPr>
      </p:pic>
      <p:pic>
        <p:nvPicPr>
          <p:cNvPr id="278" name="Google Shape;278;p14"/>
          <p:cNvPicPr preferRelativeResize="0"/>
          <p:nvPr/>
        </p:nvPicPr>
        <p:blipFill rotWithShape="1">
          <a:blip r:embed="rId4">
            <a:alphaModFix/>
          </a:blip>
          <a:srcRect b="0" l="0" r="0" t="0"/>
          <a:stretch/>
        </p:blipFill>
        <p:spPr>
          <a:xfrm>
            <a:off x="7346274" y="1474924"/>
            <a:ext cx="1446725" cy="17588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400"/>
              <a:buNone/>
            </a:pPr>
            <a:r>
              <a:t/>
            </a:r>
            <a:endParaRPr/>
          </a:p>
        </p:txBody>
      </p:sp>
      <p:sp>
        <p:nvSpPr>
          <p:cNvPr id="284" name="Google Shape;284;p15"/>
          <p:cNvSpPr txBox="1"/>
          <p:nvPr>
            <p:ph type="title"/>
          </p:nvPr>
        </p:nvSpPr>
        <p:spPr>
          <a:xfrm>
            <a:off x="311700" y="5974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39285"/>
              <a:buFont typeface="Arial"/>
              <a:buNone/>
            </a:pPr>
            <a:r>
              <a:rPr lang="es"/>
              <a:t>Bases de datos no relacionales</a:t>
            </a:r>
            <a:endParaRPr/>
          </a:p>
        </p:txBody>
      </p:sp>
      <p:sp>
        <p:nvSpPr>
          <p:cNvPr id="285" name="Google Shape;285;p1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Clr>
                <a:schemeClr val="dk1"/>
              </a:buClr>
              <a:buSzPts val="1100"/>
              <a:buFont typeface="Arial"/>
              <a:buNone/>
            </a:pPr>
            <a:r>
              <a:rPr lang="es" sz="1526"/>
              <a:t>En una base de datos no relacional una unidad de datos puede llegar a ser demasiado compleja como para plasmarlo en una tabla. </a:t>
            </a:r>
            <a:br>
              <a:rPr lang="es" sz="1526"/>
            </a:br>
            <a:r>
              <a:rPr lang="es" sz="1526"/>
              <a:t>En la imagen de la derecha al tener elementos jerárquicos, es más difícil plasmarlo en una tabla plana. Una solución sería plasmarlo en varias tablas y, por tanto, necesitar de relaciones.</a:t>
            </a:r>
            <a:endParaRPr sz="1526"/>
          </a:p>
          <a:p>
            <a:pPr indent="0" lvl="0" marL="0" rtl="0" algn="l">
              <a:lnSpc>
                <a:spcPct val="105000"/>
              </a:lnSpc>
              <a:spcBef>
                <a:spcPts val="1200"/>
              </a:spcBef>
              <a:spcAft>
                <a:spcPts val="1200"/>
              </a:spcAft>
              <a:buClr>
                <a:schemeClr val="dk1"/>
              </a:buClr>
              <a:buSzPts val="1100"/>
              <a:buFont typeface="Arial"/>
              <a:buNone/>
            </a:pPr>
            <a:r>
              <a:t/>
            </a:r>
            <a:endParaRPr sz="1526"/>
          </a:p>
        </p:txBody>
      </p:sp>
      <p:pic>
        <p:nvPicPr>
          <p:cNvPr id="286" name="Google Shape;286;p15"/>
          <p:cNvPicPr preferRelativeResize="0"/>
          <p:nvPr/>
        </p:nvPicPr>
        <p:blipFill rotWithShape="1">
          <a:blip r:embed="rId3">
            <a:alphaModFix/>
          </a:blip>
          <a:srcRect b="0" l="0" r="0" t="0"/>
          <a:stretch/>
        </p:blipFill>
        <p:spPr>
          <a:xfrm>
            <a:off x="4832400" y="1170125"/>
            <a:ext cx="2869111" cy="34164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1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400"/>
              <a:buNone/>
            </a:pPr>
            <a:r>
              <a:t/>
            </a:r>
            <a:endParaRPr/>
          </a:p>
        </p:txBody>
      </p:sp>
      <p:sp>
        <p:nvSpPr>
          <p:cNvPr id="292" name="Google Shape;292;p16"/>
          <p:cNvSpPr txBox="1"/>
          <p:nvPr>
            <p:ph type="title"/>
          </p:nvPr>
        </p:nvSpPr>
        <p:spPr>
          <a:xfrm>
            <a:off x="311700" y="5974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39285"/>
              <a:buFont typeface="Arial"/>
              <a:buNone/>
            </a:pPr>
            <a:r>
              <a:rPr lang="es"/>
              <a:t>Abstracción y Modelado de datos</a:t>
            </a:r>
            <a:endParaRPr/>
          </a:p>
        </p:txBody>
      </p:sp>
      <p:sp>
        <p:nvSpPr>
          <p:cNvPr id="293" name="Google Shape;293;p1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Clr>
                <a:schemeClr val="dk1"/>
              </a:buClr>
              <a:buSzPts val="1100"/>
              <a:buFont typeface="Arial"/>
              <a:buNone/>
            </a:pPr>
            <a:r>
              <a:rPr lang="es" sz="1300"/>
              <a:t>La </a:t>
            </a:r>
            <a:r>
              <a:rPr b="1" lang="es" sz="1300"/>
              <a:t>abstracción </a:t>
            </a:r>
            <a:r>
              <a:rPr lang="es" sz="1300"/>
              <a:t>de datos es una técnica o metodología que permite diseñar estructuras de datos, consiste en representar bajo ciertos lineamientos de formato las características esenciales de una estructura de datos.</a:t>
            </a:r>
            <a:endParaRPr sz="1300"/>
          </a:p>
          <a:p>
            <a:pPr indent="0" lvl="0" marL="0" rtl="0" algn="l">
              <a:lnSpc>
                <a:spcPct val="105000"/>
              </a:lnSpc>
              <a:spcBef>
                <a:spcPts val="1200"/>
              </a:spcBef>
              <a:spcAft>
                <a:spcPts val="0"/>
              </a:spcAft>
              <a:buClr>
                <a:schemeClr val="dk1"/>
              </a:buClr>
              <a:buSzPts val="1100"/>
              <a:buFont typeface="Arial"/>
              <a:buNone/>
            </a:pPr>
            <a:r>
              <a:rPr lang="es" sz="1300"/>
              <a:t>El </a:t>
            </a:r>
            <a:r>
              <a:rPr b="1" lang="es" sz="1300"/>
              <a:t>modelado </a:t>
            </a:r>
            <a:r>
              <a:rPr lang="es" sz="1300"/>
              <a:t>de datos permite describir:</a:t>
            </a:r>
            <a:endParaRPr sz="1300"/>
          </a:p>
          <a:p>
            <a:pPr indent="-311150" lvl="0" marL="457200" rtl="0" algn="l">
              <a:lnSpc>
                <a:spcPct val="105000"/>
              </a:lnSpc>
              <a:spcBef>
                <a:spcPts val="0"/>
              </a:spcBef>
              <a:spcAft>
                <a:spcPts val="0"/>
              </a:spcAft>
              <a:buSzPts val="1300"/>
              <a:buChar char="●"/>
            </a:pPr>
            <a:r>
              <a:rPr b="1" lang="es" sz="1300"/>
              <a:t>Las estructuras de datos de la base</a:t>
            </a:r>
            <a:r>
              <a:rPr lang="es" sz="1300"/>
              <a:t>: Tipo de datos y sus relaciones.</a:t>
            </a:r>
            <a:endParaRPr sz="1300"/>
          </a:p>
          <a:p>
            <a:pPr indent="-311150" lvl="0" marL="457200" rtl="0" algn="l">
              <a:lnSpc>
                <a:spcPct val="105000"/>
              </a:lnSpc>
              <a:spcBef>
                <a:spcPts val="0"/>
              </a:spcBef>
              <a:spcAft>
                <a:spcPts val="0"/>
              </a:spcAft>
              <a:buSzPts val="1300"/>
              <a:buChar char="●"/>
            </a:pPr>
            <a:r>
              <a:rPr b="1" lang="es" sz="1300"/>
              <a:t>Las restricciones de integridad</a:t>
            </a:r>
            <a:r>
              <a:rPr lang="es" sz="1300"/>
              <a:t>: Conjunto de condiciones que deben cumplir los datos para reflejar la realidad deseada.</a:t>
            </a:r>
            <a:endParaRPr sz="1300"/>
          </a:p>
          <a:p>
            <a:pPr indent="-311150" lvl="0" marL="457200" rtl="0" algn="l">
              <a:lnSpc>
                <a:spcPct val="105000"/>
              </a:lnSpc>
              <a:spcBef>
                <a:spcPts val="0"/>
              </a:spcBef>
              <a:spcAft>
                <a:spcPts val="0"/>
              </a:spcAft>
              <a:buSzPts val="1300"/>
              <a:buChar char="●"/>
            </a:pPr>
            <a:r>
              <a:rPr b="1" lang="es" sz="1300"/>
              <a:t>Operaciones de manipulación de los datos</a:t>
            </a:r>
            <a:r>
              <a:rPr lang="es" sz="1300"/>
              <a:t>: agregado, borrado, modificación y recuperación de datos.</a:t>
            </a:r>
            <a:endParaRPr sz="1300"/>
          </a:p>
          <a:p>
            <a:pPr indent="0" lvl="0" marL="0" rtl="0" algn="l">
              <a:lnSpc>
                <a:spcPct val="105000"/>
              </a:lnSpc>
              <a:spcBef>
                <a:spcPts val="1200"/>
              </a:spcBef>
              <a:spcAft>
                <a:spcPts val="0"/>
              </a:spcAft>
              <a:buClr>
                <a:schemeClr val="dk1"/>
              </a:buClr>
              <a:buSzPts val="1100"/>
              <a:buFont typeface="Arial"/>
              <a:buNone/>
            </a:pPr>
            <a:r>
              <a:t/>
            </a:r>
            <a:endParaRPr sz="1300"/>
          </a:p>
          <a:p>
            <a:pPr indent="0" lvl="0" marL="0" rtl="0" algn="l">
              <a:lnSpc>
                <a:spcPct val="105000"/>
              </a:lnSpc>
              <a:spcBef>
                <a:spcPts val="1200"/>
              </a:spcBef>
              <a:spcAft>
                <a:spcPts val="1200"/>
              </a:spcAft>
              <a:buClr>
                <a:schemeClr val="dk1"/>
              </a:buClr>
              <a:buSzPts val="1100"/>
              <a:buFont typeface="Arial"/>
              <a:buNone/>
            </a:pPr>
            <a:r>
              <a:t/>
            </a:r>
            <a:endParaRPr sz="1300"/>
          </a:p>
        </p:txBody>
      </p:sp>
      <p:pic>
        <p:nvPicPr>
          <p:cNvPr id="294" name="Google Shape;294;p16"/>
          <p:cNvPicPr preferRelativeResize="0"/>
          <p:nvPr/>
        </p:nvPicPr>
        <p:blipFill rotWithShape="1">
          <a:blip r:embed="rId3">
            <a:alphaModFix/>
          </a:blip>
          <a:srcRect b="0" l="0" r="0" t="0"/>
          <a:stretch/>
        </p:blipFill>
        <p:spPr>
          <a:xfrm>
            <a:off x="5621027" y="1152477"/>
            <a:ext cx="2422644" cy="34164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1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400"/>
              <a:buNone/>
            </a:pPr>
            <a:r>
              <a:t/>
            </a:r>
            <a:endParaRPr/>
          </a:p>
        </p:txBody>
      </p:sp>
      <p:sp>
        <p:nvSpPr>
          <p:cNvPr id="300" name="Google Shape;300;p17"/>
          <p:cNvSpPr txBox="1"/>
          <p:nvPr>
            <p:ph type="title"/>
          </p:nvPr>
        </p:nvSpPr>
        <p:spPr>
          <a:xfrm>
            <a:off x="311700" y="5974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Modelo Entidad-Relación</a:t>
            </a:r>
            <a:endParaRPr/>
          </a:p>
        </p:txBody>
      </p:sp>
      <p:sp>
        <p:nvSpPr>
          <p:cNvPr id="301" name="Google Shape;301;p1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SzPts val="1400"/>
              <a:buChar char="●"/>
            </a:pPr>
            <a:r>
              <a:rPr lang="es"/>
              <a:t>Método para diseñar Bases de Datos. Se representa a través de diagramas y está formado por varios elementos.</a:t>
            </a:r>
            <a:endParaRPr/>
          </a:p>
          <a:p>
            <a:pPr indent="-317500" lvl="0" marL="457200" rtl="0" algn="l">
              <a:lnSpc>
                <a:spcPct val="115000"/>
              </a:lnSpc>
              <a:spcBef>
                <a:spcPts val="0"/>
              </a:spcBef>
              <a:spcAft>
                <a:spcPts val="0"/>
              </a:spcAft>
              <a:buSzPts val="1400"/>
              <a:buChar char="●"/>
            </a:pPr>
            <a:r>
              <a:rPr lang="es"/>
              <a:t>Para modelar los datos utilizamos un </a:t>
            </a:r>
            <a:r>
              <a:rPr b="1" lang="es"/>
              <a:t>Diagrama de Entidad-Relación (DER)</a:t>
            </a:r>
            <a:r>
              <a:rPr lang="es"/>
              <a:t>, que pertenece al </a:t>
            </a:r>
            <a:r>
              <a:rPr b="1" lang="es"/>
              <a:t>Lenguaje de Modelado Unificado </a:t>
            </a:r>
            <a:r>
              <a:rPr lang="es"/>
              <a:t>(UML, </a:t>
            </a:r>
            <a:r>
              <a:rPr i="1" lang="es"/>
              <a:t>Unified Modeling Language</a:t>
            </a:r>
            <a:r>
              <a:rPr lang="es"/>
              <a:t>). Este diagrama representa entidades (tablas) y las relaciones lógicas entre ellas.</a:t>
            </a:r>
            <a:endParaRPr/>
          </a:p>
          <a:p>
            <a:pPr indent="-317500" lvl="0" marL="457200" rtl="0" algn="l">
              <a:lnSpc>
                <a:spcPct val="115000"/>
              </a:lnSpc>
              <a:spcBef>
                <a:spcPts val="0"/>
              </a:spcBef>
              <a:spcAft>
                <a:spcPts val="0"/>
              </a:spcAft>
              <a:buSzPts val="1400"/>
              <a:buChar char="●"/>
            </a:pPr>
            <a:r>
              <a:rPr lang="es"/>
              <a:t>Una vez modelados los datos se implementan en un SGBD.</a:t>
            </a:r>
            <a:endParaRPr/>
          </a:p>
        </p:txBody>
      </p:sp>
      <p:pic>
        <p:nvPicPr>
          <p:cNvPr id="302" name="Google Shape;302;p17"/>
          <p:cNvPicPr preferRelativeResize="0"/>
          <p:nvPr/>
        </p:nvPicPr>
        <p:blipFill rotWithShape="1">
          <a:blip r:embed="rId3">
            <a:alphaModFix/>
          </a:blip>
          <a:srcRect b="0" l="0" r="0" t="0"/>
          <a:stretch/>
        </p:blipFill>
        <p:spPr>
          <a:xfrm>
            <a:off x="4832400" y="1170125"/>
            <a:ext cx="3999900" cy="240200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8"/>
          <p:cNvSpPr txBox="1"/>
          <p:nvPr>
            <p:ph idx="1" type="body"/>
          </p:nvPr>
        </p:nvSpPr>
        <p:spPr>
          <a:xfrm>
            <a:off x="432025" y="2506650"/>
            <a:ext cx="8280000" cy="1276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b="1" lang="es" sz="1500"/>
              <a:t>ATRIBUTOS: </a:t>
            </a:r>
            <a:r>
              <a:rPr lang="es" sz="1500"/>
              <a:t>Definen o identifican las características propias y por lo general únicas de una entidad, pueden ser de distintos tipos (numéricos, texto, fecha, etc.), y se representan por medio de un </a:t>
            </a:r>
            <a:r>
              <a:rPr b="1" lang="es" sz="1500"/>
              <a:t>óvalo o elipse</a:t>
            </a:r>
            <a:r>
              <a:rPr lang="es" sz="1500"/>
              <a:t>. Cada entidad contiene distintos atributos, que dan información sobre ella misma.</a:t>
            </a:r>
            <a:endParaRPr sz="1500"/>
          </a:p>
        </p:txBody>
      </p:sp>
      <p:sp>
        <p:nvSpPr>
          <p:cNvPr id="308" name="Google Shape;308;p18"/>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Diagrama Entidad Relación | Componentes</a:t>
            </a:r>
            <a:endParaRPr/>
          </a:p>
        </p:txBody>
      </p:sp>
      <p:sp>
        <p:nvSpPr>
          <p:cNvPr id="309" name="Google Shape;309;p18"/>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chemeClr val="dk1"/>
              </a:buClr>
              <a:buSzPts val="1100"/>
              <a:buFont typeface="Arial"/>
              <a:buNone/>
            </a:pPr>
            <a:r>
              <a:rPr b="1" lang="es" sz="1500"/>
              <a:t>ENTIDADES: </a:t>
            </a:r>
            <a:r>
              <a:rPr lang="es" sz="1500"/>
              <a:t>Representan cosas u objetos (ya sean reales o abstractos). Se representan en los diagramas como </a:t>
            </a:r>
            <a:r>
              <a:rPr b="1" lang="es" sz="1500"/>
              <a:t>rectángulos</a:t>
            </a:r>
            <a:r>
              <a:rPr lang="es" sz="1500"/>
              <a:t>. Se suelen colocar en plural.</a:t>
            </a:r>
            <a:endParaRPr sz="1500"/>
          </a:p>
        </p:txBody>
      </p:sp>
      <p:grpSp>
        <p:nvGrpSpPr>
          <p:cNvPr id="310" name="Google Shape;310;p18"/>
          <p:cNvGrpSpPr/>
          <p:nvPr/>
        </p:nvGrpSpPr>
        <p:grpSpPr>
          <a:xfrm>
            <a:off x="1135475" y="2065425"/>
            <a:ext cx="6873103" cy="381900"/>
            <a:chOff x="517050" y="1970100"/>
            <a:chExt cx="6873103" cy="381900"/>
          </a:xfrm>
        </p:grpSpPr>
        <p:sp>
          <p:nvSpPr>
            <p:cNvPr id="311" name="Google Shape;311;p18"/>
            <p:cNvSpPr/>
            <p:nvPr/>
          </p:nvSpPr>
          <p:spPr>
            <a:xfrm>
              <a:off x="517050" y="1970100"/>
              <a:ext cx="991200" cy="381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1" lang="es" sz="1100" u="none" cap="none" strike="noStrike">
                  <a:solidFill>
                    <a:srgbClr val="000000"/>
                  </a:solidFill>
                  <a:latin typeface="Montserrat"/>
                  <a:ea typeface="Montserrat"/>
                  <a:cs typeface="Montserrat"/>
                  <a:sym typeface="Montserrat"/>
                </a:rPr>
                <a:t>Alumnos</a:t>
              </a:r>
              <a:endParaRPr b="0" i="1" sz="1100" u="none" cap="none" strike="noStrike">
                <a:solidFill>
                  <a:srgbClr val="000000"/>
                </a:solidFill>
                <a:latin typeface="Montserrat"/>
                <a:ea typeface="Montserrat"/>
                <a:cs typeface="Montserrat"/>
                <a:sym typeface="Montserrat"/>
              </a:endParaRPr>
            </a:p>
          </p:txBody>
        </p:sp>
        <p:sp>
          <p:nvSpPr>
            <p:cNvPr id="312" name="Google Shape;312;p18"/>
            <p:cNvSpPr/>
            <p:nvPr/>
          </p:nvSpPr>
          <p:spPr>
            <a:xfrm>
              <a:off x="1987526" y="1970100"/>
              <a:ext cx="991200" cy="381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1" lang="es" sz="1100" u="none" cap="none" strike="noStrike">
                  <a:solidFill>
                    <a:srgbClr val="000000"/>
                  </a:solidFill>
                  <a:latin typeface="Montserrat"/>
                  <a:ea typeface="Montserrat"/>
                  <a:cs typeface="Montserrat"/>
                  <a:sym typeface="Montserrat"/>
                </a:rPr>
                <a:t>Libros</a:t>
              </a:r>
              <a:endParaRPr b="0" i="1" sz="1100" u="none" cap="none" strike="noStrike">
                <a:solidFill>
                  <a:srgbClr val="000000"/>
                </a:solidFill>
                <a:latin typeface="Montserrat"/>
                <a:ea typeface="Montserrat"/>
                <a:cs typeface="Montserrat"/>
                <a:sym typeface="Montserrat"/>
              </a:endParaRPr>
            </a:p>
          </p:txBody>
        </p:sp>
        <p:sp>
          <p:nvSpPr>
            <p:cNvPr id="313" name="Google Shape;313;p18"/>
            <p:cNvSpPr/>
            <p:nvPr/>
          </p:nvSpPr>
          <p:spPr>
            <a:xfrm>
              <a:off x="3458002" y="1970100"/>
              <a:ext cx="991200" cy="381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1" lang="es" sz="1100" u="none" cap="none" strike="noStrike">
                  <a:solidFill>
                    <a:srgbClr val="000000"/>
                  </a:solidFill>
                  <a:latin typeface="Montserrat"/>
                  <a:ea typeface="Montserrat"/>
                  <a:cs typeface="Montserrat"/>
                  <a:sym typeface="Montserrat"/>
                </a:rPr>
                <a:t>Autos</a:t>
              </a:r>
              <a:endParaRPr b="0" i="1" sz="1100" u="none" cap="none" strike="noStrike">
                <a:solidFill>
                  <a:srgbClr val="000000"/>
                </a:solidFill>
                <a:latin typeface="Montserrat"/>
                <a:ea typeface="Montserrat"/>
                <a:cs typeface="Montserrat"/>
                <a:sym typeface="Montserrat"/>
              </a:endParaRPr>
            </a:p>
          </p:txBody>
        </p:sp>
        <p:sp>
          <p:nvSpPr>
            <p:cNvPr id="314" name="Google Shape;314;p18"/>
            <p:cNvSpPr/>
            <p:nvPr/>
          </p:nvSpPr>
          <p:spPr>
            <a:xfrm>
              <a:off x="4928477" y="1970100"/>
              <a:ext cx="991200" cy="381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1" lang="es" sz="1100" u="none" cap="none" strike="noStrike">
                  <a:solidFill>
                    <a:srgbClr val="000000"/>
                  </a:solidFill>
                  <a:latin typeface="Montserrat"/>
                  <a:ea typeface="Montserrat"/>
                  <a:cs typeface="Montserrat"/>
                  <a:sym typeface="Montserrat"/>
                </a:rPr>
                <a:t>Empleados</a:t>
              </a:r>
              <a:endParaRPr b="0" i="1" sz="1100" u="none" cap="none" strike="noStrike">
                <a:solidFill>
                  <a:srgbClr val="000000"/>
                </a:solidFill>
                <a:latin typeface="Montserrat"/>
                <a:ea typeface="Montserrat"/>
                <a:cs typeface="Montserrat"/>
                <a:sym typeface="Montserrat"/>
              </a:endParaRPr>
            </a:p>
          </p:txBody>
        </p:sp>
        <p:sp>
          <p:nvSpPr>
            <p:cNvPr id="315" name="Google Shape;315;p18"/>
            <p:cNvSpPr/>
            <p:nvPr/>
          </p:nvSpPr>
          <p:spPr>
            <a:xfrm>
              <a:off x="6398953" y="1970100"/>
              <a:ext cx="991200" cy="381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1" lang="es" sz="1100" u="none" cap="none" strike="noStrike">
                  <a:solidFill>
                    <a:srgbClr val="000000"/>
                  </a:solidFill>
                  <a:latin typeface="Montserrat"/>
                  <a:ea typeface="Montserrat"/>
                  <a:cs typeface="Montserrat"/>
                  <a:sym typeface="Montserrat"/>
                </a:rPr>
                <a:t>Materias</a:t>
              </a:r>
              <a:endParaRPr b="0" i="1" sz="1100" u="none" cap="none" strike="noStrike">
                <a:solidFill>
                  <a:srgbClr val="000000"/>
                </a:solidFill>
                <a:latin typeface="Montserrat"/>
                <a:ea typeface="Montserrat"/>
                <a:cs typeface="Montserrat"/>
                <a:sym typeface="Montserrat"/>
              </a:endParaRPr>
            </a:p>
          </p:txBody>
        </p:sp>
      </p:grpSp>
      <p:grpSp>
        <p:nvGrpSpPr>
          <p:cNvPr id="316" name="Google Shape;316;p18"/>
          <p:cNvGrpSpPr/>
          <p:nvPr/>
        </p:nvGrpSpPr>
        <p:grpSpPr>
          <a:xfrm>
            <a:off x="1647300" y="3671575"/>
            <a:ext cx="5832000" cy="951325"/>
            <a:chOff x="1647300" y="3747775"/>
            <a:chExt cx="5832000" cy="951325"/>
          </a:xfrm>
        </p:grpSpPr>
        <p:sp>
          <p:nvSpPr>
            <p:cNvPr id="317" name="Google Shape;317;p18"/>
            <p:cNvSpPr/>
            <p:nvPr/>
          </p:nvSpPr>
          <p:spPr>
            <a:xfrm>
              <a:off x="4076427" y="3747775"/>
              <a:ext cx="991200" cy="381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1" lang="es" sz="1100" u="none" cap="none" strike="noStrike">
                  <a:solidFill>
                    <a:srgbClr val="000000"/>
                  </a:solidFill>
                  <a:latin typeface="Montserrat"/>
                  <a:ea typeface="Montserrat"/>
                  <a:cs typeface="Montserrat"/>
                  <a:sym typeface="Montserrat"/>
                </a:rPr>
                <a:t>Alumnos</a:t>
              </a:r>
              <a:endParaRPr b="0" i="1" sz="1100" u="none" cap="none" strike="noStrike">
                <a:solidFill>
                  <a:srgbClr val="000000"/>
                </a:solidFill>
                <a:latin typeface="Montserrat"/>
                <a:ea typeface="Montserrat"/>
                <a:cs typeface="Montserrat"/>
                <a:sym typeface="Montserrat"/>
              </a:endParaRPr>
            </a:p>
          </p:txBody>
        </p:sp>
        <p:sp>
          <p:nvSpPr>
            <p:cNvPr id="318" name="Google Shape;318;p18"/>
            <p:cNvSpPr/>
            <p:nvPr/>
          </p:nvSpPr>
          <p:spPr>
            <a:xfrm>
              <a:off x="1647300" y="4278500"/>
              <a:ext cx="1271700" cy="420600"/>
            </a:xfrm>
            <a:prstGeom prst="ellipse">
              <a:avLst/>
            </a:prstGeom>
            <a:solidFill>
              <a:srgbClr val="FFE6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 sz="1100" u="none" cap="none" strike="noStrike">
                  <a:solidFill>
                    <a:srgbClr val="000000"/>
                  </a:solidFill>
                  <a:latin typeface="Montserrat"/>
                  <a:ea typeface="Montserrat"/>
                  <a:cs typeface="Montserrat"/>
                  <a:sym typeface="Montserrat"/>
                </a:rPr>
                <a:t>DNI</a:t>
              </a:r>
              <a:endParaRPr b="0" i="0" sz="1100" u="none" cap="none" strike="noStrike">
                <a:solidFill>
                  <a:srgbClr val="000000"/>
                </a:solidFill>
                <a:latin typeface="Montserrat"/>
                <a:ea typeface="Montserrat"/>
                <a:cs typeface="Montserrat"/>
                <a:sym typeface="Montserrat"/>
              </a:endParaRPr>
            </a:p>
          </p:txBody>
        </p:sp>
        <p:sp>
          <p:nvSpPr>
            <p:cNvPr id="319" name="Google Shape;319;p18"/>
            <p:cNvSpPr/>
            <p:nvPr/>
          </p:nvSpPr>
          <p:spPr>
            <a:xfrm>
              <a:off x="3167400" y="4278500"/>
              <a:ext cx="1271700" cy="420600"/>
            </a:xfrm>
            <a:prstGeom prst="ellipse">
              <a:avLst/>
            </a:prstGeom>
            <a:solidFill>
              <a:srgbClr val="FFE6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 sz="1100" u="none" cap="none" strike="noStrike">
                  <a:solidFill>
                    <a:srgbClr val="000000"/>
                  </a:solidFill>
                  <a:latin typeface="Montserrat"/>
                  <a:ea typeface="Montserrat"/>
                  <a:cs typeface="Montserrat"/>
                  <a:sym typeface="Montserrat"/>
                </a:rPr>
                <a:t>Nombre</a:t>
              </a:r>
              <a:endParaRPr b="0" i="0" sz="1100" u="none" cap="none" strike="noStrike">
                <a:solidFill>
                  <a:srgbClr val="000000"/>
                </a:solidFill>
                <a:latin typeface="Montserrat"/>
                <a:ea typeface="Montserrat"/>
                <a:cs typeface="Montserrat"/>
                <a:sym typeface="Montserrat"/>
              </a:endParaRPr>
            </a:p>
          </p:txBody>
        </p:sp>
        <p:sp>
          <p:nvSpPr>
            <p:cNvPr id="320" name="Google Shape;320;p18"/>
            <p:cNvSpPr/>
            <p:nvPr/>
          </p:nvSpPr>
          <p:spPr>
            <a:xfrm>
              <a:off x="4687500" y="4278500"/>
              <a:ext cx="1271700" cy="420600"/>
            </a:xfrm>
            <a:prstGeom prst="ellipse">
              <a:avLst/>
            </a:prstGeom>
            <a:solidFill>
              <a:srgbClr val="FFE6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 sz="1100" u="none" cap="none" strike="noStrike">
                  <a:solidFill>
                    <a:srgbClr val="000000"/>
                  </a:solidFill>
                  <a:latin typeface="Montserrat"/>
                  <a:ea typeface="Montserrat"/>
                  <a:cs typeface="Montserrat"/>
                  <a:sym typeface="Montserrat"/>
                </a:rPr>
                <a:t>Apellido</a:t>
              </a:r>
              <a:endParaRPr b="0" i="0" sz="1100" u="none" cap="none" strike="noStrike">
                <a:solidFill>
                  <a:srgbClr val="000000"/>
                </a:solidFill>
                <a:latin typeface="Montserrat"/>
                <a:ea typeface="Montserrat"/>
                <a:cs typeface="Montserrat"/>
                <a:sym typeface="Montserrat"/>
              </a:endParaRPr>
            </a:p>
          </p:txBody>
        </p:sp>
        <p:sp>
          <p:nvSpPr>
            <p:cNvPr id="321" name="Google Shape;321;p18"/>
            <p:cNvSpPr/>
            <p:nvPr/>
          </p:nvSpPr>
          <p:spPr>
            <a:xfrm>
              <a:off x="6207600" y="4278500"/>
              <a:ext cx="1271700" cy="420600"/>
            </a:xfrm>
            <a:prstGeom prst="ellipse">
              <a:avLst/>
            </a:prstGeom>
            <a:solidFill>
              <a:srgbClr val="FFE6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 sz="1100" u="none" cap="none" strike="noStrike">
                  <a:solidFill>
                    <a:srgbClr val="000000"/>
                  </a:solidFill>
                  <a:latin typeface="Montserrat"/>
                  <a:ea typeface="Montserrat"/>
                  <a:cs typeface="Montserrat"/>
                  <a:sym typeface="Montserrat"/>
                </a:rPr>
                <a:t>Dirección</a:t>
              </a:r>
              <a:endParaRPr b="0" i="0" sz="1100" u="none" cap="none" strike="noStrike">
                <a:solidFill>
                  <a:srgbClr val="000000"/>
                </a:solidFill>
                <a:latin typeface="Montserrat"/>
                <a:ea typeface="Montserrat"/>
                <a:cs typeface="Montserrat"/>
                <a:sym typeface="Montserrat"/>
              </a:endParaRPr>
            </a:p>
          </p:txBody>
        </p:sp>
        <p:cxnSp>
          <p:nvCxnSpPr>
            <p:cNvPr id="322" name="Google Shape;322;p18"/>
            <p:cNvCxnSpPr>
              <a:stCxn id="318" idx="0"/>
              <a:endCxn id="317" idx="2"/>
            </p:cNvCxnSpPr>
            <p:nvPr/>
          </p:nvCxnSpPr>
          <p:spPr>
            <a:xfrm flipH="1" rot="10800000">
              <a:off x="2283150" y="4129700"/>
              <a:ext cx="2289000" cy="148800"/>
            </a:xfrm>
            <a:prstGeom prst="straightConnector1">
              <a:avLst/>
            </a:prstGeom>
            <a:noFill/>
            <a:ln cap="flat" cmpd="sng" w="9525">
              <a:solidFill>
                <a:schemeClr val="dk2"/>
              </a:solidFill>
              <a:prstDash val="solid"/>
              <a:round/>
              <a:headEnd len="sm" w="sm" type="none"/>
              <a:tailEnd len="sm" w="sm" type="none"/>
            </a:ln>
          </p:spPr>
        </p:cxnSp>
        <p:cxnSp>
          <p:nvCxnSpPr>
            <p:cNvPr id="323" name="Google Shape;323;p18"/>
            <p:cNvCxnSpPr>
              <a:stCxn id="319" idx="0"/>
              <a:endCxn id="317" idx="2"/>
            </p:cNvCxnSpPr>
            <p:nvPr/>
          </p:nvCxnSpPr>
          <p:spPr>
            <a:xfrm flipH="1" rot="10800000">
              <a:off x="3803250" y="4129700"/>
              <a:ext cx="768900" cy="148800"/>
            </a:xfrm>
            <a:prstGeom prst="straightConnector1">
              <a:avLst/>
            </a:prstGeom>
            <a:noFill/>
            <a:ln cap="flat" cmpd="sng" w="9525">
              <a:solidFill>
                <a:schemeClr val="dk2"/>
              </a:solidFill>
              <a:prstDash val="solid"/>
              <a:round/>
              <a:headEnd len="sm" w="sm" type="none"/>
              <a:tailEnd len="sm" w="sm" type="none"/>
            </a:ln>
          </p:spPr>
        </p:cxnSp>
        <p:cxnSp>
          <p:nvCxnSpPr>
            <p:cNvPr id="324" name="Google Shape;324;p18"/>
            <p:cNvCxnSpPr>
              <a:stCxn id="320" idx="0"/>
              <a:endCxn id="317" idx="2"/>
            </p:cNvCxnSpPr>
            <p:nvPr/>
          </p:nvCxnSpPr>
          <p:spPr>
            <a:xfrm rot="10800000">
              <a:off x="4572150" y="4129700"/>
              <a:ext cx="751200" cy="148800"/>
            </a:xfrm>
            <a:prstGeom prst="straightConnector1">
              <a:avLst/>
            </a:prstGeom>
            <a:noFill/>
            <a:ln cap="flat" cmpd="sng" w="9525">
              <a:solidFill>
                <a:schemeClr val="dk2"/>
              </a:solidFill>
              <a:prstDash val="solid"/>
              <a:round/>
              <a:headEnd len="sm" w="sm" type="none"/>
              <a:tailEnd len="sm" w="sm" type="none"/>
            </a:ln>
          </p:spPr>
        </p:cxnSp>
        <p:cxnSp>
          <p:nvCxnSpPr>
            <p:cNvPr id="325" name="Google Shape;325;p18"/>
            <p:cNvCxnSpPr>
              <a:stCxn id="317" idx="2"/>
              <a:endCxn id="321" idx="0"/>
            </p:cNvCxnSpPr>
            <p:nvPr/>
          </p:nvCxnSpPr>
          <p:spPr>
            <a:xfrm>
              <a:off x="4572027" y="4129675"/>
              <a:ext cx="2271300" cy="148800"/>
            </a:xfrm>
            <a:prstGeom prst="straightConnector1">
              <a:avLst/>
            </a:prstGeom>
            <a:noFill/>
            <a:ln cap="flat" cmpd="sng" w="9525">
              <a:solidFill>
                <a:schemeClr val="dk2"/>
              </a:solidFill>
              <a:prstDash val="solid"/>
              <a:round/>
              <a:headEnd len="sm" w="sm" type="none"/>
              <a:tailEnd len="sm" w="sm" type="none"/>
            </a:ln>
          </p:spPr>
        </p:cxn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19"/>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b="1" lang="es" sz="1500"/>
              <a:t>RELACIONES: </a:t>
            </a:r>
            <a:r>
              <a:rPr lang="es" sz="1500"/>
              <a:t>Se representan con rombos y tienen una característica conocida como “</a:t>
            </a:r>
            <a:r>
              <a:rPr lang="es" sz="1500" u="sng">
                <a:solidFill>
                  <a:schemeClr val="hlink"/>
                </a:solidFill>
                <a:hlinkClick r:id="rId3"/>
              </a:rPr>
              <a:t>cardinalidad</a:t>
            </a:r>
            <a:r>
              <a:rPr lang="es" sz="1500"/>
              <a:t>”, que indica el sentido y la cantidad de “relaciones” existentes entre una entidad y otra. Los tipos de relaciones pueden ser:</a:t>
            </a:r>
            <a:endParaRPr sz="1500"/>
          </a:p>
        </p:txBody>
      </p:sp>
      <p:sp>
        <p:nvSpPr>
          <p:cNvPr id="331" name="Google Shape;331;p19"/>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Diagrama Entidad Relación | Componentes</a:t>
            </a:r>
            <a:endParaRPr/>
          </a:p>
        </p:txBody>
      </p:sp>
      <p:sp>
        <p:nvSpPr>
          <p:cNvPr id="332" name="Google Shape;332;p19"/>
          <p:cNvSpPr txBox="1"/>
          <p:nvPr>
            <p:ph idx="1" type="body"/>
          </p:nvPr>
        </p:nvSpPr>
        <p:spPr>
          <a:xfrm>
            <a:off x="432025" y="2200700"/>
            <a:ext cx="8280000" cy="677100"/>
          </a:xfrm>
          <a:prstGeom prst="rect">
            <a:avLst/>
          </a:prstGeom>
          <a:noFill/>
          <a:ln>
            <a:noFill/>
          </a:ln>
        </p:spPr>
        <p:txBody>
          <a:bodyPr anchorCtr="0" anchor="t" bIns="91425" lIns="91425" spcFirstLastPara="1" rIns="91425" wrap="square" tIns="91425">
            <a:normAutofit/>
          </a:bodyPr>
          <a:lstStyle/>
          <a:p>
            <a:pPr indent="-323850" lvl="0" marL="457200" rtl="0" algn="l">
              <a:lnSpc>
                <a:spcPct val="115000"/>
              </a:lnSpc>
              <a:spcBef>
                <a:spcPts val="0"/>
              </a:spcBef>
              <a:spcAft>
                <a:spcPts val="0"/>
              </a:spcAft>
              <a:buSzPts val="1500"/>
              <a:buChar char="●"/>
            </a:pPr>
            <a:r>
              <a:rPr b="1" lang="es" sz="1500"/>
              <a:t>1 a N (uno a muchos): una </a:t>
            </a:r>
            <a:r>
              <a:rPr lang="es" sz="1500"/>
              <a:t>persona tiene </a:t>
            </a:r>
            <a:r>
              <a:rPr b="1" lang="es" sz="1500"/>
              <a:t>muchos </a:t>
            </a:r>
            <a:r>
              <a:rPr lang="es" sz="1500"/>
              <a:t>autos y viceversa, </a:t>
            </a:r>
            <a:r>
              <a:rPr b="1" lang="es" sz="1500"/>
              <a:t>muchos </a:t>
            </a:r>
            <a:r>
              <a:rPr lang="es" sz="1500"/>
              <a:t>autos pueden ser de </a:t>
            </a:r>
            <a:r>
              <a:rPr b="1" lang="es" sz="1500"/>
              <a:t>una </a:t>
            </a:r>
            <a:r>
              <a:rPr lang="es" sz="1500"/>
              <a:t>persona.</a:t>
            </a:r>
            <a:endParaRPr sz="1500"/>
          </a:p>
        </p:txBody>
      </p:sp>
      <p:grpSp>
        <p:nvGrpSpPr>
          <p:cNvPr id="333" name="Google Shape;333;p19"/>
          <p:cNvGrpSpPr/>
          <p:nvPr/>
        </p:nvGrpSpPr>
        <p:grpSpPr>
          <a:xfrm>
            <a:off x="1915777" y="2932250"/>
            <a:ext cx="5312500" cy="544950"/>
            <a:chOff x="2766652" y="2868500"/>
            <a:chExt cx="5312500" cy="544950"/>
          </a:xfrm>
        </p:grpSpPr>
        <p:sp>
          <p:nvSpPr>
            <p:cNvPr id="334" name="Google Shape;334;p19"/>
            <p:cNvSpPr/>
            <p:nvPr/>
          </p:nvSpPr>
          <p:spPr>
            <a:xfrm>
              <a:off x="2766652" y="2868500"/>
              <a:ext cx="991200" cy="381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1" lang="es" sz="1100" u="none" cap="none" strike="noStrike">
                  <a:solidFill>
                    <a:srgbClr val="000000"/>
                  </a:solidFill>
                  <a:latin typeface="Montserrat"/>
                  <a:ea typeface="Montserrat"/>
                  <a:cs typeface="Montserrat"/>
                  <a:sym typeface="Montserrat"/>
                </a:rPr>
                <a:t>Persona</a:t>
              </a:r>
              <a:endParaRPr b="0" i="1" sz="1100" u="none" cap="none" strike="noStrike">
                <a:solidFill>
                  <a:srgbClr val="000000"/>
                </a:solidFill>
                <a:latin typeface="Montserrat"/>
                <a:ea typeface="Montserrat"/>
                <a:cs typeface="Montserrat"/>
                <a:sym typeface="Montserrat"/>
              </a:endParaRPr>
            </a:p>
          </p:txBody>
        </p:sp>
        <p:sp>
          <p:nvSpPr>
            <p:cNvPr id="335" name="Google Shape;335;p19"/>
            <p:cNvSpPr/>
            <p:nvPr/>
          </p:nvSpPr>
          <p:spPr>
            <a:xfrm>
              <a:off x="7087952" y="2868500"/>
              <a:ext cx="991200" cy="381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1" lang="es" sz="1100" u="none" cap="none" strike="noStrike">
                  <a:solidFill>
                    <a:srgbClr val="000000"/>
                  </a:solidFill>
                  <a:latin typeface="Montserrat"/>
                  <a:ea typeface="Montserrat"/>
                  <a:cs typeface="Montserrat"/>
                  <a:sym typeface="Montserrat"/>
                </a:rPr>
                <a:t>Autos</a:t>
              </a:r>
              <a:endParaRPr b="0" i="1" sz="1100" u="none" cap="none" strike="noStrike">
                <a:solidFill>
                  <a:srgbClr val="000000"/>
                </a:solidFill>
                <a:latin typeface="Montserrat"/>
                <a:ea typeface="Montserrat"/>
                <a:cs typeface="Montserrat"/>
                <a:sym typeface="Montserrat"/>
              </a:endParaRPr>
            </a:p>
          </p:txBody>
        </p:sp>
        <p:cxnSp>
          <p:nvCxnSpPr>
            <p:cNvPr id="336" name="Google Shape;336;p19"/>
            <p:cNvCxnSpPr>
              <a:stCxn id="334" idx="3"/>
              <a:endCxn id="335" idx="1"/>
            </p:cNvCxnSpPr>
            <p:nvPr/>
          </p:nvCxnSpPr>
          <p:spPr>
            <a:xfrm>
              <a:off x="3757852" y="3059450"/>
              <a:ext cx="3330000" cy="0"/>
            </a:xfrm>
            <a:prstGeom prst="straightConnector1">
              <a:avLst/>
            </a:prstGeom>
            <a:noFill/>
            <a:ln cap="flat" cmpd="sng" w="9525">
              <a:solidFill>
                <a:schemeClr val="dk2"/>
              </a:solidFill>
              <a:prstDash val="solid"/>
              <a:round/>
              <a:headEnd len="sm" w="sm" type="none"/>
              <a:tailEnd len="sm" w="sm" type="none"/>
            </a:ln>
          </p:spPr>
        </p:cxnSp>
        <p:sp>
          <p:nvSpPr>
            <p:cNvPr id="337" name="Google Shape;337;p19"/>
            <p:cNvSpPr/>
            <p:nvPr/>
          </p:nvSpPr>
          <p:spPr>
            <a:xfrm>
              <a:off x="4488125" y="2868500"/>
              <a:ext cx="1869600" cy="381900"/>
            </a:xfrm>
            <a:prstGeom prst="diamond">
              <a:avLst/>
            </a:prstGeom>
            <a:solidFill>
              <a:srgbClr val="F39C1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1" lang="es" sz="1100" u="none" cap="none" strike="noStrike">
                  <a:solidFill>
                    <a:srgbClr val="000000"/>
                  </a:solidFill>
                  <a:latin typeface="Montserrat"/>
                  <a:ea typeface="Montserrat"/>
                  <a:cs typeface="Montserrat"/>
                  <a:sym typeface="Montserrat"/>
                </a:rPr>
                <a:t>Tiene</a:t>
              </a:r>
              <a:endParaRPr b="0" i="1" sz="1100" u="none" cap="none" strike="noStrike">
                <a:solidFill>
                  <a:srgbClr val="000000"/>
                </a:solidFill>
                <a:latin typeface="Montserrat"/>
                <a:ea typeface="Montserrat"/>
                <a:cs typeface="Montserrat"/>
                <a:sym typeface="Montserrat"/>
              </a:endParaRPr>
            </a:p>
          </p:txBody>
        </p:sp>
        <p:sp>
          <p:nvSpPr>
            <p:cNvPr id="338" name="Google Shape;338;p19"/>
            <p:cNvSpPr txBox="1"/>
            <p:nvPr/>
          </p:nvSpPr>
          <p:spPr>
            <a:xfrm>
              <a:off x="3757850" y="3059450"/>
              <a:ext cx="306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s" sz="1100" u="none" cap="none" strike="noStrike">
                  <a:solidFill>
                    <a:srgbClr val="000000"/>
                  </a:solidFill>
                  <a:latin typeface="Montserrat"/>
                  <a:ea typeface="Montserrat"/>
                  <a:cs typeface="Montserrat"/>
                  <a:sym typeface="Montserrat"/>
                </a:rPr>
                <a:t>1</a:t>
              </a:r>
              <a:endParaRPr b="0" i="0" sz="1100" u="none" cap="none" strike="noStrike">
                <a:solidFill>
                  <a:srgbClr val="000000"/>
                </a:solidFill>
                <a:latin typeface="Montserrat"/>
                <a:ea typeface="Montserrat"/>
                <a:cs typeface="Montserrat"/>
                <a:sym typeface="Montserrat"/>
              </a:endParaRPr>
            </a:p>
          </p:txBody>
        </p:sp>
        <p:sp>
          <p:nvSpPr>
            <p:cNvPr id="339" name="Google Shape;339;p19"/>
            <p:cNvSpPr txBox="1"/>
            <p:nvPr/>
          </p:nvSpPr>
          <p:spPr>
            <a:xfrm>
              <a:off x="6781950" y="3059450"/>
              <a:ext cx="306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s" sz="1100" u="none" cap="none" strike="noStrike">
                  <a:solidFill>
                    <a:srgbClr val="000000"/>
                  </a:solidFill>
                  <a:latin typeface="Montserrat"/>
                  <a:ea typeface="Montserrat"/>
                  <a:cs typeface="Montserrat"/>
                  <a:sym typeface="Montserrat"/>
                </a:rPr>
                <a:t>n</a:t>
              </a:r>
              <a:endParaRPr b="0" i="0" sz="1100" u="none" cap="none" strike="noStrike">
                <a:solidFill>
                  <a:srgbClr val="000000"/>
                </a:solidFill>
                <a:latin typeface="Montserrat"/>
                <a:ea typeface="Montserrat"/>
                <a:cs typeface="Montserrat"/>
                <a:sym typeface="Montserrat"/>
              </a:endParaRPr>
            </a:p>
          </p:txBody>
        </p:sp>
      </p:grpSp>
      <p:sp>
        <p:nvSpPr>
          <p:cNvPr id="340" name="Google Shape;340;p19"/>
          <p:cNvSpPr txBox="1"/>
          <p:nvPr>
            <p:ph idx="1" type="body"/>
          </p:nvPr>
        </p:nvSpPr>
        <p:spPr>
          <a:xfrm>
            <a:off x="432025" y="3424425"/>
            <a:ext cx="8280000" cy="677100"/>
          </a:xfrm>
          <a:prstGeom prst="rect">
            <a:avLst/>
          </a:prstGeom>
          <a:noFill/>
          <a:ln>
            <a:noFill/>
          </a:ln>
        </p:spPr>
        <p:txBody>
          <a:bodyPr anchorCtr="0" anchor="t" bIns="91425" lIns="91425" spcFirstLastPara="1" rIns="91425" wrap="square" tIns="91425">
            <a:normAutofit/>
          </a:bodyPr>
          <a:lstStyle/>
          <a:p>
            <a:pPr indent="-323850" lvl="0" marL="457200" rtl="0" algn="l">
              <a:lnSpc>
                <a:spcPct val="115000"/>
              </a:lnSpc>
              <a:spcBef>
                <a:spcPts val="0"/>
              </a:spcBef>
              <a:spcAft>
                <a:spcPts val="0"/>
              </a:spcAft>
              <a:buSzPts val="1500"/>
              <a:buChar char="●"/>
            </a:pPr>
            <a:r>
              <a:rPr b="1" lang="es" sz="1500"/>
              <a:t>1 a 1 (uno a uno): </a:t>
            </a:r>
            <a:r>
              <a:rPr lang="es" sz="1500"/>
              <a:t>a </a:t>
            </a:r>
            <a:r>
              <a:rPr b="1" lang="es" sz="1500"/>
              <a:t>un </a:t>
            </a:r>
            <a:r>
              <a:rPr lang="es" sz="1500"/>
              <a:t>alumno le pertenece únicamente </a:t>
            </a:r>
            <a:r>
              <a:rPr b="1" lang="es" sz="1500"/>
              <a:t>un </a:t>
            </a:r>
            <a:r>
              <a:rPr lang="es" sz="1500"/>
              <a:t>boletín y viceversa, </a:t>
            </a:r>
            <a:r>
              <a:rPr b="1" lang="es" sz="1500"/>
              <a:t>un </a:t>
            </a:r>
            <a:r>
              <a:rPr lang="es" sz="1500"/>
              <a:t>boletín pertenece únicamente a </a:t>
            </a:r>
            <a:r>
              <a:rPr b="1" lang="es" sz="1500"/>
              <a:t>un </a:t>
            </a:r>
            <a:r>
              <a:rPr lang="es" sz="1500"/>
              <a:t>alumno.</a:t>
            </a:r>
            <a:endParaRPr sz="1500"/>
          </a:p>
        </p:txBody>
      </p:sp>
      <p:grpSp>
        <p:nvGrpSpPr>
          <p:cNvPr id="341" name="Google Shape;341;p19"/>
          <p:cNvGrpSpPr/>
          <p:nvPr/>
        </p:nvGrpSpPr>
        <p:grpSpPr>
          <a:xfrm>
            <a:off x="1915777" y="4101525"/>
            <a:ext cx="5312500" cy="544950"/>
            <a:chOff x="2766652" y="2868500"/>
            <a:chExt cx="5312500" cy="544950"/>
          </a:xfrm>
        </p:grpSpPr>
        <p:sp>
          <p:nvSpPr>
            <p:cNvPr id="342" name="Google Shape;342;p19"/>
            <p:cNvSpPr/>
            <p:nvPr/>
          </p:nvSpPr>
          <p:spPr>
            <a:xfrm>
              <a:off x="2766652" y="2868500"/>
              <a:ext cx="991200" cy="381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1" lang="es" sz="1100" u="none" cap="none" strike="noStrike">
                  <a:solidFill>
                    <a:srgbClr val="000000"/>
                  </a:solidFill>
                  <a:latin typeface="Montserrat"/>
                  <a:ea typeface="Montserrat"/>
                  <a:cs typeface="Montserrat"/>
                  <a:sym typeface="Montserrat"/>
                </a:rPr>
                <a:t>Alumno</a:t>
              </a:r>
              <a:endParaRPr b="0" i="1" sz="1100" u="none" cap="none" strike="noStrike">
                <a:solidFill>
                  <a:srgbClr val="000000"/>
                </a:solidFill>
                <a:latin typeface="Montserrat"/>
                <a:ea typeface="Montserrat"/>
                <a:cs typeface="Montserrat"/>
                <a:sym typeface="Montserrat"/>
              </a:endParaRPr>
            </a:p>
          </p:txBody>
        </p:sp>
        <p:sp>
          <p:nvSpPr>
            <p:cNvPr id="343" name="Google Shape;343;p19"/>
            <p:cNvSpPr/>
            <p:nvPr/>
          </p:nvSpPr>
          <p:spPr>
            <a:xfrm>
              <a:off x="7087952" y="2868500"/>
              <a:ext cx="991200" cy="381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1" lang="es" sz="1100" u="none" cap="none" strike="noStrike">
                  <a:solidFill>
                    <a:srgbClr val="000000"/>
                  </a:solidFill>
                  <a:latin typeface="Montserrat"/>
                  <a:ea typeface="Montserrat"/>
                  <a:cs typeface="Montserrat"/>
                  <a:sym typeface="Montserrat"/>
                </a:rPr>
                <a:t>Boletín</a:t>
              </a:r>
              <a:endParaRPr b="0" i="1" sz="1100" u="none" cap="none" strike="noStrike">
                <a:solidFill>
                  <a:srgbClr val="000000"/>
                </a:solidFill>
                <a:latin typeface="Montserrat"/>
                <a:ea typeface="Montserrat"/>
                <a:cs typeface="Montserrat"/>
                <a:sym typeface="Montserrat"/>
              </a:endParaRPr>
            </a:p>
          </p:txBody>
        </p:sp>
        <p:cxnSp>
          <p:nvCxnSpPr>
            <p:cNvPr id="344" name="Google Shape;344;p19"/>
            <p:cNvCxnSpPr>
              <a:stCxn id="342" idx="3"/>
              <a:endCxn id="343" idx="1"/>
            </p:cNvCxnSpPr>
            <p:nvPr/>
          </p:nvCxnSpPr>
          <p:spPr>
            <a:xfrm>
              <a:off x="3757852" y="3059450"/>
              <a:ext cx="3330000" cy="0"/>
            </a:xfrm>
            <a:prstGeom prst="straightConnector1">
              <a:avLst/>
            </a:prstGeom>
            <a:noFill/>
            <a:ln cap="flat" cmpd="sng" w="9525">
              <a:solidFill>
                <a:schemeClr val="dk2"/>
              </a:solidFill>
              <a:prstDash val="solid"/>
              <a:round/>
              <a:headEnd len="sm" w="sm" type="none"/>
              <a:tailEnd len="sm" w="sm" type="none"/>
            </a:ln>
          </p:spPr>
        </p:cxnSp>
        <p:sp>
          <p:nvSpPr>
            <p:cNvPr id="345" name="Google Shape;345;p19"/>
            <p:cNvSpPr/>
            <p:nvPr/>
          </p:nvSpPr>
          <p:spPr>
            <a:xfrm>
              <a:off x="4488125" y="2868500"/>
              <a:ext cx="1869600" cy="381900"/>
            </a:xfrm>
            <a:prstGeom prst="diamond">
              <a:avLst/>
            </a:prstGeom>
            <a:solidFill>
              <a:srgbClr val="F39C1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1" lang="es" sz="1100" u="none" cap="none" strike="noStrike">
                  <a:solidFill>
                    <a:srgbClr val="000000"/>
                  </a:solidFill>
                  <a:latin typeface="Montserrat"/>
                  <a:ea typeface="Montserrat"/>
                  <a:cs typeface="Montserrat"/>
                  <a:sym typeface="Montserrat"/>
                </a:rPr>
                <a:t>Pertenece</a:t>
              </a:r>
              <a:endParaRPr b="0" i="1" sz="1100" u="none" cap="none" strike="noStrike">
                <a:solidFill>
                  <a:srgbClr val="000000"/>
                </a:solidFill>
                <a:latin typeface="Montserrat"/>
                <a:ea typeface="Montserrat"/>
                <a:cs typeface="Montserrat"/>
                <a:sym typeface="Montserrat"/>
              </a:endParaRPr>
            </a:p>
          </p:txBody>
        </p:sp>
        <p:sp>
          <p:nvSpPr>
            <p:cNvPr id="346" name="Google Shape;346;p19"/>
            <p:cNvSpPr txBox="1"/>
            <p:nvPr/>
          </p:nvSpPr>
          <p:spPr>
            <a:xfrm>
              <a:off x="3757850" y="3059450"/>
              <a:ext cx="306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s" sz="1100" u="none" cap="none" strike="noStrike">
                  <a:solidFill>
                    <a:srgbClr val="000000"/>
                  </a:solidFill>
                  <a:latin typeface="Montserrat"/>
                  <a:ea typeface="Montserrat"/>
                  <a:cs typeface="Montserrat"/>
                  <a:sym typeface="Montserrat"/>
                </a:rPr>
                <a:t>1</a:t>
              </a:r>
              <a:endParaRPr b="0" i="0" sz="1100" u="none" cap="none" strike="noStrike">
                <a:solidFill>
                  <a:srgbClr val="000000"/>
                </a:solidFill>
                <a:latin typeface="Montserrat"/>
                <a:ea typeface="Montserrat"/>
                <a:cs typeface="Montserrat"/>
                <a:sym typeface="Montserrat"/>
              </a:endParaRPr>
            </a:p>
          </p:txBody>
        </p:sp>
        <p:sp>
          <p:nvSpPr>
            <p:cNvPr id="347" name="Google Shape;347;p19"/>
            <p:cNvSpPr txBox="1"/>
            <p:nvPr/>
          </p:nvSpPr>
          <p:spPr>
            <a:xfrm>
              <a:off x="6781950" y="3059450"/>
              <a:ext cx="306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s" sz="1100" u="none" cap="none" strike="noStrike">
                  <a:solidFill>
                    <a:srgbClr val="000000"/>
                  </a:solidFill>
                  <a:latin typeface="Montserrat"/>
                  <a:ea typeface="Montserrat"/>
                  <a:cs typeface="Montserrat"/>
                  <a:sym typeface="Montserrat"/>
                </a:rPr>
                <a:t>1</a:t>
              </a:r>
              <a:endParaRPr b="0" i="0" sz="1100" u="none" cap="none" strike="noStrike">
                <a:solidFill>
                  <a:srgbClr val="000000"/>
                </a:solidFill>
                <a:latin typeface="Montserrat"/>
                <a:ea typeface="Montserrat"/>
                <a:cs typeface="Montserrat"/>
                <a:sym typeface="Montserrat"/>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20"/>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a:bodyPr>
          <a:lstStyle/>
          <a:p>
            <a:pPr indent="-323850" lvl="0" marL="457200" rtl="0" algn="l">
              <a:lnSpc>
                <a:spcPct val="115000"/>
              </a:lnSpc>
              <a:spcBef>
                <a:spcPts val="0"/>
              </a:spcBef>
              <a:spcAft>
                <a:spcPts val="0"/>
              </a:spcAft>
              <a:buSzPts val="1500"/>
              <a:buChar char="●"/>
            </a:pPr>
            <a:r>
              <a:rPr b="1" lang="es" sz="1500"/>
              <a:t>N a N (muchos a muchos)</a:t>
            </a:r>
            <a:r>
              <a:rPr lang="es" sz="1500"/>
              <a:t>: </a:t>
            </a:r>
            <a:r>
              <a:rPr b="1" lang="es" sz="1500"/>
              <a:t>muchos </a:t>
            </a:r>
            <a:r>
              <a:rPr lang="es" sz="1500"/>
              <a:t>alumnos pueden tener </a:t>
            </a:r>
            <a:r>
              <a:rPr b="1" lang="es" sz="1500"/>
              <a:t>muchas </a:t>
            </a:r>
            <a:r>
              <a:rPr lang="es" sz="1500"/>
              <a:t>materias y viceversa, </a:t>
            </a:r>
            <a:r>
              <a:rPr b="1" lang="es" sz="1500"/>
              <a:t>muchas </a:t>
            </a:r>
            <a:r>
              <a:rPr lang="es" sz="1500"/>
              <a:t>materias pueden contener a </a:t>
            </a:r>
            <a:r>
              <a:rPr b="1" lang="es" sz="1500"/>
              <a:t>muchos </a:t>
            </a:r>
            <a:r>
              <a:rPr lang="es" sz="1500"/>
              <a:t>alumnos.</a:t>
            </a:r>
            <a:endParaRPr sz="1500"/>
          </a:p>
          <a:p>
            <a:pPr indent="0" lvl="0" marL="457200" rtl="0" algn="l">
              <a:lnSpc>
                <a:spcPct val="115000"/>
              </a:lnSpc>
              <a:spcBef>
                <a:spcPts val="1200"/>
              </a:spcBef>
              <a:spcAft>
                <a:spcPts val="1200"/>
              </a:spcAft>
              <a:buSzPts val="1800"/>
              <a:buNone/>
            </a:pPr>
            <a:r>
              <a:t/>
            </a:r>
            <a:endParaRPr sz="1500"/>
          </a:p>
        </p:txBody>
      </p:sp>
      <p:sp>
        <p:nvSpPr>
          <p:cNvPr id="353" name="Google Shape;353;p20"/>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Diagrama Entidad Relación | Componentes</a:t>
            </a:r>
            <a:endParaRPr/>
          </a:p>
        </p:txBody>
      </p:sp>
      <p:grpSp>
        <p:nvGrpSpPr>
          <p:cNvPr id="354" name="Google Shape;354;p20"/>
          <p:cNvGrpSpPr/>
          <p:nvPr/>
        </p:nvGrpSpPr>
        <p:grpSpPr>
          <a:xfrm>
            <a:off x="1915777" y="2042850"/>
            <a:ext cx="5312500" cy="544950"/>
            <a:chOff x="2766652" y="2868500"/>
            <a:chExt cx="5312500" cy="544950"/>
          </a:xfrm>
        </p:grpSpPr>
        <p:sp>
          <p:nvSpPr>
            <p:cNvPr id="355" name="Google Shape;355;p20"/>
            <p:cNvSpPr/>
            <p:nvPr/>
          </p:nvSpPr>
          <p:spPr>
            <a:xfrm>
              <a:off x="2766652" y="2868500"/>
              <a:ext cx="991200" cy="381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1" lang="es" sz="1100" u="none" cap="none" strike="noStrike">
                  <a:solidFill>
                    <a:srgbClr val="000000"/>
                  </a:solidFill>
                  <a:latin typeface="Montserrat"/>
                  <a:ea typeface="Montserrat"/>
                  <a:cs typeface="Montserrat"/>
                  <a:sym typeface="Montserrat"/>
                </a:rPr>
                <a:t>Alumno</a:t>
              </a:r>
              <a:endParaRPr b="0" i="1" sz="1100" u="none" cap="none" strike="noStrike">
                <a:solidFill>
                  <a:srgbClr val="000000"/>
                </a:solidFill>
                <a:latin typeface="Montserrat"/>
                <a:ea typeface="Montserrat"/>
                <a:cs typeface="Montserrat"/>
                <a:sym typeface="Montserrat"/>
              </a:endParaRPr>
            </a:p>
          </p:txBody>
        </p:sp>
        <p:sp>
          <p:nvSpPr>
            <p:cNvPr id="356" name="Google Shape;356;p20"/>
            <p:cNvSpPr/>
            <p:nvPr/>
          </p:nvSpPr>
          <p:spPr>
            <a:xfrm>
              <a:off x="7087952" y="2868500"/>
              <a:ext cx="991200" cy="381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1" lang="es" sz="1100" u="none" cap="none" strike="noStrike">
                  <a:solidFill>
                    <a:srgbClr val="000000"/>
                  </a:solidFill>
                  <a:latin typeface="Montserrat"/>
                  <a:ea typeface="Montserrat"/>
                  <a:cs typeface="Montserrat"/>
                  <a:sym typeface="Montserrat"/>
                </a:rPr>
                <a:t>Materia</a:t>
              </a:r>
              <a:endParaRPr b="0" i="1" sz="1100" u="none" cap="none" strike="noStrike">
                <a:solidFill>
                  <a:srgbClr val="000000"/>
                </a:solidFill>
                <a:latin typeface="Montserrat"/>
                <a:ea typeface="Montserrat"/>
                <a:cs typeface="Montserrat"/>
                <a:sym typeface="Montserrat"/>
              </a:endParaRPr>
            </a:p>
          </p:txBody>
        </p:sp>
        <p:cxnSp>
          <p:nvCxnSpPr>
            <p:cNvPr id="357" name="Google Shape;357;p20"/>
            <p:cNvCxnSpPr>
              <a:stCxn id="355" idx="3"/>
              <a:endCxn id="356" idx="1"/>
            </p:cNvCxnSpPr>
            <p:nvPr/>
          </p:nvCxnSpPr>
          <p:spPr>
            <a:xfrm>
              <a:off x="3757852" y="3059450"/>
              <a:ext cx="3330000" cy="0"/>
            </a:xfrm>
            <a:prstGeom prst="straightConnector1">
              <a:avLst/>
            </a:prstGeom>
            <a:noFill/>
            <a:ln cap="flat" cmpd="sng" w="9525">
              <a:solidFill>
                <a:schemeClr val="dk2"/>
              </a:solidFill>
              <a:prstDash val="solid"/>
              <a:round/>
              <a:headEnd len="sm" w="sm" type="none"/>
              <a:tailEnd len="sm" w="sm" type="none"/>
            </a:ln>
          </p:spPr>
        </p:cxnSp>
        <p:sp>
          <p:nvSpPr>
            <p:cNvPr id="358" name="Google Shape;358;p20"/>
            <p:cNvSpPr/>
            <p:nvPr/>
          </p:nvSpPr>
          <p:spPr>
            <a:xfrm>
              <a:off x="4488125" y="2868500"/>
              <a:ext cx="1869600" cy="381900"/>
            </a:xfrm>
            <a:prstGeom prst="diamond">
              <a:avLst/>
            </a:prstGeom>
            <a:solidFill>
              <a:srgbClr val="F39C1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1" lang="es" sz="1100" u="none" cap="none" strike="noStrike">
                  <a:solidFill>
                    <a:srgbClr val="000000"/>
                  </a:solidFill>
                  <a:latin typeface="Montserrat"/>
                  <a:ea typeface="Montserrat"/>
                  <a:cs typeface="Montserrat"/>
                  <a:sym typeface="Montserrat"/>
                </a:rPr>
                <a:t>Tiene</a:t>
              </a:r>
              <a:endParaRPr b="0" i="1" sz="1100" u="none" cap="none" strike="noStrike">
                <a:solidFill>
                  <a:srgbClr val="000000"/>
                </a:solidFill>
                <a:latin typeface="Montserrat"/>
                <a:ea typeface="Montserrat"/>
                <a:cs typeface="Montserrat"/>
                <a:sym typeface="Montserrat"/>
              </a:endParaRPr>
            </a:p>
          </p:txBody>
        </p:sp>
        <p:sp>
          <p:nvSpPr>
            <p:cNvPr id="359" name="Google Shape;359;p20"/>
            <p:cNvSpPr txBox="1"/>
            <p:nvPr/>
          </p:nvSpPr>
          <p:spPr>
            <a:xfrm>
              <a:off x="3757850" y="3059450"/>
              <a:ext cx="306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s" sz="1100" u="none" cap="none" strike="noStrike">
                  <a:solidFill>
                    <a:srgbClr val="000000"/>
                  </a:solidFill>
                  <a:latin typeface="Montserrat"/>
                  <a:ea typeface="Montserrat"/>
                  <a:cs typeface="Montserrat"/>
                  <a:sym typeface="Montserrat"/>
                </a:rPr>
                <a:t>n</a:t>
              </a:r>
              <a:endParaRPr b="0" i="0" sz="1100" u="none" cap="none" strike="noStrike">
                <a:solidFill>
                  <a:srgbClr val="000000"/>
                </a:solidFill>
                <a:latin typeface="Montserrat"/>
                <a:ea typeface="Montserrat"/>
                <a:cs typeface="Montserrat"/>
                <a:sym typeface="Montserrat"/>
              </a:endParaRPr>
            </a:p>
          </p:txBody>
        </p:sp>
        <p:sp>
          <p:nvSpPr>
            <p:cNvPr id="360" name="Google Shape;360;p20"/>
            <p:cNvSpPr txBox="1"/>
            <p:nvPr/>
          </p:nvSpPr>
          <p:spPr>
            <a:xfrm>
              <a:off x="6781950" y="3059450"/>
              <a:ext cx="306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s" sz="1100" u="none" cap="none" strike="noStrike">
                  <a:solidFill>
                    <a:srgbClr val="000000"/>
                  </a:solidFill>
                  <a:latin typeface="Montserrat"/>
                  <a:ea typeface="Montserrat"/>
                  <a:cs typeface="Montserrat"/>
                  <a:sym typeface="Montserrat"/>
                </a:rPr>
                <a:t>n</a:t>
              </a:r>
              <a:endParaRPr b="0" i="0" sz="1100" u="none" cap="none" strike="noStrike">
                <a:solidFill>
                  <a:srgbClr val="000000"/>
                </a:solidFill>
                <a:latin typeface="Montserrat"/>
                <a:ea typeface="Montserrat"/>
                <a:cs typeface="Montserrat"/>
                <a:sym typeface="Montserrat"/>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21"/>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Diagrama Entidad Relación | Ejemplo</a:t>
            </a:r>
            <a:endParaRPr/>
          </a:p>
        </p:txBody>
      </p:sp>
      <p:sp>
        <p:nvSpPr>
          <p:cNvPr id="366" name="Google Shape;366;p21"/>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sz="1500"/>
              <a:t>Una empresa de venta de electrodomésticos tiene clientes, pedidos y productos. Desea modelar a través de un DER cómo se implementaría la Base de Datos:</a:t>
            </a:r>
            <a:endParaRPr sz="1500"/>
          </a:p>
          <a:p>
            <a:pPr indent="-323850" lvl="0" marL="457200" rtl="0" algn="l">
              <a:lnSpc>
                <a:spcPct val="115000"/>
              </a:lnSpc>
              <a:spcBef>
                <a:spcPts val="0"/>
              </a:spcBef>
              <a:spcAft>
                <a:spcPts val="0"/>
              </a:spcAft>
              <a:buSzPts val="1500"/>
              <a:buAutoNum type="arabicPeriod"/>
            </a:pPr>
            <a:r>
              <a:rPr lang="es" sz="1500"/>
              <a:t>Detectar las </a:t>
            </a:r>
            <a:r>
              <a:rPr b="1" lang="es" sz="1500"/>
              <a:t>entidades</a:t>
            </a:r>
            <a:r>
              <a:rPr lang="es" sz="1500"/>
              <a:t>:</a:t>
            </a:r>
            <a:endParaRPr sz="1500"/>
          </a:p>
          <a:p>
            <a:pPr indent="0" lvl="0" marL="457200" rtl="0" algn="l">
              <a:lnSpc>
                <a:spcPct val="115000"/>
              </a:lnSpc>
              <a:spcBef>
                <a:spcPts val="0"/>
              </a:spcBef>
              <a:spcAft>
                <a:spcPts val="0"/>
              </a:spcAft>
              <a:buSzPts val="1800"/>
              <a:buNone/>
            </a:pPr>
            <a:r>
              <a:t/>
            </a:r>
            <a:endParaRPr sz="1500"/>
          </a:p>
          <a:p>
            <a:pPr indent="0" lvl="0" marL="457200" rtl="0" algn="l">
              <a:lnSpc>
                <a:spcPct val="115000"/>
              </a:lnSpc>
              <a:spcBef>
                <a:spcPts val="0"/>
              </a:spcBef>
              <a:spcAft>
                <a:spcPts val="0"/>
              </a:spcAft>
              <a:buSzPts val="1800"/>
              <a:buNone/>
            </a:pPr>
            <a:r>
              <a:t/>
            </a:r>
            <a:endParaRPr sz="1500"/>
          </a:p>
          <a:p>
            <a:pPr indent="-323850" lvl="0" marL="457200" rtl="0" algn="l">
              <a:lnSpc>
                <a:spcPct val="115000"/>
              </a:lnSpc>
              <a:spcBef>
                <a:spcPts val="0"/>
              </a:spcBef>
              <a:spcAft>
                <a:spcPts val="0"/>
              </a:spcAft>
              <a:buSzPts val="1500"/>
              <a:buAutoNum type="arabicPeriod"/>
            </a:pPr>
            <a:r>
              <a:rPr lang="es" sz="1500"/>
              <a:t>Detectar los </a:t>
            </a:r>
            <a:r>
              <a:rPr b="1" lang="es" sz="1500"/>
              <a:t>atributos</a:t>
            </a:r>
            <a:r>
              <a:rPr lang="es" sz="1500"/>
              <a:t>:</a:t>
            </a:r>
            <a:endParaRPr sz="1500"/>
          </a:p>
          <a:p>
            <a:pPr indent="0" lvl="0" marL="0" rtl="0" algn="l">
              <a:lnSpc>
                <a:spcPct val="115000"/>
              </a:lnSpc>
              <a:spcBef>
                <a:spcPts val="0"/>
              </a:spcBef>
              <a:spcAft>
                <a:spcPts val="0"/>
              </a:spcAft>
              <a:buClr>
                <a:schemeClr val="dk1"/>
              </a:buClr>
              <a:buSzPts val="1100"/>
              <a:buFont typeface="Arial"/>
              <a:buNone/>
            </a:pPr>
            <a:r>
              <a:t/>
            </a:r>
            <a:endParaRPr sz="1500"/>
          </a:p>
        </p:txBody>
      </p:sp>
      <p:grpSp>
        <p:nvGrpSpPr>
          <p:cNvPr id="367" name="Google Shape;367;p21"/>
          <p:cNvGrpSpPr/>
          <p:nvPr/>
        </p:nvGrpSpPr>
        <p:grpSpPr>
          <a:xfrm>
            <a:off x="1576800" y="2248498"/>
            <a:ext cx="5990452" cy="381902"/>
            <a:chOff x="2147850" y="2210248"/>
            <a:chExt cx="5990452" cy="381902"/>
          </a:xfrm>
        </p:grpSpPr>
        <p:grpSp>
          <p:nvGrpSpPr>
            <p:cNvPr id="368" name="Google Shape;368;p21"/>
            <p:cNvGrpSpPr/>
            <p:nvPr/>
          </p:nvGrpSpPr>
          <p:grpSpPr>
            <a:xfrm>
              <a:off x="2605951" y="2210250"/>
              <a:ext cx="5532351" cy="381900"/>
              <a:chOff x="1987526" y="1970100"/>
              <a:chExt cx="5532351" cy="381900"/>
            </a:xfrm>
          </p:grpSpPr>
          <p:sp>
            <p:nvSpPr>
              <p:cNvPr id="369" name="Google Shape;369;p21"/>
              <p:cNvSpPr/>
              <p:nvPr/>
            </p:nvSpPr>
            <p:spPr>
              <a:xfrm>
                <a:off x="1987526" y="1970100"/>
                <a:ext cx="991200" cy="381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1" lang="es" sz="1100" u="none" cap="none" strike="noStrike">
                    <a:solidFill>
                      <a:srgbClr val="000000"/>
                    </a:solidFill>
                    <a:latin typeface="Montserrat"/>
                    <a:ea typeface="Montserrat"/>
                    <a:cs typeface="Montserrat"/>
                    <a:sym typeface="Montserrat"/>
                  </a:rPr>
                  <a:t>Clientes</a:t>
                </a:r>
                <a:endParaRPr b="0" i="1" sz="1100" u="none" cap="none" strike="noStrike">
                  <a:solidFill>
                    <a:srgbClr val="000000"/>
                  </a:solidFill>
                  <a:latin typeface="Montserrat"/>
                  <a:ea typeface="Montserrat"/>
                  <a:cs typeface="Montserrat"/>
                  <a:sym typeface="Montserrat"/>
                </a:endParaRPr>
              </a:p>
            </p:txBody>
          </p:sp>
          <p:sp>
            <p:nvSpPr>
              <p:cNvPr id="370" name="Google Shape;370;p21"/>
              <p:cNvSpPr/>
              <p:nvPr/>
            </p:nvSpPr>
            <p:spPr>
              <a:xfrm>
                <a:off x="4258102" y="1970100"/>
                <a:ext cx="991200" cy="381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1" lang="es" sz="1100" u="none" cap="none" strike="noStrike">
                    <a:solidFill>
                      <a:srgbClr val="000000"/>
                    </a:solidFill>
                    <a:latin typeface="Montserrat"/>
                    <a:ea typeface="Montserrat"/>
                    <a:cs typeface="Montserrat"/>
                    <a:sym typeface="Montserrat"/>
                  </a:rPr>
                  <a:t>Pedidos</a:t>
                </a:r>
                <a:endParaRPr b="0" i="1" sz="1100" u="none" cap="none" strike="noStrike">
                  <a:solidFill>
                    <a:srgbClr val="000000"/>
                  </a:solidFill>
                  <a:latin typeface="Montserrat"/>
                  <a:ea typeface="Montserrat"/>
                  <a:cs typeface="Montserrat"/>
                  <a:sym typeface="Montserrat"/>
                </a:endParaRPr>
              </a:p>
            </p:txBody>
          </p:sp>
          <p:sp>
            <p:nvSpPr>
              <p:cNvPr id="371" name="Google Shape;371;p21"/>
              <p:cNvSpPr/>
              <p:nvPr/>
            </p:nvSpPr>
            <p:spPr>
              <a:xfrm>
                <a:off x="6528677" y="1970100"/>
                <a:ext cx="991200" cy="381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1" lang="es" sz="1100" u="none" cap="none" strike="noStrike">
                    <a:solidFill>
                      <a:srgbClr val="000000"/>
                    </a:solidFill>
                    <a:latin typeface="Montserrat"/>
                    <a:ea typeface="Montserrat"/>
                    <a:cs typeface="Montserrat"/>
                    <a:sym typeface="Montserrat"/>
                  </a:rPr>
                  <a:t>Productos</a:t>
                </a:r>
                <a:endParaRPr b="0" i="1" sz="1100" u="none" cap="none" strike="noStrike">
                  <a:solidFill>
                    <a:srgbClr val="000000"/>
                  </a:solidFill>
                  <a:latin typeface="Montserrat"/>
                  <a:ea typeface="Montserrat"/>
                  <a:cs typeface="Montserrat"/>
                  <a:sym typeface="Montserrat"/>
                </a:endParaRPr>
              </a:p>
            </p:txBody>
          </p:sp>
        </p:grpSp>
        <p:pic>
          <p:nvPicPr>
            <p:cNvPr id="372" name="Google Shape;372;p21"/>
            <p:cNvPicPr preferRelativeResize="0"/>
            <p:nvPr/>
          </p:nvPicPr>
          <p:blipFill rotWithShape="1">
            <a:blip r:embed="rId3">
              <a:alphaModFix/>
            </a:blip>
            <a:srcRect b="0" l="0" r="0" t="0"/>
            <a:stretch/>
          </p:blipFill>
          <p:spPr>
            <a:xfrm>
              <a:off x="2147850" y="2210248"/>
              <a:ext cx="381900" cy="381900"/>
            </a:xfrm>
            <a:prstGeom prst="rect">
              <a:avLst/>
            </a:prstGeom>
            <a:noFill/>
            <a:ln>
              <a:noFill/>
            </a:ln>
          </p:spPr>
        </p:pic>
        <p:pic>
          <p:nvPicPr>
            <p:cNvPr id="373" name="Google Shape;373;p21"/>
            <p:cNvPicPr preferRelativeResize="0"/>
            <p:nvPr/>
          </p:nvPicPr>
          <p:blipFill rotWithShape="1">
            <a:blip r:embed="rId4">
              <a:alphaModFix/>
            </a:blip>
            <a:srcRect b="0" l="0" r="0" t="0"/>
            <a:stretch/>
          </p:blipFill>
          <p:spPr>
            <a:xfrm>
              <a:off x="4457775" y="2210250"/>
              <a:ext cx="381900" cy="381900"/>
            </a:xfrm>
            <a:prstGeom prst="rect">
              <a:avLst/>
            </a:prstGeom>
            <a:noFill/>
            <a:ln>
              <a:noFill/>
            </a:ln>
          </p:spPr>
        </p:pic>
        <p:pic>
          <p:nvPicPr>
            <p:cNvPr id="374" name="Google Shape;374;p21"/>
            <p:cNvPicPr preferRelativeResize="0"/>
            <p:nvPr/>
          </p:nvPicPr>
          <p:blipFill rotWithShape="1">
            <a:blip r:embed="rId5">
              <a:alphaModFix/>
            </a:blip>
            <a:srcRect b="0" l="0" r="0" t="0"/>
            <a:stretch/>
          </p:blipFill>
          <p:spPr>
            <a:xfrm>
              <a:off x="6767700" y="2210250"/>
              <a:ext cx="381900" cy="381900"/>
            </a:xfrm>
            <a:prstGeom prst="rect">
              <a:avLst/>
            </a:prstGeom>
            <a:noFill/>
            <a:ln>
              <a:noFill/>
            </a:ln>
          </p:spPr>
        </p:pic>
      </p:grpSp>
      <p:grpSp>
        <p:nvGrpSpPr>
          <p:cNvPr id="375" name="Google Shape;375;p21"/>
          <p:cNvGrpSpPr/>
          <p:nvPr/>
        </p:nvGrpSpPr>
        <p:grpSpPr>
          <a:xfrm>
            <a:off x="540294" y="3115677"/>
            <a:ext cx="3174147" cy="1437971"/>
            <a:chOff x="159300" y="3042000"/>
            <a:chExt cx="3278400" cy="1485200"/>
          </a:xfrm>
        </p:grpSpPr>
        <p:sp>
          <p:nvSpPr>
            <p:cNvPr id="376" name="Google Shape;376;p21"/>
            <p:cNvSpPr/>
            <p:nvPr/>
          </p:nvSpPr>
          <p:spPr>
            <a:xfrm>
              <a:off x="1302900" y="3042000"/>
              <a:ext cx="991200" cy="381900"/>
            </a:xfrm>
            <a:prstGeom prst="rect">
              <a:avLst/>
            </a:prstGeom>
            <a:solidFill>
              <a:srgbClr val="F8C82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1" lang="es" sz="1100" u="none" cap="none" strike="noStrike">
                  <a:solidFill>
                    <a:srgbClr val="000000"/>
                  </a:solidFill>
                  <a:latin typeface="Montserrat"/>
                  <a:ea typeface="Montserrat"/>
                  <a:cs typeface="Montserrat"/>
                  <a:sym typeface="Montserrat"/>
                </a:rPr>
                <a:t>Clientes</a:t>
              </a:r>
              <a:endParaRPr b="0" i="1" sz="1100" u="none" cap="none" strike="noStrike">
                <a:solidFill>
                  <a:srgbClr val="000000"/>
                </a:solidFill>
                <a:latin typeface="Montserrat"/>
                <a:ea typeface="Montserrat"/>
                <a:cs typeface="Montserrat"/>
                <a:sym typeface="Montserrat"/>
              </a:endParaRPr>
            </a:p>
          </p:txBody>
        </p:sp>
        <p:sp>
          <p:nvSpPr>
            <p:cNvPr id="377" name="Google Shape;377;p21"/>
            <p:cNvSpPr/>
            <p:nvPr/>
          </p:nvSpPr>
          <p:spPr>
            <a:xfrm>
              <a:off x="1302900" y="4199300"/>
              <a:ext cx="991200" cy="327900"/>
            </a:xfrm>
            <a:prstGeom prst="ellipse">
              <a:avLst/>
            </a:prstGeom>
            <a:solidFill>
              <a:srgbClr val="FFE6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s" sz="900" u="none" cap="none" strike="noStrike">
                  <a:solidFill>
                    <a:srgbClr val="000000"/>
                  </a:solidFill>
                  <a:latin typeface="Montserrat"/>
                  <a:ea typeface="Montserrat"/>
                  <a:cs typeface="Montserrat"/>
                  <a:sym typeface="Montserrat"/>
                </a:rPr>
                <a:t>Apellido</a:t>
              </a:r>
              <a:endParaRPr b="0" i="0" sz="900" u="none" cap="none" strike="noStrike">
                <a:solidFill>
                  <a:srgbClr val="000000"/>
                </a:solidFill>
                <a:latin typeface="Montserrat"/>
                <a:ea typeface="Montserrat"/>
                <a:cs typeface="Montserrat"/>
                <a:sym typeface="Montserrat"/>
              </a:endParaRPr>
            </a:p>
          </p:txBody>
        </p:sp>
        <p:grpSp>
          <p:nvGrpSpPr>
            <p:cNvPr id="378" name="Google Shape;378;p21"/>
            <p:cNvGrpSpPr/>
            <p:nvPr/>
          </p:nvGrpSpPr>
          <p:grpSpPr>
            <a:xfrm>
              <a:off x="649550" y="3911700"/>
              <a:ext cx="2297900" cy="327900"/>
              <a:chOff x="675000" y="3835500"/>
              <a:chExt cx="2297900" cy="327900"/>
            </a:xfrm>
          </p:grpSpPr>
          <p:sp>
            <p:nvSpPr>
              <p:cNvPr id="379" name="Google Shape;379;p21"/>
              <p:cNvSpPr/>
              <p:nvPr/>
            </p:nvSpPr>
            <p:spPr>
              <a:xfrm>
                <a:off x="675000" y="3835500"/>
                <a:ext cx="991200" cy="327900"/>
              </a:xfrm>
              <a:prstGeom prst="ellipse">
                <a:avLst/>
              </a:prstGeom>
              <a:solidFill>
                <a:srgbClr val="FFE6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s" sz="900" u="none" cap="none" strike="noStrike">
                    <a:solidFill>
                      <a:srgbClr val="000000"/>
                    </a:solidFill>
                    <a:latin typeface="Montserrat"/>
                    <a:ea typeface="Montserrat"/>
                    <a:cs typeface="Montserrat"/>
                    <a:sym typeface="Montserrat"/>
                  </a:rPr>
                  <a:t>Nombre</a:t>
                </a:r>
                <a:endParaRPr b="0" i="0" sz="900" u="none" cap="none" strike="noStrike">
                  <a:solidFill>
                    <a:srgbClr val="000000"/>
                  </a:solidFill>
                  <a:latin typeface="Montserrat"/>
                  <a:ea typeface="Montserrat"/>
                  <a:cs typeface="Montserrat"/>
                  <a:sym typeface="Montserrat"/>
                </a:endParaRPr>
              </a:p>
            </p:txBody>
          </p:sp>
          <p:sp>
            <p:nvSpPr>
              <p:cNvPr id="380" name="Google Shape;380;p21"/>
              <p:cNvSpPr/>
              <p:nvPr/>
            </p:nvSpPr>
            <p:spPr>
              <a:xfrm>
                <a:off x="1981700" y="3835500"/>
                <a:ext cx="991200" cy="327900"/>
              </a:xfrm>
              <a:prstGeom prst="ellipse">
                <a:avLst/>
              </a:prstGeom>
              <a:solidFill>
                <a:srgbClr val="FFE6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s" sz="900" u="none" cap="none" strike="noStrike">
                    <a:solidFill>
                      <a:srgbClr val="000000"/>
                    </a:solidFill>
                    <a:latin typeface="Montserrat"/>
                    <a:ea typeface="Montserrat"/>
                    <a:cs typeface="Montserrat"/>
                    <a:sym typeface="Montserrat"/>
                  </a:rPr>
                  <a:t>Tel</a:t>
                </a:r>
                <a:endParaRPr b="0" i="0" sz="900" u="none" cap="none" strike="noStrike">
                  <a:solidFill>
                    <a:srgbClr val="000000"/>
                  </a:solidFill>
                  <a:latin typeface="Montserrat"/>
                  <a:ea typeface="Montserrat"/>
                  <a:cs typeface="Montserrat"/>
                  <a:sym typeface="Montserrat"/>
                </a:endParaRPr>
              </a:p>
            </p:txBody>
          </p:sp>
        </p:grpSp>
        <p:grpSp>
          <p:nvGrpSpPr>
            <p:cNvPr id="381" name="Google Shape;381;p21"/>
            <p:cNvGrpSpPr/>
            <p:nvPr/>
          </p:nvGrpSpPr>
          <p:grpSpPr>
            <a:xfrm>
              <a:off x="159300" y="3580600"/>
              <a:ext cx="3278400" cy="327900"/>
              <a:chOff x="159300" y="3504400"/>
              <a:chExt cx="3278400" cy="327900"/>
            </a:xfrm>
          </p:grpSpPr>
          <p:sp>
            <p:nvSpPr>
              <p:cNvPr id="382" name="Google Shape;382;p21"/>
              <p:cNvSpPr/>
              <p:nvPr/>
            </p:nvSpPr>
            <p:spPr>
              <a:xfrm>
                <a:off x="159300" y="3504400"/>
                <a:ext cx="991200" cy="327900"/>
              </a:xfrm>
              <a:prstGeom prst="ellipse">
                <a:avLst/>
              </a:prstGeom>
              <a:solidFill>
                <a:srgbClr val="FFE6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s" sz="900" u="none" cap="none" strike="noStrike">
                    <a:solidFill>
                      <a:srgbClr val="000000"/>
                    </a:solidFill>
                    <a:latin typeface="Montserrat"/>
                    <a:ea typeface="Montserrat"/>
                    <a:cs typeface="Montserrat"/>
                    <a:sym typeface="Montserrat"/>
                  </a:rPr>
                  <a:t>DNI</a:t>
                </a:r>
                <a:endParaRPr b="0" i="0" sz="900" u="none" cap="none" strike="noStrike">
                  <a:solidFill>
                    <a:srgbClr val="000000"/>
                  </a:solidFill>
                  <a:latin typeface="Montserrat"/>
                  <a:ea typeface="Montserrat"/>
                  <a:cs typeface="Montserrat"/>
                  <a:sym typeface="Montserrat"/>
                </a:endParaRPr>
              </a:p>
            </p:txBody>
          </p:sp>
          <p:sp>
            <p:nvSpPr>
              <p:cNvPr id="383" name="Google Shape;383;p21"/>
              <p:cNvSpPr/>
              <p:nvPr/>
            </p:nvSpPr>
            <p:spPr>
              <a:xfrm>
                <a:off x="2446500" y="3504400"/>
                <a:ext cx="991200" cy="327900"/>
              </a:xfrm>
              <a:prstGeom prst="ellipse">
                <a:avLst/>
              </a:prstGeom>
              <a:solidFill>
                <a:srgbClr val="FFE6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s" sz="900" u="none" cap="none" strike="noStrike">
                    <a:solidFill>
                      <a:srgbClr val="000000"/>
                    </a:solidFill>
                    <a:latin typeface="Montserrat"/>
                    <a:ea typeface="Montserrat"/>
                    <a:cs typeface="Montserrat"/>
                    <a:sym typeface="Montserrat"/>
                  </a:rPr>
                  <a:t>Fec. Nac</a:t>
                </a:r>
                <a:endParaRPr b="0" i="0" sz="900" u="none" cap="none" strike="noStrike">
                  <a:solidFill>
                    <a:srgbClr val="000000"/>
                  </a:solidFill>
                  <a:latin typeface="Montserrat"/>
                  <a:ea typeface="Montserrat"/>
                  <a:cs typeface="Montserrat"/>
                  <a:sym typeface="Montserrat"/>
                </a:endParaRPr>
              </a:p>
            </p:txBody>
          </p:sp>
        </p:grpSp>
        <p:cxnSp>
          <p:nvCxnSpPr>
            <p:cNvPr id="384" name="Google Shape;384;p21"/>
            <p:cNvCxnSpPr>
              <a:stCxn id="382" idx="0"/>
              <a:endCxn id="376" idx="2"/>
            </p:cNvCxnSpPr>
            <p:nvPr/>
          </p:nvCxnSpPr>
          <p:spPr>
            <a:xfrm flipH="1" rot="10800000">
              <a:off x="654900" y="3424000"/>
              <a:ext cx="1143600" cy="156600"/>
            </a:xfrm>
            <a:prstGeom prst="straightConnector1">
              <a:avLst/>
            </a:prstGeom>
            <a:noFill/>
            <a:ln cap="flat" cmpd="sng" w="9525">
              <a:solidFill>
                <a:schemeClr val="dk2"/>
              </a:solidFill>
              <a:prstDash val="solid"/>
              <a:round/>
              <a:headEnd len="sm" w="sm" type="none"/>
              <a:tailEnd len="sm" w="sm" type="none"/>
            </a:ln>
          </p:spPr>
        </p:cxnSp>
        <p:cxnSp>
          <p:nvCxnSpPr>
            <p:cNvPr id="385" name="Google Shape;385;p21"/>
            <p:cNvCxnSpPr>
              <a:stCxn id="379" idx="0"/>
            </p:cNvCxnSpPr>
            <p:nvPr/>
          </p:nvCxnSpPr>
          <p:spPr>
            <a:xfrm flipH="1" rot="10800000">
              <a:off x="1145150" y="3431700"/>
              <a:ext cx="652200" cy="480000"/>
            </a:xfrm>
            <a:prstGeom prst="straightConnector1">
              <a:avLst/>
            </a:prstGeom>
            <a:noFill/>
            <a:ln cap="flat" cmpd="sng" w="9525">
              <a:solidFill>
                <a:schemeClr val="dk2"/>
              </a:solidFill>
              <a:prstDash val="solid"/>
              <a:round/>
              <a:headEnd len="sm" w="sm" type="none"/>
              <a:tailEnd len="sm" w="sm" type="none"/>
            </a:ln>
          </p:spPr>
        </p:cxnSp>
        <p:cxnSp>
          <p:nvCxnSpPr>
            <p:cNvPr id="386" name="Google Shape;386;p21"/>
            <p:cNvCxnSpPr>
              <a:stCxn id="377" idx="0"/>
              <a:endCxn id="376" idx="2"/>
            </p:cNvCxnSpPr>
            <p:nvPr/>
          </p:nvCxnSpPr>
          <p:spPr>
            <a:xfrm rot="10800000">
              <a:off x="1798500" y="3423800"/>
              <a:ext cx="0" cy="775500"/>
            </a:xfrm>
            <a:prstGeom prst="straightConnector1">
              <a:avLst/>
            </a:prstGeom>
            <a:noFill/>
            <a:ln cap="flat" cmpd="sng" w="9525">
              <a:solidFill>
                <a:schemeClr val="dk2"/>
              </a:solidFill>
              <a:prstDash val="solid"/>
              <a:round/>
              <a:headEnd len="sm" w="sm" type="none"/>
              <a:tailEnd len="sm" w="sm" type="none"/>
            </a:ln>
          </p:spPr>
        </p:cxnSp>
        <p:cxnSp>
          <p:nvCxnSpPr>
            <p:cNvPr id="387" name="Google Shape;387;p21"/>
            <p:cNvCxnSpPr>
              <a:stCxn id="380" idx="0"/>
              <a:endCxn id="376" idx="2"/>
            </p:cNvCxnSpPr>
            <p:nvPr/>
          </p:nvCxnSpPr>
          <p:spPr>
            <a:xfrm rot="10800000">
              <a:off x="1798450" y="3423900"/>
              <a:ext cx="653400" cy="487800"/>
            </a:xfrm>
            <a:prstGeom prst="straightConnector1">
              <a:avLst/>
            </a:prstGeom>
            <a:noFill/>
            <a:ln cap="flat" cmpd="sng" w="9525">
              <a:solidFill>
                <a:schemeClr val="dk2"/>
              </a:solidFill>
              <a:prstDash val="solid"/>
              <a:round/>
              <a:headEnd len="sm" w="sm" type="none"/>
              <a:tailEnd len="sm" w="sm" type="none"/>
            </a:ln>
          </p:spPr>
        </p:cxnSp>
        <p:cxnSp>
          <p:nvCxnSpPr>
            <p:cNvPr id="388" name="Google Shape;388;p21"/>
            <p:cNvCxnSpPr>
              <a:stCxn id="383" idx="0"/>
              <a:endCxn id="376" idx="2"/>
            </p:cNvCxnSpPr>
            <p:nvPr/>
          </p:nvCxnSpPr>
          <p:spPr>
            <a:xfrm rot="10800000">
              <a:off x="1798500" y="3424000"/>
              <a:ext cx="1143600" cy="156600"/>
            </a:xfrm>
            <a:prstGeom prst="straightConnector1">
              <a:avLst/>
            </a:prstGeom>
            <a:noFill/>
            <a:ln cap="flat" cmpd="sng" w="9525">
              <a:solidFill>
                <a:schemeClr val="dk2"/>
              </a:solidFill>
              <a:prstDash val="solid"/>
              <a:round/>
              <a:headEnd len="sm" w="sm" type="none"/>
              <a:tailEnd len="sm" w="sm" type="none"/>
            </a:ln>
          </p:spPr>
        </p:cxnSp>
      </p:grpSp>
      <p:grpSp>
        <p:nvGrpSpPr>
          <p:cNvPr id="389" name="Google Shape;389;p21"/>
          <p:cNvGrpSpPr/>
          <p:nvPr/>
        </p:nvGrpSpPr>
        <p:grpSpPr>
          <a:xfrm>
            <a:off x="5324518" y="3041902"/>
            <a:ext cx="3174147" cy="1159516"/>
            <a:chOff x="3589200" y="2927550"/>
            <a:chExt cx="3278400" cy="1197600"/>
          </a:xfrm>
        </p:grpSpPr>
        <p:sp>
          <p:nvSpPr>
            <p:cNvPr id="390" name="Google Shape;390;p21"/>
            <p:cNvSpPr/>
            <p:nvPr/>
          </p:nvSpPr>
          <p:spPr>
            <a:xfrm>
              <a:off x="4732800" y="2927550"/>
              <a:ext cx="991200" cy="381900"/>
            </a:xfrm>
            <a:prstGeom prst="rect">
              <a:avLst/>
            </a:prstGeom>
            <a:solidFill>
              <a:srgbClr val="F8C82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1" lang="es" sz="1100" u="none" cap="none" strike="noStrike">
                  <a:solidFill>
                    <a:srgbClr val="000000"/>
                  </a:solidFill>
                  <a:latin typeface="Montserrat"/>
                  <a:ea typeface="Montserrat"/>
                  <a:cs typeface="Montserrat"/>
                  <a:sym typeface="Montserrat"/>
                </a:rPr>
                <a:t>Productos</a:t>
              </a:r>
              <a:endParaRPr b="0" i="1" sz="1100" u="none" cap="none" strike="noStrike">
                <a:solidFill>
                  <a:srgbClr val="000000"/>
                </a:solidFill>
                <a:latin typeface="Montserrat"/>
                <a:ea typeface="Montserrat"/>
                <a:cs typeface="Montserrat"/>
                <a:sym typeface="Montserrat"/>
              </a:endParaRPr>
            </a:p>
          </p:txBody>
        </p:sp>
        <p:grpSp>
          <p:nvGrpSpPr>
            <p:cNvPr id="391" name="Google Shape;391;p21"/>
            <p:cNvGrpSpPr/>
            <p:nvPr/>
          </p:nvGrpSpPr>
          <p:grpSpPr>
            <a:xfrm>
              <a:off x="4155650" y="3797250"/>
              <a:ext cx="2145500" cy="327900"/>
              <a:chOff x="751200" y="3835500"/>
              <a:chExt cx="2145500" cy="327900"/>
            </a:xfrm>
          </p:grpSpPr>
          <p:sp>
            <p:nvSpPr>
              <p:cNvPr id="392" name="Google Shape;392;p21"/>
              <p:cNvSpPr/>
              <p:nvPr/>
            </p:nvSpPr>
            <p:spPr>
              <a:xfrm>
                <a:off x="751200" y="3835500"/>
                <a:ext cx="991200" cy="327900"/>
              </a:xfrm>
              <a:prstGeom prst="ellipse">
                <a:avLst/>
              </a:prstGeom>
              <a:solidFill>
                <a:srgbClr val="FFE6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s" sz="900" u="none" cap="none" strike="noStrike">
                    <a:solidFill>
                      <a:srgbClr val="000000"/>
                    </a:solidFill>
                    <a:latin typeface="Montserrat"/>
                    <a:ea typeface="Montserrat"/>
                    <a:cs typeface="Montserrat"/>
                    <a:sym typeface="Montserrat"/>
                  </a:rPr>
                  <a:t>Nombre</a:t>
                </a:r>
                <a:endParaRPr b="0" i="0" sz="900" u="none" cap="none" strike="noStrike">
                  <a:solidFill>
                    <a:srgbClr val="000000"/>
                  </a:solidFill>
                  <a:latin typeface="Montserrat"/>
                  <a:ea typeface="Montserrat"/>
                  <a:cs typeface="Montserrat"/>
                  <a:sym typeface="Montserrat"/>
                </a:endParaRPr>
              </a:p>
            </p:txBody>
          </p:sp>
          <p:sp>
            <p:nvSpPr>
              <p:cNvPr id="393" name="Google Shape;393;p21"/>
              <p:cNvSpPr/>
              <p:nvPr/>
            </p:nvSpPr>
            <p:spPr>
              <a:xfrm>
                <a:off x="1905500" y="3835500"/>
                <a:ext cx="991200" cy="327900"/>
              </a:xfrm>
              <a:prstGeom prst="ellipse">
                <a:avLst/>
              </a:prstGeom>
              <a:solidFill>
                <a:srgbClr val="FFE6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s" sz="900" u="none" cap="none" strike="noStrike">
                    <a:solidFill>
                      <a:srgbClr val="000000"/>
                    </a:solidFill>
                    <a:latin typeface="Montserrat"/>
                    <a:ea typeface="Montserrat"/>
                    <a:cs typeface="Montserrat"/>
                    <a:sym typeface="Montserrat"/>
                  </a:rPr>
                  <a:t>Cant</a:t>
                </a:r>
                <a:endParaRPr b="0" i="0" sz="900" u="none" cap="none" strike="noStrike">
                  <a:solidFill>
                    <a:srgbClr val="000000"/>
                  </a:solidFill>
                  <a:latin typeface="Montserrat"/>
                  <a:ea typeface="Montserrat"/>
                  <a:cs typeface="Montserrat"/>
                  <a:sym typeface="Montserrat"/>
                </a:endParaRPr>
              </a:p>
            </p:txBody>
          </p:sp>
        </p:grpSp>
        <p:grpSp>
          <p:nvGrpSpPr>
            <p:cNvPr id="394" name="Google Shape;394;p21"/>
            <p:cNvGrpSpPr/>
            <p:nvPr/>
          </p:nvGrpSpPr>
          <p:grpSpPr>
            <a:xfrm>
              <a:off x="3589200" y="3466150"/>
              <a:ext cx="3278400" cy="327900"/>
              <a:chOff x="159300" y="3504400"/>
              <a:chExt cx="3278400" cy="327900"/>
            </a:xfrm>
          </p:grpSpPr>
          <p:sp>
            <p:nvSpPr>
              <p:cNvPr id="395" name="Google Shape;395;p21"/>
              <p:cNvSpPr/>
              <p:nvPr/>
            </p:nvSpPr>
            <p:spPr>
              <a:xfrm>
                <a:off x="159300" y="3504400"/>
                <a:ext cx="991200" cy="327900"/>
              </a:xfrm>
              <a:prstGeom prst="ellipse">
                <a:avLst/>
              </a:prstGeom>
              <a:solidFill>
                <a:srgbClr val="FFE6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s" sz="900" u="none" cap="none" strike="noStrike">
                    <a:solidFill>
                      <a:srgbClr val="000000"/>
                    </a:solidFill>
                    <a:latin typeface="Montserrat"/>
                    <a:ea typeface="Montserrat"/>
                    <a:cs typeface="Montserrat"/>
                    <a:sym typeface="Montserrat"/>
                  </a:rPr>
                  <a:t>Código</a:t>
                </a:r>
                <a:endParaRPr b="0" i="0" sz="900" u="none" cap="none" strike="noStrike">
                  <a:solidFill>
                    <a:srgbClr val="000000"/>
                  </a:solidFill>
                  <a:latin typeface="Montserrat"/>
                  <a:ea typeface="Montserrat"/>
                  <a:cs typeface="Montserrat"/>
                  <a:sym typeface="Montserrat"/>
                </a:endParaRPr>
              </a:p>
            </p:txBody>
          </p:sp>
          <p:sp>
            <p:nvSpPr>
              <p:cNvPr id="396" name="Google Shape;396;p21"/>
              <p:cNvSpPr/>
              <p:nvPr/>
            </p:nvSpPr>
            <p:spPr>
              <a:xfrm>
                <a:off x="2446500" y="3504400"/>
                <a:ext cx="991200" cy="327900"/>
              </a:xfrm>
              <a:prstGeom prst="ellipse">
                <a:avLst/>
              </a:prstGeom>
              <a:solidFill>
                <a:srgbClr val="FFE6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s" sz="900" u="none" cap="none" strike="noStrike">
                    <a:solidFill>
                      <a:srgbClr val="000000"/>
                    </a:solidFill>
                    <a:latin typeface="Montserrat"/>
                    <a:ea typeface="Montserrat"/>
                    <a:cs typeface="Montserrat"/>
                    <a:sym typeface="Montserrat"/>
                  </a:rPr>
                  <a:t>Precio</a:t>
                </a:r>
                <a:endParaRPr b="0" i="0" sz="900" u="none" cap="none" strike="noStrike">
                  <a:solidFill>
                    <a:srgbClr val="000000"/>
                  </a:solidFill>
                  <a:latin typeface="Montserrat"/>
                  <a:ea typeface="Montserrat"/>
                  <a:cs typeface="Montserrat"/>
                  <a:sym typeface="Montserrat"/>
                </a:endParaRPr>
              </a:p>
            </p:txBody>
          </p:sp>
        </p:grpSp>
        <p:cxnSp>
          <p:nvCxnSpPr>
            <p:cNvPr id="397" name="Google Shape;397;p21"/>
            <p:cNvCxnSpPr>
              <a:stCxn id="395" idx="0"/>
              <a:endCxn id="390" idx="2"/>
            </p:cNvCxnSpPr>
            <p:nvPr/>
          </p:nvCxnSpPr>
          <p:spPr>
            <a:xfrm flipH="1" rot="10800000">
              <a:off x="4084800" y="3309550"/>
              <a:ext cx="1143600" cy="156600"/>
            </a:xfrm>
            <a:prstGeom prst="straightConnector1">
              <a:avLst/>
            </a:prstGeom>
            <a:noFill/>
            <a:ln cap="flat" cmpd="sng" w="9525">
              <a:solidFill>
                <a:schemeClr val="dk2"/>
              </a:solidFill>
              <a:prstDash val="solid"/>
              <a:round/>
              <a:headEnd len="sm" w="sm" type="none"/>
              <a:tailEnd len="sm" w="sm" type="none"/>
            </a:ln>
          </p:spPr>
        </p:cxnSp>
        <p:cxnSp>
          <p:nvCxnSpPr>
            <p:cNvPr id="398" name="Google Shape;398;p21"/>
            <p:cNvCxnSpPr>
              <a:stCxn id="392" idx="0"/>
              <a:endCxn id="390" idx="2"/>
            </p:cNvCxnSpPr>
            <p:nvPr/>
          </p:nvCxnSpPr>
          <p:spPr>
            <a:xfrm flipH="1" rot="10800000">
              <a:off x="4651250" y="3309450"/>
              <a:ext cx="577200" cy="487800"/>
            </a:xfrm>
            <a:prstGeom prst="straightConnector1">
              <a:avLst/>
            </a:prstGeom>
            <a:noFill/>
            <a:ln cap="flat" cmpd="sng" w="9525">
              <a:solidFill>
                <a:schemeClr val="dk2"/>
              </a:solidFill>
              <a:prstDash val="solid"/>
              <a:round/>
              <a:headEnd len="sm" w="sm" type="none"/>
              <a:tailEnd len="sm" w="sm" type="none"/>
            </a:ln>
          </p:spPr>
        </p:cxnSp>
        <p:cxnSp>
          <p:nvCxnSpPr>
            <p:cNvPr id="399" name="Google Shape;399;p21"/>
            <p:cNvCxnSpPr>
              <a:stCxn id="393" idx="0"/>
              <a:endCxn id="390" idx="2"/>
            </p:cNvCxnSpPr>
            <p:nvPr/>
          </p:nvCxnSpPr>
          <p:spPr>
            <a:xfrm rot="10800000">
              <a:off x="5228350" y="3309450"/>
              <a:ext cx="577200" cy="487800"/>
            </a:xfrm>
            <a:prstGeom prst="straightConnector1">
              <a:avLst/>
            </a:prstGeom>
            <a:noFill/>
            <a:ln cap="flat" cmpd="sng" w="9525">
              <a:solidFill>
                <a:schemeClr val="dk2"/>
              </a:solidFill>
              <a:prstDash val="solid"/>
              <a:round/>
              <a:headEnd len="sm" w="sm" type="none"/>
              <a:tailEnd len="sm" w="sm" type="none"/>
            </a:ln>
          </p:spPr>
        </p:cxnSp>
        <p:cxnSp>
          <p:nvCxnSpPr>
            <p:cNvPr id="400" name="Google Shape;400;p21"/>
            <p:cNvCxnSpPr>
              <a:stCxn id="396" idx="0"/>
              <a:endCxn id="390" idx="2"/>
            </p:cNvCxnSpPr>
            <p:nvPr/>
          </p:nvCxnSpPr>
          <p:spPr>
            <a:xfrm rot="10800000">
              <a:off x="5228400" y="3309550"/>
              <a:ext cx="1143600" cy="156600"/>
            </a:xfrm>
            <a:prstGeom prst="straightConnector1">
              <a:avLst/>
            </a:prstGeom>
            <a:noFill/>
            <a:ln cap="flat" cmpd="sng" w="9525">
              <a:solidFill>
                <a:schemeClr val="dk2"/>
              </a:solidFill>
              <a:prstDash val="solid"/>
              <a:round/>
              <a:headEnd len="sm" w="sm" type="none"/>
              <a:tailEnd len="sm" w="sm" type="none"/>
            </a:ln>
          </p:spPr>
        </p:cxnSp>
      </p:grpSp>
      <p:grpSp>
        <p:nvGrpSpPr>
          <p:cNvPr id="401" name="Google Shape;401;p21"/>
          <p:cNvGrpSpPr/>
          <p:nvPr/>
        </p:nvGrpSpPr>
        <p:grpSpPr>
          <a:xfrm>
            <a:off x="3576737" y="3187182"/>
            <a:ext cx="2003496" cy="1159516"/>
            <a:chOff x="6520750" y="3005300"/>
            <a:chExt cx="2069300" cy="1197600"/>
          </a:xfrm>
        </p:grpSpPr>
        <p:sp>
          <p:nvSpPr>
            <p:cNvPr id="402" name="Google Shape;402;p21"/>
            <p:cNvSpPr/>
            <p:nvPr/>
          </p:nvSpPr>
          <p:spPr>
            <a:xfrm>
              <a:off x="7021700" y="3005300"/>
              <a:ext cx="991200" cy="381900"/>
            </a:xfrm>
            <a:prstGeom prst="rect">
              <a:avLst/>
            </a:prstGeom>
            <a:solidFill>
              <a:srgbClr val="F8C82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1" lang="es" sz="1100" u="none" cap="none" strike="noStrike">
                  <a:solidFill>
                    <a:srgbClr val="000000"/>
                  </a:solidFill>
                  <a:latin typeface="Montserrat"/>
                  <a:ea typeface="Montserrat"/>
                  <a:cs typeface="Montserrat"/>
                  <a:sym typeface="Montserrat"/>
                </a:rPr>
                <a:t>Pedidos</a:t>
              </a:r>
              <a:endParaRPr b="0" i="1" sz="1100" u="none" cap="none" strike="noStrike">
                <a:solidFill>
                  <a:srgbClr val="000000"/>
                </a:solidFill>
                <a:latin typeface="Montserrat"/>
                <a:ea typeface="Montserrat"/>
                <a:cs typeface="Montserrat"/>
                <a:sym typeface="Montserrat"/>
              </a:endParaRPr>
            </a:p>
          </p:txBody>
        </p:sp>
        <p:grpSp>
          <p:nvGrpSpPr>
            <p:cNvPr id="403" name="Google Shape;403;p21"/>
            <p:cNvGrpSpPr/>
            <p:nvPr/>
          </p:nvGrpSpPr>
          <p:grpSpPr>
            <a:xfrm>
              <a:off x="6520750" y="3875000"/>
              <a:ext cx="2069300" cy="327900"/>
              <a:chOff x="827400" y="3835500"/>
              <a:chExt cx="2069300" cy="327900"/>
            </a:xfrm>
          </p:grpSpPr>
          <p:sp>
            <p:nvSpPr>
              <p:cNvPr id="404" name="Google Shape;404;p21"/>
              <p:cNvSpPr/>
              <p:nvPr/>
            </p:nvSpPr>
            <p:spPr>
              <a:xfrm>
                <a:off x="827400" y="3835500"/>
                <a:ext cx="991200" cy="327900"/>
              </a:xfrm>
              <a:prstGeom prst="ellipse">
                <a:avLst/>
              </a:prstGeom>
              <a:solidFill>
                <a:srgbClr val="FFE6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s" sz="900" u="none" cap="none" strike="noStrike">
                    <a:solidFill>
                      <a:srgbClr val="000000"/>
                    </a:solidFill>
                    <a:latin typeface="Montserrat"/>
                    <a:ea typeface="Montserrat"/>
                    <a:cs typeface="Montserrat"/>
                    <a:sym typeface="Montserrat"/>
                  </a:rPr>
                  <a:t>Nro</a:t>
                </a:r>
                <a:endParaRPr b="0" i="0" sz="900" u="none" cap="none" strike="noStrike">
                  <a:solidFill>
                    <a:srgbClr val="000000"/>
                  </a:solidFill>
                  <a:latin typeface="Montserrat"/>
                  <a:ea typeface="Montserrat"/>
                  <a:cs typeface="Montserrat"/>
                  <a:sym typeface="Montserrat"/>
                </a:endParaRPr>
              </a:p>
            </p:txBody>
          </p:sp>
          <p:sp>
            <p:nvSpPr>
              <p:cNvPr id="405" name="Google Shape;405;p21"/>
              <p:cNvSpPr/>
              <p:nvPr/>
            </p:nvSpPr>
            <p:spPr>
              <a:xfrm>
                <a:off x="1905500" y="3835500"/>
                <a:ext cx="991200" cy="327900"/>
              </a:xfrm>
              <a:prstGeom prst="ellipse">
                <a:avLst/>
              </a:prstGeom>
              <a:solidFill>
                <a:srgbClr val="FFE6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s" sz="900" u="none" cap="none" strike="noStrike">
                    <a:solidFill>
                      <a:srgbClr val="000000"/>
                    </a:solidFill>
                    <a:latin typeface="Montserrat"/>
                    <a:ea typeface="Montserrat"/>
                    <a:cs typeface="Montserrat"/>
                    <a:sym typeface="Montserrat"/>
                  </a:rPr>
                  <a:t>Fecha</a:t>
                </a:r>
                <a:endParaRPr b="0" i="0" sz="900" u="none" cap="none" strike="noStrike">
                  <a:solidFill>
                    <a:srgbClr val="000000"/>
                  </a:solidFill>
                  <a:latin typeface="Montserrat"/>
                  <a:ea typeface="Montserrat"/>
                  <a:cs typeface="Montserrat"/>
                  <a:sym typeface="Montserrat"/>
                </a:endParaRPr>
              </a:p>
            </p:txBody>
          </p:sp>
        </p:grpSp>
        <p:cxnSp>
          <p:nvCxnSpPr>
            <p:cNvPr id="406" name="Google Shape;406;p21"/>
            <p:cNvCxnSpPr>
              <a:stCxn id="404" idx="0"/>
              <a:endCxn id="402" idx="2"/>
            </p:cNvCxnSpPr>
            <p:nvPr/>
          </p:nvCxnSpPr>
          <p:spPr>
            <a:xfrm flipH="1" rot="10800000">
              <a:off x="7016350" y="3387200"/>
              <a:ext cx="501000" cy="487800"/>
            </a:xfrm>
            <a:prstGeom prst="straightConnector1">
              <a:avLst/>
            </a:prstGeom>
            <a:noFill/>
            <a:ln cap="flat" cmpd="sng" w="9525">
              <a:solidFill>
                <a:schemeClr val="dk2"/>
              </a:solidFill>
              <a:prstDash val="solid"/>
              <a:round/>
              <a:headEnd len="sm" w="sm" type="none"/>
              <a:tailEnd len="sm" w="sm" type="none"/>
            </a:ln>
          </p:spPr>
        </p:cxnSp>
        <p:cxnSp>
          <p:nvCxnSpPr>
            <p:cNvPr id="407" name="Google Shape;407;p21"/>
            <p:cNvCxnSpPr>
              <a:stCxn id="405" idx="0"/>
              <a:endCxn id="402" idx="2"/>
            </p:cNvCxnSpPr>
            <p:nvPr/>
          </p:nvCxnSpPr>
          <p:spPr>
            <a:xfrm rot="10800000">
              <a:off x="7517250" y="3387200"/>
              <a:ext cx="577200" cy="487800"/>
            </a:xfrm>
            <a:prstGeom prst="straightConnector1">
              <a:avLst/>
            </a:prstGeom>
            <a:noFill/>
            <a:ln cap="flat" cmpd="sng" w="9525">
              <a:solidFill>
                <a:schemeClr val="dk2"/>
              </a:solidFill>
              <a:prstDash val="solid"/>
              <a:round/>
              <a:headEnd len="sm" w="sm" type="none"/>
              <a:tailEnd len="sm" w="sm" type="none"/>
            </a:ln>
          </p:spPr>
        </p:cxn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22"/>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Diagrama Entidad Relación | Ejemplo</a:t>
            </a:r>
            <a:endParaRPr/>
          </a:p>
        </p:txBody>
      </p:sp>
      <p:sp>
        <p:nvSpPr>
          <p:cNvPr id="413" name="Google Shape;413;p22"/>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SzPts val="1500"/>
              <a:buAutoNum type="arabicPeriod" startAt="3"/>
            </a:pPr>
            <a:r>
              <a:rPr lang="es" sz="1500"/>
              <a:t>Conocidas las </a:t>
            </a:r>
            <a:r>
              <a:rPr b="1" lang="es" sz="1500"/>
              <a:t>entidades</a:t>
            </a:r>
            <a:r>
              <a:rPr lang="es" sz="1500"/>
              <a:t> y sus </a:t>
            </a:r>
            <a:r>
              <a:rPr b="1" lang="es" sz="1500"/>
              <a:t>atributos</a:t>
            </a:r>
            <a:r>
              <a:rPr lang="es" sz="1500"/>
              <a:t>, establecemos las </a:t>
            </a:r>
            <a:r>
              <a:rPr b="1" lang="es" sz="1500"/>
              <a:t>relaciones </a:t>
            </a:r>
            <a:r>
              <a:rPr lang="es" sz="1500"/>
              <a:t>existentes entre sí: un cliente puede realizar varios pedidos (ya que en cada compra que realice, se efectuará un nuevo pedido) y que un pedido puede tener varios productos (ya que una misma compra/pedido pueden haber más de un artículo encargado).</a:t>
            </a:r>
            <a:endParaRPr sz="1500"/>
          </a:p>
          <a:p>
            <a:pPr indent="0" lvl="0" marL="0" rtl="0" algn="l">
              <a:lnSpc>
                <a:spcPct val="115000"/>
              </a:lnSpc>
              <a:spcBef>
                <a:spcPts val="0"/>
              </a:spcBef>
              <a:spcAft>
                <a:spcPts val="0"/>
              </a:spcAft>
              <a:buSzPts val="1800"/>
              <a:buNone/>
            </a:pPr>
            <a:r>
              <a:t/>
            </a:r>
            <a:endParaRPr sz="1500"/>
          </a:p>
          <a:p>
            <a:pPr indent="0" lvl="0" marL="0" rtl="0" algn="l">
              <a:lnSpc>
                <a:spcPct val="115000"/>
              </a:lnSpc>
              <a:spcBef>
                <a:spcPts val="0"/>
              </a:spcBef>
              <a:spcAft>
                <a:spcPts val="0"/>
              </a:spcAft>
              <a:buClr>
                <a:schemeClr val="dk1"/>
              </a:buClr>
              <a:buSzPts val="1100"/>
              <a:buFont typeface="Arial"/>
              <a:buNone/>
            </a:pPr>
            <a:r>
              <a:t/>
            </a:r>
            <a:endParaRPr sz="1500"/>
          </a:p>
        </p:txBody>
      </p:sp>
      <p:grpSp>
        <p:nvGrpSpPr>
          <p:cNvPr id="414" name="Google Shape;414;p22"/>
          <p:cNvGrpSpPr/>
          <p:nvPr/>
        </p:nvGrpSpPr>
        <p:grpSpPr>
          <a:xfrm>
            <a:off x="235492" y="2886887"/>
            <a:ext cx="3186933" cy="1443763"/>
            <a:chOff x="159300" y="3042000"/>
            <a:chExt cx="3278400" cy="1485200"/>
          </a:xfrm>
        </p:grpSpPr>
        <p:sp>
          <p:nvSpPr>
            <p:cNvPr id="415" name="Google Shape;415;p22"/>
            <p:cNvSpPr/>
            <p:nvPr/>
          </p:nvSpPr>
          <p:spPr>
            <a:xfrm>
              <a:off x="1302900" y="3042000"/>
              <a:ext cx="991200" cy="381900"/>
            </a:xfrm>
            <a:prstGeom prst="rect">
              <a:avLst/>
            </a:prstGeom>
            <a:solidFill>
              <a:srgbClr val="F8C82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1" lang="es" sz="1100" u="none" cap="none" strike="noStrike">
                  <a:solidFill>
                    <a:srgbClr val="000000"/>
                  </a:solidFill>
                  <a:latin typeface="Montserrat"/>
                  <a:ea typeface="Montserrat"/>
                  <a:cs typeface="Montserrat"/>
                  <a:sym typeface="Montserrat"/>
                </a:rPr>
                <a:t>Clientes</a:t>
              </a:r>
              <a:endParaRPr b="0" i="1" sz="1100" u="none" cap="none" strike="noStrike">
                <a:solidFill>
                  <a:srgbClr val="000000"/>
                </a:solidFill>
                <a:latin typeface="Montserrat"/>
                <a:ea typeface="Montserrat"/>
                <a:cs typeface="Montserrat"/>
                <a:sym typeface="Montserrat"/>
              </a:endParaRPr>
            </a:p>
          </p:txBody>
        </p:sp>
        <p:sp>
          <p:nvSpPr>
            <p:cNvPr id="416" name="Google Shape;416;p22"/>
            <p:cNvSpPr/>
            <p:nvPr/>
          </p:nvSpPr>
          <p:spPr>
            <a:xfrm>
              <a:off x="1302900" y="4199300"/>
              <a:ext cx="991200" cy="327900"/>
            </a:xfrm>
            <a:prstGeom prst="ellipse">
              <a:avLst/>
            </a:prstGeom>
            <a:solidFill>
              <a:srgbClr val="FFE6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s" sz="900" u="none" cap="none" strike="noStrike">
                  <a:solidFill>
                    <a:srgbClr val="000000"/>
                  </a:solidFill>
                  <a:latin typeface="Montserrat"/>
                  <a:ea typeface="Montserrat"/>
                  <a:cs typeface="Montserrat"/>
                  <a:sym typeface="Montserrat"/>
                </a:rPr>
                <a:t>Apellido</a:t>
              </a:r>
              <a:endParaRPr b="0" i="0" sz="900" u="none" cap="none" strike="noStrike">
                <a:solidFill>
                  <a:srgbClr val="000000"/>
                </a:solidFill>
                <a:latin typeface="Montserrat"/>
                <a:ea typeface="Montserrat"/>
                <a:cs typeface="Montserrat"/>
                <a:sym typeface="Montserrat"/>
              </a:endParaRPr>
            </a:p>
          </p:txBody>
        </p:sp>
        <p:grpSp>
          <p:nvGrpSpPr>
            <p:cNvPr id="417" name="Google Shape;417;p22"/>
            <p:cNvGrpSpPr/>
            <p:nvPr/>
          </p:nvGrpSpPr>
          <p:grpSpPr>
            <a:xfrm>
              <a:off x="649550" y="3911700"/>
              <a:ext cx="2297900" cy="327900"/>
              <a:chOff x="675000" y="3835500"/>
              <a:chExt cx="2297900" cy="327900"/>
            </a:xfrm>
          </p:grpSpPr>
          <p:sp>
            <p:nvSpPr>
              <p:cNvPr id="418" name="Google Shape;418;p22"/>
              <p:cNvSpPr/>
              <p:nvPr/>
            </p:nvSpPr>
            <p:spPr>
              <a:xfrm>
                <a:off x="675000" y="3835500"/>
                <a:ext cx="991200" cy="327900"/>
              </a:xfrm>
              <a:prstGeom prst="ellipse">
                <a:avLst/>
              </a:prstGeom>
              <a:solidFill>
                <a:srgbClr val="FFE6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s" sz="900" u="none" cap="none" strike="noStrike">
                    <a:solidFill>
                      <a:srgbClr val="000000"/>
                    </a:solidFill>
                    <a:latin typeface="Montserrat"/>
                    <a:ea typeface="Montserrat"/>
                    <a:cs typeface="Montserrat"/>
                    <a:sym typeface="Montserrat"/>
                  </a:rPr>
                  <a:t>Nombre</a:t>
                </a:r>
                <a:endParaRPr b="0" i="0" sz="900" u="none" cap="none" strike="noStrike">
                  <a:solidFill>
                    <a:srgbClr val="000000"/>
                  </a:solidFill>
                  <a:latin typeface="Montserrat"/>
                  <a:ea typeface="Montserrat"/>
                  <a:cs typeface="Montserrat"/>
                  <a:sym typeface="Montserrat"/>
                </a:endParaRPr>
              </a:p>
            </p:txBody>
          </p:sp>
          <p:sp>
            <p:nvSpPr>
              <p:cNvPr id="419" name="Google Shape;419;p22"/>
              <p:cNvSpPr/>
              <p:nvPr/>
            </p:nvSpPr>
            <p:spPr>
              <a:xfrm>
                <a:off x="1981700" y="3835500"/>
                <a:ext cx="991200" cy="327900"/>
              </a:xfrm>
              <a:prstGeom prst="ellipse">
                <a:avLst/>
              </a:prstGeom>
              <a:solidFill>
                <a:srgbClr val="FFE6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s" sz="900" u="none" cap="none" strike="noStrike">
                    <a:solidFill>
                      <a:srgbClr val="000000"/>
                    </a:solidFill>
                    <a:latin typeface="Montserrat"/>
                    <a:ea typeface="Montserrat"/>
                    <a:cs typeface="Montserrat"/>
                    <a:sym typeface="Montserrat"/>
                  </a:rPr>
                  <a:t>Tel</a:t>
                </a:r>
                <a:endParaRPr b="0" i="0" sz="900" u="none" cap="none" strike="noStrike">
                  <a:solidFill>
                    <a:srgbClr val="000000"/>
                  </a:solidFill>
                  <a:latin typeface="Montserrat"/>
                  <a:ea typeface="Montserrat"/>
                  <a:cs typeface="Montserrat"/>
                  <a:sym typeface="Montserrat"/>
                </a:endParaRPr>
              </a:p>
            </p:txBody>
          </p:sp>
        </p:grpSp>
        <p:grpSp>
          <p:nvGrpSpPr>
            <p:cNvPr id="420" name="Google Shape;420;p22"/>
            <p:cNvGrpSpPr/>
            <p:nvPr/>
          </p:nvGrpSpPr>
          <p:grpSpPr>
            <a:xfrm>
              <a:off x="159300" y="3580600"/>
              <a:ext cx="3278400" cy="327900"/>
              <a:chOff x="159300" y="3504400"/>
              <a:chExt cx="3278400" cy="327900"/>
            </a:xfrm>
          </p:grpSpPr>
          <p:sp>
            <p:nvSpPr>
              <p:cNvPr id="421" name="Google Shape;421;p22"/>
              <p:cNvSpPr/>
              <p:nvPr/>
            </p:nvSpPr>
            <p:spPr>
              <a:xfrm>
                <a:off x="159300" y="3504400"/>
                <a:ext cx="991200" cy="327900"/>
              </a:xfrm>
              <a:prstGeom prst="ellipse">
                <a:avLst/>
              </a:prstGeom>
              <a:solidFill>
                <a:srgbClr val="FFE6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s" sz="900" u="none" cap="none" strike="noStrike">
                    <a:solidFill>
                      <a:srgbClr val="000000"/>
                    </a:solidFill>
                    <a:latin typeface="Montserrat"/>
                    <a:ea typeface="Montserrat"/>
                    <a:cs typeface="Montserrat"/>
                    <a:sym typeface="Montserrat"/>
                  </a:rPr>
                  <a:t>DNI</a:t>
                </a:r>
                <a:endParaRPr b="0" i="0" sz="900" u="none" cap="none" strike="noStrike">
                  <a:solidFill>
                    <a:srgbClr val="000000"/>
                  </a:solidFill>
                  <a:latin typeface="Montserrat"/>
                  <a:ea typeface="Montserrat"/>
                  <a:cs typeface="Montserrat"/>
                  <a:sym typeface="Montserrat"/>
                </a:endParaRPr>
              </a:p>
            </p:txBody>
          </p:sp>
          <p:sp>
            <p:nvSpPr>
              <p:cNvPr id="422" name="Google Shape;422;p22"/>
              <p:cNvSpPr/>
              <p:nvPr/>
            </p:nvSpPr>
            <p:spPr>
              <a:xfrm>
                <a:off x="2446500" y="3504400"/>
                <a:ext cx="991200" cy="327900"/>
              </a:xfrm>
              <a:prstGeom prst="ellipse">
                <a:avLst/>
              </a:prstGeom>
              <a:solidFill>
                <a:srgbClr val="FFE6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s" sz="900" u="none" cap="none" strike="noStrike">
                    <a:solidFill>
                      <a:srgbClr val="000000"/>
                    </a:solidFill>
                    <a:latin typeface="Montserrat"/>
                    <a:ea typeface="Montserrat"/>
                    <a:cs typeface="Montserrat"/>
                    <a:sym typeface="Montserrat"/>
                  </a:rPr>
                  <a:t>Fec. Nac</a:t>
                </a:r>
                <a:endParaRPr b="0" i="0" sz="900" u="none" cap="none" strike="noStrike">
                  <a:solidFill>
                    <a:srgbClr val="000000"/>
                  </a:solidFill>
                  <a:latin typeface="Montserrat"/>
                  <a:ea typeface="Montserrat"/>
                  <a:cs typeface="Montserrat"/>
                  <a:sym typeface="Montserrat"/>
                </a:endParaRPr>
              </a:p>
            </p:txBody>
          </p:sp>
        </p:grpSp>
        <p:cxnSp>
          <p:nvCxnSpPr>
            <p:cNvPr id="423" name="Google Shape;423;p22"/>
            <p:cNvCxnSpPr>
              <a:stCxn id="421" idx="0"/>
              <a:endCxn id="415" idx="2"/>
            </p:cNvCxnSpPr>
            <p:nvPr/>
          </p:nvCxnSpPr>
          <p:spPr>
            <a:xfrm flipH="1" rot="10800000">
              <a:off x="654900" y="3424000"/>
              <a:ext cx="1143600" cy="156600"/>
            </a:xfrm>
            <a:prstGeom prst="straightConnector1">
              <a:avLst/>
            </a:prstGeom>
            <a:noFill/>
            <a:ln cap="flat" cmpd="sng" w="9525">
              <a:solidFill>
                <a:schemeClr val="dk2"/>
              </a:solidFill>
              <a:prstDash val="solid"/>
              <a:round/>
              <a:headEnd len="sm" w="sm" type="none"/>
              <a:tailEnd len="sm" w="sm" type="none"/>
            </a:ln>
          </p:spPr>
        </p:cxnSp>
        <p:cxnSp>
          <p:nvCxnSpPr>
            <p:cNvPr id="424" name="Google Shape;424;p22"/>
            <p:cNvCxnSpPr>
              <a:stCxn id="418" idx="0"/>
            </p:cNvCxnSpPr>
            <p:nvPr/>
          </p:nvCxnSpPr>
          <p:spPr>
            <a:xfrm flipH="1" rot="10800000">
              <a:off x="1145150" y="3431700"/>
              <a:ext cx="652200" cy="480000"/>
            </a:xfrm>
            <a:prstGeom prst="straightConnector1">
              <a:avLst/>
            </a:prstGeom>
            <a:noFill/>
            <a:ln cap="flat" cmpd="sng" w="9525">
              <a:solidFill>
                <a:schemeClr val="dk2"/>
              </a:solidFill>
              <a:prstDash val="solid"/>
              <a:round/>
              <a:headEnd len="sm" w="sm" type="none"/>
              <a:tailEnd len="sm" w="sm" type="none"/>
            </a:ln>
          </p:spPr>
        </p:cxnSp>
        <p:cxnSp>
          <p:nvCxnSpPr>
            <p:cNvPr id="425" name="Google Shape;425;p22"/>
            <p:cNvCxnSpPr>
              <a:stCxn id="416" idx="0"/>
              <a:endCxn id="415" idx="2"/>
            </p:cNvCxnSpPr>
            <p:nvPr/>
          </p:nvCxnSpPr>
          <p:spPr>
            <a:xfrm rot="10800000">
              <a:off x="1798500" y="3423800"/>
              <a:ext cx="0" cy="775500"/>
            </a:xfrm>
            <a:prstGeom prst="straightConnector1">
              <a:avLst/>
            </a:prstGeom>
            <a:noFill/>
            <a:ln cap="flat" cmpd="sng" w="9525">
              <a:solidFill>
                <a:schemeClr val="dk2"/>
              </a:solidFill>
              <a:prstDash val="solid"/>
              <a:round/>
              <a:headEnd len="sm" w="sm" type="none"/>
              <a:tailEnd len="sm" w="sm" type="none"/>
            </a:ln>
          </p:spPr>
        </p:cxnSp>
        <p:cxnSp>
          <p:nvCxnSpPr>
            <p:cNvPr id="426" name="Google Shape;426;p22"/>
            <p:cNvCxnSpPr>
              <a:stCxn id="419" idx="0"/>
              <a:endCxn id="415" idx="2"/>
            </p:cNvCxnSpPr>
            <p:nvPr/>
          </p:nvCxnSpPr>
          <p:spPr>
            <a:xfrm rot="10800000">
              <a:off x="1798450" y="3423900"/>
              <a:ext cx="653400" cy="487800"/>
            </a:xfrm>
            <a:prstGeom prst="straightConnector1">
              <a:avLst/>
            </a:prstGeom>
            <a:noFill/>
            <a:ln cap="flat" cmpd="sng" w="9525">
              <a:solidFill>
                <a:schemeClr val="dk2"/>
              </a:solidFill>
              <a:prstDash val="solid"/>
              <a:round/>
              <a:headEnd len="sm" w="sm" type="none"/>
              <a:tailEnd len="sm" w="sm" type="none"/>
            </a:ln>
          </p:spPr>
        </p:cxnSp>
        <p:cxnSp>
          <p:nvCxnSpPr>
            <p:cNvPr id="427" name="Google Shape;427;p22"/>
            <p:cNvCxnSpPr>
              <a:stCxn id="422" idx="0"/>
              <a:endCxn id="415" idx="2"/>
            </p:cNvCxnSpPr>
            <p:nvPr/>
          </p:nvCxnSpPr>
          <p:spPr>
            <a:xfrm rot="10800000">
              <a:off x="1798500" y="3424000"/>
              <a:ext cx="1143600" cy="156600"/>
            </a:xfrm>
            <a:prstGeom prst="straightConnector1">
              <a:avLst/>
            </a:prstGeom>
            <a:noFill/>
            <a:ln cap="flat" cmpd="sng" w="9525">
              <a:solidFill>
                <a:schemeClr val="dk2"/>
              </a:solidFill>
              <a:prstDash val="solid"/>
              <a:round/>
              <a:headEnd len="sm" w="sm" type="none"/>
              <a:tailEnd len="sm" w="sm" type="none"/>
            </a:ln>
          </p:spPr>
        </p:cxnSp>
      </p:grpSp>
      <p:grpSp>
        <p:nvGrpSpPr>
          <p:cNvPr id="428" name="Google Shape;428;p22"/>
          <p:cNvGrpSpPr/>
          <p:nvPr/>
        </p:nvGrpSpPr>
        <p:grpSpPr>
          <a:xfrm>
            <a:off x="5704179" y="2882178"/>
            <a:ext cx="3186933" cy="1164187"/>
            <a:chOff x="3589200" y="2927550"/>
            <a:chExt cx="3278400" cy="1197600"/>
          </a:xfrm>
        </p:grpSpPr>
        <p:sp>
          <p:nvSpPr>
            <p:cNvPr id="429" name="Google Shape;429;p22"/>
            <p:cNvSpPr/>
            <p:nvPr/>
          </p:nvSpPr>
          <p:spPr>
            <a:xfrm>
              <a:off x="4732800" y="2927550"/>
              <a:ext cx="991200" cy="381900"/>
            </a:xfrm>
            <a:prstGeom prst="rect">
              <a:avLst/>
            </a:prstGeom>
            <a:solidFill>
              <a:srgbClr val="F8C82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1" lang="es" sz="1100" u="none" cap="none" strike="noStrike">
                  <a:solidFill>
                    <a:srgbClr val="000000"/>
                  </a:solidFill>
                  <a:latin typeface="Montserrat"/>
                  <a:ea typeface="Montserrat"/>
                  <a:cs typeface="Montserrat"/>
                  <a:sym typeface="Montserrat"/>
                </a:rPr>
                <a:t>Productos</a:t>
              </a:r>
              <a:endParaRPr b="0" i="1" sz="1100" u="none" cap="none" strike="noStrike">
                <a:solidFill>
                  <a:srgbClr val="000000"/>
                </a:solidFill>
                <a:latin typeface="Montserrat"/>
                <a:ea typeface="Montserrat"/>
                <a:cs typeface="Montserrat"/>
                <a:sym typeface="Montserrat"/>
              </a:endParaRPr>
            </a:p>
          </p:txBody>
        </p:sp>
        <p:grpSp>
          <p:nvGrpSpPr>
            <p:cNvPr id="430" name="Google Shape;430;p22"/>
            <p:cNvGrpSpPr/>
            <p:nvPr/>
          </p:nvGrpSpPr>
          <p:grpSpPr>
            <a:xfrm>
              <a:off x="4155650" y="3797250"/>
              <a:ext cx="2145500" cy="327900"/>
              <a:chOff x="751200" y="3835500"/>
              <a:chExt cx="2145500" cy="327900"/>
            </a:xfrm>
          </p:grpSpPr>
          <p:sp>
            <p:nvSpPr>
              <p:cNvPr id="431" name="Google Shape;431;p22"/>
              <p:cNvSpPr/>
              <p:nvPr/>
            </p:nvSpPr>
            <p:spPr>
              <a:xfrm>
                <a:off x="751200" y="3835500"/>
                <a:ext cx="991200" cy="327900"/>
              </a:xfrm>
              <a:prstGeom prst="ellipse">
                <a:avLst/>
              </a:prstGeom>
              <a:solidFill>
                <a:srgbClr val="FFE6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s" sz="900" u="none" cap="none" strike="noStrike">
                    <a:solidFill>
                      <a:srgbClr val="000000"/>
                    </a:solidFill>
                    <a:latin typeface="Montserrat"/>
                    <a:ea typeface="Montserrat"/>
                    <a:cs typeface="Montserrat"/>
                    <a:sym typeface="Montserrat"/>
                  </a:rPr>
                  <a:t>Nombre</a:t>
                </a:r>
                <a:endParaRPr b="0" i="0" sz="900" u="none" cap="none" strike="noStrike">
                  <a:solidFill>
                    <a:srgbClr val="000000"/>
                  </a:solidFill>
                  <a:latin typeface="Montserrat"/>
                  <a:ea typeface="Montserrat"/>
                  <a:cs typeface="Montserrat"/>
                  <a:sym typeface="Montserrat"/>
                </a:endParaRPr>
              </a:p>
            </p:txBody>
          </p:sp>
          <p:sp>
            <p:nvSpPr>
              <p:cNvPr id="432" name="Google Shape;432;p22"/>
              <p:cNvSpPr/>
              <p:nvPr/>
            </p:nvSpPr>
            <p:spPr>
              <a:xfrm>
                <a:off x="1905500" y="3835500"/>
                <a:ext cx="991200" cy="327900"/>
              </a:xfrm>
              <a:prstGeom prst="ellipse">
                <a:avLst/>
              </a:prstGeom>
              <a:solidFill>
                <a:srgbClr val="FFE6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s" sz="900" u="none" cap="none" strike="noStrike">
                    <a:solidFill>
                      <a:srgbClr val="000000"/>
                    </a:solidFill>
                    <a:latin typeface="Montserrat"/>
                    <a:ea typeface="Montserrat"/>
                    <a:cs typeface="Montserrat"/>
                    <a:sym typeface="Montserrat"/>
                  </a:rPr>
                  <a:t>Cant</a:t>
                </a:r>
                <a:endParaRPr b="0" i="0" sz="900" u="none" cap="none" strike="noStrike">
                  <a:solidFill>
                    <a:srgbClr val="000000"/>
                  </a:solidFill>
                  <a:latin typeface="Montserrat"/>
                  <a:ea typeface="Montserrat"/>
                  <a:cs typeface="Montserrat"/>
                  <a:sym typeface="Montserrat"/>
                </a:endParaRPr>
              </a:p>
            </p:txBody>
          </p:sp>
        </p:grpSp>
        <p:grpSp>
          <p:nvGrpSpPr>
            <p:cNvPr id="433" name="Google Shape;433;p22"/>
            <p:cNvGrpSpPr/>
            <p:nvPr/>
          </p:nvGrpSpPr>
          <p:grpSpPr>
            <a:xfrm>
              <a:off x="3589200" y="3466150"/>
              <a:ext cx="3278400" cy="327900"/>
              <a:chOff x="159300" y="3504400"/>
              <a:chExt cx="3278400" cy="327900"/>
            </a:xfrm>
          </p:grpSpPr>
          <p:sp>
            <p:nvSpPr>
              <p:cNvPr id="434" name="Google Shape;434;p22"/>
              <p:cNvSpPr/>
              <p:nvPr/>
            </p:nvSpPr>
            <p:spPr>
              <a:xfrm>
                <a:off x="159300" y="3504400"/>
                <a:ext cx="991200" cy="327900"/>
              </a:xfrm>
              <a:prstGeom prst="ellipse">
                <a:avLst/>
              </a:prstGeom>
              <a:solidFill>
                <a:srgbClr val="FFE6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s" sz="900" u="none" cap="none" strike="noStrike">
                    <a:solidFill>
                      <a:srgbClr val="000000"/>
                    </a:solidFill>
                    <a:latin typeface="Montserrat"/>
                    <a:ea typeface="Montserrat"/>
                    <a:cs typeface="Montserrat"/>
                    <a:sym typeface="Montserrat"/>
                  </a:rPr>
                  <a:t>Código</a:t>
                </a:r>
                <a:endParaRPr b="0" i="0" sz="900" u="none" cap="none" strike="noStrike">
                  <a:solidFill>
                    <a:srgbClr val="000000"/>
                  </a:solidFill>
                  <a:latin typeface="Montserrat"/>
                  <a:ea typeface="Montserrat"/>
                  <a:cs typeface="Montserrat"/>
                  <a:sym typeface="Montserrat"/>
                </a:endParaRPr>
              </a:p>
            </p:txBody>
          </p:sp>
          <p:sp>
            <p:nvSpPr>
              <p:cNvPr id="435" name="Google Shape;435;p22"/>
              <p:cNvSpPr/>
              <p:nvPr/>
            </p:nvSpPr>
            <p:spPr>
              <a:xfrm>
                <a:off x="2446500" y="3504400"/>
                <a:ext cx="991200" cy="327900"/>
              </a:xfrm>
              <a:prstGeom prst="ellipse">
                <a:avLst/>
              </a:prstGeom>
              <a:solidFill>
                <a:srgbClr val="FFE6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s" sz="900" u="none" cap="none" strike="noStrike">
                    <a:solidFill>
                      <a:srgbClr val="000000"/>
                    </a:solidFill>
                    <a:latin typeface="Montserrat"/>
                    <a:ea typeface="Montserrat"/>
                    <a:cs typeface="Montserrat"/>
                    <a:sym typeface="Montserrat"/>
                  </a:rPr>
                  <a:t>Precio</a:t>
                </a:r>
                <a:endParaRPr b="0" i="0" sz="900" u="none" cap="none" strike="noStrike">
                  <a:solidFill>
                    <a:srgbClr val="000000"/>
                  </a:solidFill>
                  <a:latin typeface="Montserrat"/>
                  <a:ea typeface="Montserrat"/>
                  <a:cs typeface="Montserrat"/>
                  <a:sym typeface="Montserrat"/>
                </a:endParaRPr>
              </a:p>
            </p:txBody>
          </p:sp>
        </p:grpSp>
        <p:cxnSp>
          <p:nvCxnSpPr>
            <p:cNvPr id="436" name="Google Shape;436;p22"/>
            <p:cNvCxnSpPr>
              <a:stCxn id="434" idx="0"/>
              <a:endCxn id="429" idx="2"/>
            </p:cNvCxnSpPr>
            <p:nvPr/>
          </p:nvCxnSpPr>
          <p:spPr>
            <a:xfrm flipH="1" rot="10800000">
              <a:off x="4084800" y="3309550"/>
              <a:ext cx="1143600" cy="156600"/>
            </a:xfrm>
            <a:prstGeom prst="straightConnector1">
              <a:avLst/>
            </a:prstGeom>
            <a:noFill/>
            <a:ln cap="flat" cmpd="sng" w="9525">
              <a:solidFill>
                <a:schemeClr val="dk2"/>
              </a:solidFill>
              <a:prstDash val="solid"/>
              <a:round/>
              <a:headEnd len="sm" w="sm" type="none"/>
              <a:tailEnd len="sm" w="sm" type="none"/>
            </a:ln>
          </p:spPr>
        </p:cxnSp>
        <p:cxnSp>
          <p:nvCxnSpPr>
            <p:cNvPr id="437" name="Google Shape;437;p22"/>
            <p:cNvCxnSpPr>
              <a:stCxn id="431" idx="0"/>
              <a:endCxn id="429" idx="2"/>
            </p:cNvCxnSpPr>
            <p:nvPr/>
          </p:nvCxnSpPr>
          <p:spPr>
            <a:xfrm flipH="1" rot="10800000">
              <a:off x="4651250" y="3309450"/>
              <a:ext cx="577200" cy="487800"/>
            </a:xfrm>
            <a:prstGeom prst="straightConnector1">
              <a:avLst/>
            </a:prstGeom>
            <a:noFill/>
            <a:ln cap="flat" cmpd="sng" w="9525">
              <a:solidFill>
                <a:schemeClr val="dk2"/>
              </a:solidFill>
              <a:prstDash val="solid"/>
              <a:round/>
              <a:headEnd len="sm" w="sm" type="none"/>
              <a:tailEnd len="sm" w="sm" type="none"/>
            </a:ln>
          </p:spPr>
        </p:cxnSp>
        <p:cxnSp>
          <p:nvCxnSpPr>
            <p:cNvPr id="438" name="Google Shape;438;p22"/>
            <p:cNvCxnSpPr>
              <a:stCxn id="432" idx="0"/>
              <a:endCxn id="429" idx="2"/>
            </p:cNvCxnSpPr>
            <p:nvPr/>
          </p:nvCxnSpPr>
          <p:spPr>
            <a:xfrm rot="10800000">
              <a:off x="5228350" y="3309450"/>
              <a:ext cx="577200" cy="487800"/>
            </a:xfrm>
            <a:prstGeom prst="straightConnector1">
              <a:avLst/>
            </a:prstGeom>
            <a:noFill/>
            <a:ln cap="flat" cmpd="sng" w="9525">
              <a:solidFill>
                <a:schemeClr val="dk2"/>
              </a:solidFill>
              <a:prstDash val="solid"/>
              <a:round/>
              <a:headEnd len="sm" w="sm" type="none"/>
              <a:tailEnd len="sm" w="sm" type="none"/>
            </a:ln>
          </p:spPr>
        </p:cxnSp>
        <p:cxnSp>
          <p:nvCxnSpPr>
            <p:cNvPr id="439" name="Google Shape;439;p22"/>
            <p:cNvCxnSpPr>
              <a:stCxn id="435" idx="0"/>
              <a:endCxn id="429" idx="2"/>
            </p:cNvCxnSpPr>
            <p:nvPr/>
          </p:nvCxnSpPr>
          <p:spPr>
            <a:xfrm rot="10800000">
              <a:off x="5228400" y="3309550"/>
              <a:ext cx="1143600" cy="156600"/>
            </a:xfrm>
            <a:prstGeom prst="straightConnector1">
              <a:avLst/>
            </a:prstGeom>
            <a:noFill/>
            <a:ln cap="flat" cmpd="sng" w="9525">
              <a:solidFill>
                <a:schemeClr val="dk2"/>
              </a:solidFill>
              <a:prstDash val="solid"/>
              <a:round/>
              <a:headEnd len="sm" w="sm" type="none"/>
              <a:tailEnd len="sm" w="sm" type="none"/>
            </a:ln>
          </p:spPr>
        </p:cxnSp>
      </p:grpSp>
      <p:grpSp>
        <p:nvGrpSpPr>
          <p:cNvPr id="440" name="Google Shape;440;p22"/>
          <p:cNvGrpSpPr/>
          <p:nvPr/>
        </p:nvGrpSpPr>
        <p:grpSpPr>
          <a:xfrm>
            <a:off x="3588824" y="2882176"/>
            <a:ext cx="2011567" cy="1164187"/>
            <a:chOff x="6520750" y="3005300"/>
            <a:chExt cx="2069300" cy="1197600"/>
          </a:xfrm>
        </p:grpSpPr>
        <p:sp>
          <p:nvSpPr>
            <p:cNvPr id="441" name="Google Shape;441;p22"/>
            <p:cNvSpPr/>
            <p:nvPr/>
          </p:nvSpPr>
          <p:spPr>
            <a:xfrm>
              <a:off x="7021700" y="3005300"/>
              <a:ext cx="991200" cy="381900"/>
            </a:xfrm>
            <a:prstGeom prst="rect">
              <a:avLst/>
            </a:prstGeom>
            <a:solidFill>
              <a:srgbClr val="F8C82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1" lang="es" sz="1100" u="none" cap="none" strike="noStrike">
                  <a:solidFill>
                    <a:srgbClr val="000000"/>
                  </a:solidFill>
                  <a:latin typeface="Montserrat"/>
                  <a:ea typeface="Montserrat"/>
                  <a:cs typeface="Montserrat"/>
                  <a:sym typeface="Montserrat"/>
                </a:rPr>
                <a:t>Pedidos</a:t>
              </a:r>
              <a:endParaRPr b="0" i="1" sz="1100" u="none" cap="none" strike="noStrike">
                <a:solidFill>
                  <a:srgbClr val="000000"/>
                </a:solidFill>
                <a:latin typeface="Montserrat"/>
                <a:ea typeface="Montserrat"/>
                <a:cs typeface="Montserrat"/>
                <a:sym typeface="Montserrat"/>
              </a:endParaRPr>
            </a:p>
          </p:txBody>
        </p:sp>
        <p:grpSp>
          <p:nvGrpSpPr>
            <p:cNvPr id="442" name="Google Shape;442;p22"/>
            <p:cNvGrpSpPr/>
            <p:nvPr/>
          </p:nvGrpSpPr>
          <p:grpSpPr>
            <a:xfrm>
              <a:off x="6520750" y="3875000"/>
              <a:ext cx="2069300" cy="327900"/>
              <a:chOff x="827400" y="3835500"/>
              <a:chExt cx="2069300" cy="327900"/>
            </a:xfrm>
          </p:grpSpPr>
          <p:sp>
            <p:nvSpPr>
              <p:cNvPr id="443" name="Google Shape;443;p22"/>
              <p:cNvSpPr/>
              <p:nvPr/>
            </p:nvSpPr>
            <p:spPr>
              <a:xfrm>
                <a:off x="827400" y="3835500"/>
                <a:ext cx="991200" cy="327900"/>
              </a:xfrm>
              <a:prstGeom prst="ellipse">
                <a:avLst/>
              </a:prstGeom>
              <a:solidFill>
                <a:srgbClr val="FFE6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s" sz="900" u="none" cap="none" strike="noStrike">
                    <a:solidFill>
                      <a:srgbClr val="000000"/>
                    </a:solidFill>
                    <a:latin typeface="Montserrat"/>
                    <a:ea typeface="Montserrat"/>
                    <a:cs typeface="Montserrat"/>
                    <a:sym typeface="Montserrat"/>
                  </a:rPr>
                  <a:t>Nro</a:t>
                </a:r>
                <a:endParaRPr b="0" i="0" sz="900" u="none" cap="none" strike="noStrike">
                  <a:solidFill>
                    <a:srgbClr val="000000"/>
                  </a:solidFill>
                  <a:latin typeface="Montserrat"/>
                  <a:ea typeface="Montserrat"/>
                  <a:cs typeface="Montserrat"/>
                  <a:sym typeface="Montserrat"/>
                </a:endParaRPr>
              </a:p>
            </p:txBody>
          </p:sp>
          <p:sp>
            <p:nvSpPr>
              <p:cNvPr id="444" name="Google Shape;444;p22"/>
              <p:cNvSpPr/>
              <p:nvPr/>
            </p:nvSpPr>
            <p:spPr>
              <a:xfrm>
                <a:off x="1905500" y="3835500"/>
                <a:ext cx="991200" cy="327900"/>
              </a:xfrm>
              <a:prstGeom prst="ellipse">
                <a:avLst/>
              </a:prstGeom>
              <a:solidFill>
                <a:srgbClr val="FFE6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s" sz="900" u="none" cap="none" strike="noStrike">
                    <a:solidFill>
                      <a:srgbClr val="000000"/>
                    </a:solidFill>
                    <a:latin typeface="Montserrat"/>
                    <a:ea typeface="Montserrat"/>
                    <a:cs typeface="Montserrat"/>
                    <a:sym typeface="Montserrat"/>
                  </a:rPr>
                  <a:t>Fecha</a:t>
                </a:r>
                <a:endParaRPr b="0" i="0" sz="900" u="none" cap="none" strike="noStrike">
                  <a:solidFill>
                    <a:srgbClr val="000000"/>
                  </a:solidFill>
                  <a:latin typeface="Montserrat"/>
                  <a:ea typeface="Montserrat"/>
                  <a:cs typeface="Montserrat"/>
                  <a:sym typeface="Montserrat"/>
                </a:endParaRPr>
              </a:p>
            </p:txBody>
          </p:sp>
        </p:grpSp>
        <p:cxnSp>
          <p:nvCxnSpPr>
            <p:cNvPr id="445" name="Google Shape;445;p22"/>
            <p:cNvCxnSpPr>
              <a:stCxn id="443" idx="0"/>
              <a:endCxn id="441" idx="2"/>
            </p:cNvCxnSpPr>
            <p:nvPr/>
          </p:nvCxnSpPr>
          <p:spPr>
            <a:xfrm flipH="1" rot="10800000">
              <a:off x="7016350" y="3387200"/>
              <a:ext cx="501000" cy="487800"/>
            </a:xfrm>
            <a:prstGeom prst="straightConnector1">
              <a:avLst/>
            </a:prstGeom>
            <a:noFill/>
            <a:ln cap="flat" cmpd="sng" w="9525">
              <a:solidFill>
                <a:schemeClr val="dk2"/>
              </a:solidFill>
              <a:prstDash val="solid"/>
              <a:round/>
              <a:headEnd len="sm" w="sm" type="none"/>
              <a:tailEnd len="sm" w="sm" type="none"/>
            </a:ln>
          </p:spPr>
        </p:cxnSp>
        <p:cxnSp>
          <p:nvCxnSpPr>
            <p:cNvPr id="446" name="Google Shape;446;p22"/>
            <p:cNvCxnSpPr>
              <a:stCxn id="444" idx="0"/>
              <a:endCxn id="441" idx="2"/>
            </p:cNvCxnSpPr>
            <p:nvPr/>
          </p:nvCxnSpPr>
          <p:spPr>
            <a:xfrm rot="10800000">
              <a:off x="7517250" y="3387200"/>
              <a:ext cx="577200" cy="487800"/>
            </a:xfrm>
            <a:prstGeom prst="straightConnector1">
              <a:avLst/>
            </a:prstGeom>
            <a:noFill/>
            <a:ln cap="flat" cmpd="sng" w="9525">
              <a:solidFill>
                <a:schemeClr val="dk2"/>
              </a:solidFill>
              <a:prstDash val="solid"/>
              <a:round/>
              <a:headEnd len="sm" w="sm" type="none"/>
              <a:tailEnd len="sm" w="sm" type="none"/>
            </a:ln>
          </p:spPr>
        </p:cxnSp>
      </p:grpSp>
      <p:cxnSp>
        <p:nvCxnSpPr>
          <p:cNvPr id="447" name="Google Shape;447;p22"/>
          <p:cNvCxnSpPr>
            <a:stCxn id="415" idx="3"/>
            <a:endCxn id="441" idx="1"/>
          </p:cNvCxnSpPr>
          <p:nvPr/>
        </p:nvCxnSpPr>
        <p:spPr>
          <a:xfrm flipH="1" rot="10800000">
            <a:off x="2310731" y="3067710"/>
            <a:ext cx="1765200" cy="4800"/>
          </a:xfrm>
          <a:prstGeom prst="straightConnector1">
            <a:avLst/>
          </a:prstGeom>
          <a:noFill/>
          <a:ln cap="flat" cmpd="sng" w="9525">
            <a:solidFill>
              <a:schemeClr val="dk2"/>
            </a:solidFill>
            <a:prstDash val="solid"/>
            <a:round/>
            <a:headEnd len="sm" w="sm" type="none"/>
            <a:tailEnd len="sm" w="sm" type="none"/>
          </a:ln>
        </p:spPr>
      </p:cxnSp>
      <p:sp>
        <p:nvSpPr>
          <p:cNvPr id="448" name="Google Shape;448;p22"/>
          <p:cNvSpPr/>
          <p:nvPr/>
        </p:nvSpPr>
        <p:spPr>
          <a:xfrm>
            <a:off x="2565900" y="2877806"/>
            <a:ext cx="1296000" cy="381900"/>
          </a:xfrm>
          <a:prstGeom prst="diamond">
            <a:avLst/>
          </a:prstGeom>
          <a:solidFill>
            <a:srgbClr val="F39C1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1" lang="es" sz="1100" u="none" cap="none" strike="noStrike">
                <a:solidFill>
                  <a:srgbClr val="000000"/>
                </a:solidFill>
                <a:latin typeface="Montserrat"/>
                <a:ea typeface="Montserrat"/>
                <a:cs typeface="Montserrat"/>
                <a:sym typeface="Montserrat"/>
              </a:rPr>
              <a:t>Tiene</a:t>
            </a:r>
            <a:endParaRPr b="0" i="1" sz="1100" u="none" cap="none" strike="noStrike">
              <a:solidFill>
                <a:srgbClr val="000000"/>
              </a:solidFill>
              <a:latin typeface="Montserrat"/>
              <a:ea typeface="Montserrat"/>
              <a:cs typeface="Montserrat"/>
              <a:sym typeface="Montserrat"/>
            </a:endParaRPr>
          </a:p>
        </p:txBody>
      </p:sp>
      <p:cxnSp>
        <p:nvCxnSpPr>
          <p:cNvPr id="449" name="Google Shape;449;p22"/>
          <p:cNvCxnSpPr>
            <a:stCxn id="441" idx="3"/>
            <a:endCxn id="429" idx="1"/>
          </p:cNvCxnSpPr>
          <p:nvPr/>
        </p:nvCxnSpPr>
        <p:spPr>
          <a:xfrm>
            <a:off x="5039343" y="3067799"/>
            <a:ext cx="1776600" cy="0"/>
          </a:xfrm>
          <a:prstGeom prst="straightConnector1">
            <a:avLst/>
          </a:prstGeom>
          <a:noFill/>
          <a:ln cap="flat" cmpd="sng" w="9525">
            <a:solidFill>
              <a:schemeClr val="dk2"/>
            </a:solidFill>
            <a:prstDash val="solid"/>
            <a:round/>
            <a:headEnd len="sm" w="sm" type="none"/>
            <a:tailEnd len="sm" w="sm" type="none"/>
          </a:ln>
        </p:spPr>
      </p:cxnSp>
      <p:sp>
        <p:nvSpPr>
          <p:cNvPr id="450" name="Google Shape;450;p22"/>
          <p:cNvSpPr/>
          <p:nvPr/>
        </p:nvSpPr>
        <p:spPr>
          <a:xfrm>
            <a:off x="5252375" y="2877806"/>
            <a:ext cx="1296000" cy="381900"/>
          </a:xfrm>
          <a:prstGeom prst="diamond">
            <a:avLst/>
          </a:prstGeom>
          <a:solidFill>
            <a:srgbClr val="F39C1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1" lang="es" sz="1100" u="none" cap="none" strike="noStrike">
                <a:solidFill>
                  <a:srgbClr val="000000"/>
                </a:solidFill>
                <a:latin typeface="Montserrat"/>
                <a:ea typeface="Montserrat"/>
                <a:cs typeface="Montserrat"/>
                <a:sym typeface="Montserrat"/>
              </a:rPr>
              <a:t>Tiene</a:t>
            </a:r>
            <a:endParaRPr b="0" i="1" sz="1100" u="none" cap="none" strike="noStrike">
              <a:solidFill>
                <a:srgbClr val="000000"/>
              </a:solidFill>
              <a:latin typeface="Montserrat"/>
              <a:ea typeface="Montserrat"/>
              <a:cs typeface="Montserrat"/>
              <a:sym typeface="Montserrat"/>
            </a:endParaRPr>
          </a:p>
        </p:txBody>
      </p:sp>
      <p:sp>
        <p:nvSpPr>
          <p:cNvPr id="451" name="Google Shape;451;p22"/>
          <p:cNvSpPr txBox="1"/>
          <p:nvPr/>
        </p:nvSpPr>
        <p:spPr>
          <a:xfrm>
            <a:off x="2299900" y="2755125"/>
            <a:ext cx="306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s" sz="1100" u="none" cap="none" strike="noStrike">
                <a:solidFill>
                  <a:srgbClr val="000000"/>
                </a:solidFill>
                <a:latin typeface="Montserrat"/>
                <a:ea typeface="Montserrat"/>
                <a:cs typeface="Montserrat"/>
                <a:sym typeface="Montserrat"/>
              </a:rPr>
              <a:t>1</a:t>
            </a:r>
            <a:endParaRPr b="0" i="0" sz="1100" u="none" cap="none" strike="noStrike">
              <a:solidFill>
                <a:srgbClr val="000000"/>
              </a:solidFill>
              <a:latin typeface="Montserrat"/>
              <a:ea typeface="Montserrat"/>
              <a:cs typeface="Montserrat"/>
              <a:sym typeface="Montserrat"/>
            </a:endParaRPr>
          </a:p>
        </p:txBody>
      </p:sp>
      <p:sp>
        <p:nvSpPr>
          <p:cNvPr id="452" name="Google Shape;452;p22"/>
          <p:cNvSpPr txBox="1"/>
          <p:nvPr/>
        </p:nvSpPr>
        <p:spPr>
          <a:xfrm>
            <a:off x="3776138" y="2755125"/>
            <a:ext cx="306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s" sz="1100" u="none" cap="none" strike="noStrike">
                <a:solidFill>
                  <a:srgbClr val="000000"/>
                </a:solidFill>
                <a:latin typeface="Montserrat"/>
                <a:ea typeface="Montserrat"/>
                <a:cs typeface="Montserrat"/>
                <a:sym typeface="Montserrat"/>
              </a:rPr>
              <a:t>n</a:t>
            </a:r>
            <a:endParaRPr b="0" i="0" sz="1100" u="none" cap="none" strike="noStrike">
              <a:solidFill>
                <a:srgbClr val="000000"/>
              </a:solidFill>
              <a:latin typeface="Montserrat"/>
              <a:ea typeface="Montserrat"/>
              <a:cs typeface="Montserrat"/>
              <a:sym typeface="Montserrat"/>
            </a:endParaRPr>
          </a:p>
        </p:txBody>
      </p:sp>
      <p:sp>
        <p:nvSpPr>
          <p:cNvPr id="453" name="Google Shape;453;p22"/>
          <p:cNvSpPr txBox="1"/>
          <p:nvPr/>
        </p:nvSpPr>
        <p:spPr>
          <a:xfrm>
            <a:off x="5039338" y="2755125"/>
            <a:ext cx="306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s" sz="1100" u="none" cap="none" strike="noStrike">
                <a:solidFill>
                  <a:srgbClr val="000000"/>
                </a:solidFill>
                <a:latin typeface="Montserrat"/>
                <a:ea typeface="Montserrat"/>
                <a:cs typeface="Montserrat"/>
                <a:sym typeface="Montserrat"/>
              </a:rPr>
              <a:t>n</a:t>
            </a:r>
            <a:endParaRPr b="0" i="0" sz="1100" u="none" cap="none" strike="noStrike">
              <a:solidFill>
                <a:srgbClr val="000000"/>
              </a:solidFill>
              <a:latin typeface="Montserrat"/>
              <a:ea typeface="Montserrat"/>
              <a:cs typeface="Montserrat"/>
              <a:sym typeface="Montserrat"/>
            </a:endParaRPr>
          </a:p>
        </p:txBody>
      </p:sp>
      <p:sp>
        <p:nvSpPr>
          <p:cNvPr id="454" name="Google Shape;454;p22"/>
          <p:cNvSpPr txBox="1"/>
          <p:nvPr/>
        </p:nvSpPr>
        <p:spPr>
          <a:xfrm>
            <a:off x="6522788" y="2755125"/>
            <a:ext cx="306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s" sz="1100" u="none" cap="none" strike="noStrike">
                <a:solidFill>
                  <a:srgbClr val="000000"/>
                </a:solidFill>
                <a:latin typeface="Montserrat"/>
                <a:ea typeface="Montserrat"/>
                <a:cs typeface="Montserrat"/>
                <a:sym typeface="Montserrat"/>
              </a:rPr>
              <a:t>1</a:t>
            </a:r>
            <a:endParaRPr b="0" i="0" sz="11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23"/>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Diagrama Entidad Relación | Ejemplo</a:t>
            </a:r>
            <a:endParaRPr/>
          </a:p>
        </p:txBody>
      </p:sp>
      <p:sp>
        <p:nvSpPr>
          <p:cNvPr id="460" name="Google Shape;460;p23"/>
          <p:cNvSpPr txBox="1"/>
          <p:nvPr>
            <p:ph idx="1" type="body"/>
          </p:nvPr>
        </p:nvSpPr>
        <p:spPr>
          <a:xfrm>
            <a:off x="311700" y="1170125"/>
            <a:ext cx="8280000" cy="35073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SzPts val="1500"/>
              <a:buAutoNum type="arabicPeriod" startAt="4"/>
            </a:pPr>
            <a:r>
              <a:rPr lang="es" sz="1500"/>
              <a:t>Una vez que tenemos el DER lo pasamos a forma de TABLA:</a:t>
            </a:r>
            <a:endParaRPr sz="1500"/>
          </a:p>
        </p:txBody>
      </p:sp>
      <p:graphicFrame>
        <p:nvGraphicFramePr>
          <p:cNvPr id="461" name="Google Shape;461;p23"/>
          <p:cNvGraphicFramePr/>
          <p:nvPr/>
        </p:nvGraphicFramePr>
        <p:xfrm>
          <a:off x="432025" y="1675933"/>
          <a:ext cx="3000000" cy="3000000"/>
        </p:xfrm>
        <a:graphic>
          <a:graphicData uri="http://schemas.openxmlformats.org/drawingml/2006/table">
            <a:tbl>
              <a:tblPr>
                <a:noFill/>
                <a:tableStyleId>{538D5ABA-4D10-4F86-B21B-73E0E010D3C4}</a:tableStyleId>
              </a:tblPr>
              <a:tblGrid>
                <a:gridCol w="478575"/>
                <a:gridCol w="1006450"/>
                <a:gridCol w="602850"/>
                <a:gridCol w="543700"/>
              </a:tblGrid>
              <a:tr h="394650">
                <a:tc gridSpan="4">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Clientes</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8C823"/>
                    </a:solidFill>
                  </a:tcPr>
                </a:tc>
                <a:tc hMerge="1"/>
                <a:tc hMerge="1"/>
                <a:tc hMerge="1"/>
              </a:tr>
              <a:tr h="592000">
                <a:tc>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Id</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RazonSocial</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c>
                  <a:txBody>
                    <a:bodyPr/>
                    <a:lstStyle/>
                    <a:p>
                      <a:pPr indent="0" lvl="0" marL="0" marR="0" rtl="0" algn="ctr">
                        <a:lnSpc>
                          <a:spcPct val="100000"/>
                        </a:lnSpc>
                        <a:spcBef>
                          <a:spcPts val="0"/>
                        </a:spcBef>
                        <a:spcAft>
                          <a:spcPts val="0"/>
                        </a:spcAft>
                        <a:buClr>
                          <a:schemeClr val="dk1"/>
                        </a:buClr>
                        <a:buSzPts val="1100"/>
                        <a:buFont typeface="Arial"/>
                        <a:buNone/>
                      </a:pPr>
                      <a:r>
                        <a:rPr b="1" lang="es" sz="1000" u="none" cap="none" strike="noStrike">
                          <a:solidFill>
                            <a:schemeClr val="dk2"/>
                          </a:solidFill>
                          <a:latin typeface="Montserrat"/>
                          <a:ea typeface="Montserrat"/>
                          <a:cs typeface="Montserrat"/>
                          <a:sym typeface="Montserrat"/>
                        </a:rPr>
                        <a:t>CUIT</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Tel</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r>
              <a:tr h="394650">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94650">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aphicFrame>
        <p:nvGraphicFramePr>
          <p:cNvPr id="462" name="Google Shape;462;p23"/>
          <p:cNvGraphicFramePr/>
          <p:nvPr/>
        </p:nvGraphicFramePr>
        <p:xfrm>
          <a:off x="5579375" y="3498108"/>
          <a:ext cx="3000000" cy="3000000"/>
        </p:xfrm>
        <a:graphic>
          <a:graphicData uri="http://schemas.openxmlformats.org/drawingml/2006/table">
            <a:tbl>
              <a:tblPr>
                <a:noFill/>
                <a:tableStyleId>{538D5ABA-4D10-4F86-B21B-73E0E010D3C4}</a:tableStyleId>
              </a:tblPr>
              <a:tblGrid>
                <a:gridCol w="686500"/>
                <a:gridCol w="742525"/>
                <a:gridCol w="664075"/>
              </a:tblGrid>
              <a:tr h="303100">
                <a:tc gridSpan="3">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Productos</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8C823"/>
                    </a:solidFill>
                  </a:tcPr>
                </a:tc>
                <a:tc hMerge="1"/>
                <a:tc hMerge="1"/>
              </a:tr>
              <a:tr h="495975">
                <a:tc>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Código</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Nombre</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Precio</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r>
              <a:tr h="330650">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30650">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aphicFrame>
        <p:nvGraphicFramePr>
          <p:cNvPr id="463" name="Google Shape;463;p23"/>
          <p:cNvGraphicFramePr/>
          <p:nvPr/>
        </p:nvGraphicFramePr>
        <p:xfrm>
          <a:off x="3273363" y="1697196"/>
          <a:ext cx="3000000" cy="3000000"/>
        </p:xfrm>
        <a:graphic>
          <a:graphicData uri="http://schemas.openxmlformats.org/drawingml/2006/table">
            <a:tbl>
              <a:tblPr>
                <a:noFill/>
                <a:tableStyleId>{538D5ABA-4D10-4F86-B21B-73E0E010D3C4}</a:tableStyleId>
              </a:tblPr>
              <a:tblGrid>
                <a:gridCol w="470525"/>
                <a:gridCol w="817575"/>
                <a:gridCol w="680725"/>
              </a:tblGrid>
              <a:tr h="405025">
                <a:tc gridSpan="3">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Pedidos</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8C823"/>
                    </a:solidFill>
                  </a:tcPr>
                </a:tc>
                <a:tc hMerge="1"/>
                <a:tc hMerge="1"/>
              </a:tr>
              <a:tr h="599525">
                <a:tc>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Nro</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IdCliente</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Fecha</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r>
              <a:tr h="385700">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8875">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aphicFrame>
        <p:nvGraphicFramePr>
          <p:cNvPr id="464" name="Google Shape;464;p23"/>
          <p:cNvGraphicFramePr/>
          <p:nvPr/>
        </p:nvGraphicFramePr>
        <p:xfrm>
          <a:off x="5579375" y="1687908"/>
          <a:ext cx="3000000" cy="3000000"/>
        </p:xfrm>
        <a:graphic>
          <a:graphicData uri="http://schemas.openxmlformats.org/drawingml/2006/table">
            <a:tbl>
              <a:tblPr>
                <a:noFill/>
                <a:tableStyleId>{538D5ABA-4D10-4F86-B21B-73E0E010D3C4}</a:tableStyleId>
              </a:tblPr>
              <a:tblGrid>
                <a:gridCol w="862150"/>
                <a:gridCol w="1046550"/>
                <a:gridCol w="897875"/>
                <a:gridCol w="668475"/>
              </a:tblGrid>
              <a:tr h="363025">
                <a:tc gridSpan="4">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ItemPedidos</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8C823"/>
                    </a:solidFill>
                  </a:tcPr>
                </a:tc>
                <a:tc hMerge="1"/>
                <a:tc hMerge="1"/>
                <a:tc hMerge="1"/>
              </a:tr>
              <a:tr h="594050">
                <a:tc>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Pedido</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IdProducto</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Cantidad</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Precio</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r>
              <a:tr h="396025">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96025">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24"/>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Tipos de Datos</a:t>
            </a:r>
            <a:endParaRPr/>
          </a:p>
        </p:txBody>
      </p:sp>
      <p:sp>
        <p:nvSpPr>
          <p:cNvPr id="470" name="Google Shape;470;p24"/>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lang="es" sz="1650"/>
              <a:t>Los </a:t>
            </a:r>
            <a:r>
              <a:rPr b="1" lang="es" sz="1650"/>
              <a:t>atributos de las entidades </a:t>
            </a:r>
            <a:r>
              <a:rPr lang="es" sz="1650"/>
              <a:t>deben cumplir o pueden ser únicamente de ciertos tipos de datos. Entre ellos, los más importantes / utilizados son:</a:t>
            </a:r>
            <a:endParaRPr sz="1650"/>
          </a:p>
          <a:p>
            <a:pPr indent="0" lvl="0" marL="0" rtl="0" algn="l">
              <a:lnSpc>
                <a:spcPct val="100000"/>
              </a:lnSpc>
              <a:spcBef>
                <a:spcPts val="1200"/>
              </a:spcBef>
              <a:spcAft>
                <a:spcPts val="0"/>
              </a:spcAft>
              <a:buSzPts val="1800"/>
              <a:buNone/>
            </a:pPr>
            <a:r>
              <a:rPr b="1" lang="es" sz="1650"/>
              <a:t>NUMÉRICOS: </a:t>
            </a:r>
            <a:r>
              <a:rPr lang="es" sz="1650"/>
              <a:t>se utilizan para representar valores/atributos de carácter numérico tanto enteros, como decimales.</a:t>
            </a:r>
            <a:endParaRPr sz="1650"/>
          </a:p>
          <a:p>
            <a:pPr indent="0" lvl="0" marL="0" rtl="0" algn="l">
              <a:lnSpc>
                <a:spcPct val="100000"/>
              </a:lnSpc>
              <a:spcBef>
                <a:spcPts val="1200"/>
              </a:spcBef>
              <a:spcAft>
                <a:spcPts val="0"/>
              </a:spcAft>
              <a:buSzPts val="1800"/>
              <a:buNone/>
            </a:pPr>
            <a:r>
              <a:rPr b="1" lang="es" sz="1650"/>
              <a:t>TEXTO (VARCHAR):</a:t>
            </a:r>
            <a:r>
              <a:rPr lang="es" sz="1650"/>
              <a:t> se utilizan para representar valores de texto, como ser cadenas de caracteres.</a:t>
            </a:r>
            <a:endParaRPr sz="1650"/>
          </a:p>
          <a:p>
            <a:pPr indent="0" lvl="0" marL="0" rtl="0" algn="l">
              <a:lnSpc>
                <a:spcPct val="100000"/>
              </a:lnSpc>
              <a:spcBef>
                <a:spcPts val="1200"/>
              </a:spcBef>
              <a:spcAft>
                <a:spcPts val="0"/>
              </a:spcAft>
              <a:buSzPts val="1800"/>
              <a:buNone/>
            </a:pPr>
            <a:r>
              <a:rPr b="1" lang="es" sz="1650"/>
              <a:t>DATE (FECHA): </a:t>
            </a:r>
            <a:r>
              <a:rPr lang="es" sz="1650"/>
              <a:t>se utilizan para representar fechas, horas, minutos, segundos, etc.</a:t>
            </a:r>
            <a:endParaRPr sz="1650"/>
          </a:p>
          <a:p>
            <a:pPr indent="0" lvl="0" marL="0" rtl="0" algn="l">
              <a:lnSpc>
                <a:spcPct val="100000"/>
              </a:lnSpc>
              <a:spcBef>
                <a:spcPts val="1200"/>
              </a:spcBef>
              <a:spcAft>
                <a:spcPts val="0"/>
              </a:spcAft>
              <a:buSzPts val="1800"/>
              <a:buNone/>
            </a:pPr>
            <a:r>
              <a:rPr b="1" lang="es" sz="1650"/>
              <a:t>BOOLEAN (LÓGICO): </a:t>
            </a:r>
            <a:r>
              <a:rPr lang="es" sz="1650"/>
              <a:t>se utilizan para representar valores verdaderos o falsos (</a:t>
            </a:r>
            <a:r>
              <a:rPr i="1" lang="es" sz="1650"/>
              <a:t>true</a:t>
            </a:r>
            <a:r>
              <a:rPr lang="es" sz="1650"/>
              <a:t> or </a:t>
            </a:r>
            <a:r>
              <a:rPr i="1" lang="es" sz="1650"/>
              <a:t>false</a:t>
            </a:r>
            <a:r>
              <a:rPr lang="es" sz="1650"/>
              <a:t>).</a:t>
            </a:r>
            <a:endParaRPr sz="1650"/>
          </a:p>
          <a:p>
            <a:pPr indent="0" lvl="0" marL="0" rtl="0" algn="l">
              <a:lnSpc>
                <a:spcPct val="115000"/>
              </a:lnSpc>
              <a:spcBef>
                <a:spcPts val="1200"/>
              </a:spcBef>
              <a:spcAft>
                <a:spcPts val="1200"/>
              </a:spcAft>
              <a:buSzPts val="1800"/>
              <a:buNone/>
            </a:pPr>
            <a:r>
              <a:t/>
            </a:r>
            <a:endParaRPr i="1" sz="145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25"/>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Tipos de Datos</a:t>
            </a:r>
            <a:endParaRPr/>
          </a:p>
        </p:txBody>
      </p:sp>
      <p:sp>
        <p:nvSpPr>
          <p:cNvPr id="476" name="Google Shape;476;p25"/>
          <p:cNvSpPr txBox="1"/>
          <p:nvPr>
            <p:ph idx="1" type="body"/>
          </p:nvPr>
        </p:nvSpPr>
        <p:spPr>
          <a:xfrm>
            <a:off x="423300" y="1314400"/>
            <a:ext cx="8280000" cy="331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s" sz="1500"/>
              <a:t>Los tipos de datos del ejemplo anterior podrían ser los siguientes:</a:t>
            </a:r>
            <a:endParaRPr sz="1500"/>
          </a:p>
        </p:txBody>
      </p:sp>
      <p:graphicFrame>
        <p:nvGraphicFramePr>
          <p:cNvPr id="477" name="Google Shape;477;p25"/>
          <p:cNvGraphicFramePr/>
          <p:nvPr/>
        </p:nvGraphicFramePr>
        <p:xfrm>
          <a:off x="432025" y="1882283"/>
          <a:ext cx="3000000" cy="3000000"/>
        </p:xfrm>
        <a:graphic>
          <a:graphicData uri="http://schemas.openxmlformats.org/drawingml/2006/table">
            <a:tbl>
              <a:tblPr>
                <a:noFill/>
                <a:tableStyleId>{538D5ABA-4D10-4F86-B21B-73E0E010D3C4}</a:tableStyleId>
              </a:tblPr>
              <a:tblGrid>
                <a:gridCol w="599425"/>
                <a:gridCol w="969350"/>
                <a:gridCol w="956325"/>
                <a:gridCol w="643825"/>
              </a:tblGrid>
              <a:tr h="365725">
                <a:tc gridSpan="4">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Clientes</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8C823"/>
                    </a:solidFill>
                  </a:tcPr>
                </a:tc>
                <a:tc hMerge="1"/>
                <a:tc hMerge="1"/>
                <a:tc hMerge="1"/>
              </a:tr>
              <a:tr h="548625">
                <a:tc>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ID</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E66D"/>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Razon</a:t>
                      </a:r>
                      <a:endParaRPr b="1" sz="1000" u="none" cap="none" strike="noStrike">
                        <a:solidFill>
                          <a:schemeClr val="dk2"/>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Social</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E66D"/>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Tel</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E66D"/>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CUIT</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E66D"/>
                    </a:solidFill>
                  </a:tcPr>
                </a:tc>
              </a:tr>
              <a:tr h="444975">
                <a:tc>
                  <a:txBody>
                    <a:bodyPr/>
                    <a:lstStyle/>
                    <a:p>
                      <a:pPr indent="0" lvl="0" marL="0" marR="0" rtl="0" algn="ctr">
                        <a:lnSpc>
                          <a:spcPct val="115000"/>
                        </a:lnSpc>
                        <a:spcBef>
                          <a:spcPts val="0"/>
                        </a:spcBef>
                        <a:spcAft>
                          <a:spcPts val="0"/>
                        </a:spcAft>
                        <a:buClr>
                          <a:srgbClr val="000000"/>
                        </a:buClr>
                        <a:buSzPts val="800"/>
                        <a:buFont typeface="Arial"/>
                        <a:buNone/>
                      </a:pPr>
                      <a:r>
                        <a:rPr lang="es" sz="800" u="none" cap="none" strike="noStrike">
                          <a:solidFill>
                            <a:schemeClr val="dk2"/>
                          </a:solidFill>
                          <a:latin typeface="Montserrat"/>
                          <a:ea typeface="Montserrat"/>
                          <a:cs typeface="Montserrat"/>
                          <a:sym typeface="Montserrat"/>
                        </a:rPr>
                        <a:t>INT</a:t>
                      </a:r>
                      <a:endParaRPr sz="800" u="none" cap="none" strike="noStrike">
                        <a:solidFill>
                          <a:schemeClr val="dk2"/>
                        </a:solidFill>
                        <a:latin typeface="Montserrat"/>
                        <a:ea typeface="Montserrat"/>
                        <a:cs typeface="Montserrat"/>
                        <a:sym typeface="Montserrat"/>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es" sz="800" u="none" cap="none" strike="noStrike">
                          <a:solidFill>
                            <a:schemeClr val="dk2"/>
                          </a:solidFill>
                          <a:latin typeface="Montserrat"/>
                          <a:ea typeface="Montserrat"/>
                          <a:cs typeface="Montserrat"/>
                          <a:sym typeface="Montserrat"/>
                        </a:rPr>
                        <a:t>VARCHAR(100)</a:t>
                      </a:r>
                      <a:endParaRPr sz="800" u="none" cap="none" strike="noStrike">
                        <a:solidFill>
                          <a:schemeClr val="dk2"/>
                        </a:solidFill>
                        <a:latin typeface="Montserrat"/>
                        <a:ea typeface="Montserrat"/>
                        <a:cs typeface="Montserrat"/>
                        <a:sym typeface="Montserrat"/>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es" sz="800" u="none" cap="none" strike="noStrike">
                          <a:solidFill>
                            <a:schemeClr val="dk2"/>
                          </a:solidFill>
                          <a:latin typeface="Montserrat"/>
                          <a:ea typeface="Montserrat"/>
                          <a:cs typeface="Montserrat"/>
                          <a:sym typeface="Montserrat"/>
                        </a:rPr>
                        <a:t>VARCHAR(20)</a:t>
                      </a:r>
                      <a:endParaRPr sz="800" u="none" cap="none" strike="noStrike">
                        <a:solidFill>
                          <a:schemeClr val="dk2"/>
                        </a:solidFill>
                        <a:latin typeface="Montserrat"/>
                        <a:ea typeface="Montserrat"/>
                        <a:cs typeface="Montserrat"/>
                        <a:sym typeface="Montserrat"/>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es" sz="800" u="none" cap="none" strike="noStrike">
                          <a:solidFill>
                            <a:schemeClr val="dk2"/>
                          </a:solidFill>
                          <a:latin typeface="Montserrat"/>
                          <a:ea typeface="Montserrat"/>
                          <a:cs typeface="Montserrat"/>
                          <a:sym typeface="Montserrat"/>
                        </a:rPr>
                        <a:t>DATE</a:t>
                      </a:r>
                      <a:endParaRPr sz="800" u="none" cap="none" strike="noStrike">
                        <a:solidFill>
                          <a:schemeClr val="dk2"/>
                        </a:solidFill>
                        <a:latin typeface="Montserrat"/>
                        <a:ea typeface="Montserrat"/>
                        <a:cs typeface="Montserrat"/>
                        <a:sym typeface="Montserrat"/>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478" name="Google Shape;478;p25"/>
          <p:cNvGraphicFramePr/>
          <p:nvPr/>
        </p:nvGraphicFramePr>
        <p:xfrm>
          <a:off x="3801500" y="1882308"/>
          <a:ext cx="3000000" cy="3000000"/>
        </p:xfrm>
        <a:graphic>
          <a:graphicData uri="http://schemas.openxmlformats.org/drawingml/2006/table">
            <a:tbl>
              <a:tblPr>
                <a:noFill/>
                <a:tableStyleId>{538D5ABA-4D10-4F86-B21B-73E0E010D3C4}</a:tableStyleId>
              </a:tblPr>
              <a:tblGrid>
                <a:gridCol w="674100"/>
                <a:gridCol w="953225"/>
                <a:gridCol w="664075"/>
              </a:tblGrid>
              <a:tr h="365725">
                <a:tc gridSpan="3">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Productos</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8C823"/>
                    </a:solidFill>
                  </a:tcPr>
                </a:tc>
                <a:tc hMerge="1"/>
                <a:tc hMerge="1"/>
              </a:tr>
              <a:tr h="548600">
                <a:tc>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Id</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Nombre</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Precio</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r>
              <a:tr h="365725">
                <a:tc>
                  <a:txBody>
                    <a:bodyPr/>
                    <a:lstStyle/>
                    <a:p>
                      <a:pPr indent="0" lvl="0" marL="0" marR="0" rtl="0" algn="ctr">
                        <a:lnSpc>
                          <a:spcPct val="100000"/>
                        </a:lnSpc>
                        <a:spcBef>
                          <a:spcPts val="0"/>
                        </a:spcBef>
                        <a:spcAft>
                          <a:spcPts val="0"/>
                        </a:spcAft>
                        <a:buClr>
                          <a:srgbClr val="000000"/>
                        </a:buClr>
                        <a:buSzPts val="800"/>
                        <a:buFont typeface="Arial"/>
                        <a:buNone/>
                      </a:pPr>
                      <a:r>
                        <a:rPr lang="es" sz="800" u="none" cap="none" strike="noStrike">
                          <a:solidFill>
                            <a:schemeClr val="dk2"/>
                          </a:solidFill>
                          <a:latin typeface="Montserrat"/>
                          <a:ea typeface="Montserrat"/>
                          <a:cs typeface="Montserrat"/>
                          <a:sym typeface="Montserrat"/>
                        </a:rPr>
                        <a:t>INT</a:t>
                      </a:r>
                      <a:endParaRPr sz="8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s" sz="800" u="none" cap="none" strike="noStrike">
                          <a:solidFill>
                            <a:schemeClr val="dk2"/>
                          </a:solidFill>
                          <a:latin typeface="Montserrat"/>
                          <a:ea typeface="Montserrat"/>
                          <a:cs typeface="Montserrat"/>
                          <a:sym typeface="Montserrat"/>
                        </a:rPr>
                        <a:t>VARCHAR(20)</a:t>
                      </a:r>
                      <a:endParaRPr sz="8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s" sz="800" u="none" cap="none" strike="noStrike">
                          <a:solidFill>
                            <a:schemeClr val="dk2"/>
                          </a:solidFill>
                          <a:latin typeface="Montserrat"/>
                          <a:ea typeface="Montserrat"/>
                          <a:cs typeface="Montserrat"/>
                          <a:sym typeface="Montserrat"/>
                        </a:rPr>
                        <a:t>DOUBLE</a:t>
                      </a:r>
                      <a:endParaRPr sz="8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aphicFrame>
        <p:nvGraphicFramePr>
          <p:cNvPr id="479" name="Google Shape;479;p25"/>
          <p:cNvGraphicFramePr/>
          <p:nvPr/>
        </p:nvGraphicFramePr>
        <p:xfrm>
          <a:off x="6216500" y="1882283"/>
          <a:ext cx="3000000" cy="3000000"/>
        </p:xfrm>
        <a:graphic>
          <a:graphicData uri="http://schemas.openxmlformats.org/drawingml/2006/table">
            <a:tbl>
              <a:tblPr>
                <a:noFill/>
                <a:tableStyleId>{538D5ABA-4D10-4F86-B21B-73E0E010D3C4}</a:tableStyleId>
              </a:tblPr>
              <a:tblGrid>
                <a:gridCol w="849975"/>
                <a:gridCol w="849975"/>
                <a:gridCol w="898425"/>
              </a:tblGrid>
              <a:tr h="365725">
                <a:tc gridSpan="3">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Pedidos</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8C823"/>
                    </a:solidFill>
                  </a:tcPr>
                </a:tc>
                <a:tc hMerge="1"/>
                <a:tc hMerge="1"/>
              </a:tr>
              <a:tr h="548600">
                <a:tc>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Nro</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IdCliente</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Fecha</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r>
              <a:tr h="365725">
                <a:tc>
                  <a:txBody>
                    <a:bodyPr/>
                    <a:lstStyle/>
                    <a:p>
                      <a:pPr indent="0" lvl="0" marL="0" marR="0" rtl="0" algn="ctr">
                        <a:lnSpc>
                          <a:spcPct val="100000"/>
                        </a:lnSpc>
                        <a:spcBef>
                          <a:spcPts val="0"/>
                        </a:spcBef>
                        <a:spcAft>
                          <a:spcPts val="0"/>
                        </a:spcAft>
                        <a:buClr>
                          <a:srgbClr val="000000"/>
                        </a:buClr>
                        <a:buSzPts val="1000"/>
                        <a:buFont typeface="Arial"/>
                        <a:buNone/>
                      </a:pPr>
                      <a:r>
                        <a:rPr lang="es" sz="1000" u="none" cap="none" strike="noStrike">
                          <a:solidFill>
                            <a:schemeClr val="dk2"/>
                          </a:solidFill>
                          <a:latin typeface="Montserrat"/>
                          <a:ea typeface="Montserrat"/>
                          <a:cs typeface="Montserrat"/>
                          <a:sym typeface="Montserrat"/>
                        </a:rPr>
                        <a:t>INT</a:t>
                      </a:r>
                      <a:endParaRPr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s" sz="1000" u="none" cap="none" strike="noStrike">
                          <a:solidFill>
                            <a:schemeClr val="dk2"/>
                          </a:solidFill>
                          <a:latin typeface="Montserrat"/>
                          <a:ea typeface="Montserrat"/>
                          <a:cs typeface="Montserrat"/>
                          <a:sym typeface="Montserrat"/>
                        </a:rPr>
                        <a:t>INT</a:t>
                      </a:r>
                      <a:endParaRPr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s" sz="1000" u="none" cap="none" strike="noStrike">
                          <a:solidFill>
                            <a:schemeClr val="dk2"/>
                          </a:solidFill>
                          <a:latin typeface="Montserrat"/>
                          <a:ea typeface="Montserrat"/>
                          <a:cs typeface="Montserrat"/>
                          <a:sym typeface="Montserrat"/>
                        </a:rPr>
                        <a:t>DATE</a:t>
                      </a:r>
                      <a:endParaRPr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aphicFrame>
        <p:nvGraphicFramePr>
          <p:cNvPr id="480" name="Google Shape;480;p25"/>
          <p:cNvGraphicFramePr/>
          <p:nvPr/>
        </p:nvGraphicFramePr>
        <p:xfrm>
          <a:off x="2776475" y="3352358"/>
          <a:ext cx="3000000" cy="3000000"/>
        </p:xfrm>
        <a:graphic>
          <a:graphicData uri="http://schemas.openxmlformats.org/drawingml/2006/table">
            <a:tbl>
              <a:tblPr>
                <a:noFill/>
                <a:tableStyleId>{538D5ABA-4D10-4F86-B21B-73E0E010D3C4}</a:tableStyleId>
              </a:tblPr>
              <a:tblGrid>
                <a:gridCol w="823700"/>
                <a:gridCol w="965250"/>
                <a:gridCol w="911675"/>
                <a:gridCol w="796775"/>
              </a:tblGrid>
              <a:tr h="365725">
                <a:tc gridSpan="4">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ItemPedidos</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8C823"/>
                    </a:solidFill>
                  </a:tcPr>
                </a:tc>
                <a:tc hMerge="1"/>
                <a:tc hMerge="1"/>
                <a:tc hMerge="1"/>
              </a:tr>
              <a:tr h="548600">
                <a:tc>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IdPedido</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IdProducto</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Cantidad</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Precio</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r>
              <a:tr h="365725">
                <a:tc>
                  <a:txBody>
                    <a:bodyPr/>
                    <a:lstStyle/>
                    <a:p>
                      <a:pPr indent="0" lvl="0" marL="0" marR="0" rtl="0" algn="ctr">
                        <a:lnSpc>
                          <a:spcPct val="100000"/>
                        </a:lnSpc>
                        <a:spcBef>
                          <a:spcPts val="0"/>
                        </a:spcBef>
                        <a:spcAft>
                          <a:spcPts val="0"/>
                        </a:spcAft>
                        <a:buClr>
                          <a:srgbClr val="000000"/>
                        </a:buClr>
                        <a:buSzPts val="900"/>
                        <a:buFont typeface="Arial"/>
                        <a:buNone/>
                      </a:pPr>
                      <a:r>
                        <a:rPr lang="es" sz="900" u="none" cap="none" strike="noStrike">
                          <a:solidFill>
                            <a:schemeClr val="dk2"/>
                          </a:solidFill>
                          <a:latin typeface="Montserrat"/>
                          <a:ea typeface="Montserrat"/>
                          <a:cs typeface="Montserrat"/>
                          <a:sym typeface="Montserrat"/>
                        </a:rPr>
                        <a:t>INT</a:t>
                      </a:r>
                      <a:endParaRPr sz="9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s" sz="900" u="none" cap="none" strike="noStrike">
                          <a:solidFill>
                            <a:schemeClr val="dk2"/>
                          </a:solidFill>
                          <a:latin typeface="Montserrat"/>
                          <a:ea typeface="Montserrat"/>
                          <a:cs typeface="Montserrat"/>
                          <a:sym typeface="Montserrat"/>
                        </a:rPr>
                        <a:t>         INT</a:t>
                      </a:r>
                      <a:endParaRPr sz="9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900"/>
                        <a:buFont typeface="Arial"/>
                        <a:buNone/>
                      </a:pPr>
                      <a:r>
                        <a:rPr lang="es" sz="900" u="none" cap="none" strike="noStrike">
                          <a:solidFill>
                            <a:schemeClr val="dk2"/>
                          </a:solidFill>
                          <a:latin typeface="Montserrat"/>
                          <a:ea typeface="Montserrat"/>
                          <a:cs typeface="Montserrat"/>
                          <a:sym typeface="Montserrat"/>
                        </a:rPr>
                        <a:t>INT</a:t>
                      </a:r>
                      <a:endParaRPr sz="9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900"/>
                        <a:buFont typeface="Arial"/>
                        <a:buNone/>
                      </a:pPr>
                      <a:r>
                        <a:rPr lang="es" sz="900" u="none" cap="none" strike="noStrike">
                          <a:solidFill>
                            <a:schemeClr val="dk2"/>
                          </a:solidFill>
                          <a:latin typeface="Montserrat"/>
                          <a:ea typeface="Montserrat"/>
                          <a:cs typeface="Montserrat"/>
                          <a:sym typeface="Montserrat"/>
                        </a:rPr>
                        <a:t>DOUBLE</a:t>
                      </a:r>
                      <a:endParaRPr sz="9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26"/>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Primary key y Foreign Key</a:t>
            </a:r>
            <a:endParaRPr/>
          </a:p>
          <a:p>
            <a:pPr indent="0" lvl="0" marL="0" rtl="0" algn="l">
              <a:lnSpc>
                <a:spcPct val="100000"/>
              </a:lnSpc>
              <a:spcBef>
                <a:spcPts val="0"/>
              </a:spcBef>
              <a:spcAft>
                <a:spcPts val="0"/>
              </a:spcAft>
              <a:buSzPct val="111111"/>
              <a:buNone/>
            </a:pPr>
            <a:r>
              <a:t/>
            </a:r>
            <a:endParaRPr/>
          </a:p>
        </p:txBody>
      </p:sp>
      <p:sp>
        <p:nvSpPr>
          <p:cNvPr id="486" name="Google Shape;486;p26"/>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Autofit/>
          </a:bodyPr>
          <a:lstStyle/>
          <a:p>
            <a:pPr indent="-333375" lvl="0" marL="457200" rtl="0" algn="l">
              <a:lnSpc>
                <a:spcPct val="100000"/>
              </a:lnSpc>
              <a:spcBef>
                <a:spcPts val="0"/>
              </a:spcBef>
              <a:spcAft>
                <a:spcPts val="0"/>
              </a:spcAft>
              <a:buSzPts val="1650"/>
              <a:buChar char="●"/>
            </a:pPr>
            <a:r>
              <a:rPr lang="es" sz="1650"/>
              <a:t>Las </a:t>
            </a:r>
            <a:r>
              <a:rPr b="1" lang="es" sz="1650"/>
              <a:t>claves primarias (</a:t>
            </a:r>
            <a:r>
              <a:rPr b="1" i="1" lang="es" sz="1650"/>
              <a:t>Primary Keys</a:t>
            </a:r>
            <a:r>
              <a:rPr b="1" lang="es" sz="1650"/>
              <a:t>)</a:t>
            </a:r>
            <a:r>
              <a:rPr lang="es" sz="1650"/>
              <a:t> son valores que identifican de manera única a cada fila o registro de una tabla, esto quiere decir que no se puede repetir. Por ejemplo: un DNI, un código de producto, etc.</a:t>
            </a:r>
            <a:endParaRPr sz="1650"/>
          </a:p>
          <a:p>
            <a:pPr indent="-333375" lvl="0" marL="457200" rtl="0" algn="l">
              <a:lnSpc>
                <a:spcPct val="100000"/>
              </a:lnSpc>
              <a:spcBef>
                <a:spcPts val="0"/>
              </a:spcBef>
              <a:spcAft>
                <a:spcPts val="0"/>
              </a:spcAft>
              <a:buSzPts val="1650"/>
              <a:buChar char="●"/>
            </a:pPr>
            <a:r>
              <a:rPr lang="es" sz="1650"/>
              <a:t>Una </a:t>
            </a:r>
            <a:r>
              <a:rPr b="1" lang="es" sz="1650"/>
              <a:t>clave foránea (</a:t>
            </a:r>
            <a:r>
              <a:rPr b="1" i="1" lang="es" sz="1650"/>
              <a:t>Foreign Key</a:t>
            </a:r>
            <a:r>
              <a:rPr b="1" lang="es" sz="1650"/>
              <a:t>)</a:t>
            </a:r>
            <a:r>
              <a:rPr lang="es" sz="1650"/>
              <a:t> es un campo de una tabla “X” que sirve para enlazar o relacionar entre sí con otra tabla “Y” en la cual el campo de esta tabla es una clave primaria (</a:t>
            </a:r>
            <a:r>
              <a:rPr i="1" lang="es" sz="1650"/>
              <a:t>Primary Key</a:t>
            </a:r>
            <a:r>
              <a:rPr lang="es" sz="1650"/>
              <a:t>). Para que un campo sea una clave, esta tiene que ser una clave primaria en otra tabla.</a:t>
            </a:r>
            <a:endParaRPr sz="1650"/>
          </a:p>
          <a:p>
            <a:pPr indent="0" lvl="0" marL="0" rtl="0" algn="l">
              <a:lnSpc>
                <a:spcPct val="115000"/>
              </a:lnSpc>
              <a:spcBef>
                <a:spcPts val="1200"/>
              </a:spcBef>
              <a:spcAft>
                <a:spcPts val="1200"/>
              </a:spcAft>
              <a:buSzPts val="1800"/>
              <a:buNone/>
            </a:pPr>
            <a:r>
              <a:t/>
            </a:r>
            <a:endParaRPr i="1" sz="1450"/>
          </a:p>
        </p:txBody>
      </p:sp>
      <p:pic>
        <p:nvPicPr>
          <p:cNvPr id="487" name="Google Shape;487;p26"/>
          <p:cNvPicPr preferRelativeResize="0"/>
          <p:nvPr/>
        </p:nvPicPr>
        <p:blipFill rotWithShape="1">
          <a:blip r:embed="rId3">
            <a:alphaModFix/>
          </a:blip>
          <a:srcRect b="0" l="0" r="0" t="0"/>
          <a:stretch/>
        </p:blipFill>
        <p:spPr>
          <a:xfrm>
            <a:off x="1467675" y="3371025"/>
            <a:ext cx="6191250" cy="11321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27"/>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Primary key y Foreign Key</a:t>
            </a:r>
            <a:endParaRPr/>
          </a:p>
          <a:p>
            <a:pPr indent="0" lvl="0" marL="0" rtl="0" algn="l">
              <a:lnSpc>
                <a:spcPct val="100000"/>
              </a:lnSpc>
              <a:spcBef>
                <a:spcPts val="0"/>
              </a:spcBef>
              <a:spcAft>
                <a:spcPts val="0"/>
              </a:spcAft>
              <a:buSzPct val="111111"/>
              <a:buNone/>
            </a:pPr>
            <a:r>
              <a:t/>
            </a:r>
            <a:endParaRPr/>
          </a:p>
        </p:txBody>
      </p:sp>
      <p:sp>
        <p:nvSpPr>
          <p:cNvPr id="493" name="Google Shape;493;p27"/>
          <p:cNvSpPr txBox="1"/>
          <p:nvPr>
            <p:ph idx="1" type="body"/>
          </p:nvPr>
        </p:nvSpPr>
        <p:spPr>
          <a:xfrm>
            <a:off x="355800" y="1168100"/>
            <a:ext cx="8280000" cy="3318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1200"/>
              </a:spcAft>
              <a:buSzPts val="1800"/>
              <a:buNone/>
            </a:pPr>
            <a:r>
              <a:rPr lang="es" sz="1650"/>
              <a:t>En el ejemplo anterior podemos identificar las claves primarias, que identificarán de manera única a cada fila o registro de una tabla</a:t>
            </a:r>
            <a:endParaRPr i="1" sz="1450"/>
          </a:p>
        </p:txBody>
      </p:sp>
      <p:graphicFrame>
        <p:nvGraphicFramePr>
          <p:cNvPr id="494" name="Google Shape;494;p27"/>
          <p:cNvGraphicFramePr/>
          <p:nvPr/>
        </p:nvGraphicFramePr>
        <p:xfrm>
          <a:off x="432025" y="2187083"/>
          <a:ext cx="3000000" cy="3000000"/>
        </p:xfrm>
        <a:graphic>
          <a:graphicData uri="http://schemas.openxmlformats.org/drawingml/2006/table">
            <a:tbl>
              <a:tblPr>
                <a:noFill/>
                <a:tableStyleId>{538D5ABA-4D10-4F86-B21B-73E0E010D3C4}</a:tableStyleId>
              </a:tblPr>
              <a:tblGrid>
                <a:gridCol w="525525"/>
                <a:gridCol w="1046850"/>
                <a:gridCol w="965025"/>
                <a:gridCol w="637875"/>
              </a:tblGrid>
              <a:tr h="365725">
                <a:tc gridSpan="4">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Clientes</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8C823"/>
                    </a:solidFill>
                  </a:tcPr>
                </a:tc>
                <a:tc hMerge="1"/>
                <a:tc hMerge="1"/>
                <a:tc hMerge="1"/>
              </a:tr>
              <a:tr h="548625">
                <a:tc>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ID</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E66D"/>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RazonSocial</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E66D"/>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Telefono</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E66D"/>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CUIT</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E66D"/>
                    </a:solidFill>
                  </a:tcPr>
                </a:tc>
              </a:tr>
              <a:tr h="461375">
                <a:tc>
                  <a:txBody>
                    <a:bodyPr/>
                    <a:lstStyle/>
                    <a:p>
                      <a:pPr indent="0" lvl="0" marL="0" marR="0" rtl="0" algn="ctr">
                        <a:lnSpc>
                          <a:spcPct val="115000"/>
                        </a:lnSpc>
                        <a:spcBef>
                          <a:spcPts val="0"/>
                        </a:spcBef>
                        <a:spcAft>
                          <a:spcPts val="0"/>
                        </a:spcAft>
                        <a:buClr>
                          <a:srgbClr val="000000"/>
                        </a:buClr>
                        <a:buSzPts val="850"/>
                        <a:buFont typeface="Arial"/>
                        <a:buNone/>
                      </a:pPr>
                      <a:r>
                        <a:rPr lang="es" sz="850" u="none" cap="none" strike="noStrike">
                          <a:solidFill>
                            <a:schemeClr val="dk2"/>
                          </a:solidFill>
                          <a:latin typeface="Montserrat"/>
                          <a:ea typeface="Montserrat"/>
                          <a:cs typeface="Montserrat"/>
                          <a:sym typeface="Montserrat"/>
                        </a:rPr>
                        <a:t>INT</a:t>
                      </a:r>
                      <a:endParaRPr sz="850" u="none" cap="none" strike="noStrike">
                        <a:solidFill>
                          <a:schemeClr val="dk2"/>
                        </a:solidFill>
                        <a:latin typeface="Montserrat"/>
                        <a:ea typeface="Montserrat"/>
                        <a:cs typeface="Montserrat"/>
                        <a:sym typeface="Montserrat"/>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50"/>
                        <a:buFont typeface="Arial"/>
                        <a:buNone/>
                      </a:pPr>
                      <a:r>
                        <a:rPr lang="es" sz="850" u="none" cap="none" strike="noStrike">
                          <a:solidFill>
                            <a:schemeClr val="dk2"/>
                          </a:solidFill>
                          <a:latin typeface="Montserrat"/>
                          <a:ea typeface="Montserrat"/>
                          <a:cs typeface="Montserrat"/>
                          <a:sym typeface="Montserrat"/>
                        </a:rPr>
                        <a:t>VARCHAR(100)</a:t>
                      </a:r>
                      <a:endParaRPr sz="850" u="none" cap="none" strike="noStrike">
                        <a:solidFill>
                          <a:schemeClr val="dk2"/>
                        </a:solidFill>
                        <a:latin typeface="Montserrat"/>
                        <a:ea typeface="Montserrat"/>
                        <a:cs typeface="Montserrat"/>
                        <a:sym typeface="Montserrat"/>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50"/>
                        <a:buFont typeface="Arial"/>
                        <a:buNone/>
                      </a:pPr>
                      <a:r>
                        <a:rPr lang="es" sz="850" u="none" cap="none" strike="noStrike">
                          <a:solidFill>
                            <a:schemeClr val="dk2"/>
                          </a:solidFill>
                          <a:latin typeface="Montserrat"/>
                          <a:ea typeface="Montserrat"/>
                          <a:cs typeface="Montserrat"/>
                          <a:sym typeface="Montserrat"/>
                        </a:rPr>
                        <a:t>VARCHAR(20)</a:t>
                      </a:r>
                      <a:endParaRPr sz="850" u="none" cap="none" strike="noStrike">
                        <a:solidFill>
                          <a:schemeClr val="dk2"/>
                        </a:solidFill>
                        <a:latin typeface="Montserrat"/>
                        <a:ea typeface="Montserrat"/>
                        <a:cs typeface="Montserrat"/>
                        <a:sym typeface="Montserrat"/>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50"/>
                        <a:buFont typeface="Arial"/>
                        <a:buNone/>
                      </a:pPr>
                      <a:r>
                        <a:rPr lang="es" sz="850" u="none" cap="none" strike="noStrike">
                          <a:solidFill>
                            <a:schemeClr val="dk2"/>
                          </a:solidFill>
                          <a:latin typeface="Montserrat"/>
                          <a:ea typeface="Montserrat"/>
                          <a:cs typeface="Montserrat"/>
                          <a:sym typeface="Montserrat"/>
                        </a:rPr>
                        <a:t>varchar</a:t>
                      </a:r>
                      <a:endParaRPr sz="850" u="none" cap="none" strike="noStrike">
                        <a:solidFill>
                          <a:schemeClr val="dk2"/>
                        </a:solidFill>
                        <a:latin typeface="Montserrat"/>
                        <a:ea typeface="Montserrat"/>
                        <a:cs typeface="Montserrat"/>
                        <a:sym typeface="Montserrat"/>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495" name="Google Shape;495;p27"/>
          <p:cNvGraphicFramePr/>
          <p:nvPr/>
        </p:nvGraphicFramePr>
        <p:xfrm>
          <a:off x="3850150" y="2187083"/>
          <a:ext cx="3000000" cy="3000000"/>
        </p:xfrm>
        <a:graphic>
          <a:graphicData uri="http://schemas.openxmlformats.org/drawingml/2006/table">
            <a:tbl>
              <a:tblPr>
                <a:noFill/>
                <a:tableStyleId>{538D5ABA-4D10-4F86-B21B-73E0E010D3C4}</a:tableStyleId>
              </a:tblPr>
              <a:tblGrid>
                <a:gridCol w="874700"/>
                <a:gridCol w="921175"/>
                <a:gridCol w="834550"/>
              </a:tblGrid>
              <a:tr h="323675">
                <a:tc gridSpan="3">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Productos</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8C823"/>
                    </a:solidFill>
                  </a:tcPr>
                </a:tc>
                <a:tc hMerge="1"/>
                <a:tc hMerge="1"/>
              </a:tr>
              <a:tr h="485550">
                <a:tc>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Id</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Nombre</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Precio</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r>
              <a:tr h="566475">
                <a:tc>
                  <a:txBody>
                    <a:bodyPr/>
                    <a:lstStyle/>
                    <a:p>
                      <a:pPr indent="0" lvl="0" marL="0" marR="0" rtl="0" algn="ctr">
                        <a:lnSpc>
                          <a:spcPct val="100000"/>
                        </a:lnSpc>
                        <a:spcBef>
                          <a:spcPts val="0"/>
                        </a:spcBef>
                        <a:spcAft>
                          <a:spcPts val="0"/>
                        </a:spcAft>
                        <a:buClr>
                          <a:srgbClr val="000000"/>
                        </a:buClr>
                        <a:buSzPts val="800"/>
                        <a:buFont typeface="Arial"/>
                        <a:buNone/>
                      </a:pPr>
                      <a:r>
                        <a:rPr lang="es" sz="800" u="none" cap="none" strike="noStrike">
                          <a:solidFill>
                            <a:schemeClr val="dk2"/>
                          </a:solidFill>
                          <a:latin typeface="Montserrat"/>
                          <a:ea typeface="Montserrat"/>
                          <a:cs typeface="Montserrat"/>
                          <a:sym typeface="Montserrat"/>
                        </a:rPr>
                        <a:t>INT</a:t>
                      </a:r>
                      <a:endParaRPr sz="8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s" sz="800" u="none" cap="none" strike="noStrike">
                          <a:solidFill>
                            <a:schemeClr val="dk2"/>
                          </a:solidFill>
                          <a:latin typeface="Montserrat"/>
                          <a:ea typeface="Montserrat"/>
                          <a:cs typeface="Montserrat"/>
                          <a:sym typeface="Montserrat"/>
                        </a:rPr>
                        <a:t>VARCHAR(20)</a:t>
                      </a:r>
                      <a:endParaRPr sz="8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s" sz="800" u="none" cap="none" strike="noStrike">
                          <a:solidFill>
                            <a:schemeClr val="dk2"/>
                          </a:solidFill>
                          <a:latin typeface="Montserrat"/>
                          <a:ea typeface="Montserrat"/>
                          <a:cs typeface="Montserrat"/>
                          <a:sym typeface="Montserrat"/>
                        </a:rPr>
                        <a:t>DOUBLE</a:t>
                      </a:r>
                      <a:endParaRPr sz="8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aphicFrame>
        <p:nvGraphicFramePr>
          <p:cNvPr id="496" name="Google Shape;496;p27"/>
          <p:cNvGraphicFramePr/>
          <p:nvPr/>
        </p:nvGraphicFramePr>
        <p:xfrm>
          <a:off x="6631675" y="2187083"/>
          <a:ext cx="3000000" cy="3000000"/>
        </p:xfrm>
        <a:graphic>
          <a:graphicData uri="http://schemas.openxmlformats.org/drawingml/2006/table">
            <a:tbl>
              <a:tblPr>
                <a:noFill/>
                <a:tableStyleId>{538D5ABA-4D10-4F86-B21B-73E0E010D3C4}</a:tableStyleId>
              </a:tblPr>
              <a:tblGrid>
                <a:gridCol w="600500"/>
                <a:gridCol w="897950"/>
                <a:gridCol w="791875"/>
              </a:tblGrid>
              <a:tr h="365725">
                <a:tc gridSpan="3">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Pedidos</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8C823"/>
                    </a:solidFill>
                  </a:tcPr>
                </a:tc>
                <a:tc hMerge="1"/>
                <a:tc hMerge="1"/>
              </a:tr>
              <a:tr h="548600">
                <a:tc>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Nro</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IdCliente</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Fecha</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r>
              <a:tr h="365725">
                <a:tc>
                  <a:txBody>
                    <a:bodyPr/>
                    <a:lstStyle/>
                    <a:p>
                      <a:pPr indent="0" lvl="0" marL="0" marR="0" rtl="0" algn="ctr">
                        <a:lnSpc>
                          <a:spcPct val="100000"/>
                        </a:lnSpc>
                        <a:spcBef>
                          <a:spcPts val="0"/>
                        </a:spcBef>
                        <a:spcAft>
                          <a:spcPts val="0"/>
                        </a:spcAft>
                        <a:buClr>
                          <a:srgbClr val="000000"/>
                        </a:buClr>
                        <a:buSzPts val="1000"/>
                        <a:buFont typeface="Arial"/>
                        <a:buNone/>
                      </a:pPr>
                      <a:r>
                        <a:rPr lang="es" sz="1000" u="none" cap="none" strike="noStrike">
                          <a:solidFill>
                            <a:schemeClr val="dk2"/>
                          </a:solidFill>
                          <a:latin typeface="Montserrat"/>
                          <a:ea typeface="Montserrat"/>
                          <a:cs typeface="Montserrat"/>
                          <a:sym typeface="Montserrat"/>
                        </a:rPr>
                        <a:t>INT</a:t>
                      </a:r>
                      <a:endParaRPr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s" sz="1000" u="none" cap="none" strike="noStrike">
                          <a:solidFill>
                            <a:schemeClr val="dk2"/>
                          </a:solidFill>
                          <a:latin typeface="Montserrat"/>
                          <a:ea typeface="Montserrat"/>
                          <a:cs typeface="Montserrat"/>
                          <a:sym typeface="Montserrat"/>
                        </a:rPr>
                        <a:t>INT</a:t>
                      </a:r>
                      <a:endParaRPr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s" sz="1000" u="none" cap="none" strike="noStrike">
                          <a:solidFill>
                            <a:schemeClr val="dk2"/>
                          </a:solidFill>
                          <a:latin typeface="Montserrat"/>
                          <a:ea typeface="Montserrat"/>
                          <a:cs typeface="Montserrat"/>
                          <a:sym typeface="Montserrat"/>
                        </a:rPr>
                        <a:t>DATE</a:t>
                      </a:r>
                      <a:endParaRPr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497" name="Google Shape;497;p27"/>
          <p:cNvSpPr/>
          <p:nvPr/>
        </p:nvSpPr>
        <p:spPr>
          <a:xfrm>
            <a:off x="507700" y="1973487"/>
            <a:ext cx="314400" cy="738900"/>
          </a:xfrm>
          <a:prstGeom prst="downArrow">
            <a:avLst>
              <a:gd fmla="val 50000" name="adj1"/>
              <a:gd fmla="val 50000" name="adj2"/>
            </a:avLst>
          </a:prstGeom>
          <a:solidFill>
            <a:srgbClr val="F39C12"/>
          </a:solidFill>
          <a:ln cap="flat" cmpd="sng" w="9525">
            <a:solidFill>
              <a:srgbClr val="FFE66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 name="Google Shape;498;p27"/>
          <p:cNvSpPr/>
          <p:nvPr/>
        </p:nvSpPr>
        <p:spPr>
          <a:xfrm>
            <a:off x="4190950" y="1970003"/>
            <a:ext cx="314400" cy="738900"/>
          </a:xfrm>
          <a:prstGeom prst="downArrow">
            <a:avLst>
              <a:gd fmla="val 50000" name="adj1"/>
              <a:gd fmla="val 50000" name="adj2"/>
            </a:avLst>
          </a:prstGeom>
          <a:solidFill>
            <a:srgbClr val="F39C12"/>
          </a:solidFill>
          <a:ln cap="flat" cmpd="sng" w="9525">
            <a:solidFill>
              <a:srgbClr val="FFE66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 name="Google Shape;499;p27"/>
          <p:cNvSpPr/>
          <p:nvPr/>
        </p:nvSpPr>
        <p:spPr>
          <a:xfrm>
            <a:off x="6783750" y="1970003"/>
            <a:ext cx="314400" cy="738900"/>
          </a:xfrm>
          <a:prstGeom prst="downArrow">
            <a:avLst>
              <a:gd fmla="val 50000" name="adj1"/>
              <a:gd fmla="val 50000" name="adj2"/>
            </a:avLst>
          </a:prstGeom>
          <a:solidFill>
            <a:srgbClr val="F39C12"/>
          </a:solidFill>
          <a:ln cap="flat" cmpd="sng" w="9525">
            <a:solidFill>
              <a:srgbClr val="FFE66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500" name="Google Shape;500;p27"/>
          <p:cNvGraphicFramePr/>
          <p:nvPr/>
        </p:nvGraphicFramePr>
        <p:xfrm>
          <a:off x="2776475" y="3733358"/>
          <a:ext cx="3000000" cy="3000000"/>
        </p:xfrm>
        <a:graphic>
          <a:graphicData uri="http://schemas.openxmlformats.org/drawingml/2006/table">
            <a:tbl>
              <a:tblPr>
                <a:noFill/>
                <a:tableStyleId>{538D5ABA-4D10-4F86-B21B-73E0E010D3C4}</a:tableStyleId>
              </a:tblPr>
              <a:tblGrid>
                <a:gridCol w="823700"/>
                <a:gridCol w="965250"/>
                <a:gridCol w="911675"/>
                <a:gridCol w="796775"/>
              </a:tblGrid>
              <a:tr h="365725">
                <a:tc gridSpan="4">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ItemPedidos</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8C823"/>
                    </a:solidFill>
                  </a:tcPr>
                </a:tc>
                <a:tc hMerge="1"/>
                <a:tc hMerge="1"/>
                <a:tc hMerge="1"/>
              </a:tr>
              <a:tr h="548600">
                <a:tc>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IdPedido</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IdProducto</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Cantidad</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s" sz="1000" u="none" cap="none" strike="noStrike">
                          <a:solidFill>
                            <a:schemeClr val="dk2"/>
                          </a:solidFill>
                          <a:latin typeface="Montserrat"/>
                          <a:ea typeface="Montserrat"/>
                          <a:cs typeface="Montserrat"/>
                          <a:sym typeface="Montserrat"/>
                        </a:rPr>
                        <a:t>Precio</a:t>
                      </a:r>
                      <a:endParaRPr b="1" sz="10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r>
              <a:tr h="365725">
                <a:tc>
                  <a:txBody>
                    <a:bodyPr/>
                    <a:lstStyle/>
                    <a:p>
                      <a:pPr indent="0" lvl="0" marL="0" marR="0" rtl="0" algn="ctr">
                        <a:lnSpc>
                          <a:spcPct val="100000"/>
                        </a:lnSpc>
                        <a:spcBef>
                          <a:spcPts val="0"/>
                        </a:spcBef>
                        <a:spcAft>
                          <a:spcPts val="0"/>
                        </a:spcAft>
                        <a:buClr>
                          <a:srgbClr val="000000"/>
                        </a:buClr>
                        <a:buSzPts val="900"/>
                        <a:buFont typeface="Arial"/>
                        <a:buNone/>
                      </a:pPr>
                      <a:r>
                        <a:rPr lang="es" sz="900" u="none" cap="none" strike="noStrike">
                          <a:solidFill>
                            <a:schemeClr val="dk2"/>
                          </a:solidFill>
                          <a:latin typeface="Montserrat"/>
                          <a:ea typeface="Montserrat"/>
                          <a:cs typeface="Montserrat"/>
                          <a:sym typeface="Montserrat"/>
                        </a:rPr>
                        <a:t>INT</a:t>
                      </a:r>
                      <a:endParaRPr sz="9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s" sz="900" u="none" cap="none" strike="noStrike">
                          <a:solidFill>
                            <a:schemeClr val="dk2"/>
                          </a:solidFill>
                          <a:latin typeface="Montserrat"/>
                          <a:ea typeface="Montserrat"/>
                          <a:cs typeface="Montserrat"/>
                          <a:sym typeface="Montserrat"/>
                        </a:rPr>
                        <a:t>         INT</a:t>
                      </a:r>
                      <a:endParaRPr sz="9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900"/>
                        <a:buFont typeface="Arial"/>
                        <a:buNone/>
                      </a:pPr>
                      <a:r>
                        <a:rPr lang="es" sz="900" u="none" cap="none" strike="noStrike">
                          <a:solidFill>
                            <a:schemeClr val="dk2"/>
                          </a:solidFill>
                          <a:latin typeface="Montserrat"/>
                          <a:ea typeface="Montserrat"/>
                          <a:cs typeface="Montserrat"/>
                          <a:sym typeface="Montserrat"/>
                        </a:rPr>
                        <a:t>INT</a:t>
                      </a:r>
                      <a:endParaRPr sz="9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900"/>
                        <a:buFont typeface="Arial"/>
                        <a:buNone/>
                      </a:pPr>
                      <a:r>
                        <a:rPr lang="es" sz="900" u="none" cap="none" strike="noStrike">
                          <a:solidFill>
                            <a:schemeClr val="dk2"/>
                          </a:solidFill>
                          <a:latin typeface="Montserrat"/>
                          <a:ea typeface="Montserrat"/>
                          <a:cs typeface="Montserrat"/>
                          <a:sym typeface="Montserrat"/>
                        </a:rPr>
                        <a:t>DOUBLE</a:t>
                      </a:r>
                      <a:endParaRPr sz="900" u="none" cap="none" strike="noStrike">
                        <a:solidFill>
                          <a:schemeClr val="dk2"/>
                        </a:solidFill>
                        <a:latin typeface="Montserrat"/>
                        <a:ea typeface="Montserrat"/>
                        <a:cs typeface="Montserrat"/>
                        <a:sym typeface="Montserrat"/>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501" name="Google Shape;501;p27"/>
          <p:cNvSpPr/>
          <p:nvPr/>
        </p:nvSpPr>
        <p:spPr>
          <a:xfrm>
            <a:off x="3029576" y="3636323"/>
            <a:ext cx="254700" cy="572700"/>
          </a:xfrm>
          <a:prstGeom prst="downArrow">
            <a:avLst>
              <a:gd fmla="val 50000" name="adj1"/>
              <a:gd fmla="val 50000" name="adj2"/>
            </a:avLst>
          </a:prstGeom>
          <a:solidFill>
            <a:srgbClr val="F39C12"/>
          </a:solidFill>
          <a:ln cap="flat" cmpd="sng" w="9525">
            <a:solidFill>
              <a:srgbClr val="FFE66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27"/>
          <p:cNvSpPr txBox="1"/>
          <p:nvPr/>
        </p:nvSpPr>
        <p:spPr>
          <a:xfrm>
            <a:off x="1251800" y="4127200"/>
            <a:ext cx="7138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28"/>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Motor de base de datos y herramientas</a:t>
            </a:r>
            <a:endParaRPr/>
          </a:p>
          <a:p>
            <a:pPr indent="0" lvl="0" marL="0" rtl="0" algn="l">
              <a:lnSpc>
                <a:spcPct val="100000"/>
              </a:lnSpc>
              <a:spcBef>
                <a:spcPts val="0"/>
              </a:spcBef>
              <a:spcAft>
                <a:spcPts val="0"/>
              </a:spcAft>
              <a:buSzPct val="111111"/>
              <a:buNone/>
            </a:pPr>
            <a:r>
              <a:t/>
            </a:r>
            <a:endParaRPr/>
          </a:p>
          <a:p>
            <a:pPr indent="0" lvl="0" marL="0" rtl="0" algn="l">
              <a:lnSpc>
                <a:spcPct val="100000"/>
              </a:lnSpc>
              <a:spcBef>
                <a:spcPts val="0"/>
              </a:spcBef>
              <a:spcAft>
                <a:spcPts val="0"/>
              </a:spcAft>
              <a:buSzPct val="111111"/>
              <a:buNone/>
            </a:pPr>
            <a:r>
              <a:t/>
            </a:r>
            <a:endParaRPr/>
          </a:p>
        </p:txBody>
      </p:sp>
      <p:sp>
        <p:nvSpPr>
          <p:cNvPr id="508" name="Google Shape;508;p28"/>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lang="es" sz="1650"/>
              <a:t>Para trabajar con bases de datos debemos instalar:</a:t>
            </a:r>
            <a:endParaRPr sz="1650"/>
          </a:p>
          <a:p>
            <a:pPr indent="-333375" lvl="0" marL="457200" rtl="0" algn="l">
              <a:lnSpc>
                <a:spcPct val="100000"/>
              </a:lnSpc>
              <a:spcBef>
                <a:spcPts val="1200"/>
              </a:spcBef>
              <a:spcAft>
                <a:spcPts val="0"/>
              </a:spcAft>
              <a:buSzPts val="1650"/>
              <a:buChar char="●"/>
            </a:pPr>
            <a:r>
              <a:rPr b="1" lang="es" sz="1650"/>
              <a:t>Motor de base de datos</a:t>
            </a:r>
            <a:r>
              <a:rPr lang="es" sz="1650"/>
              <a:t>, para trabajar en forma local (</a:t>
            </a:r>
            <a:r>
              <a:rPr i="1" lang="es" sz="1650"/>
              <a:t>MySQL Server</a:t>
            </a:r>
            <a:r>
              <a:rPr lang="es" sz="1650"/>
              <a:t>)</a:t>
            </a:r>
            <a:endParaRPr sz="1650"/>
          </a:p>
          <a:p>
            <a:pPr indent="-333375" lvl="0" marL="457200" rtl="0" algn="l">
              <a:lnSpc>
                <a:spcPct val="100000"/>
              </a:lnSpc>
              <a:spcBef>
                <a:spcPts val="0"/>
              </a:spcBef>
              <a:spcAft>
                <a:spcPts val="0"/>
              </a:spcAft>
              <a:buSzPts val="1650"/>
              <a:buChar char="●"/>
            </a:pPr>
            <a:r>
              <a:rPr b="1" lang="es" sz="1650"/>
              <a:t>Gestor de base de datos</a:t>
            </a:r>
            <a:r>
              <a:rPr lang="es" sz="1650"/>
              <a:t>, servidor (</a:t>
            </a:r>
            <a:r>
              <a:rPr i="1" lang="es" sz="1650"/>
              <a:t>XAMPP</a:t>
            </a:r>
            <a:r>
              <a:rPr lang="es" sz="1650"/>
              <a:t>)</a:t>
            </a:r>
            <a:endParaRPr sz="1650"/>
          </a:p>
          <a:p>
            <a:pPr indent="-333375" lvl="0" marL="457200" rtl="0" algn="l">
              <a:lnSpc>
                <a:spcPct val="100000"/>
              </a:lnSpc>
              <a:spcBef>
                <a:spcPts val="0"/>
              </a:spcBef>
              <a:spcAft>
                <a:spcPts val="0"/>
              </a:spcAft>
              <a:buSzPts val="1650"/>
              <a:buChar char="●"/>
            </a:pPr>
            <a:r>
              <a:rPr b="1" lang="es" sz="1650"/>
              <a:t>Ciente</a:t>
            </a:r>
            <a:r>
              <a:rPr lang="es" sz="1650"/>
              <a:t>: aplicación con la cual nos vamos a conectar con nuestro motor de Base de Datos: </a:t>
            </a:r>
            <a:r>
              <a:rPr i="1" lang="es" sz="1650"/>
              <a:t>MySQL Workbench, PHPMYADMIN o VISUAL STUDIO CODE (extensiones)</a:t>
            </a:r>
            <a:endParaRPr i="1" sz="1650"/>
          </a:p>
          <a:p>
            <a:pPr indent="0" lvl="0" marL="0" rtl="0" algn="l">
              <a:lnSpc>
                <a:spcPct val="100000"/>
              </a:lnSpc>
              <a:spcBef>
                <a:spcPts val="1200"/>
              </a:spcBef>
              <a:spcAft>
                <a:spcPts val="1200"/>
              </a:spcAft>
              <a:buSzPts val="1800"/>
              <a:buNone/>
            </a:pPr>
            <a:r>
              <a:rPr b="1" lang="es" sz="1650"/>
              <a:t>Importante</a:t>
            </a:r>
            <a:r>
              <a:rPr lang="es" sz="1650"/>
              <a:t>: Para la instalación se recomienda ver los tutoriales que aparecen en esta presentación y utilizar los archivos que están en el Aula Virtual y la carpeta de Drive compartida.</a:t>
            </a:r>
            <a:endParaRPr i="1" sz="145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29"/>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Instalación MySQL Server | Paso a paso</a:t>
            </a:r>
            <a:endParaRPr/>
          </a:p>
          <a:p>
            <a:pPr indent="0" lvl="0" marL="0" rtl="0" algn="l">
              <a:lnSpc>
                <a:spcPct val="100000"/>
              </a:lnSpc>
              <a:spcBef>
                <a:spcPts val="0"/>
              </a:spcBef>
              <a:spcAft>
                <a:spcPts val="0"/>
              </a:spcAft>
              <a:buSzPct val="111111"/>
              <a:buNone/>
            </a:pPr>
            <a:r>
              <a:t/>
            </a:r>
            <a:endParaRPr/>
          </a:p>
        </p:txBody>
      </p:sp>
      <p:sp>
        <p:nvSpPr>
          <p:cNvPr id="514" name="Google Shape;514;p29"/>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Autofit/>
          </a:bodyPr>
          <a:lstStyle/>
          <a:p>
            <a:pPr indent="-333375" lvl="0" marL="457200" rtl="0" algn="l">
              <a:lnSpc>
                <a:spcPct val="115000"/>
              </a:lnSpc>
              <a:spcBef>
                <a:spcPts val="0"/>
              </a:spcBef>
              <a:spcAft>
                <a:spcPts val="0"/>
              </a:spcAft>
              <a:buSzPts val="1650"/>
              <a:buAutoNum type="arabicPeriod"/>
            </a:pPr>
            <a:r>
              <a:rPr lang="es" sz="1650"/>
              <a:t>Descargar el instalador de </a:t>
            </a:r>
            <a:r>
              <a:rPr lang="es" sz="1650" u="sng">
                <a:solidFill>
                  <a:schemeClr val="hlink"/>
                </a:solidFill>
                <a:hlinkClick r:id="rId3"/>
              </a:rPr>
              <a:t>https://dev.mysql.com/downloads/installer/</a:t>
            </a:r>
            <a:r>
              <a:rPr lang="es" sz="1650"/>
              <a:t> </a:t>
            </a:r>
            <a:endParaRPr sz="1650"/>
          </a:p>
          <a:p>
            <a:pPr indent="-333375" lvl="0" marL="457200" rtl="0" algn="l">
              <a:lnSpc>
                <a:spcPct val="115000"/>
              </a:lnSpc>
              <a:spcBef>
                <a:spcPts val="0"/>
              </a:spcBef>
              <a:spcAft>
                <a:spcPts val="0"/>
              </a:spcAft>
              <a:buSzPts val="1650"/>
              <a:buAutoNum type="arabicPeriod"/>
            </a:pPr>
            <a:r>
              <a:rPr lang="es" sz="1650"/>
              <a:t>Ejecutar el instalador y seleccionar </a:t>
            </a:r>
            <a:r>
              <a:rPr b="1" lang="es" sz="1650"/>
              <a:t>Server Only Execute</a:t>
            </a:r>
            <a:r>
              <a:rPr lang="es" sz="1650"/>
              <a:t>.</a:t>
            </a:r>
            <a:endParaRPr sz="1650"/>
          </a:p>
          <a:p>
            <a:pPr indent="-333375" lvl="0" marL="457200" rtl="0" algn="l">
              <a:lnSpc>
                <a:spcPct val="115000"/>
              </a:lnSpc>
              <a:spcBef>
                <a:spcPts val="0"/>
              </a:spcBef>
              <a:spcAft>
                <a:spcPts val="0"/>
              </a:spcAft>
              <a:buSzPts val="1650"/>
              <a:buAutoNum type="arabicPeriod"/>
            </a:pPr>
            <a:r>
              <a:rPr lang="es" sz="1650"/>
              <a:t>Darle a </a:t>
            </a:r>
            <a:r>
              <a:rPr i="1" lang="es" sz="1650"/>
              <a:t>next </a:t>
            </a:r>
            <a:r>
              <a:rPr lang="es" sz="1650"/>
              <a:t>hasta llegar a la pantalla </a:t>
            </a:r>
            <a:r>
              <a:rPr b="1" lang="es" sz="1650"/>
              <a:t>Authentication Method</a:t>
            </a:r>
            <a:r>
              <a:rPr lang="es" sz="1650"/>
              <a:t>: Seleccionar </a:t>
            </a:r>
            <a:r>
              <a:rPr i="1" lang="es" sz="1650"/>
              <a:t>Use Legacy Authentication Method</a:t>
            </a:r>
            <a:r>
              <a:rPr lang="es" sz="1650"/>
              <a:t>.</a:t>
            </a:r>
            <a:endParaRPr sz="1650"/>
          </a:p>
          <a:p>
            <a:pPr indent="-333375" lvl="0" marL="457200" rtl="0" algn="l">
              <a:lnSpc>
                <a:spcPct val="115000"/>
              </a:lnSpc>
              <a:spcBef>
                <a:spcPts val="0"/>
              </a:spcBef>
              <a:spcAft>
                <a:spcPts val="0"/>
              </a:spcAft>
              <a:buSzPts val="1650"/>
              <a:buAutoNum type="arabicPeriod"/>
            </a:pPr>
            <a:r>
              <a:rPr lang="es" sz="1650"/>
              <a:t>En la siguiente pantalla </a:t>
            </a:r>
            <a:r>
              <a:rPr i="1" lang="es" sz="1650"/>
              <a:t>setear </a:t>
            </a:r>
            <a:r>
              <a:rPr lang="es" sz="1650"/>
              <a:t>contraseña para el usuario root en </a:t>
            </a:r>
            <a:r>
              <a:rPr i="1" lang="es" sz="1650"/>
              <a:t>MySQL Root Password</a:t>
            </a:r>
            <a:r>
              <a:rPr lang="es" sz="1650"/>
              <a:t>.</a:t>
            </a:r>
            <a:endParaRPr sz="1650"/>
          </a:p>
          <a:p>
            <a:pPr indent="-333375" lvl="0" marL="457200" rtl="0" algn="l">
              <a:lnSpc>
                <a:spcPct val="115000"/>
              </a:lnSpc>
              <a:spcBef>
                <a:spcPts val="0"/>
              </a:spcBef>
              <a:spcAft>
                <a:spcPts val="0"/>
              </a:spcAft>
              <a:buSzPts val="1650"/>
              <a:buAutoNum type="arabicPeriod"/>
            </a:pPr>
            <a:r>
              <a:rPr lang="es" sz="1650"/>
              <a:t>Darle next y al llegar a </a:t>
            </a:r>
            <a:r>
              <a:rPr b="1" lang="es" sz="1650"/>
              <a:t>Apply Configuration</a:t>
            </a:r>
            <a:r>
              <a:rPr lang="es" sz="1650"/>
              <a:t> apretar </a:t>
            </a:r>
            <a:r>
              <a:rPr i="1" lang="es" sz="1650"/>
              <a:t>Execute</a:t>
            </a:r>
            <a:r>
              <a:rPr lang="es" sz="1650"/>
              <a:t>.</a:t>
            </a:r>
            <a:endParaRPr i="1" sz="145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3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400"/>
              <a:buNone/>
            </a:pPr>
            <a:r>
              <a:t/>
            </a:r>
            <a:endParaRPr/>
          </a:p>
        </p:txBody>
      </p:sp>
      <p:sp>
        <p:nvSpPr>
          <p:cNvPr id="520" name="Google Shape;520;p30"/>
          <p:cNvSpPr txBox="1"/>
          <p:nvPr>
            <p:ph type="title"/>
          </p:nvPr>
        </p:nvSpPr>
        <p:spPr>
          <a:xfrm>
            <a:off x="311700" y="5974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39285"/>
              <a:buFont typeface="Arial"/>
              <a:buNone/>
            </a:pPr>
            <a:r>
              <a:rPr lang="es"/>
              <a:t>Herramientas para manejo de Base de Datos</a:t>
            </a:r>
            <a:endParaRPr/>
          </a:p>
        </p:txBody>
      </p:sp>
      <p:sp>
        <p:nvSpPr>
          <p:cNvPr id="521" name="Google Shape;521;p3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Clr>
                <a:schemeClr val="dk1"/>
              </a:buClr>
              <a:buSzPts val="1100"/>
              <a:buFont typeface="Arial"/>
              <a:buNone/>
            </a:pPr>
            <a:r>
              <a:rPr b="1" lang="es" sz="1200"/>
              <a:t>MYSQL WORKBENCH: </a:t>
            </a:r>
            <a:r>
              <a:rPr lang="es" sz="1200"/>
              <a:t>Es una herramienta visual de diseño de bases de datos que integra desarrollo de software, administración de bases de datos, diseño de bases de datos, creación y mantenimiento para el sistema de base de datos MySQL.</a:t>
            </a:r>
            <a:endParaRPr sz="1200"/>
          </a:p>
          <a:p>
            <a:pPr indent="0" lvl="0" marL="0" rtl="0" algn="l">
              <a:lnSpc>
                <a:spcPct val="105000"/>
              </a:lnSpc>
              <a:spcBef>
                <a:spcPts val="1200"/>
              </a:spcBef>
              <a:spcAft>
                <a:spcPts val="0"/>
              </a:spcAft>
              <a:buClr>
                <a:schemeClr val="dk1"/>
              </a:buClr>
              <a:buSzPts val="1100"/>
              <a:buFont typeface="Arial"/>
              <a:buNone/>
            </a:pPr>
            <a:r>
              <a:rPr b="1" lang="es" sz="1200"/>
              <a:t>PHPMYADMIN: </a:t>
            </a:r>
            <a:r>
              <a:rPr lang="es" sz="1200"/>
              <a:t>Es una herramienta escrita en PHP con la intención de manejar la administración de MySQL a través de páginas web, utilizando Internet.</a:t>
            </a:r>
            <a:br>
              <a:rPr lang="es" sz="1200"/>
            </a:br>
            <a:r>
              <a:rPr lang="es" sz="1200"/>
              <a:t>Puede crear y eliminar Bases de Datos, crear, eliminar y alterar tablas, borrar, editar y añadir campos, ejecutar cualquier sentencia SQL, administrar claves en campos, administrar privilegios y exportar datos en varios formatos.</a:t>
            </a:r>
            <a:endParaRPr sz="1200"/>
          </a:p>
          <a:p>
            <a:pPr indent="0" lvl="0" marL="0" rtl="0" algn="l">
              <a:lnSpc>
                <a:spcPct val="105000"/>
              </a:lnSpc>
              <a:spcBef>
                <a:spcPts val="1200"/>
              </a:spcBef>
              <a:spcAft>
                <a:spcPts val="1200"/>
              </a:spcAft>
              <a:buClr>
                <a:schemeClr val="dk1"/>
              </a:buClr>
              <a:buSzPts val="1100"/>
              <a:buFont typeface="Arial"/>
              <a:buNone/>
            </a:pPr>
            <a:r>
              <a:t/>
            </a:r>
            <a:endParaRPr sz="1200"/>
          </a:p>
        </p:txBody>
      </p:sp>
      <p:pic>
        <p:nvPicPr>
          <p:cNvPr id="522" name="Google Shape;522;p30"/>
          <p:cNvPicPr preferRelativeResize="0"/>
          <p:nvPr/>
        </p:nvPicPr>
        <p:blipFill rotWithShape="1">
          <a:blip r:embed="rId3">
            <a:alphaModFix/>
          </a:blip>
          <a:srcRect b="0" l="0" r="0" t="0"/>
          <a:stretch/>
        </p:blipFill>
        <p:spPr>
          <a:xfrm>
            <a:off x="6664775" y="1152475"/>
            <a:ext cx="2167536" cy="1639950"/>
          </a:xfrm>
          <a:prstGeom prst="rect">
            <a:avLst/>
          </a:prstGeom>
          <a:noFill/>
          <a:ln>
            <a:noFill/>
          </a:ln>
          <a:effectLst>
            <a:outerShdw blurRad="57150" rotWithShape="0" algn="bl" dir="5400000" dist="19050">
              <a:srgbClr val="000000">
                <a:alpha val="49803"/>
              </a:srgbClr>
            </a:outerShdw>
          </a:effectLst>
        </p:spPr>
      </p:pic>
      <p:pic>
        <p:nvPicPr>
          <p:cNvPr id="523" name="Google Shape;523;p30"/>
          <p:cNvPicPr preferRelativeResize="0"/>
          <p:nvPr/>
        </p:nvPicPr>
        <p:blipFill rotWithShape="1">
          <a:blip r:embed="rId4">
            <a:alphaModFix/>
          </a:blip>
          <a:srcRect b="0" l="0" r="0" t="0"/>
          <a:stretch/>
        </p:blipFill>
        <p:spPr>
          <a:xfrm>
            <a:off x="4832400" y="2928925"/>
            <a:ext cx="2167925" cy="1639950"/>
          </a:xfrm>
          <a:prstGeom prst="rect">
            <a:avLst/>
          </a:prstGeom>
          <a:noFill/>
          <a:ln>
            <a:noFill/>
          </a:ln>
          <a:effectLst>
            <a:outerShdw blurRad="57150" rotWithShape="0" algn="bl" dir="5400000" dist="19050">
              <a:srgbClr val="000000">
                <a:alpha val="49803"/>
              </a:srgbClr>
            </a:outerShdw>
          </a:effectLst>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31"/>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Herramientas para manejo de Base de Datos</a:t>
            </a:r>
            <a:endParaRPr/>
          </a:p>
          <a:p>
            <a:pPr indent="0" lvl="0" marL="0" rtl="0" algn="l">
              <a:lnSpc>
                <a:spcPct val="100000"/>
              </a:lnSpc>
              <a:spcBef>
                <a:spcPts val="0"/>
              </a:spcBef>
              <a:spcAft>
                <a:spcPts val="0"/>
              </a:spcAft>
              <a:buSzPct val="111111"/>
              <a:buNone/>
            </a:pPr>
            <a:r>
              <a:t/>
            </a:r>
            <a:endParaRPr/>
          </a:p>
        </p:txBody>
      </p:sp>
      <p:sp>
        <p:nvSpPr>
          <p:cNvPr id="529" name="Google Shape;529;p31"/>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b="1" lang="es" sz="1650"/>
              <a:t>VISUAL STUDIO CODE:</a:t>
            </a:r>
            <a:r>
              <a:rPr lang="es" sz="1650"/>
              <a:t> </a:t>
            </a:r>
            <a:endParaRPr sz="1650"/>
          </a:p>
          <a:p>
            <a:pPr indent="-333375" lvl="0" marL="457200" rtl="0" algn="l">
              <a:lnSpc>
                <a:spcPct val="100000"/>
              </a:lnSpc>
              <a:spcBef>
                <a:spcPts val="1200"/>
              </a:spcBef>
              <a:spcAft>
                <a:spcPts val="0"/>
              </a:spcAft>
              <a:buSzPts val="1650"/>
              <a:buAutoNum type="arabicPeriod"/>
            </a:pPr>
            <a:r>
              <a:rPr lang="es" sz="1650"/>
              <a:t>Descargar las siguientes extensiones en VSCode:</a:t>
            </a:r>
            <a:endParaRPr sz="1650"/>
          </a:p>
          <a:p>
            <a:pPr indent="0" lvl="0" marL="457200" rtl="0" algn="l">
              <a:lnSpc>
                <a:spcPct val="100000"/>
              </a:lnSpc>
              <a:spcBef>
                <a:spcPts val="0"/>
              </a:spcBef>
              <a:spcAft>
                <a:spcPts val="0"/>
              </a:spcAft>
              <a:buSzPts val="1800"/>
              <a:buNone/>
            </a:pPr>
            <a:r>
              <a:t/>
            </a:r>
            <a:endParaRPr sz="1650"/>
          </a:p>
          <a:p>
            <a:pPr indent="0" lvl="0" marL="457200" rtl="0" algn="l">
              <a:lnSpc>
                <a:spcPct val="100000"/>
              </a:lnSpc>
              <a:spcBef>
                <a:spcPts val="0"/>
              </a:spcBef>
              <a:spcAft>
                <a:spcPts val="0"/>
              </a:spcAft>
              <a:buSzPts val="1800"/>
              <a:buNone/>
            </a:pPr>
            <a:r>
              <a:t/>
            </a:r>
            <a:endParaRPr sz="1650"/>
          </a:p>
          <a:p>
            <a:pPr indent="0" lvl="0" marL="457200" rtl="0" algn="l">
              <a:lnSpc>
                <a:spcPct val="100000"/>
              </a:lnSpc>
              <a:spcBef>
                <a:spcPts val="0"/>
              </a:spcBef>
              <a:spcAft>
                <a:spcPts val="0"/>
              </a:spcAft>
              <a:buSzPts val="1800"/>
              <a:buNone/>
            </a:pPr>
            <a:r>
              <a:t/>
            </a:r>
            <a:endParaRPr sz="1650"/>
          </a:p>
          <a:p>
            <a:pPr indent="0" lvl="0" marL="457200" rtl="0" algn="l">
              <a:lnSpc>
                <a:spcPct val="100000"/>
              </a:lnSpc>
              <a:spcBef>
                <a:spcPts val="0"/>
              </a:spcBef>
              <a:spcAft>
                <a:spcPts val="0"/>
              </a:spcAft>
              <a:buSzPts val="1800"/>
              <a:buNone/>
            </a:pPr>
            <a:r>
              <a:t/>
            </a:r>
            <a:endParaRPr sz="1650"/>
          </a:p>
          <a:p>
            <a:pPr indent="-333375" lvl="0" marL="457200" rtl="0" algn="l">
              <a:lnSpc>
                <a:spcPct val="100000"/>
              </a:lnSpc>
              <a:spcBef>
                <a:spcPts val="0"/>
              </a:spcBef>
              <a:spcAft>
                <a:spcPts val="0"/>
              </a:spcAft>
              <a:buSzPts val="1650"/>
              <a:buAutoNum type="arabicPeriod"/>
            </a:pPr>
            <a:r>
              <a:rPr lang="es" sz="1650"/>
              <a:t>Cerrar y volver a abrir Visual Studio Code.</a:t>
            </a:r>
            <a:endParaRPr sz="1650"/>
          </a:p>
          <a:p>
            <a:pPr indent="-333375" lvl="0" marL="457200" rtl="0" algn="l">
              <a:lnSpc>
                <a:spcPct val="100000"/>
              </a:lnSpc>
              <a:spcBef>
                <a:spcPts val="0"/>
              </a:spcBef>
              <a:spcAft>
                <a:spcPts val="0"/>
              </a:spcAft>
              <a:buSzPts val="1650"/>
              <a:buAutoNum type="arabicPeriod"/>
            </a:pPr>
            <a:r>
              <a:rPr lang="es" sz="1650"/>
              <a:t>Apretar el símbolo + en el apartado MySQL. Al ser la primera vez que se configura no aparecerá ninguna base de datos:	</a:t>
            </a:r>
            <a:endParaRPr sz="1650"/>
          </a:p>
        </p:txBody>
      </p:sp>
      <p:pic>
        <p:nvPicPr>
          <p:cNvPr id="530" name="Google Shape;530;p31"/>
          <p:cNvPicPr preferRelativeResize="0"/>
          <p:nvPr/>
        </p:nvPicPr>
        <p:blipFill rotWithShape="1">
          <a:blip r:embed="rId3">
            <a:alphaModFix/>
          </a:blip>
          <a:srcRect b="0" l="0" r="0" t="0"/>
          <a:stretch/>
        </p:blipFill>
        <p:spPr>
          <a:xfrm>
            <a:off x="3036799" y="2084511"/>
            <a:ext cx="3053001" cy="846162"/>
          </a:xfrm>
          <a:prstGeom prst="rect">
            <a:avLst/>
          </a:prstGeom>
          <a:noFill/>
          <a:ln>
            <a:noFill/>
          </a:ln>
        </p:spPr>
      </p:pic>
      <p:pic>
        <p:nvPicPr>
          <p:cNvPr id="531" name="Google Shape;531;p31"/>
          <p:cNvPicPr preferRelativeResize="0"/>
          <p:nvPr/>
        </p:nvPicPr>
        <p:blipFill rotWithShape="1">
          <a:blip r:embed="rId4">
            <a:alphaModFix/>
          </a:blip>
          <a:srcRect b="12454" l="0" r="50159" t="71187"/>
          <a:stretch/>
        </p:blipFill>
        <p:spPr>
          <a:xfrm>
            <a:off x="3740250" y="3845050"/>
            <a:ext cx="1663500" cy="7778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32"/>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Herramientas para manejo de Base de Datos</a:t>
            </a:r>
            <a:endParaRPr/>
          </a:p>
          <a:p>
            <a:pPr indent="0" lvl="0" marL="0" rtl="0" algn="l">
              <a:lnSpc>
                <a:spcPct val="100000"/>
              </a:lnSpc>
              <a:spcBef>
                <a:spcPts val="0"/>
              </a:spcBef>
              <a:spcAft>
                <a:spcPts val="0"/>
              </a:spcAft>
              <a:buSzPct val="111111"/>
              <a:buNone/>
            </a:pPr>
            <a:r>
              <a:t/>
            </a:r>
            <a:endParaRPr/>
          </a:p>
        </p:txBody>
      </p:sp>
      <p:sp>
        <p:nvSpPr>
          <p:cNvPr id="537" name="Google Shape;537;p32"/>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b="1" lang="es" sz="1650"/>
              <a:t>VISUAL STUDIO CODE (continuación):</a:t>
            </a:r>
            <a:r>
              <a:rPr lang="es" sz="1650"/>
              <a:t> </a:t>
            </a:r>
            <a:endParaRPr sz="1650"/>
          </a:p>
          <a:p>
            <a:pPr indent="-333375" lvl="0" marL="457200" rtl="0" algn="l">
              <a:lnSpc>
                <a:spcPct val="100000"/>
              </a:lnSpc>
              <a:spcBef>
                <a:spcPts val="1200"/>
              </a:spcBef>
              <a:spcAft>
                <a:spcPts val="0"/>
              </a:spcAft>
              <a:buSzPts val="1650"/>
              <a:buAutoNum type="arabicPeriod" startAt="4"/>
            </a:pPr>
            <a:r>
              <a:rPr lang="es" sz="1650"/>
              <a:t>Rellenar usuario y contraseña, los demás datos (puerto y SSL) y apretar ENTER.</a:t>
            </a:r>
            <a:endParaRPr sz="1650"/>
          </a:p>
          <a:p>
            <a:pPr indent="0" lvl="0" marL="457200" rtl="0" algn="l">
              <a:lnSpc>
                <a:spcPct val="100000"/>
              </a:lnSpc>
              <a:spcBef>
                <a:spcPts val="0"/>
              </a:spcBef>
              <a:spcAft>
                <a:spcPts val="0"/>
              </a:spcAft>
              <a:buSzPts val="1800"/>
              <a:buNone/>
            </a:pPr>
            <a:r>
              <a:t/>
            </a:r>
            <a:endParaRPr sz="1650"/>
          </a:p>
          <a:p>
            <a:pPr indent="0" lvl="0" marL="457200" rtl="0" algn="l">
              <a:lnSpc>
                <a:spcPct val="100000"/>
              </a:lnSpc>
              <a:spcBef>
                <a:spcPts val="0"/>
              </a:spcBef>
              <a:spcAft>
                <a:spcPts val="0"/>
              </a:spcAft>
              <a:buSzPts val="1800"/>
              <a:buNone/>
            </a:pPr>
            <a:r>
              <a:t/>
            </a:r>
            <a:endParaRPr sz="1650"/>
          </a:p>
          <a:p>
            <a:pPr indent="0" lvl="0" marL="457200" rtl="0" algn="l">
              <a:lnSpc>
                <a:spcPct val="100000"/>
              </a:lnSpc>
              <a:spcBef>
                <a:spcPts val="0"/>
              </a:spcBef>
              <a:spcAft>
                <a:spcPts val="0"/>
              </a:spcAft>
              <a:buSzPts val="1800"/>
              <a:buNone/>
            </a:pPr>
            <a:r>
              <a:t/>
            </a:r>
            <a:endParaRPr sz="1650"/>
          </a:p>
          <a:p>
            <a:pPr indent="0" lvl="0" marL="457200" rtl="0" algn="l">
              <a:lnSpc>
                <a:spcPct val="100000"/>
              </a:lnSpc>
              <a:spcBef>
                <a:spcPts val="0"/>
              </a:spcBef>
              <a:spcAft>
                <a:spcPts val="0"/>
              </a:spcAft>
              <a:buSzPts val="1800"/>
              <a:buNone/>
            </a:pPr>
            <a:r>
              <a:t/>
            </a:r>
            <a:endParaRPr sz="1650"/>
          </a:p>
          <a:p>
            <a:pPr indent="-333375" lvl="0" marL="457200" rtl="0" algn="l">
              <a:lnSpc>
                <a:spcPct val="100000"/>
              </a:lnSpc>
              <a:spcBef>
                <a:spcPts val="0"/>
              </a:spcBef>
              <a:spcAft>
                <a:spcPts val="0"/>
              </a:spcAft>
              <a:buSzPts val="1650"/>
              <a:buAutoNum type="arabicPeriod" startAt="4"/>
            </a:pPr>
            <a:r>
              <a:rPr lang="es" sz="1650"/>
              <a:t>Deberá aparecer localhost:</a:t>
            </a:r>
            <a:endParaRPr sz="1650"/>
          </a:p>
        </p:txBody>
      </p:sp>
      <p:pic>
        <p:nvPicPr>
          <p:cNvPr id="538" name="Google Shape;538;p32"/>
          <p:cNvPicPr preferRelativeResize="0"/>
          <p:nvPr/>
        </p:nvPicPr>
        <p:blipFill rotWithShape="1">
          <a:blip r:embed="rId3">
            <a:alphaModFix/>
          </a:blip>
          <a:srcRect b="0" l="0" r="16359" t="0"/>
          <a:stretch/>
        </p:blipFill>
        <p:spPr>
          <a:xfrm>
            <a:off x="739138" y="2334875"/>
            <a:ext cx="7648324" cy="802600"/>
          </a:xfrm>
          <a:prstGeom prst="rect">
            <a:avLst/>
          </a:prstGeom>
          <a:noFill/>
          <a:ln>
            <a:noFill/>
          </a:ln>
        </p:spPr>
      </p:pic>
      <p:pic>
        <p:nvPicPr>
          <p:cNvPr id="539" name="Google Shape;539;p32"/>
          <p:cNvPicPr preferRelativeResize="0"/>
          <p:nvPr/>
        </p:nvPicPr>
        <p:blipFill rotWithShape="1">
          <a:blip r:embed="rId4">
            <a:alphaModFix/>
          </a:blip>
          <a:srcRect b="33384" l="0" r="51660" t="21864"/>
          <a:stretch/>
        </p:blipFill>
        <p:spPr>
          <a:xfrm>
            <a:off x="3282672" y="3608525"/>
            <a:ext cx="2578700" cy="10143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33"/>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400"/>
              <a:buNone/>
            </a:pPr>
            <a:r>
              <a:t/>
            </a:r>
            <a:endParaRPr/>
          </a:p>
        </p:txBody>
      </p:sp>
      <p:sp>
        <p:nvSpPr>
          <p:cNvPr id="545" name="Google Shape;545;p33"/>
          <p:cNvSpPr txBox="1"/>
          <p:nvPr>
            <p:ph type="title"/>
          </p:nvPr>
        </p:nvSpPr>
        <p:spPr>
          <a:xfrm>
            <a:off x="311700" y="5974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Conectarse al servidor MySQL</a:t>
            </a:r>
            <a:endParaRPr/>
          </a:p>
        </p:txBody>
      </p:sp>
      <p:sp>
        <p:nvSpPr>
          <p:cNvPr id="546" name="Google Shape;546;p33"/>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s"/>
              <a:t>Para que un programa cliente (</a:t>
            </a:r>
            <a:r>
              <a:rPr i="1" lang="es"/>
              <a:t>VSCode, MySQL Workbench, phpMyAdmin, etc.</a:t>
            </a:r>
            <a:r>
              <a:rPr lang="es"/>
              <a:t>) se conecte al servidor MySQL, debés utilizar los parámetros de conexión adecuados, como el nombre del host donde se ejecuta el servidor y el nombre de usuario y contraseña de tu cuenta MySQL.</a:t>
            </a:r>
            <a:endParaRPr/>
          </a:p>
          <a:p>
            <a:pPr indent="0" lvl="0" marL="0" rtl="0" algn="l">
              <a:lnSpc>
                <a:spcPct val="115000"/>
              </a:lnSpc>
              <a:spcBef>
                <a:spcPts val="1200"/>
              </a:spcBef>
              <a:spcAft>
                <a:spcPts val="0"/>
              </a:spcAft>
              <a:buSzPts val="1400"/>
              <a:buNone/>
            </a:pPr>
            <a:r>
              <a:rPr lang="es"/>
              <a:t>Cada parámetro de conexión tiene un valor predeterminado, pero puede anular los valores predeterminados según sea necesario utilizando las opciones del programa especificadas en la línea de comandos o en un archivo de opciones.</a:t>
            </a:r>
            <a:endParaRPr/>
          </a:p>
          <a:p>
            <a:pPr indent="0" lvl="0" marL="0" rtl="0" algn="l">
              <a:lnSpc>
                <a:spcPct val="115000"/>
              </a:lnSpc>
              <a:spcBef>
                <a:spcPts val="1200"/>
              </a:spcBef>
              <a:spcAft>
                <a:spcPts val="1200"/>
              </a:spcAft>
              <a:buSzPts val="1400"/>
              <a:buNone/>
            </a:pPr>
            <a:r>
              <a:t/>
            </a:r>
            <a:endParaRPr i="1"/>
          </a:p>
        </p:txBody>
      </p:sp>
      <p:pic>
        <p:nvPicPr>
          <p:cNvPr id="547" name="Google Shape;547;p33"/>
          <p:cNvPicPr preferRelativeResize="0"/>
          <p:nvPr/>
        </p:nvPicPr>
        <p:blipFill rotWithShape="1">
          <a:blip r:embed="rId3">
            <a:alphaModFix/>
          </a:blip>
          <a:srcRect b="0" l="0" r="0" t="0"/>
          <a:stretch/>
        </p:blipFill>
        <p:spPr>
          <a:xfrm>
            <a:off x="4832400" y="1152474"/>
            <a:ext cx="3999900" cy="2547710"/>
          </a:xfrm>
          <a:prstGeom prst="rect">
            <a:avLst/>
          </a:prstGeom>
          <a:noFill/>
          <a:ln>
            <a:noFill/>
          </a:ln>
        </p:spPr>
      </p:pic>
      <p:sp>
        <p:nvSpPr>
          <p:cNvPr id="548" name="Google Shape;548;p33"/>
          <p:cNvSpPr txBox="1"/>
          <p:nvPr>
            <p:ph idx="1" type="body"/>
          </p:nvPr>
        </p:nvSpPr>
        <p:spPr>
          <a:xfrm>
            <a:off x="4832400" y="3909925"/>
            <a:ext cx="3999900" cy="6588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200"/>
              </a:spcAft>
              <a:buSzPts val="1400"/>
              <a:buNone/>
            </a:pPr>
            <a:r>
              <a:rPr b="1" lang="es" sz="1000"/>
              <a:t>MySQL Workbench</a:t>
            </a:r>
            <a:r>
              <a:rPr lang="es" sz="1000"/>
              <a:t>: En MySQL Connections deben establecer una nueva conexión con el signo + y poner los datos de la nueva conexión.</a:t>
            </a:r>
            <a:endParaRPr i="1" sz="10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34"/>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Crear una base de datos de prueba</a:t>
            </a:r>
            <a:endParaRPr/>
          </a:p>
        </p:txBody>
      </p:sp>
      <p:sp>
        <p:nvSpPr>
          <p:cNvPr id="554" name="Google Shape;554;p34"/>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s" sz="1650"/>
              <a:t>WORLD.SQL:</a:t>
            </a:r>
            <a:r>
              <a:rPr lang="es" sz="1650"/>
              <a:t> Los pasos se detallan para </a:t>
            </a:r>
            <a:r>
              <a:rPr b="1" lang="es" sz="1650"/>
              <a:t>VSCode </a:t>
            </a:r>
            <a:r>
              <a:rPr lang="es" sz="1650"/>
              <a:t>pero para MySQL Workbench y phpMyAdmin resultan similares.</a:t>
            </a:r>
            <a:endParaRPr sz="1650"/>
          </a:p>
          <a:p>
            <a:pPr indent="-333375" lvl="0" marL="457200" rtl="0" algn="l">
              <a:lnSpc>
                <a:spcPct val="115000"/>
              </a:lnSpc>
              <a:spcBef>
                <a:spcPts val="1200"/>
              </a:spcBef>
              <a:spcAft>
                <a:spcPts val="0"/>
              </a:spcAft>
              <a:buSzPts val="1650"/>
              <a:buAutoNum type="arabicPeriod"/>
            </a:pPr>
            <a:r>
              <a:rPr lang="es" sz="1650"/>
              <a:t>Descargar </a:t>
            </a:r>
            <a:r>
              <a:rPr b="1" lang="es" sz="1650"/>
              <a:t>world.sql </a:t>
            </a:r>
            <a:r>
              <a:rPr lang="es" sz="1650"/>
              <a:t>del Aula Virtual y abrir con Visual Studio Code.</a:t>
            </a:r>
            <a:endParaRPr sz="1650"/>
          </a:p>
          <a:p>
            <a:pPr indent="-333375" lvl="0" marL="457200" rtl="0" algn="l">
              <a:lnSpc>
                <a:spcPct val="115000"/>
              </a:lnSpc>
              <a:spcBef>
                <a:spcPts val="0"/>
              </a:spcBef>
              <a:spcAft>
                <a:spcPts val="0"/>
              </a:spcAft>
              <a:buSzPts val="1650"/>
              <a:buAutoNum type="arabicPeriod"/>
            </a:pPr>
            <a:r>
              <a:rPr lang="es" sz="1650"/>
              <a:t>Apretar botón derecho &gt; Run SQL Query.</a:t>
            </a:r>
            <a:endParaRPr i="1" sz="1450"/>
          </a:p>
        </p:txBody>
      </p:sp>
      <p:pic>
        <p:nvPicPr>
          <p:cNvPr id="555" name="Google Shape;555;p34"/>
          <p:cNvPicPr preferRelativeResize="0"/>
          <p:nvPr/>
        </p:nvPicPr>
        <p:blipFill rotWithShape="1">
          <a:blip r:embed="rId3">
            <a:alphaModFix/>
          </a:blip>
          <a:srcRect b="0" l="0" r="0" t="0"/>
          <a:stretch/>
        </p:blipFill>
        <p:spPr>
          <a:xfrm>
            <a:off x="4339063" y="2717350"/>
            <a:ext cx="3469750" cy="1905525"/>
          </a:xfrm>
          <a:prstGeom prst="rect">
            <a:avLst/>
          </a:prstGeom>
          <a:noFill/>
          <a:ln>
            <a:noFill/>
          </a:ln>
        </p:spPr>
      </p:pic>
      <p:pic>
        <p:nvPicPr>
          <p:cNvPr id="556" name="Google Shape;556;p34"/>
          <p:cNvPicPr preferRelativeResize="0"/>
          <p:nvPr/>
        </p:nvPicPr>
        <p:blipFill rotWithShape="1">
          <a:blip r:embed="rId4">
            <a:alphaModFix/>
          </a:blip>
          <a:srcRect b="0" l="0" r="0" t="0"/>
          <a:stretch/>
        </p:blipFill>
        <p:spPr>
          <a:xfrm>
            <a:off x="1335233" y="2717345"/>
            <a:ext cx="2262725" cy="13096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35"/>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MySQL Workbench: ver una BD y acceder a tablas</a:t>
            </a:r>
            <a:endParaRPr/>
          </a:p>
        </p:txBody>
      </p:sp>
      <p:sp>
        <p:nvSpPr>
          <p:cNvPr id="562" name="Google Shape;562;p35"/>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1800"/>
              <a:buNone/>
            </a:pPr>
            <a:r>
              <a:rPr lang="es" sz="1650"/>
              <a:t>Una vez que nos conectamos al LocalHost, previa conexión con XAMPP, podremos acceder a ver las bases de datos y sus tablas:</a:t>
            </a:r>
            <a:endParaRPr i="1" sz="1450"/>
          </a:p>
        </p:txBody>
      </p:sp>
      <p:pic>
        <p:nvPicPr>
          <p:cNvPr id="563" name="Google Shape;563;p35"/>
          <p:cNvPicPr preferRelativeResize="0"/>
          <p:nvPr/>
        </p:nvPicPr>
        <p:blipFill rotWithShape="1">
          <a:blip r:embed="rId3">
            <a:alphaModFix/>
          </a:blip>
          <a:srcRect b="0" l="0" r="0" t="0"/>
          <a:stretch/>
        </p:blipFill>
        <p:spPr>
          <a:xfrm>
            <a:off x="2153475" y="2042150"/>
            <a:ext cx="4837101" cy="2529451"/>
          </a:xfrm>
          <a:prstGeom prst="rect">
            <a:avLst/>
          </a:prstGeom>
          <a:noFill/>
          <a:ln>
            <a:noFill/>
          </a:ln>
        </p:spPr>
      </p:pic>
      <p:sp>
        <p:nvSpPr>
          <p:cNvPr id="564" name="Google Shape;564;p35"/>
          <p:cNvSpPr/>
          <p:nvPr/>
        </p:nvSpPr>
        <p:spPr>
          <a:xfrm>
            <a:off x="693875" y="2409475"/>
            <a:ext cx="991200" cy="659400"/>
          </a:xfrm>
          <a:prstGeom prst="rect">
            <a:avLst/>
          </a:prstGeom>
          <a:solidFill>
            <a:srgbClr val="FFE66D"/>
          </a:solidFill>
          <a:ln cap="flat" cmpd="sng" w="9525">
            <a:solidFill>
              <a:srgbClr val="F39C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1" lang="es" sz="1100" u="none" cap="none" strike="noStrike">
                <a:solidFill>
                  <a:srgbClr val="000000"/>
                </a:solidFill>
                <a:latin typeface="Montserrat"/>
                <a:ea typeface="Montserrat"/>
                <a:cs typeface="Montserrat"/>
                <a:sym typeface="Montserrat"/>
              </a:rPr>
              <a:t>Bases de datos (schemas)</a:t>
            </a:r>
            <a:endParaRPr b="0" i="1" sz="1100" u="none" cap="none" strike="noStrike">
              <a:solidFill>
                <a:srgbClr val="000000"/>
              </a:solidFill>
              <a:latin typeface="Montserrat"/>
              <a:ea typeface="Montserrat"/>
              <a:cs typeface="Montserrat"/>
              <a:sym typeface="Montserrat"/>
            </a:endParaRPr>
          </a:p>
        </p:txBody>
      </p:sp>
      <p:sp>
        <p:nvSpPr>
          <p:cNvPr id="565" name="Google Shape;565;p35"/>
          <p:cNvSpPr/>
          <p:nvPr/>
        </p:nvSpPr>
        <p:spPr>
          <a:xfrm>
            <a:off x="693875" y="3336850"/>
            <a:ext cx="991200" cy="659400"/>
          </a:xfrm>
          <a:prstGeom prst="rect">
            <a:avLst/>
          </a:prstGeom>
          <a:solidFill>
            <a:srgbClr val="FFE66D"/>
          </a:solidFill>
          <a:ln cap="flat" cmpd="sng" w="9525">
            <a:solidFill>
              <a:srgbClr val="F39C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1" lang="es" sz="1100" u="none" cap="none" strike="noStrike">
                <a:solidFill>
                  <a:srgbClr val="000000"/>
                </a:solidFill>
                <a:latin typeface="Montserrat"/>
                <a:ea typeface="Montserrat"/>
                <a:cs typeface="Montserrat"/>
                <a:sym typeface="Montserrat"/>
              </a:rPr>
              <a:t>Tablas (entidades)</a:t>
            </a:r>
            <a:endParaRPr b="0" i="1" sz="1100" u="none" cap="none" strike="noStrike">
              <a:solidFill>
                <a:srgbClr val="000000"/>
              </a:solidFill>
              <a:latin typeface="Montserrat"/>
              <a:ea typeface="Montserrat"/>
              <a:cs typeface="Montserrat"/>
              <a:sym typeface="Montserrat"/>
            </a:endParaRPr>
          </a:p>
        </p:txBody>
      </p:sp>
      <p:sp>
        <p:nvSpPr>
          <p:cNvPr id="566" name="Google Shape;566;p35"/>
          <p:cNvSpPr/>
          <p:nvPr/>
        </p:nvSpPr>
        <p:spPr>
          <a:xfrm>
            <a:off x="6990575" y="3241250"/>
            <a:ext cx="1235700" cy="659400"/>
          </a:xfrm>
          <a:prstGeom prst="rect">
            <a:avLst/>
          </a:prstGeom>
          <a:solidFill>
            <a:srgbClr val="FFE66D"/>
          </a:solidFill>
          <a:ln cap="flat" cmpd="sng" w="9525">
            <a:solidFill>
              <a:srgbClr val="F39C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1" lang="es" sz="1100" u="none" cap="none" strike="noStrike">
                <a:solidFill>
                  <a:srgbClr val="000000"/>
                </a:solidFill>
                <a:latin typeface="Montserrat"/>
                <a:ea typeface="Montserrat"/>
                <a:cs typeface="Montserrat"/>
                <a:sym typeface="Montserrat"/>
              </a:rPr>
              <a:t>Registros seleccionados</a:t>
            </a:r>
            <a:endParaRPr b="0" i="1" sz="1100" u="none" cap="none" strike="noStrike">
              <a:solidFill>
                <a:srgbClr val="000000"/>
              </a:solidFill>
              <a:latin typeface="Montserrat"/>
              <a:ea typeface="Montserrat"/>
              <a:cs typeface="Montserrat"/>
              <a:sym typeface="Montserrat"/>
            </a:endParaRPr>
          </a:p>
        </p:txBody>
      </p:sp>
      <p:cxnSp>
        <p:nvCxnSpPr>
          <p:cNvPr id="567" name="Google Shape;567;p35"/>
          <p:cNvCxnSpPr>
            <a:stCxn id="564" idx="3"/>
          </p:cNvCxnSpPr>
          <p:nvPr/>
        </p:nvCxnSpPr>
        <p:spPr>
          <a:xfrm>
            <a:off x="1685075" y="2739175"/>
            <a:ext cx="590400" cy="33300"/>
          </a:xfrm>
          <a:prstGeom prst="straightConnector1">
            <a:avLst/>
          </a:prstGeom>
          <a:noFill/>
          <a:ln cap="flat" cmpd="sng" w="19050">
            <a:solidFill>
              <a:srgbClr val="F39C12"/>
            </a:solidFill>
            <a:prstDash val="solid"/>
            <a:round/>
            <a:headEnd len="sm" w="sm" type="none"/>
            <a:tailEnd len="med" w="med" type="triangle"/>
          </a:ln>
        </p:spPr>
      </p:cxnSp>
      <p:cxnSp>
        <p:nvCxnSpPr>
          <p:cNvPr id="568" name="Google Shape;568;p35"/>
          <p:cNvCxnSpPr>
            <a:stCxn id="565" idx="3"/>
          </p:cNvCxnSpPr>
          <p:nvPr/>
        </p:nvCxnSpPr>
        <p:spPr>
          <a:xfrm flipH="1" rot="10800000">
            <a:off x="1685075" y="3011650"/>
            <a:ext cx="638100" cy="654900"/>
          </a:xfrm>
          <a:prstGeom prst="straightConnector1">
            <a:avLst/>
          </a:prstGeom>
          <a:noFill/>
          <a:ln cap="flat" cmpd="sng" w="19050">
            <a:solidFill>
              <a:srgbClr val="F39C12"/>
            </a:solidFill>
            <a:prstDash val="solid"/>
            <a:round/>
            <a:headEnd len="sm" w="sm" type="none"/>
            <a:tailEnd len="med" w="med" type="triangle"/>
          </a:ln>
        </p:spPr>
      </p:cxnSp>
      <p:cxnSp>
        <p:nvCxnSpPr>
          <p:cNvPr id="569" name="Google Shape;569;p35"/>
          <p:cNvCxnSpPr>
            <a:endCxn id="566" idx="1"/>
          </p:cNvCxnSpPr>
          <p:nvPr/>
        </p:nvCxnSpPr>
        <p:spPr>
          <a:xfrm>
            <a:off x="5610275" y="3366950"/>
            <a:ext cx="1380300" cy="204000"/>
          </a:xfrm>
          <a:prstGeom prst="straightConnector1">
            <a:avLst/>
          </a:prstGeom>
          <a:noFill/>
          <a:ln cap="flat" cmpd="sng" w="19050">
            <a:solidFill>
              <a:srgbClr val="F39C12"/>
            </a:solidFill>
            <a:prstDash val="solid"/>
            <a:round/>
            <a:headEnd len="sm" w="sm" type="none"/>
            <a:tailEnd len="med" w="med" type="triangle"/>
          </a:ln>
        </p:spPr>
      </p:cxnSp>
      <p:sp>
        <p:nvSpPr>
          <p:cNvPr id="570" name="Google Shape;570;p35"/>
          <p:cNvSpPr/>
          <p:nvPr/>
        </p:nvSpPr>
        <p:spPr>
          <a:xfrm>
            <a:off x="4610100" y="2609850"/>
            <a:ext cx="3876675" cy="1009650"/>
          </a:xfrm>
          <a:custGeom>
            <a:rect b="b" l="l" r="r" t="t"/>
            <a:pathLst>
              <a:path extrusionOk="0" h="40386" w="155067">
                <a:moveTo>
                  <a:pt x="144780" y="40386"/>
                </a:moveTo>
                <a:lnTo>
                  <a:pt x="155067" y="40386"/>
                </a:lnTo>
                <a:lnTo>
                  <a:pt x="155067" y="0"/>
                </a:lnTo>
                <a:lnTo>
                  <a:pt x="0" y="0"/>
                </a:lnTo>
              </a:path>
            </a:pathLst>
          </a:custGeom>
          <a:noFill/>
          <a:ln cap="flat" cmpd="sng" w="19050">
            <a:solidFill>
              <a:srgbClr val="F39C12"/>
            </a:solidFill>
            <a:prstDash val="solid"/>
            <a:round/>
            <a:headEnd len="sm" w="sm" type="none"/>
            <a:tailEnd len="med" w="med" type="triangle"/>
          </a:ln>
        </p:spPr>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36"/>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Sentencias DDL: CREATE, ALTER y DROP</a:t>
            </a:r>
            <a:endParaRPr/>
          </a:p>
        </p:txBody>
      </p:sp>
      <p:sp>
        <p:nvSpPr>
          <p:cNvPr id="576" name="Google Shape;576;p36"/>
          <p:cNvSpPr txBox="1"/>
          <p:nvPr>
            <p:ph idx="1" type="body"/>
          </p:nvPr>
        </p:nvSpPr>
        <p:spPr>
          <a:xfrm>
            <a:off x="432000" y="1304875"/>
            <a:ext cx="8280000" cy="331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s" sz="1500"/>
              <a:t>Lenguaje de definición de datos </a:t>
            </a:r>
            <a:r>
              <a:rPr lang="es" sz="1500"/>
              <a:t>(</a:t>
            </a:r>
            <a:r>
              <a:rPr i="1" lang="es" sz="1500"/>
              <a:t>DDL: Data Definition Language</a:t>
            </a:r>
            <a:r>
              <a:rPr lang="es" sz="1500"/>
              <a:t>): se encarga de la </a:t>
            </a:r>
            <a:r>
              <a:rPr b="1" lang="es" sz="1500"/>
              <a:t>modificación de la estructura </a:t>
            </a:r>
            <a:r>
              <a:rPr lang="es" sz="1500"/>
              <a:t>de los objetos de la base de datos. Incluye órdenes o sentencias para crear, modificar o borrar las tablas en las que se almacenan los datos de la base de datos. Utilizamos tres sentencias: CREATE, ALTER y DROP.</a:t>
            </a:r>
            <a:endParaRPr sz="1500"/>
          </a:p>
          <a:p>
            <a:pPr indent="0" lvl="0" marL="0" rtl="0" algn="l">
              <a:lnSpc>
                <a:spcPct val="115000"/>
              </a:lnSpc>
              <a:spcBef>
                <a:spcPts val="1200"/>
              </a:spcBef>
              <a:spcAft>
                <a:spcPts val="0"/>
              </a:spcAft>
              <a:buSzPts val="1800"/>
              <a:buNone/>
            </a:pPr>
            <a:r>
              <a:rPr b="1" lang="es" sz="1500"/>
              <a:t>CREATE: Crear una base de datos</a:t>
            </a:r>
            <a:endParaRPr b="1" sz="1500"/>
          </a:p>
          <a:p>
            <a:pPr indent="0" lvl="0" marL="0" rtl="0" algn="l">
              <a:lnSpc>
                <a:spcPct val="115000"/>
              </a:lnSpc>
              <a:spcBef>
                <a:spcPts val="1200"/>
              </a:spcBef>
              <a:spcAft>
                <a:spcPts val="1200"/>
              </a:spcAft>
              <a:buSzPts val="1800"/>
              <a:buNone/>
            </a:pPr>
            <a:r>
              <a:rPr lang="es" sz="1500"/>
              <a:t>Con </a:t>
            </a:r>
            <a:r>
              <a:rPr i="1" lang="es" sz="1500">
                <a:latin typeface="Consolas"/>
                <a:ea typeface="Consolas"/>
                <a:cs typeface="Consolas"/>
                <a:sym typeface="Consolas"/>
              </a:rPr>
              <a:t>CREATE DATABASE</a:t>
            </a:r>
            <a:r>
              <a:rPr lang="es" sz="1500"/>
              <a:t> creamos una base de datos con el nombre indicado en esa orden. Es necesario tener permisos del sistema de base de datos. Un sinónimo es CREATE SCHEMA.</a:t>
            </a:r>
            <a:br>
              <a:rPr lang="es" sz="1500"/>
            </a:br>
            <a:r>
              <a:rPr lang="es" sz="1500"/>
              <a:t>Si la base de datos ya existe se produce un error, para salvarlo podemos especificarle </a:t>
            </a:r>
            <a:r>
              <a:rPr lang="es" sz="1500">
                <a:latin typeface="Consolas"/>
                <a:ea typeface="Consolas"/>
                <a:cs typeface="Consolas"/>
                <a:sym typeface="Consolas"/>
              </a:rPr>
              <a:t>IF NOT EXISTS</a:t>
            </a:r>
            <a:r>
              <a:rPr lang="es" sz="1500"/>
              <a:t>.</a:t>
            </a:r>
            <a:br>
              <a:rPr lang="es" sz="1500"/>
            </a:br>
            <a:r>
              <a:rPr lang="es" sz="1500"/>
              <a:t>Ejemplo: </a:t>
            </a:r>
            <a:r>
              <a:rPr lang="es" sz="1500">
                <a:latin typeface="Consolas"/>
                <a:ea typeface="Consolas"/>
                <a:cs typeface="Consolas"/>
                <a:sym typeface="Consolas"/>
              </a:rPr>
              <a:t>CREATE DATABASE IF NOT EXISTS databasename;</a:t>
            </a:r>
            <a:endParaRPr i="1" sz="15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37"/>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Sentencias DDL: CREATE, ALTER y DROP</a:t>
            </a:r>
            <a:endParaRPr/>
          </a:p>
        </p:txBody>
      </p:sp>
      <p:sp>
        <p:nvSpPr>
          <p:cNvPr id="582" name="Google Shape;582;p37"/>
          <p:cNvSpPr txBox="1"/>
          <p:nvPr>
            <p:ph idx="1" type="body"/>
          </p:nvPr>
        </p:nvSpPr>
        <p:spPr>
          <a:xfrm>
            <a:off x="432000" y="1304875"/>
            <a:ext cx="8280000" cy="331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s" sz="1500"/>
              <a:t>CREATE TABLE: </a:t>
            </a:r>
            <a:r>
              <a:rPr lang="es" sz="1500"/>
              <a:t>Crea una tabla:</a:t>
            </a:r>
            <a:endParaRPr sz="1500"/>
          </a:p>
          <a:p>
            <a:pPr indent="0" lvl="0" marL="457200" rtl="0" algn="l">
              <a:lnSpc>
                <a:spcPct val="115000"/>
              </a:lnSpc>
              <a:spcBef>
                <a:spcPts val="1200"/>
              </a:spcBef>
              <a:spcAft>
                <a:spcPts val="0"/>
              </a:spcAft>
              <a:buSzPts val="1800"/>
              <a:buNone/>
            </a:pPr>
            <a:r>
              <a:rPr lang="es" sz="1500">
                <a:latin typeface="Consolas"/>
                <a:ea typeface="Consolas"/>
                <a:cs typeface="Consolas"/>
                <a:sym typeface="Consolas"/>
              </a:rPr>
              <a:t>CREATE TABLE alumnos (</a:t>
            </a:r>
            <a:endParaRPr sz="1500">
              <a:latin typeface="Consolas"/>
              <a:ea typeface="Consolas"/>
              <a:cs typeface="Consolas"/>
              <a:sym typeface="Consolas"/>
            </a:endParaRPr>
          </a:p>
          <a:p>
            <a:pPr indent="0" lvl="0" marL="457200" rtl="0" algn="l">
              <a:lnSpc>
                <a:spcPct val="115000"/>
              </a:lnSpc>
              <a:spcBef>
                <a:spcPts val="0"/>
              </a:spcBef>
              <a:spcAft>
                <a:spcPts val="0"/>
              </a:spcAft>
              <a:buSzPts val="1800"/>
              <a:buNone/>
            </a:pPr>
            <a:r>
              <a:rPr lang="es" sz="1500">
                <a:latin typeface="Consolas"/>
                <a:ea typeface="Consolas"/>
                <a:cs typeface="Consolas"/>
                <a:sym typeface="Consolas"/>
              </a:rPr>
              <a:t>  dni int(11),</a:t>
            </a:r>
            <a:endParaRPr sz="1500">
              <a:latin typeface="Consolas"/>
              <a:ea typeface="Consolas"/>
              <a:cs typeface="Consolas"/>
              <a:sym typeface="Consolas"/>
            </a:endParaRPr>
          </a:p>
          <a:p>
            <a:pPr indent="0" lvl="0" marL="457200" rtl="0" algn="l">
              <a:lnSpc>
                <a:spcPct val="115000"/>
              </a:lnSpc>
              <a:spcBef>
                <a:spcPts val="0"/>
              </a:spcBef>
              <a:spcAft>
                <a:spcPts val="0"/>
              </a:spcAft>
              <a:buSzPts val="1800"/>
              <a:buNone/>
            </a:pPr>
            <a:r>
              <a:rPr lang="es" sz="1500">
                <a:latin typeface="Consolas"/>
                <a:ea typeface="Consolas"/>
                <a:cs typeface="Consolas"/>
                <a:sym typeface="Consolas"/>
              </a:rPr>
              <a:t>  nombre varchar(30),</a:t>
            </a:r>
            <a:endParaRPr sz="1500">
              <a:latin typeface="Consolas"/>
              <a:ea typeface="Consolas"/>
              <a:cs typeface="Consolas"/>
              <a:sym typeface="Consolas"/>
            </a:endParaRPr>
          </a:p>
          <a:p>
            <a:pPr indent="0" lvl="0" marL="457200" rtl="0" algn="l">
              <a:lnSpc>
                <a:spcPct val="115000"/>
              </a:lnSpc>
              <a:spcBef>
                <a:spcPts val="0"/>
              </a:spcBef>
              <a:spcAft>
                <a:spcPts val="0"/>
              </a:spcAft>
              <a:buSzPts val="1800"/>
              <a:buNone/>
            </a:pPr>
            <a:r>
              <a:rPr lang="es" sz="1500">
                <a:latin typeface="Consolas"/>
                <a:ea typeface="Consolas"/>
                <a:cs typeface="Consolas"/>
                <a:sym typeface="Consolas"/>
              </a:rPr>
              <a:t>  apellido varchar(30),</a:t>
            </a:r>
            <a:endParaRPr sz="1500">
              <a:latin typeface="Consolas"/>
              <a:ea typeface="Consolas"/>
              <a:cs typeface="Consolas"/>
              <a:sym typeface="Consolas"/>
            </a:endParaRPr>
          </a:p>
          <a:p>
            <a:pPr indent="0" lvl="0" marL="457200" rtl="0" algn="l">
              <a:lnSpc>
                <a:spcPct val="115000"/>
              </a:lnSpc>
              <a:spcBef>
                <a:spcPts val="0"/>
              </a:spcBef>
              <a:spcAft>
                <a:spcPts val="0"/>
              </a:spcAft>
              <a:buSzPts val="1800"/>
              <a:buNone/>
            </a:pPr>
            <a:r>
              <a:rPr lang="es" sz="1500">
                <a:latin typeface="Consolas"/>
                <a:ea typeface="Consolas"/>
                <a:cs typeface="Consolas"/>
                <a:sym typeface="Consolas"/>
              </a:rPr>
              <a:t>  fecha_nac date</a:t>
            </a:r>
            <a:endParaRPr sz="1500">
              <a:latin typeface="Consolas"/>
              <a:ea typeface="Consolas"/>
              <a:cs typeface="Consolas"/>
              <a:sym typeface="Consolas"/>
            </a:endParaRPr>
          </a:p>
          <a:p>
            <a:pPr indent="0" lvl="0" marL="457200" rtl="0" algn="l">
              <a:lnSpc>
                <a:spcPct val="115000"/>
              </a:lnSpc>
              <a:spcBef>
                <a:spcPts val="0"/>
              </a:spcBef>
              <a:spcAft>
                <a:spcPts val="0"/>
              </a:spcAft>
              <a:buSzPts val="1800"/>
              <a:buNone/>
            </a:pPr>
            <a:r>
              <a:rPr lang="es" sz="1500">
                <a:latin typeface="Consolas"/>
                <a:ea typeface="Consolas"/>
                <a:cs typeface="Consolas"/>
                <a:sym typeface="Consolas"/>
              </a:rPr>
              <a:t>);</a:t>
            </a:r>
            <a:endParaRPr sz="1500">
              <a:latin typeface="Consolas"/>
              <a:ea typeface="Consolas"/>
              <a:cs typeface="Consolas"/>
              <a:sym typeface="Consolas"/>
            </a:endParaRPr>
          </a:p>
          <a:p>
            <a:pPr indent="0" lvl="0" marL="0" rtl="0" algn="l">
              <a:lnSpc>
                <a:spcPct val="115000"/>
              </a:lnSpc>
              <a:spcBef>
                <a:spcPts val="0"/>
              </a:spcBef>
              <a:spcAft>
                <a:spcPts val="0"/>
              </a:spcAft>
              <a:buSzPts val="1800"/>
              <a:buNone/>
            </a:pPr>
            <a:r>
              <a:rPr lang="es" sz="1500"/>
              <a:t>Si intentamos crear una tabla con un nombre ya existente (existe otra tabla con ese nombre), mostrará un mensaje de error indicando que la acción no se realizó porque ya existe una tabla con el mismo nombre.</a:t>
            </a:r>
            <a:endParaRPr sz="1500"/>
          </a:p>
          <a:p>
            <a:pPr indent="0" lvl="0" marL="0" rtl="0" algn="l">
              <a:lnSpc>
                <a:spcPct val="115000"/>
              </a:lnSpc>
              <a:spcBef>
                <a:spcPts val="1200"/>
              </a:spcBef>
              <a:spcAft>
                <a:spcPts val="1200"/>
              </a:spcAft>
              <a:buClr>
                <a:schemeClr val="dk1"/>
              </a:buClr>
              <a:buSzPts val="1100"/>
              <a:buFont typeface="Arial"/>
              <a:buNone/>
            </a:pPr>
            <a:r>
              <a:rPr b="1" lang="es" sz="1500"/>
              <a:t>SHOW TABLES:</a:t>
            </a:r>
            <a:r>
              <a:rPr lang="es" sz="1500"/>
              <a:t> Nos permite ver las tablas existentes en una base de datos.</a:t>
            </a:r>
            <a:endParaRPr sz="1500">
              <a:latin typeface="Consolas"/>
              <a:ea typeface="Consolas"/>
              <a:cs typeface="Consolas"/>
              <a:sym typeface="Consola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38"/>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Sentencias DDL: CREATE, ALTER y DROP</a:t>
            </a:r>
            <a:endParaRPr/>
          </a:p>
        </p:txBody>
      </p:sp>
      <p:sp>
        <p:nvSpPr>
          <p:cNvPr id="588" name="Google Shape;588;p38"/>
          <p:cNvSpPr txBox="1"/>
          <p:nvPr>
            <p:ph idx="1" type="body"/>
          </p:nvPr>
        </p:nvSpPr>
        <p:spPr>
          <a:xfrm>
            <a:off x="432000" y="1304875"/>
            <a:ext cx="8280000" cy="331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s" sz="1500"/>
              <a:t>ALTER TABLE:</a:t>
            </a:r>
            <a:r>
              <a:rPr lang="es" sz="1500"/>
              <a:t> Nos permite agregar, eliminar o modificar una columna..</a:t>
            </a:r>
            <a:endParaRPr sz="1500"/>
          </a:p>
          <a:p>
            <a:pPr indent="0" lvl="0" marL="0" rtl="0" algn="l">
              <a:lnSpc>
                <a:spcPct val="115000"/>
              </a:lnSpc>
              <a:spcBef>
                <a:spcPts val="1200"/>
              </a:spcBef>
              <a:spcAft>
                <a:spcPts val="0"/>
              </a:spcAft>
              <a:buSzPts val="1800"/>
              <a:buNone/>
            </a:pPr>
            <a:r>
              <a:rPr b="1" lang="es" sz="1500"/>
              <a:t>ALTER TABLE … ADD: </a:t>
            </a:r>
            <a:r>
              <a:rPr lang="es" sz="1500"/>
              <a:t>Agrega una columna:</a:t>
            </a:r>
            <a:endParaRPr sz="1500"/>
          </a:p>
          <a:p>
            <a:pPr indent="0" lvl="0" marL="457200" rtl="0" algn="l">
              <a:lnSpc>
                <a:spcPct val="115000"/>
              </a:lnSpc>
              <a:spcBef>
                <a:spcPts val="1200"/>
              </a:spcBef>
              <a:spcAft>
                <a:spcPts val="0"/>
              </a:spcAft>
              <a:buSzPts val="1800"/>
              <a:buNone/>
            </a:pPr>
            <a:r>
              <a:rPr lang="es" sz="1500">
                <a:latin typeface="Consolas"/>
                <a:ea typeface="Consolas"/>
                <a:cs typeface="Consolas"/>
                <a:sym typeface="Consolas"/>
              </a:rPr>
              <a:t>ALTER TABLE nombre_de_tabla</a:t>
            </a:r>
            <a:endParaRPr sz="1500">
              <a:latin typeface="Consolas"/>
              <a:ea typeface="Consolas"/>
              <a:cs typeface="Consolas"/>
              <a:sym typeface="Consolas"/>
            </a:endParaRPr>
          </a:p>
          <a:p>
            <a:pPr indent="0" lvl="0" marL="457200" rtl="0" algn="l">
              <a:lnSpc>
                <a:spcPct val="115000"/>
              </a:lnSpc>
              <a:spcBef>
                <a:spcPts val="0"/>
              </a:spcBef>
              <a:spcAft>
                <a:spcPts val="0"/>
              </a:spcAft>
              <a:buSzPts val="1800"/>
              <a:buNone/>
            </a:pPr>
            <a:r>
              <a:rPr lang="es" sz="1500">
                <a:latin typeface="Consolas"/>
                <a:ea typeface="Consolas"/>
                <a:cs typeface="Consolas"/>
                <a:sym typeface="Consolas"/>
              </a:rPr>
              <a:t>ADD nombre_de_columna tipo de dato;</a:t>
            </a:r>
            <a:endParaRPr sz="1500">
              <a:latin typeface="Consolas"/>
              <a:ea typeface="Consolas"/>
              <a:cs typeface="Consolas"/>
              <a:sym typeface="Consolas"/>
            </a:endParaRPr>
          </a:p>
          <a:p>
            <a:pPr indent="0" lvl="0" marL="457200" rtl="0" algn="l">
              <a:lnSpc>
                <a:spcPct val="115000"/>
              </a:lnSpc>
              <a:spcBef>
                <a:spcPts val="0"/>
              </a:spcBef>
              <a:spcAft>
                <a:spcPts val="0"/>
              </a:spcAft>
              <a:buSzPts val="1800"/>
              <a:buNone/>
            </a:pPr>
            <a:r>
              <a:t/>
            </a:r>
            <a:endParaRPr sz="1500">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b="1" lang="es" sz="1500"/>
              <a:t>ALTER TABLE … DROP: </a:t>
            </a:r>
            <a:r>
              <a:rPr lang="es" sz="1500"/>
              <a:t>Elimina una columna:</a:t>
            </a:r>
            <a:endParaRPr sz="1500">
              <a:latin typeface="Consolas"/>
              <a:ea typeface="Consolas"/>
              <a:cs typeface="Consolas"/>
              <a:sym typeface="Consolas"/>
            </a:endParaRPr>
          </a:p>
          <a:p>
            <a:pPr indent="0" lvl="0" marL="457200" marR="0" rtl="0" algn="l">
              <a:lnSpc>
                <a:spcPct val="115000"/>
              </a:lnSpc>
              <a:spcBef>
                <a:spcPts val="1200"/>
              </a:spcBef>
              <a:spcAft>
                <a:spcPts val="0"/>
              </a:spcAft>
              <a:buSzPts val="1800"/>
              <a:buNone/>
            </a:pPr>
            <a:r>
              <a:rPr lang="es" sz="1500">
                <a:latin typeface="Consolas"/>
                <a:ea typeface="Consolas"/>
                <a:cs typeface="Consolas"/>
                <a:sym typeface="Consolas"/>
              </a:rPr>
              <a:t>ALTER TABLE nombre_de_tabla</a:t>
            </a:r>
            <a:endParaRPr sz="1500">
              <a:latin typeface="Consolas"/>
              <a:ea typeface="Consolas"/>
              <a:cs typeface="Consolas"/>
              <a:sym typeface="Consolas"/>
            </a:endParaRPr>
          </a:p>
          <a:p>
            <a:pPr indent="0" lvl="0" marL="457200" marR="0" rtl="0" algn="l">
              <a:lnSpc>
                <a:spcPct val="115000"/>
              </a:lnSpc>
              <a:spcBef>
                <a:spcPts val="0"/>
              </a:spcBef>
              <a:spcAft>
                <a:spcPts val="0"/>
              </a:spcAft>
              <a:buSzPts val="1800"/>
              <a:buNone/>
            </a:pPr>
            <a:r>
              <a:rPr lang="es" sz="1500">
                <a:latin typeface="Consolas"/>
                <a:ea typeface="Consolas"/>
                <a:cs typeface="Consolas"/>
                <a:sym typeface="Consolas"/>
              </a:rPr>
              <a:t>DROP COLUMN nombre_de_columna;</a:t>
            </a:r>
            <a:endParaRPr sz="1500">
              <a:latin typeface="Consolas"/>
              <a:ea typeface="Consolas"/>
              <a:cs typeface="Consolas"/>
              <a:sym typeface="Consolas"/>
            </a:endParaRPr>
          </a:p>
          <a:p>
            <a:pPr indent="0" lvl="0" marL="0" rtl="0" algn="l">
              <a:lnSpc>
                <a:spcPct val="115000"/>
              </a:lnSpc>
              <a:spcBef>
                <a:spcPts val="0"/>
              </a:spcBef>
              <a:spcAft>
                <a:spcPts val="1200"/>
              </a:spcAft>
              <a:buSzPts val="1800"/>
              <a:buNone/>
            </a:pPr>
            <a:r>
              <a:t/>
            </a:r>
            <a:endParaRPr sz="1500">
              <a:latin typeface="Consolas"/>
              <a:ea typeface="Consolas"/>
              <a:cs typeface="Consolas"/>
              <a:sym typeface="Consola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39"/>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Sentencias DDL: CREATE, ALTER y DROP</a:t>
            </a:r>
            <a:endParaRPr/>
          </a:p>
        </p:txBody>
      </p:sp>
      <p:sp>
        <p:nvSpPr>
          <p:cNvPr id="594" name="Google Shape;594;p39"/>
          <p:cNvSpPr txBox="1"/>
          <p:nvPr>
            <p:ph idx="1" type="body"/>
          </p:nvPr>
        </p:nvSpPr>
        <p:spPr>
          <a:xfrm>
            <a:off x="432000" y="1304875"/>
            <a:ext cx="8280000" cy="331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s" sz="1500"/>
              <a:t>DROP TABLE: </a:t>
            </a:r>
            <a:r>
              <a:rPr lang="es" sz="1500"/>
              <a:t>Elimina una tabla.</a:t>
            </a:r>
            <a:endParaRPr sz="1500"/>
          </a:p>
          <a:p>
            <a:pPr indent="457200" lvl="0" marL="0" rtl="0" algn="l">
              <a:lnSpc>
                <a:spcPct val="115000"/>
              </a:lnSpc>
              <a:spcBef>
                <a:spcPts val="1200"/>
              </a:spcBef>
              <a:spcAft>
                <a:spcPts val="0"/>
              </a:spcAft>
              <a:buSzPts val="1800"/>
              <a:buNone/>
            </a:pPr>
            <a:r>
              <a:rPr lang="es" sz="1500">
                <a:latin typeface="Consolas"/>
                <a:ea typeface="Consolas"/>
                <a:cs typeface="Consolas"/>
                <a:sym typeface="Consolas"/>
              </a:rPr>
              <a:t>DROP TABLE alumnos;</a:t>
            </a:r>
            <a:endParaRPr sz="1500"/>
          </a:p>
          <a:p>
            <a:pPr indent="0" lvl="0" marL="0" rtl="0" algn="l">
              <a:lnSpc>
                <a:spcPct val="115000"/>
              </a:lnSpc>
              <a:spcBef>
                <a:spcPts val="1200"/>
              </a:spcBef>
              <a:spcAft>
                <a:spcPts val="0"/>
              </a:spcAft>
              <a:buSzPts val="1800"/>
              <a:buNone/>
            </a:pPr>
            <a:r>
              <a:rPr lang="es" sz="1500"/>
              <a:t>Si tipeamos nuevamente:</a:t>
            </a:r>
            <a:endParaRPr sz="1500"/>
          </a:p>
          <a:p>
            <a:pPr indent="457200" lvl="0" marL="0" rtl="0" algn="l">
              <a:lnSpc>
                <a:spcPct val="115000"/>
              </a:lnSpc>
              <a:spcBef>
                <a:spcPts val="1200"/>
              </a:spcBef>
              <a:spcAft>
                <a:spcPts val="0"/>
              </a:spcAft>
              <a:buSzPts val="1800"/>
              <a:buNone/>
            </a:pPr>
            <a:r>
              <a:rPr lang="es" sz="1500">
                <a:latin typeface="Consolas"/>
                <a:ea typeface="Consolas"/>
                <a:cs typeface="Consolas"/>
                <a:sym typeface="Consolas"/>
              </a:rPr>
              <a:t>DROP TABLE alumnos;</a:t>
            </a:r>
            <a:endParaRPr sz="1500"/>
          </a:p>
          <a:p>
            <a:pPr indent="0" lvl="0" marL="0" rtl="0" algn="l">
              <a:lnSpc>
                <a:spcPct val="115000"/>
              </a:lnSpc>
              <a:spcBef>
                <a:spcPts val="1200"/>
              </a:spcBef>
              <a:spcAft>
                <a:spcPts val="0"/>
              </a:spcAft>
              <a:buSzPts val="1800"/>
              <a:buNone/>
            </a:pPr>
            <a:r>
              <a:rPr lang="es" sz="1500"/>
              <a:t>Aparece un mensaje de error, indicando que no existe, ya que intentamos borrar una tabla inexistente. Para evitar este mensaje podemos tipear:</a:t>
            </a:r>
            <a:endParaRPr sz="1500"/>
          </a:p>
          <a:p>
            <a:pPr indent="457200" lvl="0" marL="0" rtl="0" algn="l">
              <a:lnSpc>
                <a:spcPct val="115000"/>
              </a:lnSpc>
              <a:spcBef>
                <a:spcPts val="1200"/>
              </a:spcBef>
              <a:spcAft>
                <a:spcPts val="1200"/>
              </a:spcAft>
              <a:buSzPts val="1800"/>
              <a:buNone/>
            </a:pPr>
            <a:r>
              <a:rPr lang="es" sz="1500">
                <a:latin typeface="Consolas"/>
                <a:ea typeface="Consolas"/>
                <a:cs typeface="Consolas"/>
                <a:sym typeface="Consolas"/>
              </a:rPr>
              <a:t>DROP TABLE IF EXISTS alumnos;</a:t>
            </a:r>
            <a:endParaRPr sz="1500">
              <a:latin typeface="Consolas"/>
              <a:ea typeface="Consolas"/>
              <a:cs typeface="Consolas"/>
              <a:sym typeface="Consolas"/>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40"/>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Sentencias DDL: CREATE, ALTER y DROP</a:t>
            </a:r>
            <a:endParaRPr/>
          </a:p>
        </p:txBody>
      </p:sp>
      <p:sp>
        <p:nvSpPr>
          <p:cNvPr id="600" name="Google Shape;600;p40"/>
          <p:cNvSpPr txBox="1"/>
          <p:nvPr>
            <p:ph idx="1" type="body"/>
          </p:nvPr>
        </p:nvSpPr>
        <p:spPr>
          <a:xfrm>
            <a:off x="432000" y="1304875"/>
            <a:ext cx="8280000" cy="331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s" sz="1500"/>
              <a:t>DESCRIBE: </a:t>
            </a:r>
            <a:r>
              <a:rPr lang="es" sz="1500"/>
              <a:t>Nos permite ver la estructura de una tabla.</a:t>
            </a:r>
            <a:endParaRPr sz="1500"/>
          </a:p>
          <a:p>
            <a:pPr indent="457200" lvl="0" marL="0" rtl="0" algn="l">
              <a:lnSpc>
                <a:spcPct val="115000"/>
              </a:lnSpc>
              <a:spcBef>
                <a:spcPts val="1200"/>
              </a:spcBef>
              <a:spcAft>
                <a:spcPts val="0"/>
              </a:spcAft>
              <a:buSzPts val="1800"/>
              <a:buNone/>
            </a:pPr>
            <a:r>
              <a:rPr lang="es" sz="1500">
                <a:latin typeface="Consolas"/>
                <a:ea typeface="Consolas"/>
                <a:cs typeface="Consolas"/>
                <a:sym typeface="Consolas"/>
              </a:rPr>
              <a:t>DESCRIBE alumnos;</a:t>
            </a:r>
            <a:endParaRPr sz="1500"/>
          </a:p>
          <a:p>
            <a:pPr indent="0" lvl="0" marL="0" rtl="0" algn="l">
              <a:lnSpc>
                <a:spcPct val="115000"/>
              </a:lnSpc>
              <a:spcBef>
                <a:spcPts val="1200"/>
              </a:spcBef>
              <a:spcAft>
                <a:spcPts val="0"/>
              </a:spcAft>
              <a:buSzPts val="1800"/>
              <a:buNone/>
            </a:pPr>
            <a:r>
              <a:rPr lang="es" sz="1500"/>
              <a:t>Aparecerá lo siguiente:</a:t>
            </a:r>
            <a:endParaRPr sz="1500"/>
          </a:p>
          <a:p>
            <a:pPr indent="457200" lvl="0" marL="0" rtl="0" algn="l">
              <a:lnSpc>
                <a:spcPct val="115000"/>
              </a:lnSpc>
              <a:spcBef>
                <a:spcPts val="1200"/>
              </a:spcBef>
              <a:spcAft>
                <a:spcPts val="1200"/>
              </a:spcAft>
              <a:buSzPts val="1800"/>
              <a:buNone/>
            </a:pPr>
            <a:r>
              <a:t/>
            </a:r>
            <a:endParaRPr sz="1500">
              <a:latin typeface="Consolas"/>
              <a:ea typeface="Consolas"/>
              <a:cs typeface="Consolas"/>
              <a:sym typeface="Consolas"/>
            </a:endParaRPr>
          </a:p>
        </p:txBody>
      </p:sp>
      <p:pic>
        <p:nvPicPr>
          <p:cNvPr id="601" name="Google Shape;601;p40"/>
          <p:cNvPicPr preferRelativeResize="0"/>
          <p:nvPr/>
        </p:nvPicPr>
        <p:blipFill rotWithShape="1">
          <a:blip r:embed="rId3">
            <a:alphaModFix/>
          </a:blip>
          <a:srcRect b="0" l="0" r="0" t="0"/>
          <a:stretch/>
        </p:blipFill>
        <p:spPr>
          <a:xfrm>
            <a:off x="2752725" y="2681971"/>
            <a:ext cx="3638550" cy="14566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41"/>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Creando nuestra primer BD</a:t>
            </a:r>
            <a:endParaRPr/>
          </a:p>
        </p:txBody>
      </p:sp>
      <p:sp>
        <p:nvSpPr>
          <p:cNvPr id="607" name="Google Shape;607;p41"/>
          <p:cNvSpPr txBox="1"/>
          <p:nvPr>
            <p:ph idx="1" type="body"/>
          </p:nvPr>
        </p:nvSpPr>
        <p:spPr>
          <a:xfrm>
            <a:off x="432000" y="1304875"/>
            <a:ext cx="8280000" cy="331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s" sz="1500"/>
              <a:t>Crearemos nuestra primera BD llamada </a:t>
            </a:r>
            <a:r>
              <a:rPr b="1" lang="es" sz="1500"/>
              <a:t>empleados_departamentos</a:t>
            </a:r>
            <a:r>
              <a:rPr lang="es" sz="1500"/>
              <a:t>. Utilizaremos el archivo </a:t>
            </a:r>
            <a:r>
              <a:rPr i="1" lang="es" sz="1500"/>
              <a:t>bd_empleados_departamentos.sql</a:t>
            </a:r>
            <a:r>
              <a:rPr lang="es" sz="1500"/>
              <a:t> para ejecutar la sentencia SQL que la crea. Para ello seguiremos los siguientes pasos:</a:t>
            </a:r>
            <a:endParaRPr sz="1500"/>
          </a:p>
          <a:p>
            <a:pPr indent="-323850" lvl="0" marL="457200" rtl="0" algn="l">
              <a:lnSpc>
                <a:spcPct val="115000"/>
              </a:lnSpc>
              <a:spcBef>
                <a:spcPts val="1200"/>
              </a:spcBef>
              <a:spcAft>
                <a:spcPts val="0"/>
              </a:spcAft>
              <a:buSzPts val="1500"/>
              <a:buAutoNum type="arabicPeriod"/>
            </a:pPr>
            <a:r>
              <a:rPr lang="es" sz="1500"/>
              <a:t>Abrir el archivo que contiene la sentencia SQL.</a:t>
            </a:r>
            <a:endParaRPr sz="1500"/>
          </a:p>
          <a:p>
            <a:pPr indent="-323850" lvl="0" marL="457200" rtl="0" algn="l">
              <a:lnSpc>
                <a:spcPct val="115000"/>
              </a:lnSpc>
              <a:spcBef>
                <a:spcPts val="0"/>
              </a:spcBef>
              <a:spcAft>
                <a:spcPts val="0"/>
              </a:spcAft>
              <a:buSzPts val="1500"/>
              <a:buAutoNum type="arabicPeriod"/>
            </a:pPr>
            <a:r>
              <a:rPr lang="es" sz="1500"/>
              <a:t>Crear una nueva consulta SQL y pegar todo el texto dentro.</a:t>
            </a:r>
            <a:endParaRPr sz="1500"/>
          </a:p>
          <a:p>
            <a:pPr indent="-323850" lvl="0" marL="457200" rtl="0" algn="l">
              <a:lnSpc>
                <a:spcPct val="115000"/>
              </a:lnSpc>
              <a:spcBef>
                <a:spcPts val="0"/>
              </a:spcBef>
              <a:spcAft>
                <a:spcPts val="0"/>
              </a:spcAft>
              <a:buSzPts val="1500"/>
              <a:buAutoNum type="arabicPeriod"/>
            </a:pPr>
            <a:r>
              <a:rPr lang="es" sz="1500"/>
              <a:t>Ejecutar desde el ícono del rayo.</a:t>
            </a:r>
            <a:endParaRPr sz="1500"/>
          </a:p>
          <a:p>
            <a:pPr indent="-323850" lvl="0" marL="457200" rtl="0" algn="l">
              <a:lnSpc>
                <a:spcPct val="115000"/>
              </a:lnSpc>
              <a:spcBef>
                <a:spcPts val="0"/>
              </a:spcBef>
              <a:spcAft>
                <a:spcPts val="0"/>
              </a:spcAft>
              <a:buSzPts val="1500"/>
              <a:buAutoNum type="arabicPeriod"/>
            </a:pPr>
            <a:r>
              <a:rPr lang="es" sz="1500"/>
              <a:t>Quedará creada la Base de Datos con dos tablas: </a:t>
            </a:r>
            <a:r>
              <a:rPr i="1" lang="es" sz="1500"/>
              <a:t>departamentos</a:t>
            </a:r>
            <a:r>
              <a:rPr lang="es" sz="1500"/>
              <a:t> y </a:t>
            </a:r>
            <a:r>
              <a:rPr i="1" lang="es" sz="1500"/>
              <a:t>empleados</a:t>
            </a:r>
            <a:endParaRPr i="1" sz="1500"/>
          </a:p>
        </p:txBody>
      </p:sp>
      <p:pic>
        <p:nvPicPr>
          <p:cNvPr id="608" name="Google Shape;608;p41"/>
          <p:cNvPicPr preferRelativeResize="0"/>
          <p:nvPr/>
        </p:nvPicPr>
        <p:blipFill rotWithShape="1">
          <a:blip r:embed="rId3">
            <a:alphaModFix/>
          </a:blip>
          <a:srcRect b="0" l="0" r="0" t="0"/>
          <a:stretch/>
        </p:blipFill>
        <p:spPr>
          <a:xfrm>
            <a:off x="3405475" y="3443875"/>
            <a:ext cx="2333050" cy="11790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42"/>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Creando nuestra primer BD</a:t>
            </a:r>
            <a:endParaRPr/>
          </a:p>
        </p:txBody>
      </p:sp>
      <p:sp>
        <p:nvSpPr>
          <p:cNvPr id="614" name="Google Shape;614;p42"/>
          <p:cNvSpPr txBox="1"/>
          <p:nvPr>
            <p:ph idx="1" type="body"/>
          </p:nvPr>
        </p:nvSpPr>
        <p:spPr>
          <a:xfrm>
            <a:off x="432000" y="1304875"/>
            <a:ext cx="8280000" cy="331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1800"/>
              <a:buNone/>
            </a:pPr>
            <a:r>
              <a:rPr lang="es" sz="1500"/>
              <a:t>Para </a:t>
            </a:r>
            <a:r>
              <a:rPr b="1" lang="es" sz="1500"/>
              <a:t>crear una tabla </a:t>
            </a:r>
            <a:r>
              <a:rPr lang="es" sz="1500"/>
              <a:t>utilizamos </a:t>
            </a:r>
            <a:r>
              <a:rPr lang="es" sz="1500">
                <a:latin typeface="Consolas"/>
                <a:ea typeface="Consolas"/>
                <a:cs typeface="Consolas"/>
                <a:sym typeface="Consolas"/>
              </a:rPr>
              <a:t>CREATE TABLE</a:t>
            </a:r>
            <a:r>
              <a:rPr lang="es" sz="1500"/>
              <a:t> e indicamos cuáles son las columnas (atributos/campos) que conformarán nuestra tabla </a:t>
            </a:r>
            <a:r>
              <a:rPr b="1" lang="es" sz="1500">
                <a:solidFill>
                  <a:srgbClr val="F39C12"/>
                </a:solidFill>
              </a:rPr>
              <a:t>(1)</a:t>
            </a:r>
            <a:r>
              <a:rPr lang="es" sz="1500"/>
              <a:t>.</a:t>
            </a:r>
            <a:br>
              <a:rPr lang="es" sz="1500"/>
            </a:br>
            <a:r>
              <a:rPr lang="es" sz="1500"/>
              <a:t>Para agregar registros utilizamos </a:t>
            </a:r>
            <a:r>
              <a:rPr lang="es" sz="1500">
                <a:latin typeface="Consolas"/>
                <a:ea typeface="Consolas"/>
                <a:cs typeface="Consolas"/>
                <a:sym typeface="Consolas"/>
              </a:rPr>
              <a:t>INSERT INTO nombredelatabla VALUES</a:t>
            </a:r>
            <a:r>
              <a:rPr lang="es" sz="1500"/>
              <a:t> y estos datos van separados por comas en el mismo orden en que fueron incorporados los campos </a:t>
            </a:r>
            <a:r>
              <a:rPr b="1" lang="es" sz="1500">
                <a:solidFill>
                  <a:srgbClr val="F39C12"/>
                </a:solidFill>
              </a:rPr>
              <a:t>(2)</a:t>
            </a:r>
            <a:r>
              <a:rPr lang="es" sz="1500"/>
              <a:t>. Los datos serán incorporados en la tabla </a:t>
            </a:r>
            <a:r>
              <a:rPr b="1" lang="es" sz="1500">
                <a:solidFill>
                  <a:srgbClr val="F39C12"/>
                </a:solidFill>
              </a:rPr>
              <a:t>(3)</a:t>
            </a:r>
            <a:r>
              <a:rPr lang="es" sz="1500"/>
              <a:t>.</a:t>
            </a:r>
            <a:endParaRPr i="1" sz="1500"/>
          </a:p>
        </p:txBody>
      </p:sp>
      <p:pic>
        <p:nvPicPr>
          <p:cNvPr id="615" name="Google Shape;615;p42"/>
          <p:cNvPicPr preferRelativeResize="0"/>
          <p:nvPr/>
        </p:nvPicPr>
        <p:blipFill rotWithShape="1">
          <a:blip r:embed="rId3">
            <a:alphaModFix/>
          </a:blip>
          <a:srcRect b="0" l="0" r="0" t="0"/>
          <a:stretch/>
        </p:blipFill>
        <p:spPr>
          <a:xfrm>
            <a:off x="509597" y="2771775"/>
            <a:ext cx="5281600" cy="1247150"/>
          </a:xfrm>
          <a:prstGeom prst="rect">
            <a:avLst/>
          </a:prstGeom>
          <a:noFill/>
          <a:ln cap="flat" cmpd="sng" w="9525">
            <a:solidFill>
              <a:srgbClr val="F39C12"/>
            </a:solidFill>
            <a:prstDash val="solid"/>
            <a:round/>
            <a:headEnd len="sm" w="sm" type="none"/>
            <a:tailEnd len="sm" w="sm" type="none"/>
          </a:ln>
          <a:effectLst>
            <a:outerShdw blurRad="57150" rotWithShape="0" algn="bl" dir="5400000" dist="19050">
              <a:srgbClr val="000000">
                <a:alpha val="49803"/>
              </a:srgbClr>
            </a:outerShdw>
          </a:effectLst>
        </p:spPr>
      </p:pic>
      <p:pic>
        <p:nvPicPr>
          <p:cNvPr id="616" name="Google Shape;616;p42"/>
          <p:cNvPicPr preferRelativeResize="0"/>
          <p:nvPr/>
        </p:nvPicPr>
        <p:blipFill rotWithShape="1">
          <a:blip r:embed="rId4">
            <a:alphaModFix/>
          </a:blip>
          <a:srcRect b="0" l="0" r="0" t="0"/>
          <a:stretch/>
        </p:blipFill>
        <p:spPr>
          <a:xfrm>
            <a:off x="3400425" y="3081345"/>
            <a:ext cx="3867150" cy="1472400"/>
          </a:xfrm>
          <a:prstGeom prst="rect">
            <a:avLst/>
          </a:prstGeom>
          <a:noFill/>
          <a:ln cap="flat" cmpd="sng" w="9525">
            <a:solidFill>
              <a:srgbClr val="F39C12"/>
            </a:solidFill>
            <a:prstDash val="solid"/>
            <a:round/>
            <a:headEnd len="sm" w="sm" type="none"/>
            <a:tailEnd len="sm" w="sm" type="none"/>
          </a:ln>
          <a:effectLst>
            <a:outerShdw blurRad="57150" rotWithShape="0" algn="bl" dir="5400000" dist="19050">
              <a:srgbClr val="000000">
                <a:alpha val="49803"/>
              </a:srgbClr>
            </a:outerShdw>
          </a:effectLst>
        </p:spPr>
      </p:pic>
      <p:pic>
        <p:nvPicPr>
          <p:cNvPr id="617" name="Google Shape;617;p42"/>
          <p:cNvPicPr preferRelativeResize="0"/>
          <p:nvPr/>
        </p:nvPicPr>
        <p:blipFill rotWithShape="1">
          <a:blip r:embed="rId5">
            <a:alphaModFix/>
          </a:blip>
          <a:srcRect b="0" l="0" r="0" t="0"/>
          <a:stretch/>
        </p:blipFill>
        <p:spPr>
          <a:xfrm>
            <a:off x="6400799" y="3586349"/>
            <a:ext cx="1791275" cy="1036550"/>
          </a:xfrm>
          <a:prstGeom prst="rect">
            <a:avLst/>
          </a:prstGeom>
          <a:noFill/>
          <a:ln cap="flat" cmpd="sng" w="9525">
            <a:solidFill>
              <a:srgbClr val="F39C12"/>
            </a:solidFill>
            <a:prstDash val="solid"/>
            <a:round/>
            <a:headEnd len="sm" w="sm" type="none"/>
            <a:tailEnd len="sm" w="sm" type="none"/>
          </a:ln>
          <a:effectLst>
            <a:outerShdw blurRad="57150" rotWithShape="0" algn="bl" dir="5400000" dist="19050">
              <a:srgbClr val="000000">
                <a:alpha val="49803"/>
              </a:srgbClr>
            </a:outerShdw>
          </a:effectLst>
        </p:spPr>
      </p:pic>
      <p:sp>
        <p:nvSpPr>
          <p:cNvPr id="618" name="Google Shape;618;p42"/>
          <p:cNvSpPr/>
          <p:nvPr/>
        </p:nvSpPr>
        <p:spPr>
          <a:xfrm>
            <a:off x="509600" y="2771775"/>
            <a:ext cx="352500" cy="352500"/>
          </a:xfrm>
          <a:prstGeom prst="ellipse">
            <a:avLst/>
          </a:prstGeom>
          <a:solidFill>
            <a:srgbClr val="FFE66D"/>
          </a:solidFill>
          <a:ln cap="flat" cmpd="sng" w="9525">
            <a:solidFill>
              <a:srgbClr val="F39C1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s" sz="1400" u="none" cap="none" strike="noStrike">
                <a:solidFill>
                  <a:schemeClr val="dk2"/>
                </a:solidFill>
                <a:latin typeface="Montserrat"/>
                <a:ea typeface="Montserrat"/>
                <a:cs typeface="Montserrat"/>
                <a:sym typeface="Montserrat"/>
              </a:rPr>
              <a:t>1</a:t>
            </a:r>
            <a:endParaRPr b="1" i="0" sz="1400" u="none" cap="none" strike="noStrike">
              <a:solidFill>
                <a:schemeClr val="dk2"/>
              </a:solidFill>
              <a:latin typeface="Montserrat"/>
              <a:ea typeface="Montserrat"/>
              <a:cs typeface="Montserrat"/>
              <a:sym typeface="Montserrat"/>
            </a:endParaRPr>
          </a:p>
        </p:txBody>
      </p:sp>
      <p:sp>
        <p:nvSpPr>
          <p:cNvPr id="619" name="Google Shape;619;p42"/>
          <p:cNvSpPr/>
          <p:nvPr/>
        </p:nvSpPr>
        <p:spPr>
          <a:xfrm>
            <a:off x="3400425" y="3081350"/>
            <a:ext cx="352500" cy="352500"/>
          </a:xfrm>
          <a:prstGeom prst="ellipse">
            <a:avLst/>
          </a:prstGeom>
          <a:solidFill>
            <a:srgbClr val="FFE66D"/>
          </a:solidFill>
          <a:ln cap="flat" cmpd="sng" w="9525">
            <a:solidFill>
              <a:srgbClr val="F39C1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s" sz="1400" u="none" cap="none" strike="noStrike">
                <a:solidFill>
                  <a:schemeClr val="dk2"/>
                </a:solidFill>
                <a:latin typeface="Montserrat"/>
                <a:ea typeface="Montserrat"/>
                <a:cs typeface="Montserrat"/>
                <a:sym typeface="Montserrat"/>
              </a:rPr>
              <a:t>2</a:t>
            </a:r>
            <a:endParaRPr b="1" i="0" sz="1400" u="none" cap="none" strike="noStrike">
              <a:solidFill>
                <a:schemeClr val="dk2"/>
              </a:solidFill>
              <a:latin typeface="Montserrat"/>
              <a:ea typeface="Montserrat"/>
              <a:cs typeface="Montserrat"/>
              <a:sym typeface="Montserrat"/>
            </a:endParaRPr>
          </a:p>
        </p:txBody>
      </p:sp>
      <p:sp>
        <p:nvSpPr>
          <p:cNvPr id="620" name="Google Shape;620;p42"/>
          <p:cNvSpPr/>
          <p:nvPr/>
        </p:nvSpPr>
        <p:spPr>
          <a:xfrm>
            <a:off x="6400800" y="3586350"/>
            <a:ext cx="352500" cy="352500"/>
          </a:xfrm>
          <a:prstGeom prst="ellipse">
            <a:avLst/>
          </a:prstGeom>
          <a:solidFill>
            <a:srgbClr val="FFE66D"/>
          </a:solidFill>
          <a:ln cap="flat" cmpd="sng" w="9525">
            <a:solidFill>
              <a:srgbClr val="F39C1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s" sz="1400" u="none" cap="none" strike="noStrike">
                <a:solidFill>
                  <a:schemeClr val="dk2"/>
                </a:solidFill>
                <a:latin typeface="Montserrat"/>
                <a:ea typeface="Montserrat"/>
                <a:cs typeface="Montserrat"/>
                <a:sym typeface="Montserrat"/>
              </a:rPr>
              <a:t>3</a:t>
            </a:r>
            <a:endParaRPr b="1"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43"/>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Ver los datos de las tablas</a:t>
            </a:r>
            <a:endParaRPr/>
          </a:p>
        </p:txBody>
      </p:sp>
      <p:sp>
        <p:nvSpPr>
          <p:cNvPr id="626" name="Google Shape;626;p43"/>
          <p:cNvSpPr txBox="1"/>
          <p:nvPr>
            <p:ph idx="1" type="body"/>
          </p:nvPr>
        </p:nvSpPr>
        <p:spPr>
          <a:xfrm>
            <a:off x="432000" y="1304875"/>
            <a:ext cx="8280000" cy="331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s" sz="1500"/>
              <a:t>Haciendo clic con el botón derecho en nuestra tabla y seleccionando </a:t>
            </a:r>
            <a:r>
              <a:rPr b="1" lang="es" sz="1500"/>
              <a:t>Select Rows – Limit 1000 </a:t>
            </a:r>
            <a:r>
              <a:rPr lang="es" sz="1500"/>
              <a:t>veremos los resultados de nuestra primer consulta SQL:</a:t>
            </a:r>
            <a:endParaRPr sz="1500"/>
          </a:p>
          <a:p>
            <a:pPr indent="0" lvl="0" marL="0" rtl="0" algn="l">
              <a:lnSpc>
                <a:spcPct val="115000"/>
              </a:lnSpc>
              <a:spcBef>
                <a:spcPts val="1200"/>
              </a:spcBef>
              <a:spcAft>
                <a:spcPts val="1200"/>
              </a:spcAft>
              <a:buSzPts val="1800"/>
              <a:buNone/>
            </a:pPr>
            <a:r>
              <a:t/>
            </a:r>
            <a:endParaRPr i="1" sz="1500"/>
          </a:p>
        </p:txBody>
      </p:sp>
      <p:pic>
        <p:nvPicPr>
          <p:cNvPr id="627" name="Google Shape;627;p43"/>
          <p:cNvPicPr preferRelativeResize="0"/>
          <p:nvPr/>
        </p:nvPicPr>
        <p:blipFill rotWithShape="1">
          <a:blip r:embed="rId3">
            <a:alphaModFix/>
          </a:blip>
          <a:srcRect b="0" l="0" r="0" t="0"/>
          <a:stretch/>
        </p:blipFill>
        <p:spPr>
          <a:xfrm>
            <a:off x="1352550" y="2040139"/>
            <a:ext cx="6638925" cy="1999875"/>
          </a:xfrm>
          <a:prstGeom prst="rect">
            <a:avLst/>
          </a:prstGeom>
          <a:noFill/>
          <a:ln cap="flat" cmpd="sng" w="9525">
            <a:solidFill>
              <a:srgbClr val="F39C12"/>
            </a:solidFill>
            <a:prstDash val="solid"/>
            <a:round/>
            <a:headEnd len="sm" w="sm" type="none"/>
            <a:tailEnd len="sm" w="sm" type="none"/>
          </a:ln>
          <a:effectLst>
            <a:outerShdw blurRad="57150" rotWithShape="0" algn="bl" dir="5400000" dist="19050">
              <a:srgbClr val="000000">
                <a:alpha val="49803"/>
              </a:srgbClr>
            </a:outerShdw>
          </a:effectLst>
        </p:spPr>
      </p:pic>
      <p:sp>
        <p:nvSpPr>
          <p:cNvPr id="628" name="Google Shape;628;p43"/>
          <p:cNvSpPr txBox="1"/>
          <p:nvPr>
            <p:ph idx="1" type="body"/>
          </p:nvPr>
        </p:nvSpPr>
        <p:spPr>
          <a:xfrm>
            <a:off x="5567375" y="3332025"/>
            <a:ext cx="2424000" cy="708000"/>
          </a:xfrm>
          <a:prstGeom prst="rect">
            <a:avLst/>
          </a:prstGeom>
          <a:solidFill>
            <a:srgbClr val="EFEFEF"/>
          </a:solidFill>
          <a:ln cap="flat" cmpd="sng" w="9525">
            <a:solidFill>
              <a:srgbClr val="F39C1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SzPts val="1800"/>
              <a:buNone/>
            </a:pPr>
            <a:r>
              <a:rPr lang="es" sz="1200"/>
              <a:t>Con CTRL + Enter </a:t>
            </a:r>
            <a:r>
              <a:rPr b="1" i="1" lang="es" sz="1100"/>
              <a:t>ejecutamos</a:t>
            </a:r>
            <a:r>
              <a:rPr b="1" i="1" lang="es" sz="1200"/>
              <a:t> </a:t>
            </a:r>
            <a:r>
              <a:rPr lang="es" sz="1200"/>
              <a:t>la consulta, o con el ícono del rayito:</a:t>
            </a:r>
            <a:endParaRPr sz="1200"/>
          </a:p>
        </p:txBody>
      </p:sp>
      <p:pic>
        <p:nvPicPr>
          <p:cNvPr id="629" name="Google Shape;629;p43"/>
          <p:cNvPicPr preferRelativeResize="0"/>
          <p:nvPr/>
        </p:nvPicPr>
        <p:blipFill rotWithShape="1">
          <a:blip r:embed="rId4">
            <a:alphaModFix/>
          </a:blip>
          <a:srcRect b="0" l="0" r="0" t="0"/>
          <a:stretch/>
        </p:blipFill>
        <p:spPr>
          <a:xfrm>
            <a:off x="6141250" y="3801450"/>
            <a:ext cx="201450" cy="20145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44"/>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Claves principales</a:t>
            </a:r>
            <a:endParaRPr/>
          </a:p>
        </p:txBody>
      </p:sp>
      <p:sp>
        <p:nvSpPr>
          <p:cNvPr id="635" name="Google Shape;635;p44"/>
          <p:cNvSpPr txBox="1"/>
          <p:nvPr>
            <p:ph idx="1" type="body"/>
          </p:nvPr>
        </p:nvSpPr>
        <p:spPr>
          <a:xfrm>
            <a:off x="432000" y="1304875"/>
            <a:ext cx="8280000" cy="331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s" sz="1500"/>
              <a:t>Una clave principal es un </a:t>
            </a:r>
            <a:r>
              <a:rPr b="1" lang="es" sz="1500"/>
              <a:t>identificador único para cada registro </a:t>
            </a:r>
            <a:r>
              <a:rPr lang="es" sz="1500"/>
              <a:t>de la tabla. Para definirla tenemos que analizar las claves candidatas, aquellas que podrían ser claves principales, un valor propio de ese registro que identifique </a:t>
            </a:r>
            <a:r>
              <a:rPr b="1" lang="es" sz="1500"/>
              <a:t>de forma única </a:t>
            </a:r>
            <a:r>
              <a:rPr lang="es" sz="1500"/>
              <a:t>esa instancia del dato. Cada registro debería tener un identificador único, para evitar duplicados:</a:t>
            </a:r>
            <a:endParaRPr sz="1500"/>
          </a:p>
          <a:p>
            <a:pPr indent="0" lvl="0" marL="0" rtl="0" algn="l">
              <a:lnSpc>
                <a:spcPct val="115000"/>
              </a:lnSpc>
              <a:spcBef>
                <a:spcPts val="1200"/>
              </a:spcBef>
              <a:spcAft>
                <a:spcPts val="1200"/>
              </a:spcAft>
              <a:buSzPts val="1800"/>
              <a:buNone/>
            </a:pPr>
            <a:r>
              <a:t/>
            </a:r>
            <a:endParaRPr sz="1500"/>
          </a:p>
        </p:txBody>
      </p:sp>
      <p:pic>
        <p:nvPicPr>
          <p:cNvPr id="636" name="Google Shape;636;p44"/>
          <p:cNvPicPr preferRelativeResize="0"/>
          <p:nvPr/>
        </p:nvPicPr>
        <p:blipFill rotWithShape="1">
          <a:blip r:embed="rId3">
            <a:alphaModFix/>
          </a:blip>
          <a:srcRect b="0" l="0" r="0" t="0"/>
          <a:stretch/>
        </p:blipFill>
        <p:spPr>
          <a:xfrm>
            <a:off x="2854475" y="2640425"/>
            <a:ext cx="3435051" cy="1982475"/>
          </a:xfrm>
          <a:prstGeom prst="rect">
            <a:avLst/>
          </a:prstGeom>
          <a:noFill/>
          <a:ln cap="flat" cmpd="sng" w="9525">
            <a:solidFill>
              <a:srgbClr val="F39C12"/>
            </a:solidFill>
            <a:prstDash val="solid"/>
            <a:round/>
            <a:headEnd len="sm" w="sm" type="none"/>
            <a:tailEnd len="sm" w="sm" type="none"/>
          </a:ln>
          <a:effectLst>
            <a:outerShdw blurRad="57150" rotWithShape="0" algn="bl" dir="5400000" dist="19050">
              <a:srgbClr val="000000">
                <a:alpha val="49803"/>
              </a:srgbClr>
            </a:outerShdw>
          </a:effectLst>
        </p:spPr>
      </p:pic>
      <p:sp>
        <p:nvSpPr>
          <p:cNvPr id="637" name="Google Shape;637;p44"/>
          <p:cNvSpPr/>
          <p:nvPr/>
        </p:nvSpPr>
        <p:spPr>
          <a:xfrm>
            <a:off x="2918724" y="2791926"/>
            <a:ext cx="314400" cy="465300"/>
          </a:xfrm>
          <a:prstGeom prst="downArrow">
            <a:avLst>
              <a:gd fmla="val 50000" name="adj1"/>
              <a:gd fmla="val 50000" name="adj2"/>
            </a:avLst>
          </a:prstGeom>
          <a:solidFill>
            <a:srgbClr val="F39C12"/>
          </a:solidFill>
          <a:ln cap="flat" cmpd="sng" w="9525">
            <a:solidFill>
              <a:srgbClr val="FFE66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45"/>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Agregar y eliminar registros</a:t>
            </a:r>
            <a:endParaRPr/>
          </a:p>
        </p:txBody>
      </p:sp>
      <p:sp>
        <p:nvSpPr>
          <p:cNvPr id="643" name="Google Shape;643;p45"/>
          <p:cNvSpPr txBox="1"/>
          <p:nvPr>
            <p:ph idx="1" type="body"/>
          </p:nvPr>
        </p:nvSpPr>
        <p:spPr>
          <a:xfrm>
            <a:off x="432000" y="1304875"/>
            <a:ext cx="8280000" cy="331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s" sz="1500"/>
              <a:t>AGREGAR REGISTROS: </a:t>
            </a:r>
            <a:r>
              <a:rPr lang="es" sz="1500"/>
              <a:t>podemos escribir directamente en la tabla y al escribir el último dato hacer clic en </a:t>
            </a:r>
            <a:r>
              <a:rPr b="1" i="1" lang="es" sz="1500"/>
              <a:t>aplicar </a:t>
            </a:r>
            <a:r>
              <a:rPr lang="es" sz="1500"/>
              <a:t>(se puede hacer luego de agregar varios registros). Se nos generará la siguiente instrucción SQL:</a:t>
            </a:r>
            <a:endParaRPr sz="1500"/>
          </a:p>
          <a:p>
            <a:pPr indent="0" lvl="0" marL="0" rtl="0" algn="l">
              <a:lnSpc>
                <a:spcPct val="115000"/>
              </a:lnSpc>
              <a:spcBef>
                <a:spcPts val="0"/>
              </a:spcBef>
              <a:spcAft>
                <a:spcPts val="0"/>
              </a:spcAft>
              <a:buSzPts val="1800"/>
              <a:buNone/>
            </a:pPr>
            <a:r>
              <a:t/>
            </a:r>
            <a:endParaRPr sz="1500"/>
          </a:p>
          <a:p>
            <a:pPr indent="0" lvl="0" marL="0" rtl="0" algn="l">
              <a:lnSpc>
                <a:spcPct val="115000"/>
              </a:lnSpc>
              <a:spcBef>
                <a:spcPts val="0"/>
              </a:spcBef>
              <a:spcAft>
                <a:spcPts val="0"/>
              </a:spcAft>
              <a:buSzPts val="1800"/>
              <a:buNone/>
            </a:pPr>
            <a:r>
              <a:t/>
            </a:r>
            <a:endParaRPr sz="1500"/>
          </a:p>
          <a:p>
            <a:pPr indent="0" lvl="0" marL="0" rtl="0" algn="l">
              <a:lnSpc>
                <a:spcPct val="115000"/>
              </a:lnSpc>
              <a:spcBef>
                <a:spcPts val="0"/>
              </a:spcBef>
              <a:spcAft>
                <a:spcPts val="0"/>
              </a:spcAft>
              <a:buSzPts val="1800"/>
              <a:buNone/>
            </a:pPr>
            <a:r>
              <a:t/>
            </a:r>
            <a:endParaRPr sz="1500"/>
          </a:p>
          <a:p>
            <a:pPr indent="0" lvl="0" marL="0" rtl="0" algn="l">
              <a:lnSpc>
                <a:spcPct val="115000"/>
              </a:lnSpc>
              <a:spcBef>
                <a:spcPts val="0"/>
              </a:spcBef>
              <a:spcAft>
                <a:spcPts val="0"/>
              </a:spcAft>
              <a:buSzPts val="1800"/>
              <a:buNone/>
            </a:pPr>
            <a:r>
              <a:rPr b="1" lang="es" sz="1500"/>
              <a:t>ELIMINAR REGISTROS: </a:t>
            </a:r>
            <a:r>
              <a:rPr lang="es" sz="1500"/>
              <a:t>podemos hacerlo desde el botón derecho a la izquierda del registro y luego hacer clic en </a:t>
            </a:r>
            <a:r>
              <a:rPr b="1" i="1" lang="es" sz="1500"/>
              <a:t>aplicar</a:t>
            </a:r>
            <a:r>
              <a:rPr lang="es" sz="1500"/>
              <a:t>. Debemos confirmar la siguiente instrucción SQL (ELIMINAMOS el registro del alumno cuyo id es el número 8.):</a:t>
            </a:r>
            <a:endParaRPr sz="1500"/>
          </a:p>
          <a:p>
            <a:pPr indent="0" lvl="0" marL="0" rtl="0" algn="l">
              <a:lnSpc>
                <a:spcPct val="115000"/>
              </a:lnSpc>
              <a:spcBef>
                <a:spcPts val="0"/>
              </a:spcBef>
              <a:spcAft>
                <a:spcPts val="0"/>
              </a:spcAft>
              <a:buSzPts val="1800"/>
              <a:buNone/>
            </a:pPr>
            <a:r>
              <a:t/>
            </a:r>
            <a:endParaRPr sz="1500"/>
          </a:p>
          <a:p>
            <a:pPr indent="0" lvl="0" marL="0" rtl="0" algn="l">
              <a:lnSpc>
                <a:spcPct val="115000"/>
              </a:lnSpc>
              <a:spcBef>
                <a:spcPts val="0"/>
              </a:spcBef>
              <a:spcAft>
                <a:spcPts val="1200"/>
              </a:spcAft>
              <a:buSzPts val="1800"/>
              <a:buNone/>
            </a:pPr>
            <a:r>
              <a:t/>
            </a:r>
            <a:endParaRPr sz="1500"/>
          </a:p>
        </p:txBody>
      </p:sp>
      <p:pic>
        <p:nvPicPr>
          <p:cNvPr id="644" name="Google Shape;644;p45"/>
          <p:cNvPicPr preferRelativeResize="0"/>
          <p:nvPr/>
        </p:nvPicPr>
        <p:blipFill rotWithShape="1">
          <a:blip r:embed="rId3">
            <a:alphaModFix/>
          </a:blip>
          <a:srcRect b="0" l="0" r="0" t="0"/>
          <a:stretch/>
        </p:blipFill>
        <p:spPr>
          <a:xfrm>
            <a:off x="683128" y="2365775"/>
            <a:ext cx="7777725" cy="377775"/>
          </a:xfrm>
          <a:prstGeom prst="rect">
            <a:avLst/>
          </a:prstGeom>
          <a:noFill/>
          <a:ln>
            <a:noFill/>
          </a:ln>
        </p:spPr>
      </p:pic>
      <p:pic>
        <p:nvPicPr>
          <p:cNvPr id="645" name="Google Shape;645;p45"/>
          <p:cNvPicPr preferRelativeResize="0"/>
          <p:nvPr/>
        </p:nvPicPr>
        <p:blipFill rotWithShape="1">
          <a:blip r:embed="rId4">
            <a:alphaModFix/>
          </a:blip>
          <a:srcRect b="0" l="0" r="0" t="0"/>
          <a:stretch/>
        </p:blipFill>
        <p:spPr>
          <a:xfrm>
            <a:off x="2301914" y="3958600"/>
            <a:ext cx="4540175" cy="25725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46"/>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Exportar una BD (backup)</a:t>
            </a:r>
            <a:endParaRPr/>
          </a:p>
        </p:txBody>
      </p:sp>
      <p:sp>
        <p:nvSpPr>
          <p:cNvPr id="651" name="Google Shape;651;p46"/>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s" sz="1350"/>
              <a:t>Podemos exportar una Base de datos desde Workbench con el objetivo de hacer un backup:</a:t>
            </a:r>
            <a:endParaRPr sz="1350"/>
          </a:p>
          <a:p>
            <a:pPr indent="-314325" lvl="0" marL="457200" rtl="0" algn="l">
              <a:lnSpc>
                <a:spcPct val="115000"/>
              </a:lnSpc>
              <a:spcBef>
                <a:spcPts val="1200"/>
              </a:spcBef>
              <a:spcAft>
                <a:spcPts val="0"/>
              </a:spcAft>
              <a:buSzPts val="1350"/>
              <a:buAutoNum type="arabicPeriod"/>
            </a:pPr>
            <a:r>
              <a:rPr lang="es" sz="1350"/>
              <a:t>Ir a </a:t>
            </a:r>
            <a:r>
              <a:rPr b="1" lang="es" sz="1350"/>
              <a:t>Server – Data export</a:t>
            </a:r>
            <a:endParaRPr b="1" sz="1350"/>
          </a:p>
          <a:p>
            <a:pPr indent="-314325" lvl="0" marL="457200" rtl="0" algn="l">
              <a:lnSpc>
                <a:spcPct val="115000"/>
              </a:lnSpc>
              <a:spcBef>
                <a:spcPts val="0"/>
              </a:spcBef>
              <a:spcAft>
                <a:spcPts val="0"/>
              </a:spcAft>
              <a:buSzPts val="1350"/>
              <a:buAutoNum type="arabicPeriod"/>
            </a:pPr>
            <a:r>
              <a:rPr lang="es" sz="1350"/>
              <a:t>Seleccionar la base de datos (</a:t>
            </a:r>
            <a:r>
              <a:rPr i="1" lang="es" sz="1350"/>
              <a:t>schema</a:t>
            </a:r>
            <a:r>
              <a:rPr lang="es" sz="1350"/>
              <a:t>) que se desea exportar del cuadro de la izquierda dentro de Object Selection.</a:t>
            </a:r>
            <a:endParaRPr sz="1350"/>
          </a:p>
          <a:p>
            <a:pPr indent="-314325" lvl="0" marL="457200" rtl="0" algn="l">
              <a:lnSpc>
                <a:spcPct val="115000"/>
              </a:lnSpc>
              <a:spcBef>
                <a:spcPts val="0"/>
              </a:spcBef>
              <a:spcAft>
                <a:spcPts val="0"/>
              </a:spcAft>
              <a:buSzPts val="1350"/>
              <a:buAutoNum type="arabicPeriod"/>
            </a:pPr>
            <a:r>
              <a:rPr lang="es" sz="1350"/>
              <a:t>Seleccionar del cuadro de la derecha aquellas tablas que se desean exportar.</a:t>
            </a:r>
            <a:endParaRPr sz="1350"/>
          </a:p>
          <a:p>
            <a:pPr indent="-314325" lvl="0" marL="457200" rtl="0" algn="l">
              <a:lnSpc>
                <a:spcPct val="115000"/>
              </a:lnSpc>
              <a:spcBef>
                <a:spcPts val="0"/>
              </a:spcBef>
              <a:spcAft>
                <a:spcPts val="0"/>
              </a:spcAft>
              <a:buSzPts val="1350"/>
              <a:buAutoNum type="arabicPeriod"/>
            </a:pPr>
            <a:r>
              <a:rPr lang="es" sz="1350"/>
              <a:t>Determinar a qué carpeta se exportará la base de datos y cómo se exportarán los datos:</a:t>
            </a:r>
            <a:endParaRPr sz="1350"/>
          </a:p>
          <a:p>
            <a:pPr indent="-314325" lvl="1" marL="914400" rtl="0" algn="l">
              <a:lnSpc>
                <a:spcPct val="115000"/>
              </a:lnSpc>
              <a:spcBef>
                <a:spcPts val="0"/>
              </a:spcBef>
              <a:spcAft>
                <a:spcPts val="0"/>
              </a:spcAft>
              <a:buSzPts val="1350"/>
              <a:buAutoNum type="alphaLcPeriod"/>
            </a:pPr>
            <a:r>
              <a:rPr lang="es" sz="1350"/>
              <a:t>Si elegimos </a:t>
            </a:r>
            <a:r>
              <a:rPr b="1" lang="es" sz="1350"/>
              <a:t>Export to Dump Project Folder </a:t>
            </a:r>
            <a:r>
              <a:rPr lang="es" sz="1350"/>
              <a:t>se exportarán las tablas por separado.</a:t>
            </a:r>
            <a:endParaRPr sz="1350"/>
          </a:p>
          <a:p>
            <a:pPr indent="-314325" lvl="1" marL="914400" rtl="0" algn="l">
              <a:lnSpc>
                <a:spcPct val="115000"/>
              </a:lnSpc>
              <a:spcBef>
                <a:spcPts val="0"/>
              </a:spcBef>
              <a:spcAft>
                <a:spcPts val="0"/>
              </a:spcAft>
              <a:buSzPts val="1350"/>
              <a:buAutoNum type="alphaLcPeriod"/>
            </a:pPr>
            <a:r>
              <a:rPr lang="es" sz="1350"/>
              <a:t>Con </a:t>
            </a:r>
            <a:r>
              <a:rPr b="1" lang="es" sz="1350"/>
              <a:t>Export to Self-Contained File </a:t>
            </a:r>
            <a:r>
              <a:rPr lang="es" sz="1350"/>
              <a:t>podremos darle un nombre al archivo, pero con todas las tablas juntas.</a:t>
            </a:r>
            <a:endParaRPr sz="1350"/>
          </a:p>
          <a:p>
            <a:pPr indent="-314325" lvl="0" marL="457200" rtl="0" algn="l">
              <a:lnSpc>
                <a:spcPct val="115000"/>
              </a:lnSpc>
              <a:spcBef>
                <a:spcPts val="0"/>
              </a:spcBef>
              <a:spcAft>
                <a:spcPts val="0"/>
              </a:spcAft>
              <a:buSzPts val="1350"/>
              <a:buAutoNum type="arabicPeriod"/>
            </a:pPr>
            <a:r>
              <a:rPr lang="es" sz="1350"/>
              <a:t>Hacer clic en </a:t>
            </a:r>
            <a:r>
              <a:rPr b="1" lang="es" sz="1350"/>
              <a:t>Start Export </a:t>
            </a:r>
            <a:r>
              <a:rPr lang="es" sz="1350"/>
              <a:t>y colocar la contraseña del host.</a:t>
            </a:r>
            <a:endParaRPr sz="1350"/>
          </a:p>
          <a:p>
            <a:pPr indent="0" lvl="0" marL="457200" rtl="0" algn="l">
              <a:lnSpc>
                <a:spcPct val="115000"/>
              </a:lnSpc>
              <a:spcBef>
                <a:spcPts val="1200"/>
              </a:spcBef>
              <a:spcAft>
                <a:spcPts val="1200"/>
              </a:spcAft>
              <a:buSzPts val="1800"/>
              <a:buNone/>
            </a:pPr>
            <a:r>
              <a:t/>
            </a:r>
            <a:endParaRPr sz="1350"/>
          </a:p>
        </p:txBody>
      </p:sp>
      <p:pic>
        <p:nvPicPr>
          <p:cNvPr id="652" name="Google Shape;652;p46"/>
          <p:cNvPicPr preferRelativeResize="0"/>
          <p:nvPr/>
        </p:nvPicPr>
        <p:blipFill rotWithShape="1">
          <a:blip r:embed="rId3">
            <a:alphaModFix/>
          </a:blip>
          <a:srcRect b="0" l="0" r="0" t="0"/>
          <a:stretch/>
        </p:blipFill>
        <p:spPr>
          <a:xfrm>
            <a:off x="7038599" y="3492450"/>
            <a:ext cx="1479725" cy="929800"/>
          </a:xfrm>
          <a:prstGeom prst="rect">
            <a:avLst/>
          </a:prstGeom>
          <a:noFill/>
          <a:ln cap="flat" cmpd="sng" w="19050">
            <a:solidFill>
              <a:srgbClr val="F39C12"/>
            </a:solidFill>
            <a:prstDash val="solid"/>
            <a:round/>
            <a:headEnd len="sm" w="sm" type="none"/>
            <a:tailEnd len="sm" w="sm" type="none"/>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47"/>
          <p:cNvSpPr txBox="1"/>
          <p:nvPr>
            <p:ph type="ctrTitle"/>
          </p:nvPr>
        </p:nvSpPr>
        <p:spPr>
          <a:xfrm>
            <a:off x="311700" y="1226800"/>
            <a:ext cx="8520600" cy="15705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Clr>
                <a:schemeClr val="dk1"/>
              </a:buClr>
              <a:buSzPts val="1100"/>
              <a:buFont typeface="Arial"/>
              <a:buNone/>
            </a:pPr>
            <a:r>
              <a:rPr lang="es"/>
              <a:t>Material extra</a:t>
            </a:r>
            <a:endParaRPr/>
          </a:p>
        </p:txBody>
      </p:sp>
      <p:sp>
        <p:nvSpPr>
          <p:cNvPr id="658" name="Google Shape;658;p4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500"/>
              <a:buNone/>
            </a:pPr>
            <a:r>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62" name="Shape 662"/>
        <p:cNvGrpSpPr/>
        <p:nvPr/>
      </p:nvGrpSpPr>
      <p:grpSpPr>
        <a:xfrm>
          <a:off x="0" y="0"/>
          <a:ext cx="0" cy="0"/>
          <a:chOff x="0" y="0"/>
          <a:chExt cx="0" cy="0"/>
        </a:xfrm>
      </p:grpSpPr>
      <p:sp>
        <p:nvSpPr>
          <p:cNvPr id="663" name="Google Shape;663;p48"/>
          <p:cNvSpPr txBox="1"/>
          <p:nvPr/>
        </p:nvSpPr>
        <p:spPr>
          <a:xfrm>
            <a:off x="311700" y="597425"/>
            <a:ext cx="8503200" cy="572700"/>
          </a:xfrm>
          <a:prstGeom prst="rect">
            <a:avLst/>
          </a:prstGeom>
          <a:noFill/>
          <a:ln>
            <a:noFill/>
          </a:ln>
        </p:spPr>
        <p:txBody>
          <a:bodyPr anchorCtr="0" anchor="t" bIns="91425" lIns="91425" spcFirstLastPara="1" rIns="91425" wrap="square" tIns="91425">
            <a:normAutofit lnSpcReduction="10000"/>
          </a:bodyPr>
          <a:lstStyle/>
          <a:p>
            <a:pPr indent="0" lvl="0" marL="0" marR="0" rtl="0" algn="l">
              <a:lnSpc>
                <a:spcPct val="100000"/>
              </a:lnSpc>
              <a:spcBef>
                <a:spcPts val="0"/>
              </a:spcBef>
              <a:spcAft>
                <a:spcPts val="0"/>
              </a:spcAft>
              <a:buClr>
                <a:srgbClr val="000000"/>
              </a:buClr>
              <a:buSzPts val="2700"/>
              <a:buFont typeface="Arial"/>
              <a:buNone/>
            </a:pPr>
            <a:r>
              <a:rPr b="0" i="0" lang="es" sz="2700" u="none" cap="none" strike="noStrike">
                <a:solidFill>
                  <a:srgbClr val="000000"/>
                </a:solidFill>
                <a:latin typeface="Montserrat Medium"/>
                <a:ea typeface="Montserrat Medium"/>
                <a:cs typeface="Montserrat Medium"/>
                <a:sym typeface="Montserrat Medium"/>
              </a:rPr>
              <a:t>Artículos de interés</a:t>
            </a:r>
            <a:endParaRPr b="0" i="0" sz="2700" u="none" cap="none" strike="noStrike">
              <a:solidFill>
                <a:srgbClr val="000000"/>
              </a:solidFill>
              <a:latin typeface="Montserrat Medium"/>
              <a:ea typeface="Montserrat Medium"/>
              <a:cs typeface="Montserrat Medium"/>
              <a:sym typeface="Montserrat Medium"/>
            </a:endParaRPr>
          </a:p>
        </p:txBody>
      </p:sp>
      <p:sp>
        <p:nvSpPr>
          <p:cNvPr id="664" name="Google Shape;664;p48"/>
          <p:cNvSpPr txBox="1"/>
          <p:nvPr/>
        </p:nvSpPr>
        <p:spPr>
          <a:xfrm>
            <a:off x="432000" y="1297200"/>
            <a:ext cx="8280000" cy="33180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0"/>
              </a:spcAft>
              <a:buClr>
                <a:srgbClr val="000000"/>
              </a:buClr>
              <a:buSzPts val="1500"/>
              <a:buFont typeface="Arial"/>
              <a:buNone/>
            </a:pPr>
            <a:r>
              <a:rPr b="0" i="0" lang="es" sz="1500" u="none" cap="none" strike="noStrike">
                <a:solidFill>
                  <a:srgbClr val="595959"/>
                </a:solidFill>
                <a:latin typeface="Montserrat"/>
                <a:ea typeface="Montserrat"/>
                <a:cs typeface="Montserrat"/>
                <a:sym typeface="Montserrat"/>
              </a:rPr>
              <a:t>Material extra:</a:t>
            </a:r>
            <a:endParaRPr b="0" i="0" sz="1500" u="none" cap="none" strike="noStrike">
              <a:solidFill>
                <a:srgbClr val="595959"/>
              </a:solidFill>
              <a:latin typeface="Montserrat"/>
              <a:ea typeface="Montserrat"/>
              <a:cs typeface="Montserrat"/>
              <a:sym typeface="Montserrat"/>
            </a:endParaRPr>
          </a:p>
          <a:p>
            <a:pPr indent="-323850" lvl="0" marL="457200" marR="0" rtl="0" algn="l">
              <a:lnSpc>
                <a:spcPct val="115000"/>
              </a:lnSpc>
              <a:spcBef>
                <a:spcPts val="1200"/>
              </a:spcBef>
              <a:spcAft>
                <a:spcPts val="0"/>
              </a:spcAft>
              <a:buClr>
                <a:srgbClr val="595959"/>
              </a:buClr>
              <a:buSzPts val="1500"/>
              <a:buFont typeface="Montserrat"/>
              <a:buChar char="●"/>
            </a:pPr>
            <a:r>
              <a:rPr b="0" i="0" lang="es" sz="1500" u="sng" cap="none" strike="noStrike">
                <a:solidFill>
                  <a:schemeClr val="hlink"/>
                </a:solidFill>
                <a:latin typeface="Montserrat"/>
                <a:ea typeface="Montserrat"/>
                <a:cs typeface="Montserrat"/>
                <a:sym typeface="Montserrat"/>
                <a:hlinkClick r:id="rId3"/>
              </a:rPr>
              <a:t>¿Qué es un gestor de datos y para qué sirve?</a:t>
            </a:r>
            <a:endParaRPr b="0" i="0" sz="1500" u="none" cap="none" strike="noStrike">
              <a:solidFill>
                <a:srgbClr val="595959"/>
              </a:solidFill>
              <a:latin typeface="Montserrat"/>
              <a:ea typeface="Montserrat"/>
              <a:cs typeface="Montserrat"/>
              <a:sym typeface="Montserrat"/>
            </a:endParaRPr>
          </a:p>
          <a:p>
            <a:pPr indent="-323850" lvl="0" marL="457200" marR="0" rtl="0" algn="l">
              <a:lnSpc>
                <a:spcPct val="115000"/>
              </a:lnSpc>
              <a:spcBef>
                <a:spcPts val="0"/>
              </a:spcBef>
              <a:spcAft>
                <a:spcPts val="0"/>
              </a:spcAft>
              <a:buClr>
                <a:srgbClr val="595959"/>
              </a:buClr>
              <a:buSzPts val="1500"/>
              <a:buFont typeface="Montserrat"/>
              <a:buChar char="●"/>
            </a:pPr>
            <a:r>
              <a:rPr b="0" i="0" lang="es" sz="1500" u="sng" cap="none" strike="noStrike">
                <a:solidFill>
                  <a:schemeClr val="hlink"/>
                </a:solidFill>
                <a:latin typeface="Montserrat"/>
                <a:ea typeface="Montserrat"/>
                <a:cs typeface="Montserrat"/>
                <a:sym typeface="Montserrat"/>
                <a:hlinkClick r:id="rId4"/>
              </a:rPr>
              <a:t>¿Qué son las bases de datos NoSQL?</a:t>
            </a:r>
            <a:endParaRPr b="0" i="0" sz="1500" u="none" cap="none" strike="noStrike">
              <a:solidFill>
                <a:srgbClr val="595959"/>
              </a:solidFill>
              <a:latin typeface="Montserrat"/>
              <a:ea typeface="Montserrat"/>
              <a:cs typeface="Montserrat"/>
              <a:sym typeface="Montserrat"/>
            </a:endParaRPr>
          </a:p>
          <a:p>
            <a:pPr indent="-323850" lvl="0" marL="457200" marR="0" rtl="0" algn="l">
              <a:lnSpc>
                <a:spcPct val="115000"/>
              </a:lnSpc>
              <a:spcBef>
                <a:spcPts val="0"/>
              </a:spcBef>
              <a:spcAft>
                <a:spcPts val="0"/>
              </a:spcAft>
              <a:buClr>
                <a:srgbClr val="595959"/>
              </a:buClr>
              <a:buSzPts val="1500"/>
              <a:buFont typeface="Montserrat"/>
              <a:buChar char="●"/>
            </a:pPr>
            <a:r>
              <a:rPr b="0" i="0" lang="es" sz="1500" u="sng" cap="none" strike="noStrike">
                <a:solidFill>
                  <a:schemeClr val="hlink"/>
                </a:solidFill>
                <a:latin typeface="Montserrat"/>
                <a:ea typeface="Montserrat"/>
                <a:cs typeface="Montserrat"/>
                <a:sym typeface="Montserrat"/>
                <a:hlinkClick r:id="rId5"/>
              </a:rPr>
              <a:t>Diagrama entidad relación</a:t>
            </a:r>
            <a:endParaRPr b="0" i="0" sz="1500" u="none" cap="none" strike="noStrike">
              <a:solidFill>
                <a:srgbClr val="595959"/>
              </a:solidFill>
              <a:latin typeface="Montserrat"/>
              <a:ea typeface="Montserrat"/>
              <a:cs typeface="Montserrat"/>
              <a:sym typeface="Montserrat"/>
            </a:endParaRPr>
          </a:p>
          <a:p>
            <a:pPr indent="-323850" lvl="0" marL="457200" marR="0" rtl="0" algn="l">
              <a:lnSpc>
                <a:spcPct val="115000"/>
              </a:lnSpc>
              <a:spcBef>
                <a:spcPts val="0"/>
              </a:spcBef>
              <a:spcAft>
                <a:spcPts val="0"/>
              </a:spcAft>
              <a:buClr>
                <a:srgbClr val="595959"/>
              </a:buClr>
              <a:buSzPts val="1500"/>
              <a:buFont typeface="Montserrat"/>
              <a:buChar char="●"/>
            </a:pPr>
            <a:r>
              <a:rPr b="0" i="0" lang="es" sz="1500" u="sng" cap="none" strike="noStrike">
                <a:solidFill>
                  <a:schemeClr val="hlink"/>
                </a:solidFill>
                <a:latin typeface="Montserrat"/>
                <a:ea typeface="Montserrat"/>
                <a:cs typeface="Montserrat"/>
                <a:sym typeface="Montserrat"/>
                <a:hlinkClick r:id="rId6"/>
              </a:rPr>
              <a:t>¿Qué es y para qué sirve UML?</a:t>
            </a:r>
            <a:endParaRPr b="0" i="0" sz="1500" u="none" cap="none" strike="noStrike">
              <a:solidFill>
                <a:srgbClr val="595959"/>
              </a:solidFill>
              <a:latin typeface="Montserrat"/>
              <a:ea typeface="Montserrat"/>
              <a:cs typeface="Montserrat"/>
              <a:sym typeface="Montserrat"/>
            </a:endParaRPr>
          </a:p>
          <a:p>
            <a:pPr indent="-323850" lvl="0" marL="457200" marR="0" rtl="0" algn="l">
              <a:lnSpc>
                <a:spcPct val="115000"/>
              </a:lnSpc>
              <a:spcBef>
                <a:spcPts val="0"/>
              </a:spcBef>
              <a:spcAft>
                <a:spcPts val="0"/>
              </a:spcAft>
              <a:buClr>
                <a:srgbClr val="595959"/>
              </a:buClr>
              <a:buSzPts val="1500"/>
              <a:buFont typeface="Montserrat"/>
              <a:buChar char="●"/>
            </a:pPr>
            <a:r>
              <a:rPr b="0" i="0" lang="es" sz="1500" u="sng" cap="none" strike="noStrike">
                <a:solidFill>
                  <a:schemeClr val="hlink"/>
                </a:solidFill>
                <a:latin typeface="Montserrat"/>
                <a:ea typeface="Montserrat"/>
                <a:cs typeface="Montserrat"/>
                <a:sym typeface="Montserrat"/>
                <a:hlinkClick r:id="rId7"/>
              </a:rPr>
              <a:t>Lenguaje de definición de datos (DDL)</a:t>
            </a:r>
            <a:endParaRPr b="0" i="0" sz="1500" u="none" cap="none" strike="noStrike">
              <a:solidFill>
                <a:srgbClr val="595959"/>
              </a:solidFill>
              <a:latin typeface="Montserrat"/>
              <a:ea typeface="Montserrat"/>
              <a:cs typeface="Montserrat"/>
              <a:sym typeface="Montserrat"/>
            </a:endParaRPr>
          </a:p>
          <a:p>
            <a:pPr indent="-323850" lvl="0" marL="457200" marR="0" rtl="0" algn="l">
              <a:lnSpc>
                <a:spcPct val="115000"/>
              </a:lnSpc>
              <a:spcBef>
                <a:spcPts val="0"/>
              </a:spcBef>
              <a:spcAft>
                <a:spcPts val="0"/>
              </a:spcAft>
              <a:buClr>
                <a:srgbClr val="595959"/>
              </a:buClr>
              <a:buSzPts val="1500"/>
              <a:buFont typeface="Montserrat"/>
              <a:buChar char="●"/>
            </a:pPr>
            <a:r>
              <a:rPr b="0" i="0" lang="es" sz="1500" u="sng" cap="none" strike="noStrike">
                <a:solidFill>
                  <a:schemeClr val="hlink"/>
                </a:solidFill>
                <a:latin typeface="Montserrat"/>
                <a:ea typeface="Montserrat"/>
                <a:cs typeface="Montserrat"/>
                <a:sym typeface="Montserrat"/>
                <a:hlinkClick r:id="rId8"/>
              </a:rPr>
              <a:t>Editor SQL On-Line “SQL Fiddle”</a:t>
            </a:r>
            <a:r>
              <a:rPr b="0" i="0" lang="es" sz="1500" u="none" cap="none" strike="noStrike">
                <a:solidFill>
                  <a:srgbClr val="595959"/>
                </a:solidFill>
                <a:latin typeface="Montserrat"/>
                <a:ea typeface="Montserrat"/>
                <a:cs typeface="Montserrat"/>
                <a:sym typeface="Montserrat"/>
              </a:rPr>
              <a:t>: permite probar scripts sql en los motores más populares, sin complicaciones de instalación o alguna conexión que se tenga que configurar. </a:t>
            </a:r>
            <a:r>
              <a:rPr b="0" i="0" lang="es" sz="1500" u="sng" cap="none" strike="noStrike">
                <a:solidFill>
                  <a:schemeClr val="hlink"/>
                </a:solidFill>
                <a:latin typeface="Montserrat"/>
                <a:ea typeface="Montserrat"/>
                <a:cs typeface="Montserrat"/>
                <a:sym typeface="Montserrat"/>
                <a:hlinkClick r:id="rId9"/>
              </a:rPr>
              <a:t>http://sqlfiddle.com/</a:t>
            </a:r>
            <a:endParaRPr b="0" i="0" sz="1500" u="none" cap="none" strike="noStrike">
              <a:solidFill>
                <a:srgbClr val="595959"/>
              </a:solidFill>
              <a:latin typeface="Montserrat"/>
              <a:ea typeface="Montserrat"/>
              <a:cs typeface="Montserrat"/>
              <a:sym typeface="Montserrat"/>
            </a:endParaRPr>
          </a:p>
          <a:p>
            <a:pPr indent="-323850" lvl="0" marL="457200" marR="0" rtl="0" algn="l">
              <a:lnSpc>
                <a:spcPct val="115000"/>
              </a:lnSpc>
              <a:spcBef>
                <a:spcPts val="0"/>
              </a:spcBef>
              <a:spcAft>
                <a:spcPts val="0"/>
              </a:spcAft>
              <a:buClr>
                <a:srgbClr val="595959"/>
              </a:buClr>
              <a:buSzPts val="1500"/>
              <a:buFont typeface="Montserrat"/>
              <a:buChar char="●"/>
            </a:pPr>
            <a:r>
              <a:rPr b="0" i="0" lang="es" sz="1500" u="none" cap="none" strike="noStrike">
                <a:solidFill>
                  <a:srgbClr val="595959"/>
                </a:solidFill>
                <a:latin typeface="Montserrat"/>
                <a:ea typeface="Montserrat"/>
                <a:cs typeface="Montserrat"/>
                <a:sym typeface="Montserrat"/>
              </a:rPr>
              <a:t>Curso de SQL (</a:t>
            </a:r>
            <a:r>
              <a:rPr b="0" i="0" lang="es" sz="1500" u="sng" cap="none" strike="noStrike">
                <a:solidFill>
                  <a:schemeClr val="hlink"/>
                </a:solidFill>
                <a:latin typeface="Montserrat"/>
                <a:ea typeface="Montserrat"/>
                <a:cs typeface="Montserrat"/>
                <a:sym typeface="Montserrat"/>
                <a:hlinkClick r:id="rId10"/>
              </a:rPr>
              <a:t>píldoras informáticas</a:t>
            </a:r>
            <a:r>
              <a:rPr b="0" i="0" lang="es" sz="1500" u="none" cap="none" strike="noStrike">
                <a:solidFill>
                  <a:srgbClr val="595959"/>
                </a:solidFill>
                <a:latin typeface="Montserrat"/>
                <a:ea typeface="Montserrat"/>
                <a:cs typeface="Montserrat"/>
                <a:sym typeface="Montserrat"/>
              </a:rPr>
              <a:t>)</a:t>
            </a:r>
            <a:endParaRPr b="0" i="0" sz="1500" u="none" cap="none" strike="noStrike">
              <a:solidFill>
                <a:srgbClr val="595959"/>
              </a:solidFill>
              <a:latin typeface="Montserrat"/>
              <a:ea typeface="Montserrat"/>
              <a:cs typeface="Montserrat"/>
              <a:sym typeface="Montserrat"/>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p49"/>
          <p:cNvSpPr txBox="1"/>
          <p:nvPr/>
        </p:nvSpPr>
        <p:spPr>
          <a:xfrm>
            <a:off x="311700" y="597425"/>
            <a:ext cx="8503200" cy="572700"/>
          </a:xfrm>
          <a:prstGeom prst="rect">
            <a:avLst/>
          </a:prstGeom>
          <a:noFill/>
          <a:ln>
            <a:noFill/>
          </a:ln>
        </p:spPr>
        <p:txBody>
          <a:bodyPr anchorCtr="0" anchor="t" bIns="91425" lIns="91425" spcFirstLastPara="1" rIns="91425" wrap="square" tIns="91425">
            <a:normAutofit lnSpcReduction="10000"/>
          </a:bodyPr>
          <a:lstStyle/>
          <a:p>
            <a:pPr indent="0" lvl="0" marL="0" marR="0" rtl="0" algn="l">
              <a:lnSpc>
                <a:spcPct val="100000"/>
              </a:lnSpc>
              <a:spcBef>
                <a:spcPts val="0"/>
              </a:spcBef>
              <a:spcAft>
                <a:spcPts val="0"/>
              </a:spcAft>
              <a:buClr>
                <a:srgbClr val="000000"/>
              </a:buClr>
              <a:buSzPts val="2700"/>
              <a:buFont typeface="Arial"/>
              <a:buNone/>
            </a:pPr>
            <a:r>
              <a:rPr b="0" i="0" lang="es" sz="2700" u="none" cap="none" strike="noStrike">
                <a:solidFill>
                  <a:srgbClr val="000000"/>
                </a:solidFill>
                <a:latin typeface="Montserrat Medium"/>
                <a:ea typeface="Montserrat Medium"/>
                <a:cs typeface="Montserrat Medium"/>
                <a:sym typeface="Montserrat Medium"/>
              </a:rPr>
              <a:t>Artículos de interés</a:t>
            </a:r>
            <a:endParaRPr b="0" i="0" sz="2700" u="none" cap="none" strike="noStrike">
              <a:solidFill>
                <a:srgbClr val="000000"/>
              </a:solidFill>
              <a:latin typeface="Montserrat Medium"/>
              <a:ea typeface="Montserrat Medium"/>
              <a:cs typeface="Montserrat Medium"/>
              <a:sym typeface="Montserrat Medium"/>
            </a:endParaRPr>
          </a:p>
        </p:txBody>
      </p:sp>
      <p:sp>
        <p:nvSpPr>
          <p:cNvPr id="670" name="Google Shape;670;p49"/>
          <p:cNvSpPr txBox="1"/>
          <p:nvPr/>
        </p:nvSpPr>
        <p:spPr>
          <a:xfrm>
            <a:off x="432000" y="1297200"/>
            <a:ext cx="8280000" cy="33180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0"/>
              </a:spcAft>
              <a:buClr>
                <a:srgbClr val="000000"/>
              </a:buClr>
              <a:buSzPts val="1500"/>
              <a:buFont typeface="Arial"/>
              <a:buNone/>
            </a:pPr>
            <a:r>
              <a:rPr b="0" i="0" lang="es" sz="1500" u="none" cap="none" strike="noStrike">
                <a:solidFill>
                  <a:srgbClr val="595959"/>
                </a:solidFill>
                <a:latin typeface="Montserrat"/>
                <a:ea typeface="Montserrat"/>
                <a:cs typeface="Montserrat"/>
                <a:sym typeface="Montserrat"/>
              </a:rPr>
              <a:t>Material extra:</a:t>
            </a:r>
            <a:endParaRPr b="0" i="0" sz="1500" u="none" cap="none" strike="noStrike">
              <a:solidFill>
                <a:srgbClr val="595959"/>
              </a:solidFill>
              <a:latin typeface="Montserrat"/>
              <a:ea typeface="Montserrat"/>
              <a:cs typeface="Montserrat"/>
              <a:sym typeface="Montserrat"/>
            </a:endParaRPr>
          </a:p>
          <a:p>
            <a:pPr indent="-323850" lvl="0" marL="457200" marR="0" rtl="0" algn="l">
              <a:lnSpc>
                <a:spcPct val="115000"/>
              </a:lnSpc>
              <a:spcBef>
                <a:spcPts val="1200"/>
              </a:spcBef>
              <a:spcAft>
                <a:spcPts val="0"/>
              </a:spcAft>
              <a:buClr>
                <a:srgbClr val="595959"/>
              </a:buClr>
              <a:buSzPts val="1500"/>
              <a:buFont typeface="Montserrat"/>
              <a:buChar char="●"/>
            </a:pPr>
            <a:r>
              <a:rPr b="0" i="0" lang="es" sz="1500" u="sng" cap="none" strike="noStrike">
                <a:solidFill>
                  <a:schemeClr val="hlink"/>
                </a:solidFill>
                <a:latin typeface="Montserrat"/>
                <a:ea typeface="Montserrat"/>
                <a:cs typeface="Montserrat"/>
                <a:sym typeface="Montserrat"/>
                <a:hlinkClick r:id="rId3"/>
              </a:rPr>
              <a:t>¿Qué es un gestor de datos y para qué sirve?</a:t>
            </a:r>
            <a:endParaRPr b="0" i="0" sz="1500" u="none" cap="none" strike="noStrike">
              <a:solidFill>
                <a:srgbClr val="595959"/>
              </a:solidFill>
              <a:latin typeface="Montserrat"/>
              <a:ea typeface="Montserrat"/>
              <a:cs typeface="Montserrat"/>
              <a:sym typeface="Montserrat"/>
            </a:endParaRPr>
          </a:p>
          <a:p>
            <a:pPr indent="-323850" lvl="0" marL="457200" marR="0" rtl="0" algn="l">
              <a:lnSpc>
                <a:spcPct val="115000"/>
              </a:lnSpc>
              <a:spcBef>
                <a:spcPts val="0"/>
              </a:spcBef>
              <a:spcAft>
                <a:spcPts val="0"/>
              </a:spcAft>
              <a:buClr>
                <a:srgbClr val="595959"/>
              </a:buClr>
              <a:buSzPts val="1500"/>
              <a:buFont typeface="Montserrat"/>
              <a:buChar char="●"/>
            </a:pPr>
            <a:r>
              <a:rPr b="0" i="0" lang="es" sz="1500" u="sng" cap="none" strike="noStrike">
                <a:solidFill>
                  <a:schemeClr val="hlink"/>
                </a:solidFill>
                <a:latin typeface="Montserrat"/>
                <a:ea typeface="Montserrat"/>
                <a:cs typeface="Montserrat"/>
                <a:sym typeface="Montserrat"/>
                <a:hlinkClick r:id="rId4"/>
              </a:rPr>
              <a:t>¿Qué son las bases de datos NoSQL?</a:t>
            </a:r>
            <a:endParaRPr b="0" i="0" sz="1500" u="none" cap="none" strike="noStrike">
              <a:solidFill>
                <a:srgbClr val="595959"/>
              </a:solidFill>
              <a:latin typeface="Montserrat"/>
              <a:ea typeface="Montserrat"/>
              <a:cs typeface="Montserrat"/>
              <a:sym typeface="Montserrat"/>
            </a:endParaRPr>
          </a:p>
          <a:p>
            <a:pPr indent="-323850" lvl="0" marL="457200" marR="0" rtl="0" algn="l">
              <a:lnSpc>
                <a:spcPct val="115000"/>
              </a:lnSpc>
              <a:spcBef>
                <a:spcPts val="0"/>
              </a:spcBef>
              <a:spcAft>
                <a:spcPts val="0"/>
              </a:spcAft>
              <a:buClr>
                <a:srgbClr val="595959"/>
              </a:buClr>
              <a:buSzPts val="1500"/>
              <a:buFont typeface="Montserrat"/>
              <a:buChar char="●"/>
            </a:pPr>
            <a:r>
              <a:rPr b="0" i="0" lang="es" sz="1500" u="sng" cap="none" strike="noStrike">
                <a:solidFill>
                  <a:schemeClr val="hlink"/>
                </a:solidFill>
                <a:latin typeface="Montserrat"/>
                <a:ea typeface="Montserrat"/>
                <a:cs typeface="Montserrat"/>
                <a:sym typeface="Montserrat"/>
                <a:hlinkClick r:id="rId5"/>
              </a:rPr>
              <a:t>Diagrama entidad relación</a:t>
            </a:r>
            <a:endParaRPr b="0" i="0" sz="1500" u="none" cap="none" strike="noStrike">
              <a:solidFill>
                <a:srgbClr val="595959"/>
              </a:solidFill>
              <a:latin typeface="Montserrat"/>
              <a:ea typeface="Montserrat"/>
              <a:cs typeface="Montserrat"/>
              <a:sym typeface="Montserrat"/>
            </a:endParaRPr>
          </a:p>
          <a:p>
            <a:pPr indent="-323850" lvl="0" marL="457200" marR="0" rtl="0" algn="l">
              <a:lnSpc>
                <a:spcPct val="115000"/>
              </a:lnSpc>
              <a:spcBef>
                <a:spcPts val="0"/>
              </a:spcBef>
              <a:spcAft>
                <a:spcPts val="0"/>
              </a:spcAft>
              <a:buClr>
                <a:srgbClr val="595959"/>
              </a:buClr>
              <a:buSzPts val="1500"/>
              <a:buFont typeface="Montserrat"/>
              <a:buChar char="●"/>
            </a:pPr>
            <a:r>
              <a:rPr b="0" i="0" lang="es" sz="1500" u="sng" cap="none" strike="noStrike">
                <a:solidFill>
                  <a:schemeClr val="hlink"/>
                </a:solidFill>
                <a:latin typeface="Montserrat"/>
                <a:ea typeface="Montserrat"/>
                <a:cs typeface="Montserrat"/>
                <a:sym typeface="Montserrat"/>
                <a:hlinkClick r:id="rId6"/>
              </a:rPr>
              <a:t>¿Qué es y para qué sirve UML?</a:t>
            </a:r>
            <a:endParaRPr b="0" i="0" sz="1500" u="none" cap="none" strike="noStrike">
              <a:solidFill>
                <a:srgbClr val="595959"/>
              </a:solidFill>
              <a:latin typeface="Montserrat"/>
              <a:ea typeface="Montserrat"/>
              <a:cs typeface="Montserrat"/>
              <a:sym typeface="Montserrat"/>
            </a:endParaRPr>
          </a:p>
          <a:p>
            <a:pPr indent="-323850" lvl="0" marL="457200" marR="0" rtl="0" algn="l">
              <a:lnSpc>
                <a:spcPct val="115000"/>
              </a:lnSpc>
              <a:spcBef>
                <a:spcPts val="0"/>
              </a:spcBef>
              <a:spcAft>
                <a:spcPts val="0"/>
              </a:spcAft>
              <a:buClr>
                <a:srgbClr val="595959"/>
              </a:buClr>
              <a:buSzPts val="1500"/>
              <a:buFont typeface="Montserrat"/>
              <a:buChar char="●"/>
            </a:pPr>
            <a:r>
              <a:rPr b="0" i="0" lang="es" sz="1500" u="sng" cap="none" strike="noStrike">
                <a:solidFill>
                  <a:schemeClr val="hlink"/>
                </a:solidFill>
                <a:latin typeface="Montserrat"/>
                <a:ea typeface="Montserrat"/>
                <a:cs typeface="Montserrat"/>
                <a:sym typeface="Montserrat"/>
                <a:hlinkClick r:id="rId7"/>
              </a:rPr>
              <a:t>Lenguaje de definición de datos (DDL)</a:t>
            </a:r>
            <a:endParaRPr b="0" i="0" sz="1500" u="none" cap="none" strike="noStrike">
              <a:solidFill>
                <a:srgbClr val="595959"/>
              </a:solidFill>
              <a:latin typeface="Montserrat"/>
              <a:ea typeface="Montserrat"/>
              <a:cs typeface="Montserrat"/>
              <a:sym typeface="Montserrat"/>
            </a:endParaRPr>
          </a:p>
          <a:p>
            <a:pPr indent="-323850" lvl="0" marL="457200" marR="0" rtl="0" algn="l">
              <a:lnSpc>
                <a:spcPct val="115000"/>
              </a:lnSpc>
              <a:spcBef>
                <a:spcPts val="0"/>
              </a:spcBef>
              <a:spcAft>
                <a:spcPts val="0"/>
              </a:spcAft>
              <a:buClr>
                <a:srgbClr val="595959"/>
              </a:buClr>
              <a:buSzPts val="1500"/>
              <a:buFont typeface="Montserrat"/>
              <a:buChar char="●"/>
            </a:pPr>
            <a:r>
              <a:rPr b="0" i="0" lang="es" sz="1500" u="none" cap="none" strike="noStrike">
                <a:solidFill>
                  <a:srgbClr val="595959"/>
                </a:solidFill>
                <a:latin typeface="Montserrat"/>
                <a:ea typeface="Montserrat"/>
                <a:cs typeface="Montserrat"/>
                <a:sym typeface="Montserrat"/>
              </a:rPr>
              <a:t>Curso de SQL (</a:t>
            </a:r>
            <a:r>
              <a:rPr b="0" i="0" lang="es" sz="1500" u="sng" cap="none" strike="noStrike">
                <a:solidFill>
                  <a:schemeClr val="hlink"/>
                </a:solidFill>
                <a:latin typeface="Montserrat"/>
                <a:ea typeface="Montserrat"/>
                <a:cs typeface="Montserrat"/>
                <a:sym typeface="Montserrat"/>
                <a:hlinkClick r:id="rId8"/>
              </a:rPr>
              <a:t>píldoras informáticas</a:t>
            </a:r>
            <a:r>
              <a:rPr b="0" i="0" lang="es" sz="1500" u="none" cap="none" strike="noStrike">
                <a:solidFill>
                  <a:srgbClr val="595959"/>
                </a:solidFill>
                <a:latin typeface="Montserrat"/>
                <a:ea typeface="Montserrat"/>
                <a:cs typeface="Montserrat"/>
                <a:sym typeface="Montserrat"/>
              </a:rPr>
              <a:t>)</a:t>
            </a:r>
            <a:endParaRPr b="0" i="0" sz="1500" u="none" cap="none" strike="noStrike">
              <a:solidFill>
                <a:srgbClr val="595959"/>
              </a:solidFill>
              <a:latin typeface="Montserrat"/>
              <a:ea typeface="Montserrat"/>
              <a:cs typeface="Montserrat"/>
              <a:sym typeface="Montserrat"/>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50"/>
          <p:cNvSpPr txBox="1"/>
          <p:nvPr/>
        </p:nvSpPr>
        <p:spPr>
          <a:xfrm>
            <a:off x="311700" y="597425"/>
            <a:ext cx="8503200" cy="572700"/>
          </a:xfrm>
          <a:prstGeom prst="rect">
            <a:avLst/>
          </a:prstGeom>
          <a:noFill/>
          <a:ln>
            <a:noFill/>
          </a:ln>
        </p:spPr>
        <p:txBody>
          <a:bodyPr anchorCtr="0" anchor="t" bIns="91425" lIns="91425" spcFirstLastPara="1" rIns="91425" wrap="square" tIns="91425">
            <a:normAutofit lnSpcReduction="10000"/>
          </a:bodyPr>
          <a:lstStyle/>
          <a:p>
            <a:pPr indent="0" lvl="0" marL="0" marR="0" rtl="0" algn="l">
              <a:lnSpc>
                <a:spcPct val="100000"/>
              </a:lnSpc>
              <a:spcBef>
                <a:spcPts val="0"/>
              </a:spcBef>
              <a:spcAft>
                <a:spcPts val="0"/>
              </a:spcAft>
              <a:buClr>
                <a:srgbClr val="000000"/>
              </a:buClr>
              <a:buSzPts val="2700"/>
              <a:buFont typeface="Arial"/>
              <a:buNone/>
            </a:pPr>
            <a:r>
              <a:rPr b="0" i="0" lang="es" sz="2700" u="none" cap="none" strike="noStrike">
                <a:solidFill>
                  <a:srgbClr val="000000"/>
                </a:solidFill>
                <a:latin typeface="Montserrat Medium"/>
                <a:ea typeface="Montserrat Medium"/>
                <a:cs typeface="Montserrat Medium"/>
                <a:sym typeface="Montserrat Medium"/>
              </a:rPr>
              <a:t>Artículos de interés</a:t>
            </a:r>
            <a:endParaRPr b="0" i="0" sz="2700" u="none" cap="none" strike="noStrike">
              <a:solidFill>
                <a:srgbClr val="000000"/>
              </a:solidFill>
              <a:latin typeface="Montserrat Medium"/>
              <a:ea typeface="Montserrat Medium"/>
              <a:cs typeface="Montserrat Medium"/>
              <a:sym typeface="Montserrat Medium"/>
            </a:endParaRPr>
          </a:p>
        </p:txBody>
      </p:sp>
      <p:sp>
        <p:nvSpPr>
          <p:cNvPr id="676" name="Google Shape;676;p50"/>
          <p:cNvSpPr txBox="1"/>
          <p:nvPr/>
        </p:nvSpPr>
        <p:spPr>
          <a:xfrm>
            <a:off x="432000" y="1297200"/>
            <a:ext cx="8280000" cy="3318000"/>
          </a:xfrm>
          <a:prstGeom prst="rect">
            <a:avLst/>
          </a:prstGeom>
          <a:noFill/>
          <a:ln>
            <a:noFill/>
          </a:ln>
        </p:spPr>
        <p:txBody>
          <a:bodyPr anchorCtr="0" anchor="t" bIns="91425" lIns="91425" spcFirstLastPara="1" rIns="91425" wrap="square" tIns="91425">
            <a:normAutofit lnSpcReduction="20000"/>
          </a:bodyPr>
          <a:lstStyle/>
          <a:p>
            <a:pPr indent="0" lvl="0" marL="0" marR="0" rtl="0" algn="l">
              <a:lnSpc>
                <a:spcPct val="115000"/>
              </a:lnSpc>
              <a:spcBef>
                <a:spcPts val="0"/>
              </a:spcBef>
              <a:spcAft>
                <a:spcPts val="0"/>
              </a:spcAft>
              <a:buClr>
                <a:srgbClr val="000000"/>
              </a:buClr>
              <a:buSzPts val="1500"/>
              <a:buFont typeface="Arial"/>
              <a:buNone/>
            </a:pPr>
            <a:r>
              <a:rPr b="0" i="0" lang="es" sz="1500" u="none" cap="none" strike="noStrike">
                <a:solidFill>
                  <a:srgbClr val="595959"/>
                </a:solidFill>
                <a:latin typeface="Montserrat"/>
                <a:ea typeface="Montserrat"/>
                <a:cs typeface="Montserrat"/>
                <a:sym typeface="Montserrat"/>
              </a:rPr>
              <a:t>Videos:</a:t>
            </a:r>
            <a:endParaRPr b="0" i="0" sz="1500" u="none" cap="none" strike="noStrike">
              <a:solidFill>
                <a:srgbClr val="595959"/>
              </a:solidFill>
              <a:latin typeface="Montserrat"/>
              <a:ea typeface="Montserrat"/>
              <a:cs typeface="Montserrat"/>
              <a:sym typeface="Montserrat"/>
            </a:endParaRPr>
          </a:p>
          <a:p>
            <a:pPr indent="-323850" lvl="0" marL="457200" marR="0" rtl="0" algn="l">
              <a:lnSpc>
                <a:spcPct val="115000"/>
              </a:lnSpc>
              <a:spcBef>
                <a:spcPts val="1200"/>
              </a:spcBef>
              <a:spcAft>
                <a:spcPts val="0"/>
              </a:spcAft>
              <a:buClr>
                <a:srgbClr val="595959"/>
              </a:buClr>
              <a:buSzPts val="1500"/>
              <a:buFont typeface="Montserrat"/>
              <a:buChar char="●"/>
            </a:pPr>
            <a:r>
              <a:rPr b="0" i="0" lang="es" sz="1500" u="sng" cap="none" strike="noStrike">
                <a:solidFill>
                  <a:schemeClr val="hlink"/>
                </a:solidFill>
                <a:latin typeface="Montserrat"/>
                <a:ea typeface="Montserrat"/>
                <a:cs typeface="Montserrat"/>
                <a:sym typeface="Montserrat"/>
                <a:hlinkClick r:id="rId3"/>
              </a:rPr>
              <a:t>Instalar XAMPP 2022 para Windows 10</a:t>
            </a:r>
            <a:endParaRPr b="0" i="0" sz="1500" u="none" cap="none" strike="noStrike">
              <a:solidFill>
                <a:srgbClr val="595959"/>
              </a:solidFill>
              <a:latin typeface="Montserrat"/>
              <a:ea typeface="Montserrat"/>
              <a:cs typeface="Montserrat"/>
              <a:sym typeface="Montserrat"/>
            </a:endParaRPr>
          </a:p>
          <a:p>
            <a:pPr indent="-323850" lvl="0" marL="457200" marR="0" rtl="0" algn="l">
              <a:lnSpc>
                <a:spcPct val="115000"/>
              </a:lnSpc>
              <a:spcBef>
                <a:spcPts val="0"/>
              </a:spcBef>
              <a:spcAft>
                <a:spcPts val="0"/>
              </a:spcAft>
              <a:buClr>
                <a:srgbClr val="595959"/>
              </a:buClr>
              <a:buSzPts val="1500"/>
              <a:buFont typeface="Montserrat"/>
              <a:buChar char="●"/>
            </a:pPr>
            <a:r>
              <a:rPr b="0" i="0" lang="es" sz="1500" u="sng" cap="none" strike="noStrike">
                <a:solidFill>
                  <a:schemeClr val="hlink"/>
                </a:solidFill>
                <a:latin typeface="Montserrat"/>
                <a:ea typeface="Montserrat"/>
                <a:cs typeface="Montserrat"/>
                <a:sym typeface="Montserrat"/>
                <a:hlinkClick r:id="rId4"/>
              </a:rPr>
              <a:t>Instalar XAMPP y phpMyAdmin</a:t>
            </a:r>
            <a:endParaRPr b="0" i="0" sz="1500" u="none" cap="none" strike="noStrike">
              <a:solidFill>
                <a:srgbClr val="595959"/>
              </a:solidFill>
              <a:latin typeface="Montserrat"/>
              <a:ea typeface="Montserrat"/>
              <a:cs typeface="Montserrat"/>
              <a:sym typeface="Montserrat"/>
            </a:endParaRPr>
          </a:p>
          <a:p>
            <a:pPr indent="-323850" lvl="0" marL="457200" marR="0" rtl="0" algn="l">
              <a:lnSpc>
                <a:spcPct val="115000"/>
              </a:lnSpc>
              <a:spcBef>
                <a:spcPts val="0"/>
              </a:spcBef>
              <a:spcAft>
                <a:spcPts val="0"/>
              </a:spcAft>
              <a:buClr>
                <a:srgbClr val="595959"/>
              </a:buClr>
              <a:buSzPts val="1500"/>
              <a:buFont typeface="Montserrat"/>
              <a:buChar char="●"/>
            </a:pPr>
            <a:r>
              <a:rPr b="0" i="0" lang="es" sz="1500" u="sng" cap="none" strike="noStrike">
                <a:solidFill>
                  <a:schemeClr val="hlink"/>
                </a:solidFill>
                <a:latin typeface="Montserrat"/>
                <a:ea typeface="Montserrat"/>
                <a:cs typeface="Montserrat"/>
                <a:sym typeface="Montserrat"/>
                <a:hlinkClick r:id="rId5"/>
              </a:rPr>
              <a:t>Instalar XAMPP y MySQL Workbench</a:t>
            </a:r>
            <a:endParaRPr b="0" i="0" sz="1500" u="none" cap="none" strike="noStrike">
              <a:solidFill>
                <a:srgbClr val="595959"/>
              </a:solidFill>
              <a:latin typeface="Montserrat"/>
              <a:ea typeface="Montserrat"/>
              <a:cs typeface="Montserrat"/>
              <a:sym typeface="Montserrat"/>
            </a:endParaRPr>
          </a:p>
          <a:p>
            <a:pPr indent="-323850" lvl="0" marL="457200" marR="0" rtl="0" algn="l">
              <a:lnSpc>
                <a:spcPct val="115000"/>
              </a:lnSpc>
              <a:spcBef>
                <a:spcPts val="0"/>
              </a:spcBef>
              <a:spcAft>
                <a:spcPts val="0"/>
              </a:spcAft>
              <a:buClr>
                <a:srgbClr val="595959"/>
              </a:buClr>
              <a:buSzPts val="1500"/>
              <a:buFont typeface="Montserrat"/>
              <a:buChar char="●"/>
            </a:pPr>
            <a:r>
              <a:rPr b="0" i="0" lang="es" sz="1500" u="sng" cap="none" strike="noStrike">
                <a:solidFill>
                  <a:schemeClr val="hlink"/>
                </a:solidFill>
                <a:latin typeface="Montserrat"/>
                <a:ea typeface="Montserrat"/>
                <a:cs typeface="Montserrat"/>
                <a:sym typeface="Montserrat"/>
                <a:hlinkClick r:id="rId6"/>
              </a:rPr>
              <a:t>Instalar MySQL y MySQL Workbench</a:t>
            </a:r>
            <a:r>
              <a:rPr b="0" i="0" lang="es" sz="1500" u="none" cap="none" strike="noStrike">
                <a:solidFill>
                  <a:srgbClr val="595959"/>
                </a:solidFill>
                <a:latin typeface="Montserrat"/>
                <a:ea typeface="Montserrat"/>
                <a:cs typeface="Montserrat"/>
                <a:sym typeface="Montserrat"/>
              </a:rPr>
              <a:t> </a:t>
            </a:r>
            <a:endParaRPr b="0" i="0" sz="1500" u="none" cap="none" strike="noStrike">
              <a:solidFill>
                <a:srgbClr val="595959"/>
              </a:solidFill>
              <a:latin typeface="Montserrat"/>
              <a:ea typeface="Montserrat"/>
              <a:cs typeface="Montserrat"/>
              <a:sym typeface="Montserrat"/>
            </a:endParaRPr>
          </a:p>
          <a:p>
            <a:pPr indent="-323850" lvl="0" marL="457200" marR="0" rtl="0" algn="l">
              <a:lnSpc>
                <a:spcPct val="115000"/>
              </a:lnSpc>
              <a:spcBef>
                <a:spcPts val="0"/>
              </a:spcBef>
              <a:spcAft>
                <a:spcPts val="0"/>
              </a:spcAft>
              <a:buClr>
                <a:srgbClr val="595959"/>
              </a:buClr>
              <a:buSzPts val="1500"/>
              <a:buFont typeface="Montserrat"/>
              <a:buChar char="●"/>
            </a:pPr>
            <a:r>
              <a:rPr b="0" i="0" lang="es" sz="1500" u="sng" cap="none" strike="noStrike">
                <a:solidFill>
                  <a:schemeClr val="hlink"/>
                </a:solidFill>
                <a:latin typeface="Montserrat"/>
                <a:ea typeface="Montserrat"/>
                <a:cs typeface="Montserrat"/>
                <a:sym typeface="Montserrat"/>
                <a:hlinkClick r:id="rId7"/>
              </a:rPr>
              <a:t>Primer encuentro con una Base de Datos MySQL (MySQL Workbench)</a:t>
            </a:r>
            <a:r>
              <a:rPr b="0" i="0" lang="es" sz="1500" u="none" cap="none" strike="noStrike">
                <a:solidFill>
                  <a:srgbClr val="595959"/>
                </a:solidFill>
                <a:latin typeface="Montserrat"/>
                <a:ea typeface="Montserrat"/>
                <a:cs typeface="Montserrat"/>
                <a:sym typeface="Montserrat"/>
              </a:rPr>
              <a:t> </a:t>
            </a:r>
            <a:endParaRPr b="0" i="0" sz="1500" u="none" cap="none" strike="noStrike">
              <a:solidFill>
                <a:srgbClr val="595959"/>
              </a:solidFill>
              <a:latin typeface="Montserrat"/>
              <a:ea typeface="Montserrat"/>
              <a:cs typeface="Montserrat"/>
              <a:sym typeface="Montserrat"/>
            </a:endParaRPr>
          </a:p>
          <a:p>
            <a:pPr indent="-323850" lvl="0" marL="457200" marR="0" rtl="0" algn="l">
              <a:lnSpc>
                <a:spcPct val="115000"/>
              </a:lnSpc>
              <a:spcBef>
                <a:spcPts val="0"/>
              </a:spcBef>
              <a:spcAft>
                <a:spcPts val="0"/>
              </a:spcAft>
              <a:buClr>
                <a:srgbClr val="595959"/>
              </a:buClr>
              <a:buSzPts val="1500"/>
              <a:buFont typeface="Montserrat"/>
              <a:buChar char="●"/>
            </a:pPr>
            <a:r>
              <a:rPr b="0" i="0" lang="es" sz="1500" u="sng" cap="none" strike="noStrike">
                <a:solidFill>
                  <a:schemeClr val="hlink"/>
                </a:solidFill>
                <a:latin typeface="Montserrat"/>
                <a:ea typeface="Montserrat"/>
                <a:cs typeface="Montserrat"/>
                <a:sym typeface="Montserrat"/>
                <a:hlinkClick r:id="rId8"/>
              </a:rPr>
              <a:t>Primer encuentro con una Base de Datos MySQL (XAMPP y phpMyAdmin)</a:t>
            </a:r>
            <a:r>
              <a:rPr b="0" i="0" lang="es" sz="1500" u="none" cap="none" strike="noStrike">
                <a:solidFill>
                  <a:srgbClr val="595959"/>
                </a:solidFill>
                <a:latin typeface="Montserrat"/>
                <a:ea typeface="Montserrat"/>
                <a:cs typeface="Montserrat"/>
                <a:sym typeface="Montserrat"/>
              </a:rPr>
              <a:t> </a:t>
            </a:r>
            <a:endParaRPr b="0" i="0" sz="1500" u="none" cap="none" strike="noStrike">
              <a:solidFill>
                <a:srgbClr val="595959"/>
              </a:solidFill>
              <a:latin typeface="Montserrat"/>
              <a:ea typeface="Montserrat"/>
              <a:cs typeface="Montserrat"/>
              <a:sym typeface="Montserrat"/>
            </a:endParaRPr>
          </a:p>
          <a:p>
            <a:pPr indent="-323850" lvl="0" marL="457200" marR="0" rtl="0" algn="l">
              <a:lnSpc>
                <a:spcPct val="115000"/>
              </a:lnSpc>
              <a:spcBef>
                <a:spcPts val="0"/>
              </a:spcBef>
              <a:spcAft>
                <a:spcPts val="0"/>
              </a:spcAft>
              <a:buClr>
                <a:srgbClr val="595959"/>
              </a:buClr>
              <a:buSzPts val="1500"/>
              <a:buFont typeface="Montserrat"/>
              <a:buChar char="●"/>
            </a:pPr>
            <a:r>
              <a:rPr b="0" i="0" lang="es" sz="1500" u="sng" cap="none" strike="noStrike">
                <a:solidFill>
                  <a:schemeClr val="hlink"/>
                </a:solidFill>
                <a:latin typeface="Montserrat"/>
                <a:ea typeface="Montserrat"/>
                <a:cs typeface="Montserrat"/>
                <a:sym typeface="Montserrat"/>
                <a:hlinkClick r:id="rId9"/>
              </a:rPr>
              <a:t>Cómo instalar XAMPP en Windows y corregir problemas de puertos y permisos</a:t>
            </a:r>
            <a:endParaRPr b="0" i="0" sz="1500" u="none" cap="none" strike="noStrike">
              <a:solidFill>
                <a:srgbClr val="595959"/>
              </a:solidFill>
              <a:latin typeface="Montserrat"/>
              <a:ea typeface="Montserrat"/>
              <a:cs typeface="Montserrat"/>
              <a:sym typeface="Montserrat"/>
            </a:endParaRPr>
          </a:p>
          <a:p>
            <a:pPr indent="0" lvl="0" marL="0" marR="0" rtl="0" algn="l">
              <a:lnSpc>
                <a:spcPct val="115000"/>
              </a:lnSpc>
              <a:spcBef>
                <a:spcPts val="1200"/>
              </a:spcBef>
              <a:spcAft>
                <a:spcPts val="0"/>
              </a:spcAft>
              <a:buClr>
                <a:srgbClr val="000000"/>
              </a:buClr>
              <a:buSzPts val="1500"/>
              <a:buFont typeface="Arial"/>
              <a:buNone/>
            </a:pPr>
            <a:r>
              <a:rPr b="0" i="0" lang="es" sz="1500" u="none" cap="none" strike="noStrike">
                <a:solidFill>
                  <a:srgbClr val="595959"/>
                </a:solidFill>
                <a:latin typeface="Montserrat"/>
                <a:ea typeface="Montserrat"/>
                <a:cs typeface="Montserrat"/>
                <a:sym typeface="Montserrat"/>
              </a:rPr>
              <a:t>Sitios e instaladores:</a:t>
            </a:r>
            <a:endParaRPr b="0" i="0" sz="1500" u="none" cap="none" strike="noStrike">
              <a:solidFill>
                <a:srgbClr val="595959"/>
              </a:solidFill>
              <a:latin typeface="Montserrat"/>
              <a:ea typeface="Montserrat"/>
              <a:cs typeface="Montserrat"/>
              <a:sym typeface="Montserrat"/>
            </a:endParaRPr>
          </a:p>
          <a:p>
            <a:pPr indent="-323850" lvl="0" marL="457200" marR="0" rtl="0" algn="l">
              <a:lnSpc>
                <a:spcPct val="115000"/>
              </a:lnSpc>
              <a:spcBef>
                <a:spcPts val="1200"/>
              </a:spcBef>
              <a:spcAft>
                <a:spcPts val="0"/>
              </a:spcAft>
              <a:buClr>
                <a:srgbClr val="595959"/>
              </a:buClr>
              <a:buSzPts val="1500"/>
              <a:buFont typeface="Montserrat"/>
              <a:buChar char="●"/>
            </a:pPr>
            <a:r>
              <a:rPr b="0" i="0" lang="es" sz="1500" u="none" cap="none" strike="noStrike">
                <a:solidFill>
                  <a:srgbClr val="595959"/>
                </a:solidFill>
                <a:latin typeface="Montserrat"/>
                <a:ea typeface="Montserrat"/>
                <a:cs typeface="Montserrat"/>
                <a:sym typeface="Montserrat"/>
              </a:rPr>
              <a:t>MySQL: </a:t>
            </a:r>
            <a:r>
              <a:rPr b="0" i="0" lang="es" sz="1500" u="sng" cap="none" strike="noStrike">
                <a:solidFill>
                  <a:schemeClr val="accent5"/>
                </a:solidFill>
                <a:latin typeface="Montserrat"/>
                <a:ea typeface="Montserrat"/>
                <a:cs typeface="Montserrat"/>
                <a:sym typeface="Montserrat"/>
                <a:hlinkClick r:id="rId10">
                  <a:extLst>
                    <a:ext uri="{A12FA001-AC4F-418D-AE19-62706E023703}">
                      <ahyp:hlinkClr val="tx"/>
                    </a:ext>
                  </a:extLst>
                </a:hlinkClick>
              </a:rPr>
              <a:t>https://dev.mysql.com/downloads/installer/</a:t>
            </a:r>
            <a:r>
              <a:rPr b="0" i="0" lang="es" sz="1500" u="none" cap="none" strike="noStrike">
                <a:solidFill>
                  <a:schemeClr val="dk2"/>
                </a:solidFill>
                <a:latin typeface="Montserrat"/>
                <a:ea typeface="Montserrat"/>
                <a:cs typeface="Montserrat"/>
                <a:sym typeface="Montserrat"/>
              </a:rPr>
              <a:t> </a:t>
            </a:r>
            <a:endParaRPr b="0" i="0" sz="1500" u="none" cap="none" strike="noStrike">
              <a:solidFill>
                <a:srgbClr val="595959"/>
              </a:solidFill>
              <a:latin typeface="Montserrat"/>
              <a:ea typeface="Montserrat"/>
              <a:cs typeface="Montserrat"/>
              <a:sym typeface="Montserrat"/>
            </a:endParaRPr>
          </a:p>
          <a:p>
            <a:pPr indent="-323850" lvl="0" marL="457200" marR="0" rtl="0" algn="l">
              <a:lnSpc>
                <a:spcPct val="115000"/>
              </a:lnSpc>
              <a:spcBef>
                <a:spcPts val="0"/>
              </a:spcBef>
              <a:spcAft>
                <a:spcPts val="0"/>
              </a:spcAft>
              <a:buClr>
                <a:srgbClr val="595959"/>
              </a:buClr>
              <a:buSzPts val="1500"/>
              <a:buFont typeface="Montserrat"/>
              <a:buChar char="●"/>
            </a:pPr>
            <a:r>
              <a:rPr b="0" i="0" lang="es" sz="1500" u="none" cap="none" strike="noStrike">
                <a:solidFill>
                  <a:srgbClr val="595959"/>
                </a:solidFill>
                <a:latin typeface="Montserrat"/>
                <a:ea typeface="Montserrat"/>
                <a:cs typeface="Montserrat"/>
                <a:sym typeface="Montserrat"/>
              </a:rPr>
              <a:t>phpmyadmin: </a:t>
            </a:r>
            <a:r>
              <a:rPr b="0" i="0" lang="es" sz="1500" u="sng" cap="none" strike="noStrike">
                <a:solidFill>
                  <a:schemeClr val="hlink"/>
                </a:solidFill>
                <a:latin typeface="Montserrat"/>
                <a:ea typeface="Montserrat"/>
                <a:cs typeface="Montserrat"/>
                <a:sym typeface="Montserrat"/>
                <a:hlinkClick r:id="rId11"/>
              </a:rPr>
              <a:t>https://www.phpmyadmin.net/</a:t>
            </a:r>
            <a:r>
              <a:rPr b="0" i="0" lang="es" sz="1500" u="none" cap="none" strike="noStrike">
                <a:solidFill>
                  <a:srgbClr val="595959"/>
                </a:solidFill>
                <a:latin typeface="Montserrat"/>
                <a:ea typeface="Montserrat"/>
                <a:cs typeface="Montserrat"/>
                <a:sym typeface="Montserrat"/>
              </a:rPr>
              <a:t> </a:t>
            </a:r>
            <a:endParaRPr b="0" i="0" sz="1500" u="none" cap="none" strike="noStrike">
              <a:solidFill>
                <a:srgbClr val="595959"/>
              </a:solidFill>
              <a:latin typeface="Montserrat"/>
              <a:ea typeface="Montserrat"/>
              <a:cs typeface="Montserrat"/>
              <a:sym typeface="Montserrat"/>
            </a:endParaRPr>
          </a:p>
          <a:p>
            <a:pPr indent="-323850" lvl="0" marL="457200" marR="0" rtl="0" algn="l">
              <a:lnSpc>
                <a:spcPct val="115000"/>
              </a:lnSpc>
              <a:spcBef>
                <a:spcPts val="0"/>
              </a:spcBef>
              <a:spcAft>
                <a:spcPts val="0"/>
              </a:spcAft>
              <a:buClr>
                <a:srgbClr val="595959"/>
              </a:buClr>
              <a:buSzPts val="1500"/>
              <a:buFont typeface="Montserrat"/>
              <a:buChar char="●"/>
            </a:pPr>
            <a:r>
              <a:rPr b="0" i="0" lang="es" sz="1500" u="none" cap="none" strike="noStrike">
                <a:solidFill>
                  <a:srgbClr val="595959"/>
                </a:solidFill>
                <a:latin typeface="Montserrat"/>
                <a:ea typeface="Montserrat"/>
                <a:cs typeface="Montserrat"/>
                <a:sym typeface="Montserrat"/>
              </a:rPr>
              <a:t>MySQL Workbench: </a:t>
            </a:r>
            <a:r>
              <a:rPr b="0" i="0" lang="es" sz="1500" u="sng" cap="none" strike="noStrike">
                <a:solidFill>
                  <a:schemeClr val="hlink"/>
                </a:solidFill>
                <a:latin typeface="Montserrat"/>
                <a:ea typeface="Montserrat"/>
                <a:cs typeface="Montserrat"/>
                <a:sym typeface="Montserrat"/>
                <a:hlinkClick r:id="rId12"/>
              </a:rPr>
              <a:t>https://dev.mysql.com/downloads/workbench/</a:t>
            </a:r>
            <a:endParaRPr b="0" i="0" sz="1500" u="none" cap="none" strike="noStrike">
              <a:solidFill>
                <a:srgbClr val="595959"/>
              </a:solidFill>
              <a:latin typeface="Montserrat"/>
              <a:ea typeface="Montserrat"/>
              <a:cs typeface="Montserrat"/>
              <a:sym typeface="Montserrat"/>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51"/>
          <p:cNvSpPr txBox="1"/>
          <p:nvPr>
            <p:ph type="title"/>
          </p:nvPr>
        </p:nvSpPr>
        <p:spPr>
          <a:xfrm>
            <a:off x="490250" y="1135950"/>
            <a:ext cx="8097300" cy="36237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3700"/>
              <a:buNone/>
            </a:pPr>
            <a:r>
              <a:rPr lang="es"/>
              <a:t>No te olvides de dar el presente</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p52"/>
          <p:cNvSpPr txBox="1"/>
          <p:nvPr>
            <p:ph type="title"/>
          </p:nvPr>
        </p:nvSpPr>
        <p:spPr>
          <a:xfrm>
            <a:off x="490250" y="1135950"/>
            <a:ext cx="8097300" cy="36237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3700"/>
              <a:buNone/>
            </a:pPr>
            <a:r>
              <a:rPr lang="es"/>
              <a:t>Recordá: </a:t>
            </a:r>
            <a:endParaRPr/>
          </a:p>
          <a:p>
            <a:pPr indent="-431800" lvl="0" marL="457200" rtl="0" algn="l">
              <a:lnSpc>
                <a:spcPct val="100000"/>
              </a:lnSpc>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Revisar la Cartelera de Novedades.</a:t>
            </a:r>
            <a:endParaRPr b="0" sz="3200">
              <a:latin typeface="Montserrat SemiBold"/>
              <a:ea typeface="Montserrat SemiBold"/>
              <a:cs typeface="Montserrat SemiBold"/>
              <a:sym typeface="Montserrat SemiBold"/>
            </a:endParaRPr>
          </a:p>
          <a:p>
            <a:pPr indent="-431800" lvl="0" marL="457200" rtl="0" algn="l">
              <a:lnSpc>
                <a:spcPct val="100000"/>
              </a:lnSpc>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Hacer tus consultas en el Foro.</a:t>
            </a:r>
            <a:endParaRPr b="0" sz="3200">
              <a:latin typeface="Montserrat SemiBold"/>
              <a:ea typeface="Montserrat SemiBold"/>
              <a:cs typeface="Montserrat SemiBold"/>
              <a:sym typeface="Montserrat SemiBold"/>
            </a:endParaRPr>
          </a:p>
          <a:p>
            <a:pPr indent="-431800" lvl="0" marL="457200" rtl="0" algn="l">
              <a:lnSpc>
                <a:spcPct val="100000"/>
              </a:lnSpc>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Realizar los Ejercicios obligatorios.</a:t>
            </a:r>
            <a:endParaRPr b="0" sz="3200">
              <a:latin typeface="Montserrat SemiBold"/>
              <a:ea typeface="Montserrat SemiBold"/>
              <a:cs typeface="Montserrat SemiBold"/>
              <a:sym typeface="Montserrat SemiBold"/>
            </a:endParaRPr>
          </a:p>
          <a:p>
            <a:pPr indent="0" lvl="0" marL="0" rtl="0" algn="l">
              <a:lnSpc>
                <a:spcPct val="100000"/>
              </a:lnSpc>
              <a:spcBef>
                <a:spcPts val="0"/>
              </a:spcBef>
              <a:spcAft>
                <a:spcPts val="0"/>
              </a:spcAft>
              <a:buSzPts val="3700"/>
              <a:buNone/>
            </a:pPr>
            <a:r>
              <a:t/>
            </a:r>
            <a:endParaRPr sz="3200"/>
          </a:p>
          <a:p>
            <a:pPr indent="0" lvl="0" marL="0" rtl="0" algn="l">
              <a:lnSpc>
                <a:spcPct val="100000"/>
              </a:lnSpc>
              <a:spcBef>
                <a:spcPts val="0"/>
              </a:spcBef>
              <a:spcAft>
                <a:spcPts val="0"/>
              </a:spcAft>
              <a:buSzPts val="3700"/>
              <a:buNone/>
            </a:pPr>
            <a:r>
              <a:rPr lang="es" sz="3200"/>
              <a:t>Todo en el Aula Virtual.</a:t>
            </a:r>
            <a:endParaRPr sz="3200"/>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53"/>
          <p:cNvSpPr txBox="1"/>
          <p:nvPr>
            <p:ph type="title"/>
          </p:nvPr>
        </p:nvSpPr>
        <p:spPr>
          <a:xfrm>
            <a:off x="490250" y="1135950"/>
            <a:ext cx="8097300" cy="3623700"/>
          </a:xfrm>
          <a:prstGeom prst="rect">
            <a:avLst/>
          </a:prstGeom>
          <a:noFill/>
          <a:ln>
            <a:noFill/>
          </a:ln>
        </p:spPr>
        <p:txBody>
          <a:bodyPr anchorCtr="0" anchor="ctr" bIns="91425" lIns="91425" spcFirstLastPara="1" rIns="91425" wrap="square" tIns="91425">
            <a:normAutofit/>
          </a:bodyPr>
          <a:lstStyle/>
          <a:p>
            <a:pPr indent="0" lvl="0" marL="0" rtl="0" algn="l">
              <a:lnSpc>
                <a:spcPct val="115000"/>
              </a:lnSpc>
              <a:spcBef>
                <a:spcPts val="1200"/>
              </a:spcBef>
              <a:spcAft>
                <a:spcPts val="0"/>
              </a:spcAft>
              <a:buSzPts val="3700"/>
              <a:buNone/>
            </a:pPr>
            <a:r>
              <a:rPr lang="es"/>
              <a:t>Muchas gracias por tu atención.</a:t>
            </a:r>
            <a:endParaRPr/>
          </a:p>
          <a:p>
            <a:pPr indent="0" lvl="0" marL="0" rtl="0" algn="l">
              <a:lnSpc>
                <a:spcPct val="115000"/>
              </a:lnSpc>
              <a:spcBef>
                <a:spcPts val="1200"/>
              </a:spcBef>
              <a:spcAft>
                <a:spcPts val="1200"/>
              </a:spcAft>
              <a:buSzPts val="3700"/>
              <a:buNone/>
            </a:pPr>
            <a:r>
              <a:rPr lang="es"/>
              <a:t>Nos vemos pronto</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