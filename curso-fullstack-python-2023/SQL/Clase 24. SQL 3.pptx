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embeddedFontLst>
    <p:embeddedFont>
      <p:font typeface="Montserrat SemiBold"/>
      <p:regular r:id="rId37"/>
      <p:bold r:id="rId38"/>
      <p:italic r:id="rId39"/>
      <p:boldItalic r:id="rId40"/>
    </p:embeddedFont>
    <p:embeddedFont>
      <p:font typeface="Montserrat"/>
      <p:regular r:id="rId41"/>
      <p:bold r:id="rId42"/>
      <p:italic r:id="rId43"/>
      <p:boldItalic r:id="rId44"/>
    </p:embeddedFont>
    <p:embeddedFont>
      <p:font typeface="Montserrat Medium"/>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37">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37"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SemiBold-boldItalic.fntdata"/><Relationship Id="rId20" Type="http://schemas.openxmlformats.org/officeDocument/2006/relationships/slide" Target="slides/slide15.xml"/><Relationship Id="rId42" Type="http://schemas.openxmlformats.org/officeDocument/2006/relationships/font" Target="fonts/Montserrat-bold.fntdata"/><Relationship Id="rId41" Type="http://schemas.openxmlformats.org/officeDocument/2006/relationships/font" Target="fonts/Montserrat-regular.fntdata"/><Relationship Id="rId22" Type="http://schemas.openxmlformats.org/officeDocument/2006/relationships/slide" Target="slides/slide17.xml"/><Relationship Id="rId44" Type="http://schemas.openxmlformats.org/officeDocument/2006/relationships/font" Target="fonts/Montserrat-boldItalic.fntdata"/><Relationship Id="rId21" Type="http://schemas.openxmlformats.org/officeDocument/2006/relationships/slide" Target="slides/slide16.xml"/><Relationship Id="rId43" Type="http://schemas.openxmlformats.org/officeDocument/2006/relationships/font" Target="fonts/Montserrat-italic.fntdata"/><Relationship Id="rId24" Type="http://schemas.openxmlformats.org/officeDocument/2006/relationships/slide" Target="slides/slide19.xml"/><Relationship Id="rId46" Type="http://schemas.openxmlformats.org/officeDocument/2006/relationships/font" Target="fonts/MontserratMedium-bold.fntdata"/><Relationship Id="rId23" Type="http://schemas.openxmlformats.org/officeDocument/2006/relationships/slide" Target="slides/slide18.xml"/><Relationship Id="rId45" Type="http://schemas.openxmlformats.org/officeDocument/2006/relationships/font" Target="fonts/MontserratMedium-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8" Type="http://schemas.openxmlformats.org/officeDocument/2006/relationships/font" Target="fonts/MontserratMedium-boldItalic.fntdata"/><Relationship Id="rId25" Type="http://schemas.openxmlformats.org/officeDocument/2006/relationships/slide" Target="slides/slide20.xml"/><Relationship Id="rId47" Type="http://schemas.openxmlformats.org/officeDocument/2006/relationships/font" Target="fonts/MontserratMedium-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MontserratSemiBold-regular.fntdata"/><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font" Target="fonts/MontserratSemiBold-italic.fntdata"/><Relationship Id="rId16" Type="http://schemas.openxmlformats.org/officeDocument/2006/relationships/slide" Target="slides/slide11.xml"/><Relationship Id="rId38" Type="http://schemas.openxmlformats.org/officeDocument/2006/relationships/font" Target="fonts/MontserratSemiBold-bold.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ampusmvp.es/recursos/post/Fundamentos-de-SQL-Funciones-escalares-en-consultas-de-seleccion.aspx"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ampusmvp.es/recursos/post/Fundamentos-de-SQL-Funciones-escalares-en-consultas-de-seleccion.aspx"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ampusmvp.es/recursos/post/Fundamentos-de-SQL-Funciones-escalares-en-consultas-de-seleccion.aspx" TargetMode="External"/><Relationship Id="rId3" Type="http://schemas.openxmlformats.org/officeDocument/2006/relationships/hyperlink" Target="https://dev.mysql.com/doc/refman/8.0/en/mathematical-functions.html"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mysql.com/doc/refman/8.0/en/string-functions.html"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mysql.com/doc/refman/8.0/en/date-and-time-functions.html"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ev.mysql.com/doc/refman/8.0/en/type-conversion.html"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w3schools.com/sql/sql_exists.asp"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149592eaf8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149592eaf8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49592eaf8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49592eaf8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49592eaf8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49592eaf8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49592eaf8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149592eaf8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71829a799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71829a799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71829a799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71829a799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69cfbe62b5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69cfbe62b5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4a95c866f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4a95c866f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69cfbe62b5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69cfbe62b5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69cfbe62b5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69cfbe62b5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169cbb5fb3a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169cbb5fb3a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69cfbe62b5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169cfbe62b5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69cfbe62b5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169cfbe62b5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69cfbe62b5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169cfbe62b5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69cbb5fb3a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169cbb5fb3a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171829a7999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171829a799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u="sng">
                <a:solidFill>
                  <a:schemeClr val="hlink"/>
                </a:solidFill>
                <a:hlinkClick r:id="rId2"/>
              </a:rPr>
              <a:t>https://www.campusmvp.es/recursos/post/Fundamentos-de-SQL-Funciones-escalares-en-consultas-de-seleccion.aspx</a:t>
            </a:r>
            <a:r>
              <a:rPr lang="es"/>
              <a:t>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171829a7999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171829a7999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u="sng">
                <a:solidFill>
                  <a:schemeClr val="hlink"/>
                </a:solidFill>
                <a:hlinkClick r:id="rId2"/>
              </a:rPr>
              <a:t>https://www.campusmvp.es/recursos/post/Fundamentos-de-SQL-Funciones-escalares-en-consultas-de-seleccion.aspx</a:t>
            </a:r>
            <a:r>
              <a:rPr lang="es"/>
              <a:t>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171829a7999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171829a799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u="sng">
                <a:solidFill>
                  <a:schemeClr val="hlink"/>
                </a:solidFill>
                <a:hlinkClick r:id="rId2"/>
              </a:rPr>
              <a:t>https://www.campusmvp.es/recursos/post/Fundamentos-de-SQL-Funciones-escalares-en-consultas-de-seleccion.aspx</a:t>
            </a:r>
            <a:r>
              <a:rPr lang="es"/>
              <a:t> </a:t>
            </a:r>
            <a:endParaRPr/>
          </a:p>
          <a:p>
            <a:pPr indent="0" lvl="0" marL="0" rtl="0" algn="l">
              <a:spcBef>
                <a:spcPts val="0"/>
              </a:spcBef>
              <a:spcAft>
                <a:spcPts val="0"/>
              </a:spcAft>
              <a:buNone/>
            </a:pPr>
            <a:r>
              <a:rPr lang="es" u="sng">
                <a:solidFill>
                  <a:schemeClr val="hlink"/>
                </a:solidFill>
                <a:hlinkClick r:id="rId3"/>
              </a:rPr>
              <a:t>https://dev.mysql.com/doc/refman/8.0/en/mathematical-functions.html</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71829a7999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171829a7999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u="sng">
                <a:solidFill>
                  <a:schemeClr val="hlink"/>
                </a:solidFill>
                <a:hlinkClick r:id="rId2"/>
              </a:rPr>
              <a:t>https://dev.mysql.com/doc/refman/8.0/en/string-functions.html</a:t>
            </a:r>
            <a:r>
              <a:rPr lang="es"/>
              <a:t>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171829a7999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171829a7999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u="sng">
                <a:solidFill>
                  <a:schemeClr val="hlink"/>
                </a:solidFill>
                <a:hlinkClick r:id="rId2"/>
              </a:rPr>
              <a:t>https://dev.mysql.com/doc/refman/8.0/en/date-and-time-functions.html</a:t>
            </a:r>
            <a:r>
              <a:rPr lang="es"/>
              <a:t>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171829a7999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171829a7999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u="sng">
                <a:solidFill>
                  <a:schemeClr val="hlink"/>
                </a:solidFill>
                <a:hlinkClick r:id="rId2"/>
              </a:rPr>
              <a:t>https://dev.mysql.com/doc/refman/8.0/en/type-conversion.html</a:t>
            </a:r>
            <a:r>
              <a:rPr lang="es"/>
              <a:t>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14ade5eae79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14ade5eae79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169cfbe62b5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169cfbe62b5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71829a7999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71829a7999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u="sng">
                <a:solidFill>
                  <a:schemeClr val="hlink"/>
                </a:solidFill>
                <a:hlinkClick r:id="rId2"/>
              </a:rPr>
              <a:t>https://www.w3schools.com/sql/sql_exists.asp</a:t>
            </a:r>
            <a:r>
              <a:rPr lang="es"/>
              <a:t>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71829a7999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171829a7999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169cfbe62b5_0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169cfbe62b5_0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149592eaf82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149592eaf82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fea8c8a20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fea8c8a20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49592eaf8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149592eaf8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49592eaf82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149592eaf82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49592eaf82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149592eaf8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18.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png"/><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con título y subtítulo" type="title">
  <p:cSld name="TITLE">
    <p:spTree>
      <p:nvGrpSpPr>
        <p:cNvPr id="9" name="Shape 9"/>
        <p:cNvGrpSpPr/>
        <p:nvPr/>
      </p:nvGrpSpPr>
      <p:grpSpPr>
        <a:xfrm>
          <a:off x="0" y="0"/>
          <a:ext cx="0" cy="0"/>
          <a:chOff x="0" y="0"/>
          <a:chExt cx="0" cy="0"/>
        </a:xfrm>
      </p:grpSpPr>
      <p:sp>
        <p:nvSpPr>
          <p:cNvPr id="10" name="Google Shape;10;p2"/>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lvl1pPr lvl="0" algn="ctr">
              <a:spcBef>
                <a:spcPts val="0"/>
              </a:spcBef>
              <a:spcAft>
                <a:spcPts val="0"/>
              </a:spcAft>
              <a:buClr>
                <a:srgbClr val="333333"/>
              </a:buClr>
              <a:buSzPts val="4900"/>
              <a:buFont typeface="Montserrat"/>
              <a:buNone/>
              <a:defRPr b="1" sz="4900">
                <a:solidFill>
                  <a:srgbClr val="333333"/>
                </a:solidFill>
                <a:latin typeface="Montserrat"/>
                <a:ea typeface="Montserrat"/>
                <a:cs typeface="Montserrat"/>
                <a:sym typeface="Montserrat"/>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pic>
        <p:nvPicPr>
          <p:cNvPr id="13" name="Google Shape;13;p2"/>
          <p:cNvPicPr preferRelativeResize="0"/>
          <p:nvPr/>
        </p:nvPicPr>
        <p:blipFill>
          <a:blip r:embed="rId2">
            <a:alphaModFix/>
          </a:blip>
          <a:stretch>
            <a:fillRect/>
          </a:stretch>
        </p:blipFill>
        <p:spPr>
          <a:xfrm>
            <a:off x="7910675" y="4073939"/>
            <a:ext cx="1365875" cy="1365875"/>
          </a:xfrm>
          <a:prstGeom prst="rect">
            <a:avLst/>
          </a:prstGeom>
          <a:noFill/>
          <a:ln>
            <a:noFill/>
          </a:ln>
        </p:spPr>
      </p:pic>
      <p:sp>
        <p:nvSpPr>
          <p:cNvPr id="14" name="Google Shape;14;p2"/>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 name="Google Shape;15;p2"/>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16" name="Google Shape;16;p2"/>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epto destacado y explicación">
  <p:cSld name="TITLE_1">
    <p:spTree>
      <p:nvGrpSpPr>
        <p:cNvPr id="17" name="Shape 17"/>
        <p:cNvGrpSpPr/>
        <p:nvPr/>
      </p:nvGrpSpPr>
      <p:grpSpPr>
        <a:xfrm>
          <a:off x="0" y="0"/>
          <a:ext cx="0" cy="0"/>
          <a:chOff x="0" y="0"/>
          <a:chExt cx="0" cy="0"/>
        </a:xfrm>
      </p:grpSpPr>
      <p:sp>
        <p:nvSpPr>
          <p:cNvPr id="18" name="Google Shape;18;p3"/>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lvl1pPr lvl="0" rtl="0">
              <a:spcBef>
                <a:spcPts val="0"/>
              </a:spcBef>
              <a:spcAft>
                <a:spcPts val="0"/>
              </a:spcAft>
              <a:buClr>
                <a:schemeClr val="lt1"/>
              </a:buClr>
              <a:buSzPts val="4000"/>
              <a:buFont typeface="Montserrat"/>
              <a:buNone/>
              <a:defRPr b="1" sz="4000">
                <a:solidFill>
                  <a:schemeClr val="lt1"/>
                </a:solidFill>
                <a:latin typeface="Montserrat"/>
                <a:ea typeface="Montserrat"/>
                <a:cs typeface="Montserrat"/>
                <a:sym typeface="Montserrat"/>
              </a:defRPr>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0" name="Google Shape;20;p3"/>
          <p:cNvSpPr txBox="1"/>
          <p:nvPr>
            <p:ph idx="1" type="subTitle"/>
          </p:nvPr>
        </p:nvSpPr>
        <p:spPr>
          <a:xfrm>
            <a:off x="550375" y="1614925"/>
            <a:ext cx="8043300" cy="2649300"/>
          </a:xfrm>
          <a:prstGeom prst="rect">
            <a:avLst/>
          </a:prstGeom>
        </p:spPr>
        <p:txBody>
          <a:bodyPr anchorCtr="0" anchor="t" bIns="91425" lIns="91425" spcFirstLastPara="1" rIns="91425" wrap="square" tIns="91425">
            <a:normAutofit/>
          </a:bodyPr>
          <a:lstStyle>
            <a:lvl1pPr lvl="0" rtl="0">
              <a:lnSpc>
                <a:spcPct val="100000"/>
              </a:lnSpc>
              <a:spcBef>
                <a:spcPts val="0"/>
              </a:spcBef>
              <a:spcAft>
                <a:spcPts val="0"/>
              </a:spcAft>
              <a:buSzPts val="1700"/>
              <a:buFont typeface="Montserrat Medium"/>
              <a:buNone/>
              <a:defRPr sz="1700">
                <a:latin typeface="Montserrat Medium"/>
                <a:ea typeface="Montserrat Medium"/>
                <a:cs typeface="Montserrat Medium"/>
                <a:sym typeface="Montserrat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pic>
        <p:nvPicPr>
          <p:cNvPr id="21" name="Google Shape;21;p3"/>
          <p:cNvPicPr preferRelativeResize="0"/>
          <p:nvPr/>
        </p:nvPicPr>
        <p:blipFill>
          <a:blip r:embed="rId2">
            <a:alphaModFix/>
          </a:blip>
          <a:stretch>
            <a:fillRect/>
          </a:stretch>
        </p:blipFill>
        <p:spPr>
          <a:xfrm>
            <a:off x="7910675" y="4073939"/>
            <a:ext cx="1365875" cy="1365875"/>
          </a:xfrm>
          <a:prstGeom prst="rect">
            <a:avLst/>
          </a:prstGeom>
          <a:noFill/>
          <a:ln>
            <a:noFill/>
          </a:ln>
        </p:spPr>
      </p:pic>
      <p:pic>
        <p:nvPicPr>
          <p:cNvPr id="22" name="Google Shape;22;p3"/>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23" name="Google Shape;23;p3"/>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extLst>
    <p:ext uri="{DCECCB84-F9BA-43D5-87BE-67443E8EF086}">
      <p15:sldGuideLst>
        <p15:guide id="1" pos="5413">
          <p15:clr>
            <a:srgbClr val="FA7B17"/>
          </p15:clr>
        </p15:guide>
        <p15:guide id="2" pos="347">
          <p15:clr>
            <a:srgbClr val="FA7B17"/>
          </p15:clr>
        </p15:guide>
        <p15:guide id="3" orient="horz" pos="2778">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4" name="Shape 24"/>
        <p:cNvGrpSpPr/>
        <p:nvPr/>
      </p:nvGrpSpPr>
      <p:grpSpPr>
        <a:xfrm>
          <a:off x="0" y="0"/>
          <a:ext cx="0" cy="0"/>
          <a:chOff x="0" y="0"/>
          <a:chExt cx="0" cy="0"/>
        </a:xfrm>
      </p:grpSpPr>
      <p:sp>
        <p:nvSpPr>
          <p:cNvPr id="25" name="Google Shape;25;p4"/>
          <p:cNvSpPr txBox="1"/>
          <p:nvPr>
            <p:ph type="title"/>
          </p:nvPr>
        </p:nvSpPr>
        <p:spPr>
          <a:xfrm>
            <a:off x="3335100" y="1617575"/>
            <a:ext cx="5497200" cy="1375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700"/>
              <a:buFont typeface="Montserrat"/>
              <a:buNone/>
              <a:defRPr b="1" sz="3700">
                <a:latin typeface="Montserrat"/>
                <a:ea typeface="Montserrat"/>
                <a:cs typeface="Montserrat"/>
                <a:sym typeface="Montserrat"/>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pic>
        <p:nvPicPr>
          <p:cNvPr id="26" name="Google Shape;26;p4"/>
          <p:cNvPicPr preferRelativeResize="0"/>
          <p:nvPr/>
        </p:nvPicPr>
        <p:blipFill>
          <a:blip r:embed="rId2">
            <a:alphaModFix/>
          </a:blip>
          <a:stretch>
            <a:fillRect/>
          </a:stretch>
        </p:blipFill>
        <p:spPr>
          <a:xfrm>
            <a:off x="0" y="1290050"/>
            <a:ext cx="3040999" cy="2072300"/>
          </a:xfrm>
          <a:prstGeom prst="rect">
            <a:avLst/>
          </a:prstGeom>
          <a:noFill/>
          <a:ln>
            <a:noFill/>
          </a:ln>
        </p:spPr>
      </p:pic>
      <p:pic>
        <p:nvPicPr>
          <p:cNvPr id="27" name="Google Shape;27;p4"/>
          <p:cNvPicPr preferRelativeResize="0"/>
          <p:nvPr/>
        </p:nvPicPr>
        <p:blipFill>
          <a:blip r:embed="rId3">
            <a:alphaModFix/>
          </a:blip>
          <a:stretch>
            <a:fillRect/>
          </a:stretch>
        </p:blipFill>
        <p:spPr>
          <a:xfrm>
            <a:off x="8222877" y="4573625"/>
            <a:ext cx="741498" cy="399274"/>
          </a:xfrm>
          <a:prstGeom prst="rect">
            <a:avLst/>
          </a:prstGeom>
          <a:noFill/>
          <a:ln>
            <a:noFill/>
          </a:ln>
        </p:spPr>
      </p:pic>
      <p:sp>
        <p:nvSpPr>
          <p:cNvPr id="28" name="Google Shape;28;p4"/>
          <p:cNvSpPr txBox="1"/>
          <p:nvPr/>
        </p:nvSpPr>
        <p:spPr>
          <a:xfrm>
            <a:off x="3326000" y="3062475"/>
            <a:ext cx="55344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t/>
            </a:r>
            <a:endParaRPr>
              <a:latin typeface="Montserrat Medium"/>
              <a:ea typeface="Montserrat Medium"/>
              <a:cs typeface="Montserrat Medium"/>
              <a:sym typeface="Montserrat Medium"/>
            </a:endParaRPr>
          </a:p>
        </p:txBody>
      </p:sp>
      <p:sp>
        <p:nvSpPr>
          <p:cNvPr id="29" name="Google Shape;29;p4"/>
          <p:cNvSpPr txBox="1"/>
          <p:nvPr>
            <p:ph idx="1" type="subTitle"/>
          </p:nvPr>
        </p:nvSpPr>
        <p:spPr>
          <a:xfrm>
            <a:off x="3335025" y="2986525"/>
            <a:ext cx="55344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0" name="Google Shape;30;p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1" name="Google Shape;31;p4"/>
          <p:cNvPicPr preferRelativeResize="0"/>
          <p:nvPr/>
        </p:nvPicPr>
        <p:blipFill>
          <a:blip r:embed="rId4">
            <a:alphaModFix/>
          </a:blip>
          <a:stretch>
            <a:fillRect/>
          </a:stretch>
        </p:blipFill>
        <p:spPr>
          <a:xfrm>
            <a:off x="8155184" y="33947"/>
            <a:ext cx="876879" cy="3992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5"/>
          <p:cNvSpPr txBox="1"/>
          <p:nvPr>
            <p:ph type="title"/>
          </p:nvPr>
        </p:nvSpPr>
        <p:spPr>
          <a:xfrm>
            <a:off x="311700" y="597425"/>
            <a:ext cx="85032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700"/>
              <a:buFont typeface="Montserrat Medium"/>
              <a:buNone/>
              <a:defRPr sz="2700">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5"/>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Font typeface="Montserrat"/>
              <a:buChar char="●"/>
              <a:defRPr>
                <a:latin typeface="Montserrat"/>
                <a:ea typeface="Montserrat"/>
                <a:cs typeface="Montserrat"/>
                <a:sym typeface="Montserrat"/>
              </a:defRPr>
            </a:lvl1pPr>
            <a:lvl2pPr indent="-317500" lvl="1" marL="914400">
              <a:spcBef>
                <a:spcPts val="0"/>
              </a:spcBef>
              <a:spcAft>
                <a:spcPts val="0"/>
              </a:spcAft>
              <a:buSzPts val="1400"/>
              <a:buFont typeface="Montserrat"/>
              <a:buChar char="○"/>
              <a:defRPr>
                <a:latin typeface="Montserrat"/>
                <a:ea typeface="Montserrat"/>
                <a:cs typeface="Montserrat"/>
                <a:sym typeface="Montserrat"/>
              </a:defRPr>
            </a:lvl2pPr>
            <a:lvl3pPr indent="-317500" lvl="2" marL="1371600">
              <a:spcBef>
                <a:spcPts val="0"/>
              </a:spcBef>
              <a:spcAft>
                <a:spcPts val="0"/>
              </a:spcAft>
              <a:buSzPts val="1400"/>
              <a:buFont typeface="Montserrat"/>
              <a:buChar char="■"/>
              <a:defRPr>
                <a:latin typeface="Montserrat"/>
                <a:ea typeface="Montserrat"/>
                <a:cs typeface="Montserrat"/>
                <a:sym typeface="Montserrat"/>
              </a:defRPr>
            </a:lvl3pPr>
            <a:lvl4pPr indent="-317500" lvl="3" marL="1828800">
              <a:spcBef>
                <a:spcPts val="0"/>
              </a:spcBef>
              <a:spcAft>
                <a:spcPts val="0"/>
              </a:spcAft>
              <a:buSzPts val="1400"/>
              <a:buFont typeface="Montserrat"/>
              <a:buChar char="●"/>
              <a:defRPr>
                <a:latin typeface="Montserrat"/>
                <a:ea typeface="Montserrat"/>
                <a:cs typeface="Montserrat"/>
                <a:sym typeface="Montserrat"/>
              </a:defRPr>
            </a:lvl4pPr>
            <a:lvl5pPr indent="-317500" lvl="4" marL="2286000">
              <a:spcBef>
                <a:spcPts val="0"/>
              </a:spcBef>
              <a:spcAft>
                <a:spcPts val="0"/>
              </a:spcAft>
              <a:buSzPts val="1400"/>
              <a:buFont typeface="Montserrat"/>
              <a:buChar char="○"/>
              <a:defRPr>
                <a:latin typeface="Montserrat"/>
                <a:ea typeface="Montserrat"/>
                <a:cs typeface="Montserrat"/>
                <a:sym typeface="Montserrat"/>
              </a:defRPr>
            </a:lvl5pPr>
            <a:lvl6pPr indent="-317500" lvl="5" marL="2743200">
              <a:spcBef>
                <a:spcPts val="0"/>
              </a:spcBef>
              <a:spcAft>
                <a:spcPts val="0"/>
              </a:spcAft>
              <a:buSzPts val="1400"/>
              <a:buFont typeface="Montserrat"/>
              <a:buChar char="■"/>
              <a:defRPr>
                <a:latin typeface="Montserrat"/>
                <a:ea typeface="Montserrat"/>
                <a:cs typeface="Montserrat"/>
                <a:sym typeface="Montserrat"/>
              </a:defRPr>
            </a:lvl6pPr>
            <a:lvl7pPr indent="-317500" lvl="6" marL="3200400">
              <a:spcBef>
                <a:spcPts val="0"/>
              </a:spcBef>
              <a:spcAft>
                <a:spcPts val="0"/>
              </a:spcAft>
              <a:buSzPts val="1400"/>
              <a:buFont typeface="Montserrat"/>
              <a:buChar char="●"/>
              <a:defRPr>
                <a:latin typeface="Montserrat"/>
                <a:ea typeface="Montserrat"/>
                <a:cs typeface="Montserrat"/>
                <a:sym typeface="Montserrat"/>
              </a:defRPr>
            </a:lvl7pPr>
            <a:lvl8pPr indent="-317500" lvl="7" marL="3657600">
              <a:spcBef>
                <a:spcPts val="0"/>
              </a:spcBef>
              <a:spcAft>
                <a:spcPts val="0"/>
              </a:spcAft>
              <a:buSzPts val="1400"/>
              <a:buFont typeface="Montserrat"/>
              <a:buChar char="○"/>
              <a:defRPr>
                <a:latin typeface="Montserrat"/>
                <a:ea typeface="Montserrat"/>
                <a:cs typeface="Montserrat"/>
                <a:sym typeface="Montserrat"/>
              </a:defRPr>
            </a:lvl8pPr>
            <a:lvl9pPr indent="-317500" lvl="8" marL="4114800">
              <a:spcBef>
                <a:spcPts val="0"/>
              </a:spcBef>
              <a:spcAft>
                <a:spcPts val="0"/>
              </a:spcAft>
              <a:buSzPts val="1400"/>
              <a:buFont typeface="Montserrat"/>
              <a:buChar char="■"/>
              <a:defRPr>
                <a:latin typeface="Montserrat"/>
                <a:ea typeface="Montserrat"/>
                <a:cs typeface="Montserrat"/>
                <a:sym typeface="Montserrat"/>
              </a:defRPr>
            </a:lvl9pPr>
          </a:lstStyle>
          <a:p/>
        </p:txBody>
      </p:sp>
      <p:pic>
        <p:nvPicPr>
          <p:cNvPr id="35" name="Google Shape;35;p5"/>
          <p:cNvPicPr preferRelativeResize="0"/>
          <p:nvPr/>
        </p:nvPicPr>
        <p:blipFill>
          <a:blip r:embed="rId2">
            <a:alphaModFix/>
          </a:blip>
          <a:stretch>
            <a:fillRect/>
          </a:stretch>
        </p:blipFill>
        <p:spPr>
          <a:xfrm>
            <a:off x="8078975" y="4699100"/>
            <a:ext cx="558475" cy="300725"/>
          </a:xfrm>
          <a:prstGeom prst="rect">
            <a:avLst/>
          </a:prstGeom>
          <a:noFill/>
          <a:ln>
            <a:noFill/>
          </a:ln>
        </p:spPr>
      </p:pic>
      <p:sp>
        <p:nvSpPr>
          <p:cNvPr id="36" name="Google Shape;36;p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 name="Google Shape;37;p5"/>
          <p:cNvPicPr preferRelativeResize="0"/>
          <p:nvPr/>
        </p:nvPicPr>
        <p:blipFill>
          <a:blip r:embed="rId3">
            <a:alphaModFix/>
          </a:blip>
          <a:stretch>
            <a:fillRect/>
          </a:stretch>
        </p:blipFill>
        <p:spPr>
          <a:xfrm>
            <a:off x="8155184" y="33947"/>
            <a:ext cx="876879" cy="399275"/>
          </a:xfrm>
          <a:prstGeom prst="rect">
            <a:avLst/>
          </a:prstGeom>
          <a:noFill/>
          <a:ln>
            <a:noFill/>
          </a:ln>
        </p:spPr>
      </p:pic>
      <p:pic>
        <p:nvPicPr>
          <p:cNvPr id="38" name="Google Shape;38;p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88">
          <p15:clr>
            <a:srgbClr val="FA7B17"/>
          </p15:clr>
        </p15:guide>
        <p15:guide id="3" orient="horz" pos="2960">
          <p15:clr>
            <a:srgbClr val="FA7B17"/>
          </p15:clr>
        </p15:guide>
        <p15:guide id="4" orient="horz" pos="3149">
          <p15:clr>
            <a:srgbClr val="FA7B17"/>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 name="Shape 39"/>
        <p:cNvGrpSpPr/>
        <p:nvPr/>
      </p:nvGrpSpPr>
      <p:grpSpPr>
        <a:xfrm>
          <a:off x="0" y="0"/>
          <a:ext cx="0" cy="0"/>
          <a:chOff x="0" y="0"/>
          <a:chExt cx="0" cy="0"/>
        </a:xfrm>
      </p:grpSpPr>
      <p:sp>
        <p:nvSpPr>
          <p:cNvPr id="40" name="Google Shape;40;p6"/>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6"/>
          <p:cNvSpPr txBox="1"/>
          <p:nvPr>
            <p:ph type="title"/>
          </p:nvPr>
        </p:nvSpPr>
        <p:spPr>
          <a:xfrm>
            <a:off x="311700" y="5974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Font typeface="Montserrat Medium"/>
              <a:buNone/>
              <a:defRPr>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2" name="Google Shape;42;p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spcBef>
                <a:spcPts val="0"/>
              </a:spcBef>
              <a:spcAft>
                <a:spcPts val="0"/>
              </a:spcAft>
              <a:buSzPts val="1200"/>
              <a:buFont typeface="Montserrat"/>
              <a:buChar char="■"/>
              <a:defRPr sz="1200">
                <a:latin typeface="Montserrat"/>
                <a:ea typeface="Montserrat"/>
                <a:cs typeface="Montserrat"/>
                <a:sym typeface="Montserrat"/>
              </a:defRPr>
            </a:lvl9pPr>
          </a:lstStyle>
          <a:p/>
        </p:txBody>
      </p:sp>
      <p:sp>
        <p:nvSpPr>
          <p:cNvPr id="43" name="Google Shape;43;p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Font typeface="Montserrat"/>
              <a:buChar char="●"/>
              <a:defRPr sz="1400">
                <a:latin typeface="Montserrat"/>
                <a:ea typeface="Montserrat"/>
                <a:cs typeface="Montserrat"/>
                <a:sym typeface="Montserrat"/>
              </a:defRPr>
            </a:lvl1pPr>
            <a:lvl2pPr indent="-304800" lvl="1" marL="914400">
              <a:spcBef>
                <a:spcPts val="0"/>
              </a:spcBef>
              <a:spcAft>
                <a:spcPts val="0"/>
              </a:spcAft>
              <a:buSzPts val="1200"/>
              <a:buFont typeface="Montserrat"/>
              <a:buChar char="○"/>
              <a:defRPr sz="1200">
                <a:latin typeface="Montserrat"/>
                <a:ea typeface="Montserrat"/>
                <a:cs typeface="Montserrat"/>
                <a:sym typeface="Montserrat"/>
              </a:defRPr>
            </a:lvl2pPr>
            <a:lvl3pPr indent="-304800" lvl="2" marL="1371600">
              <a:spcBef>
                <a:spcPts val="0"/>
              </a:spcBef>
              <a:spcAft>
                <a:spcPts val="0"/>
              </a:spcAft>
              <a:buSzPts val="1200"/>
              <a:buFont typeface="Montserrat"/>
              <a:buChar char="■"/>
              <a:defRPr sz="1200">
                <a:latin typeface="Montserrat"/>
                <a:ea typeface="Montserrat"/>
                <a:cs typeface="Montserrat"/>
                <a:sym typeface="Montserrat"/>
              </a:defRPr>
            </a:lvl3pPr>
            <a:lvl4pPr indent="-304800" lvl="3" marL="1828800">
              <a:spcBef>
                <a:spcPts val="0"/>
              </a:spcBef>
              <a:spcAft>
                <a:spcPts val="0"/>
              </a:spcAft>
              <a:buSzPts val="1200"/>
              <a:buFont typeface="Montserrat"/>
              <a:buChar char="●"/>
              <a:defRPr sz="1200">
                <a:latin typeface="Montserrat"/>
                <a:ea typeface="Montserrat"/>
                <a:cs typeface="Montserrat"/>
                <a:sym typeface="Montserrat"/>
              </a:defRPr>
            </a:lvl4pPr>
            <a:lvl5pPr indent="-304800" lvl="4" marL="2286000">
              <a:spcBef>
                <a:spcPts val="0"/>
              </a:spcBef>
              <a:spcAft>
                <a:spcPts val="0"/>
              </a:spcAft>
              <a:buSzPts val="1200"/>
              <a:buFont typeface="Montserrat"/>
              <a:buChar char="○"/>
              <a:defRPr sz="1200">
                <a:latin typeface="Montserrat"/>
                <a:ea typeface="Montserrat"/>
                <a:cs typeface="Montserrat"/>
                <a:sym typeface="Montserrat"/>
              </a:defRPr>
            </a:lvl5pPr>
            <a:lvl6pPr indent="-304800" lvl="5" marL="2743200">
              <a:spcBef>
                <a:spcPts val="0"/>
              </a:spcBef>
              <a:spcAft>
                <a:spcPts val="0"/>
              </a:spcAft>
              <a:buSzPts val="1200"/>
              <a:buFont typeface="Montserrat"/>
              <a:buChar char="■"/>
              <a:defRPr sz="1200">
                <a:latin typeface="Montserrat"/>
                <a:ea typeface="Montserrat"/>
                <a:cs typeface="Montserrat"/>
                <a:sym typeface="Montserrat"/>
              </a:defRPr>
            </a:lvl6pPr>
            <a:lvl7pPr indent="-304800" lvl="6" marL="3200400">
              <a:spcBef>
                <a:spcPts val="0"/>
              </a:spcBef>
              <a:spcAft>
                <a:spcPts val="0"/>
              </a:spcAft>
              <a:buSzPts val="1200"/>
              <a:buFont typeface="Montserrat"/>
              <a:buChar char="●"/>
              <a:defRPr sz="1200">
                <a:latin typeface="Montserrat"/>
                <a:ea typeface="Montserrat"/>
                <a:cs typeface="Montserrat"/>
                <a:sym typeface="Montserrat"/>
              </a:defRPr>
            </a:lvl7pPr>
            <a:lvl8pPr indent="-304800" lvl="7" marL="3657600">
              <a:spcBef>
                <a:spcPts val="0"/>
              </a:spcBef>
              <a:spcAft>
                <a:spcPts val="0"/>
              </a:spcAft>
              <a:buSzPts val="1200"/>
              <a:buFont typeface="Montserrat"/>
              <a:buChar char="○"/>
              <a:defRPr sz="1200">
                <a:latin typeface="Montserrat"/>
                <a:ea typeface="Montserrat"/>
                <a:cs typeface="Montserrat"/>
                <a:sym typeface="Montserrat"/>
              </a:defRPr>
            </a:lvl8pPr>
            <a:lvl9pPr indent="-304800" lvl="8" marL="4114800">
              <a:spcBef>
                <a:spcPts val="0"/>
              </a:spcBef>
              <a:spcAft>
                <a:spcPts val="0"/>
              </a:spcAft>
              <a:buSzPts val="1200"/>
              <a:buFont typeface="Montserrat"/>
              <a:buChar char="■"/>
              <a:defRPr sz="1200">
                <a:latin typeface="Montserrat"/>
                <a:ea typeface="Montserrat"/>
                <a:cs typeface="Montserrat"/>
                <a:sym typeface="Montserrat"/>
              </a:defRPr>
            </a:lvl9pPr>
          </a:lstStyle>
          <a:p/>
        </p:txBody>
      </p:sp>
      <p:pic>
        <p:nvPicPr>
          <p:cNvPr id="44" name="Google Shape;44;p6"/>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45" name="Google Shape;45;p6"/>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46" name="Google Shape;46;p6"/>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ágenes o gráficos"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311700" y="-12175"/>
            <a:ext cx="77490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500"/>
              <a:buFont typeface="Montserrat Medium"/>
              <a:buNone/>
              <a:defRPr sz="2500">
                <a:latin typeface="Montserrat Medium"/>
                <a:ea typeface="Montserrat Medium"/>
                <a:cs typeface="Montserrat Medium"/>
                <a:sym typeface="Montserrat Medium"/>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pic>
        <p:nvPicPr>
          <p:cNvPr id="49" name="Google Shape;49;p7"/>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50" name="Google Shape;50;p7"/>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51" name="Google Shape;51;p7"/>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2" name="Shape 52"/>
        <p:cNvGrpSpPr/>
        <p:nvPr/>
      </p:nvGrpSpPr>
      <p:grpSpPr>
        <a:xfrm>
          <a:off x="0" y="0"/>
          <a:ext cx="0" cy="0"/>
          <a:chOff x="0" y="0"/>
          <a:chExt cx="0" cy="0"/>
        </a:xfrm>
      </p:grpSpPr>
      <p:sp>
        <p:nvSpPr>
          <p:cNvPr id="53" name="Google Shape;53;p8"/>
          <p:cNvSpPr/>
          <p:nvPr/>
        </p:nvSpPr>
        <p:spPr>
          <a:xfrm>
            <a:off x="-27250" y="-18175"/>
            <a:ext cx="91713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8"/>
          <p:cNvSpPr txBox="1"/>
          <p:nvPr>
            <p:ph type="title"/>
          </p:nvPr>
        </p:nvSpPr>
        <p:spPr>
          <a:xfrm>
            <a:off x="490250" y="450150"/>
            <a:ext cx="8061000" cy="3762900"/>
          </a:xfrm>
          <a:prstGeom prst="rect">
            <a:avLst/>
          </a:prstGeom>
        </p:spPr>
        <p:txBody>
          <a:bodyPr anchorCtr="0" anchor="ctr" bIns="91425" lIns="91425" spcFirstLastPara="1" rIns="91425" wrap="square" tIns="91425">
            <a:normAutofit/>
          </a:bodyPr>
          <a:lstStyle>
            <a:lvl1pPr lvl="0">
              <a:spcBef>
                <a:spcPts val="0"/>
              </a:spcBef>
              <a:spcAft>
                <a:spcPts val="0"/>
              </a:spcAft>
              <a:buClr>
                <a:srgbClr val="414141"/>
              </a:buClr>
              <a:buSzPts val="4000"/>
              <a:buFont typeface="Montserrat"/>
              <a:buNone/>
              <a:defRPr b="1" sz="4000">
                <a:solidFill>
                  <a:srgbClr val="414141"/>
                </a:solidFill>
                <a:latin typeface="Montserrat"/>
                <a:ea typeface="Montserrat"/>
                <a:cs typeface="Montserrat"/>
                <a:sym typeface="Montserrat"/>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5" name="Google Shape;5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56" name="Google Shape;56;p8"/>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57" name="Google Shape;57;p8"/>
          <p:cNvPicPr preferRelativeResize="0"/>
          <p:nvPr/>
        </p:nvPicPr>
        <p:blipFill>
          <a:blip r:embed="rId3">
            <a:alphaModFix/>
          </a:blip>
          <a:stretch>
            <a:fillRect/>
          </a:stretch>
        </p:blipFill>
        <p:spPr>
          <a:xfrm>
            <a:off x="7910675" y="4073939"/>
            <a:ext cx="1365875" cy="1365875"/>
          </a:xfrm>
          <a:prstGeom prst="rect">
            <a:avLst/>
          </a:prstGeom>
          <a:noFill/>
          <a:ln>
            <a:noFill/>
          </a:ln>
        </p:spPr>
      </p:pic>
      <p:pic>
        <p:nvPicPr>
          <p:cNvPr id="58" name="Google Shape;58;p8"/>
          <p:cNvPicPr preferRelativeResize="0"/>
          <p:nvPr/>
        </p:nvPicPr>
        <p:blipFill>
          <a:blip r:embed="rId4">
            <a:alphaModFix/>
          </a:blip>
          <a:stretch>
            <a:fillRect/>
          </a:stretch>
        </p:blipFill>
        <p:spPr>
          <a:xfrm>
            <a:off x="0" y="4264238"/>
            <a:ext cx="1163080" cy="792599"/>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jercicios e imagen">
  <p:cSld name="SECTION_TITLE_AND_DESCRIPTION">
    <p:spTree>
      <p:nvGrpSpPr>
        <p:cNvPr id="59" name="Shape 59"/>
        <p:cNvGrpSpPr/>
        <p:nvPr/>
      </p:nvGrpSpPr>
      <p:grpSpPr>
        <a:xfrm>
          <a:off x="0" y="0"/>
          <a:ext cx="0" cy="0"/>
          <a:chOff x="0" y="0"/>
          <a:chExt cx="0" cy="0"/>
        </a:xfrm>
      </p:grpSpPr>
      <p:sp>
        <p:nvSpPr>
          <p:cNvPr id="60" name="Google Shape;60;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9"/>
          <p:cNvSpPr txBox="1"/>
          <p:nvPr>
            <p:ph type="title"/>
          </p:nvPr>
        </p:nvSpPr>
        <p:spPr>
          <a:xfrm>
            <a:off x="265500" y="7759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Font typeface="Montserrat"/>
              <a:buNone/>
              <a:defRPr sz="3800">
                <a:latin typeface="Montserrat"/>
                <a:ea typeface="Montserrat"/>
                <a:cs typeface="Montserrat"/>
                <a:sym typeface="Montserrat"/>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62" name="Google Shape;62;p9"/>
          <p:cNvSpPr txBox="1"/>
          <p:nvPr>
            <p:ph idx="1" type="subTitle"/>
          </p:nvPr>
        </p:nvSpPr>
        <p:spPr>
          <a:xfrm>
            <a:off x="265500" y="24982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Font typeface="Montserrat"/>
              <a:buNone/>
              <a:defRPr sz="2100">
                <a:latin typeface="Montserrat"/>
                <a:ea typeface="Montserrat"/>
                <a:cs typeface="Montserrat"/>
                <a:sym typeface="Montserrat"/>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3" name="Google Shape;63;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
        <p:nvSpPr>
          <p:cNvPr id="64" name="Google Shape;64;p9"/>
          <p:cNvSpPr/>
          <p:nvPr/>
        </p:nvSpPr>
        <p:spPr>
          <a:xfrm>
            <a:off x="4572150" y="-18175"/>
            <a:ext cx="4572000" cy="51618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5" name="Google Shape;65;p9"/>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66" name="Google Shape;66;p9"/>
          <p:cNvPicPr preferRelativeResize="0"/>
          <p:nvPr/>
        </p:nvPicPr>
        <p:blipFill>
          <a:blip r:embed="rId3">
            <a:alphaModFix/>
          </a:blip>
          <a:stretch>
            <a:fillRect/>
          </a:stretch>
        </p:blipFill>
        <p:spPr>
          <a:xfrm>
            <a:off x="3506975" y="4699100"/>
            <a:ext cx="558475" cy="300725"/>
          </a:xfrm>
          <a:prstGeom prst="rect">
            <a:avLst/>
          </a:prstGeom>
          <a:noFill/>
          <a:ln>
            <a:noFill/>
          </a:ln>
        </p:spPr>
      </p:pic>
      <p:pic>
        <p:nvPicPr>
          <p:cNvPr id="67" name="Google Shape;67;p9"/>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s">
  <p:cSld name="CAPTION_ONLY">
    <p:spTree>
      <p:nvGrpSpPr>
        <p:cNvPr id="68" name="Shape 68"/>
        <p:cNvGrpSpPr/>
        <p:nvPr/>
      </p:nvGrpSpPr>
      <p:grpSpPr>
        <a:xfrm>
          <a:off x="0" y="0"/>
          <a:ext cx="0" cy="0"/>
          <a:chOff x="0" y="0"/>
          <a:chExt cx="0" cy="0"/>
        </a:xfrm>
      </p:grpSpPr>
      <p:sp>
        <p:nvSpPr>
          <p:cNvPr id="69" name="Google Shape;69;p10"/>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0"/>
          <p:cNvSpPr txBox="1"/>
          <p:nvPr>
            <p:ph idx="1" type="body"/>
          </p:nvPr>
        </p:nvSpPr>
        <p:spPr>
          <a:xfrm>
            <a:off x="433800" y="1715975"/>
            <a:ext cx="8203800" cy="14820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000"/>
              <a:buFont typeface="Montserrat"/>
              <a:buNone/>
              <a:defRPr i="1" sz="2000">
                <a:latin typeface="Montserrat"/>
                <a:ea typeface="Montserrat"/>
                <a:cs typeface="Montserrat"/>
                <a:sym typeface="Montserrat"/>
              </a:defRPr>
            </a:lvl1pPr>
          </a:lstStyle>
          <a:p/>
        </p:txBody>
      </p:sp>
      <p:pic>
        <p:nvPicPr>
          <p:cNvPr id="71" name="Google Shape;71;p10"/>
          <p:cNvPicPr preferRelativeResize="0"/>
          <p:nvPr/>
        </p:nvPicPr>
        <p:blipFill>
          <a:blip r:embed="rId2">
            <a:alphaModFix/>
          </a:blip>
          <a:stretch>
            <a:fillRect/>
          </a:stretch>
        </p:blipFill>
        <p:spPr>
          <a:xfrm>
            <a:off x="127225" y="906000"/>
            <a:ext cx="1429649" cy="936662"/>
          </a:xfrm>
          <a:prstGeom prst="rect">
            <a:avLst/>
          </a:prstGeom>
          <a:noFill/>
          <a:ln>
            <a:noFill/>
          </a:ln>
        </p:spPr>
      </p:pic>
      <p:pic>
        <p:nvPicPr>
          <p:cNvPr id="72" name="Google Shape;72;p10"/>
          <p:cNvPicPr preferRelativeResize="0"/>
          <p:nvPr/>
        </p:nvPicPr>
        <p:blipFill>
          <a:blip r:embed="rId3">
            <a:alphaModFix/>
          </a:blip>
          <a:stretch>
            <a:fillRect/>
          </a:stretch>
        </p:blipFill>
        <p:spPr>
          <a:xfrm>
            <a:off x="7632800" y="2758064"/>
            <a:ext cx="1385650" cy="907836"/>
          </a:xfrm>
          <a:prstGeom prst="rect">
            <a:avLst/>
          </a:prstGeom>
          <a:noFill/>
          <a:ln>
            <a:noFill/>
          </a:ln>
        </p:spPr>
      </p:pic>
      <p:sp>
        <p:nvSpPr>
          <p:cNvPr id="73" name="Google Shape;73;p10"/>
          <p:cNvSpPr txBox="1"/>
          <p:nvPr/>
        </p:nvSpPr>
        <p:spPr>
          <a:xfrm>
            <a:off x="432025" y="3792225"/>
            <a:ext cx="8401800" cy="4002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None/>
            </a:pPr>
            <a:r>
              <a:rPr b="1" lang="es">
                <a:solidFill>
                  <a:schemeClr val="dk1"/>
                </a:solidFill>
                <a:latin typeface="Montserrat"/>
                <a:ea typeface="Montserrat"/>
                <a:cs typeface="Montserrat"/>
                <a:sym typeface="Montserrat"/>
              </a:rPr>
              <a:t>Autor/as/es:</a:t>
            </a:r>
            <a:endParaRPr b="1">
              <a:solidFill>
                <a:schemeClr val="dk1"/>
              </a:solidFill>
              <a:latin typeface="Montserrat"/>
              <a:ea typeface="Montserrat"/>
              <a:cs typeface="Montserrat"/>
              <a:sym typeface="Montserrat"/>
            </a:endParaRPr>
          </a:p>
        </p:txBody>
      </p:sp>
      <p:pic>
        <p:nvPicPr>
          <p:cNvPr id="74" name="Google Shape;74;p10"/>
          <p:cNvPicPr preferRelativeResize="0"/>
          <p:nvPr/>
        </p:nvPicPr>
        <p:blipFill>
          <a:blip r:embed="rId4">
            <a:alphaModFix/>
          </a:blip>
          <a:stretch>
            <a:fillRect/>
          </a:stretch>
        </p:blipFill>
        <p:spPr>
          <a:xfrm>
            <a:off x="8155184" y="33947"/>
            <a:ext cx="876879" cy="399275"/>
          </a:xfrm>
          <a:prstGeom prst="rect">
            <a:avLst/>
          </a:prstGeom>
          <a:noFill/>
          <a:ln>
            <a:noFill/>
          </a:ln>
        </p:spPr>
      </p:pic>
      <p:pic>
        <p:nvPicPr>
          <p:cNvPr id="75" name="Google Shape;75;p10"/>
          <p:cNvPicPr preferRelativeResize="0"/>
          <p:nvPr/>
        </p:nvPicPr>
        <p:blipFill>
          <a:blip r:embed="rId5">
            <a:alphaModFix/>
          </a:blip>
          <a:stretch>
            <a:fillRect/>
          </a:stretch>
        </p:blipFill>
        <p:spPr>
          <a:xfrm>
            <a:off x="8078975" y="4699100"/>
            <a:ext cx="558475" cy="300725"/>
          </a:xfrm>
          <a:prstGeom prst="rect">
            <a:avLst/>
          </a:prstGeom>
          <a:noFill/>
          <a:ln>
            <a:noFill/>
          </a:ln>
        </p:spPr>
      </p:pic>
      <p:sp>
        <p:nvSpPr>
          <p:cNvPr id="76" name="Google Shape;76;p10"/>
          <p:cNvSpPr txBox="1"/>
          <p:nvPr>
            <p:ph type="title"/>
          </p:nvPr>
        </p:nvSpPr>
        <p:spPr>
          <a:xfrm>
            <a:off x="1766475" y="3773600"/>
            <a:ext cx="7145100" cy="300600"/>
          </a:xfrm>
          <a:prstGeom prst="rect">
            <a:avLst/>
          </a:prstGeom>
        </p:spPr>
        <p:txBody>
          <a:bodyPr anchorCtr="0" anchor="t" bIns="91425" lIns="91425" spcFirstLastPara="1" rIns="91425" wrap="square" tIns="91425">
            <a:normAutofit/>
          </a:bodyPr>
          <a:lstStyle>
            <a:lvl1pPr lvl="0" rtl="0">
              <a:spcBef>
                <a:spcPts val="0"/>
              </a:spcBef>
              <a:spcAft>
                <a:spcPts val="0"/>
              </a:spcAft>
              <a:buSzPts val="1500"/>
              <a:buFont typeface="Montserrat Medium"/>
              <a:buNone/>
              <a:defRPr sz="1500">
                <a:latin typeface="Montserrat Medium"/>
                <a:ea typeface="Montserrat Medium"/>
                <a:cs typeface="Montserrat Medium"/>
                <a:sym typeface="Montserrat Medium"/>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7" name="Google Shape;77;p10"/>
          <p:cNvSpPr txBox="1"/>
          <p:nvPr>
            <p:ph idx="2" type="title"/>
          </p:nvPr>
        </p:nvSpPr>
        <p:spPr>
          <a:xfrm>
            <a:off x="432025" y="83275"/>
            <a:ext cx="7145100" cy="399300"/>
          </a:xfrm>
          <a:prstGeom prst="rect">
            <a:avLst/>
          </a:prstGeom>
        </p:spPr>
        <p:txBody>
          <a:bodyPr anchorCtr="0" anchor="t" bIns="91425" lIns="91425" spcFirstLastPara="1" rIns="91425" wrap="square" tIns="91425">
            <a:normAutofit/>
          </a:bodyPr>
          <a:lstStyle>
            <a:lvl1pPr lvl="0" rtl="0">
              <a:spcBef>
                <a:spcPts val="0"/>
              </a:spcBef>
              <a:spcAft>
                <a:spcPts val="0"/>
              </a:spcAft>
              <a:buSzPts val="1500"/>
              <a:buFont typeface="Montserrat SemiBold"/>
              <a:buNone/>
              <a:defRPr sz="1500">
                <a:latin typeface="Montserrat SemiBold"/>
                <a:ea typeface="Montserrat SemiBold"/>
                <a:cs typeface="Montserrat SemiBold"/>
                <a:sym typeface="Montserrat SemiBol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78" name="Google Shape;78;p10"/>
          <p:cNvPicPr preferRelativeResize="0"/>
          <p:nvPr/>
        </p:nvPicPr>
        <p:blipFill rotWithShape="1">
          <a:blip r:embed="rId6">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72">
          <p15:clr>
            <a:srgbClr val="FA7B17"/>
          </p15:clr>
        </p15:guide>
        <p15:guide id="2" pos="5441">
          <p15:clr>
            <a:srgbClr val="FA7B17"/>
          </p15:clr>
        </p15:guide>
        <p15:guide id="3" orient="horz" pos="2551">
          <p15:clr>
            <a:srgbClr val="FA7B17"/>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area y consigna">
  <p:cSld name="BIG_NUMBER">
    <p:spTree>
      <p:nvGrpSpPr>
        <p:cNvPr id="79" name="Shape 79"/>
        <p:cNvGrpSpPr/>
        <p:nvPr/>
      </p:nvGrpSpPr>
      <p:grpSpPr>
        <a:xfrm>
          <a:off x="0" y="0"/>
          <a:ext cx="0" cy="0"/>
          <a:chOff x="0" y="0"/>
          <a:chExt cx="0" cy="0"/>
        </a:xfrm>
      </p:grpSpPr>
      <p:sp>
        <p:nvSpPr>
          <p:cNvPr id="80" name="Google Shape;80;p11"/>
          <p:cNvSpPr/>
          <p:nvPr/>
        </p:nvSpPr>
        <p:spPr>
          <a:xfrm>
            <a:off x="-13650" y="432892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pic>
        <p:nvPicPr>
          <p:cNvPr id="82" name="Google Shape;82;p11"/>
          <p:cNvPicPr preferRelativeResize="0"/>
          <p:nvPr/>
        </p:nvPicPr>
        <p:blipFill>
          <a:blip r:embed="rId2">
            <a:alphaModFix/>
          </a:blip>
          <a:stretch>
            <a:fillRect/>
          </a:stretch>
        </p:blipFill>
        <p:spPr>
          <a:xfrm>
            <a:off x="4026135" y="4508338"/>
            <a:ext cx="1091725" cy="497100"/>
          </a:xfrm>
          <a:prstGeom prst="rect">
            <a:avLst/>
          </a:prstGeom>
          <a:noFill/>
          <a:ln>
            <a:noFill/>
          </a:ln>
        </p:spPr>
      </p:pic>
      <p:pic>
        <p:nvPicPr>
          <p:cNvPr id="83" name="Google Shape;83;p11"/>
          <p:cNvPicPr preferRelativeResize="0"/>
          <p:nvPr/>
        </p:nvPicPr>
        <p:blipFill>
          <a:blip r:embed="rId3">
            <a:alphaModFix/>
          </a:blip>
          <a:stretch>
            <a:fillRect/>
          </a:stretch>
        </p:blipFill>
        <p:spPr>
          <a:xfrm>
            <a:off x="0" y="4264238"/>
            <a:ext cx="1163080" cy="792599"/>
          </a:xfrm>
          <a:prstGeom prst="rect">
            <a:avLst/>
          </a:prstGeom>
          <a:noFill/>
          <a:ln>
            <a:noFill/>
          </a:ln>
        </p:spPr>
      </p:pic>
      <p:pic>
        <p:nvPicPr>
          <p:cNvPr id="84" name="Google Shape;84;p11"/>
          <p:cNvPicPr preferRelativeResize="0"/>
          <p:nvPr/>
        </p:nvPicPr>
        <p:blipFill>
          <a:blip r:embed="rId4">
            <a:alphaModFix/>
          </a:blip>
          <a:stretch>
            <a:fillRect/>
          </a:stretch>
        </p:blipFill>
        <p:spPr>
          <a:xfrm>
            <a:off x="7910675" y="4073939"/>
            <a:ext cx="1365875" cy="1365875"/>
          </a:xfrm>
          <a:prstGeom prst="rect">
            <a:avLst/>
          </a:prstGeom>
          <a:noFill/>
          <a:ln>
            <a:noFill/>
          </a:ln>
        </p:spPr>
      </p:pic>
      <p:sp>
        <p:nvSpPr>
          <p:cNvPr id="85" name="Google Shape;85;p11"/>
          <p:cNvSpPr txBox="1"/>
          <p:nvPr>
            <p:ph type="title"/>
          </p:nvPr>
        </p:nvSpPr>
        <p:spPr>
          <a:xfrm>
            <a:off x="432025" y="187325"/>
            <a:ext cx="7982100" cy="497100"/>
          </a:xfrm>
          <a:prstGeom prst="rect">
            <a:avLst/>
          </a:prstGeom>
        </p:spPr>
        <p:txBody>
          <a:bodyPr anchorCtr="0" anchor="ctr" bIns="91425" lIns="91425" spcFirstLastPara="1" rIns="91425" wrap="square" tIns="91425">
            <a:normAutofit/>
          </a:bodyPr>
          <a:lstStyle>
            <a:lvl1pPr lvl="0" rtl="0">
              <a:spcBef>
                <a:spcPts val="0"/>
              </a:spcBef>
              <a:spcAft>
                <a:spcPts val="0"/>
              </a:spcAft>
              <a:buSzPts val="2600"/>
              <a:buFont typeface="Montserrat Medium"/>
              <a:buNone/>
              <a:defRPr sz="2600">
                <a:latin typeface="Montserrat Medium"/>
                <a:ea typeface="Montserrat Medium"/>
                <a:cs typeface="Montserrat Medium"/>
                <a:sym typeface="Montserrat Medium"/>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86" name="Google Shape;86;p11"/>
          <p:cNvSpPr txBox="1"/>
          <p:nvPr>
            <p:ph idx="1" type="body"/>
          </p:nvPr>
        </p:nvSpPr>
        <p:spPr>
          <a:xfrm>
            <a:off x="432025" y="847675"/>
            <a:ext cx="8280000" cy="33180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Font typeface="Montserrat"/>
              <a:buChar char="●"/>
              <a:defRPr>
                <a:latin typeface="Montserrat"/>
                <a:ea typeface="Montserrat"/>
                <a:cs typeface="Montserrat"/>
                <a:sym typeface="Montserrat"/>
              </a:defRPr>
            </a:lvl1pPr>
            <a:lvl2pPr indent="-317500" lvl="1" marL="914400" rtl="0">
              <a:spcBef>
                <a:spcPts val="0"/>
              </a:spcBef>
              <a:spcAft>
                <a:spcPts val="0"/>
              </a:spcAft>
              <a:buSzPts val="1400"/>
              <a:buFont typeface="Montserrat"/>
              <a:buChar char="○"/>
              <a:defRPr>
                <a:latin typeface="Montserrat"/>
                <a:ea typeface="Montserrat"/>
                <a:cs typeface="Montserrat"/>
                <a:sym typeface="Montserrat"/>
              </a:defRPr>
            </a:lvl2pPr>
            <a:lvl3pPr indent="-317500" lvl="2" marL="1371600" rtl="0">
              <a:spcBef>
                <a:spcPts val="0"/>
              </a:spcBef>
              <a:spcAft>
                <a:spcPts val="0"/>
              </a:spcAft>
              <a:buSzPts val="1400"/>
              <a:buFont typeface="Montserrat"/>
              <a:buChar char="■"/>
              <a:defRPr>
                <a:latin typeface="Montserrat"/>
                <a:ea typeface="Montserrat"/>
                <a:cs typeface="Montserrat"/>
                <a:sym typeface="Montserrat"/>
              </a:defRPr>
            </a:lvl3pPr>
            <a:lvl4pPr indent="-317500" lvl="3" marL="1828800" rtl="0">
              <a:spcBef>
                <a:spcPts val="0"/>
              </a:spcBef>
              <a:spcAft>
                <a:spcPts val="0"/>
              </a:spcAft>
              <a:buSzPts val="1400"/>
              <a:buFont typeface="Montserrat"/>
              <a:buChar char="●"/>
              <a:defRPr>
                <a:latin typeface="Montserrat"/>
                <a:ea typeface="Montserrat"/>
                <a:cs typeface="Montserrat"/>
                <a:sym typeface="Montserrat"/>
              </a:defRPr>
            </a:lvl4pPr>
            <a:lvl5pPr indent="-317500" lvl="4" marL="2286000" rtl="0">
              <a:spcBef>
                <a:spcPts val="0"/>
              </a:spcBef>
              <a:spcAft>
                <a:spcPts val="0"/>
              </a:spcAft>
              <a:buSzPts val="1400"/>
              <a:buFont typeface="Montserrat"/>
              <a:buChar char="○"/>
              <a:defRPr>
                <a:latin typeface="Montserrat"/>
                <a:ea typeface="Montserrat"/>
                <a:cs typeface="Montserrat"/>
                <a:sym typeface="Montserrat"/>
              </a:defRPr>
            </a:lvl5pPr>
            <a:lvl6pPr indent="-317500" lvl="5" marL="2743200" rtl="0">
              <a:spcBef>
                <a:spcPts val="0"/>
              </a:spcBef>
              <a:spcAft>
                <a:spcPts val="0"/>
              </a:spcAft>
              <a:buSzPts val="1400"/>
              <a:buFont typeface="Montserrat"/>
              <a:buChar char="■"/>
              <a:defRPr>
                <a:latin typeface="Montserrat"/>
                <a:ea typeface="Montserrat"/>
                <a:cs typeface="Montserrat"/>
                <a:sym typeface="Montserrat"/>
              </a:defRPr>
            </a:lvl6pPr>
            <a:lvl7pPr indent="-317500" lvl="6" marL="3200400" rtl="0">
              <a:spcBef>
                <a:spcPts val="0"/>
              </a:spcBef>
              <a:spcAft>
                <a:spcPts val="0"/>
              </a:spcAft>
              <a:buSzPts val="1400"/>
              <a:buFont typeface="Montserrat"/>
              <a:buChar char="●"/>
              <a:defRPr>
                <a:latin typeface="Montserrat"/>
                <a:ea typeface="Montserrat"/>
                <a:cs typeface="Montserrat"/>
                <a:sym typeface="Montserrat"/>
              </a:defRPr>
            </a:lvl7pPr>
            <a:lvl8pPr indent="-317500" lvl="7" marL="3657600" rtl="0">
              <a:spcBef>
                <a:spcPts val="0"/>
              </a:spcBef>
              <a:spcAft>
                <a:spcPts val="0"/>
              </a:spcAft>
              <a:buSzPts val="1400"/>
              <a:buFont typeface="Montserrat"/>
              <a:buChar char="○"/>
              <a:defRPr>
                <a:latin typeface="Montserrat"/>
                <a:ea typeface="Montserrat"/>
                <a:cs typeface="Montserrat"/>
                <a:sym typeface="Montserrat"/>
              </a:defRPr>
            </a:lvl8pPr>
            <a:lvl9pPr indent="-317500" lvl="8" marL="4114800" rtl="0">
              <a:spcBef>
                <a:spcPts val="0"/>
              </a:spcBef>
              <a:spcAft>
                <a:spcPts val="0"/>
              </a:spcAft>
              <a:buSzPts val="1400"/>
              <a:buFont typeface="Montserrat"/>
              <a:buChar char="■"/>
              <a:defRPr>
                <a:latin typeface="Montserrat"/>
                <a:ea typeface="Montserrat"/>
                <a:cs typeface="Montserrat"/>
                <a:sym typeface="Montserrat"/>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ortante o recordatorio" type="blank">
  <p:cSld name="BLANK">
    <p:spTree>
      <p:nvGrpSpPr>
        <p:cNvPr id="87" name="Shape 87"/>
        <p:cNvGrpSpPr/>
        <p:nvPr/>
      </p:nvGrpSpPr>
      <p:grpSpPr>
        <a:xfrm>
          <a:off x="0" y="0"/>
          <a:ext cx="0" cy="0"/>
          <a:chOff x="0" y="0"/>
          <a:chExt cx="0" cy="0"/>
        </a:xfrm>
      </p:grpSpPr>
      <p:sp>
        <p:nvSpPr>
          <p:cNvPr id="88" name="Google Shape;88;p12"/>
          <p:cNvSpPr/>
          <p:nvPr/>
        </p:nvSpPr>
        <p:spPr>
          <a:xfrm>
            <a:off x="-13650" y="-5775"/>
            <a:ext cx="9171300" cy="8559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9" name="Google Shape;89;p12"/>
          <p:cNvPicPr preferRelativeResize="0"/>
          <p:nvPr/>
        </p:nvPicPr>
        <p:blipFill>
          <a:blip r:embed="rId2">
            <a:alphaModFix/>
          </a:blip>
          <a:stretch>
            <a:fillRect/>
          </a:stretch>
        </p:blipFill>
        <p:spPr>
          <a:xfrm>
            <a:off x="7910675" y="-260761"/>
            <a:ext cx="1365875" cy="1365875"/>
          </a:xfrm>
          <a:prstGeom prst="rect">
            <a:avLst/>
          </a:prstGeom>
          <a:noFill/>
          <a:ln>
            <a:noFill/>
          </a:ln>
        </p:spPr>
      </p:pic>
      <p:pic>
        <p:nvPicPr>
          <p:cNvPr id="90" name="Google Shape;90;p12"/>
          <p:cNvPicPr preferRelativeResize="0"/>
          <p:nvPr/>
        </p:nvPicPr>
        <p:blipFill>
          <a:blip r:embed="rId3">
            <a:alphaModFix/>
          </a:blip>
          <a:stretch>
            <a:fillRect/>
          </a:stretch>
        </p:blipFill>
        <p:spPr>
          <a:xfrm>
            <a:off x="0" y="5738"/>
            <a:ext cx="1163080" cy="792599"/>
          </a:xfrm>
          <a:prstGeom prst="rect">
            <a:avLst/>
          </a:prstGeom>
          <a:noFill/>
          <a:ln>
            <a:noFill/>
          </a:ln>
        </p:spPr>
      </p:pic>
      <p:pic>
        <p:nvPicPr>
          <p:cNvPr id="91" name="Google Shape;91;p12"/>
          <p:cNvPicPr preferRelativeResize="0"/>
          <p:nvPr/>
        </p:nvPicPr>
        <p:blipFill>
          <a:blip r:embed="rId4">
            <a:alphaModFix/>
          </a:blip>
          <a:stretch>
            <a:fillRect/>
          </a:stretch>
        </p:blipFill>
        <p:spPr>
          <a:xfrm>
            <a:off x="4026135" y="164938"/>
            <a:ext cx="1091725" cy="497100"/>
          </a:xfrm>
          <a:prstGeom prst="rect">
            <a:avLst/>
          </a:prstGeom>
          <a:noFill/>
          <a:ln>
            <a:noFill/>
          </a:ln>
        </p:spPr>
      </p:pic>
      <p:sp>
        <p:nvSpPr>
          <p:cNvPr id="92" name="Google Shape;92;p12"/>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lvl1pPr lvl="0" rtl="0">
              <a:spcBef>
                <a:spcPts val="0"/>
              </a:spcBef>
              <a:spcAft>
                <a:spcPts val="0"/>
              </a:spcAft>
              <a:buClr>
                <a:srgbClr val="333333"/>
              </a:buClr>
              <a:buSzPts val="3700"/>
              <a:buFont typeface="Montserrat"/>
              <a:buNone/>
              <a:defRPr b="1" sz="3700">
                <a:solidFill>
                  <a:srgbClr val="333333"/>
                </a:solidFill>
                <a:latin typeface="Montserrat"/>
                <a:ea typeface="Montserrat"/>
                <a:cs typeface="Montserrat"/>
                <a:sym typeface="Montserrat"/>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0">
  <p:cSld name="BLANK_1">
    <p:spTree>
      <p:nvGrpSpPr>
        <p:cNvPr id="93" name="Shape 93"/>
        <p:cNvGrpSpPr/>
        <p:nvPr/>
      </p:nvGrpSpPr>
      <p:grpSpPr>
        <a:xfrm>
          <a:off x="0" y="0"/>
          <a:ext cx="0" cy="0"/>
          <a:chOff x="0" y="0"/>
          <a:chExt cx="0" cy="0"/>
        </a:xfrm>
      </p:grpSpPr>
      <p:sp>
        <p:nvSpPr>
          <p:cNvPr id="94" name="Google Shape;94;p13"/>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95" name="Google Shape;95;p13"/>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13"/>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13"/>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98" name="Google Shape;98;p13"/>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99" name="Google Shape;99;p13"/>
          <p:cNvSpPr txBox="1"/>
          <p:nvPr>
            <p:ph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0" name="Google Shape;100;p13"/>
          <p:cNvSpPr txBox="1"/>
          <p:nvPr>
            <p:ph idx="2" type="title"/>
          </p:nvPr>
        </p:nvSpPr>
        <p:spPr>
          <a:xfrm>
            <a:off x="6134350" y="2196275"/>
            <a:ext cx="2397900" cy="20757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1" name="Google Shape;101;p13"/>
          <p:cNvSpPr txBox="1"/>
          <p:nvPr>
            <p:ph idx="3" type="title"/>
          </p:nvPr>
        </p:nvSpPr>
        <p:spPr>
          <a:xfrm>
            <a:off x="4039950" y="116422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2" name="Google Shape;102;p13"/>
          <p:cNvSpPr txBox="1"/>
          <p:nvPr>
            <p:ph idx="4" type="title"/>
          </p:nvPr>
        </p:nvSpPr>
        <p:spPr>
          <a:xfrm>
            <a:off x="6877450" y="116422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3" name="Google Shape;103;p13"/>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4" name="Google Shape;104;p13"/>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05" name="Google Shape;105;p13"/>
          <p:cNvPicPr preferRelativeResize="0"/>
          <p:nvPr/>
        </p:nvPicPr>
        <p:blipFill>
          <a:blip r:embed="rId3">
            <a:alphaModFix/>
          </a:blip>
          <a:stretch>
            <a:fillRect/>
          </a:stretch>
        </p:blipFill>
        <p:spPr>
          <a:xfrm>
            <a:off x="8078975" y="4699100"/>
            <a:ext cx="558475" cy="300725"/>
          </a:xfrm>
          <a:prstGeom prst="rect">
            <a:avLst/>
          </a:prstGeom>
          <a:noFill/>
          <a:ln>
            <a:noFill/>
          </a:ln>
        </p:spPr>
      </p:pic>
      <p:pic>
        <p:nvPicPr>
          <p:cNvPr id="106" name="Google Shape;106;p13"/>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ase 2 - 37">
  <p:cSld name="BLANK_1_1">
    <p:spTree>
      <p:nvGrpSpPr>
        <p:cNvPr id="107" name="Shape 107"/>
        <p:cNvGrpSpPr/>
        <p:nvPr/>
      </p:nvGrpSpPr>
      <p:grpSpPr>
        <a:xfrm>
          <a:off x="0" y="0"/>
          <a:ext cx="0" cy="0"/>
          <a:chOff x="0" y="0"/>
          <a:chExt cx="0" cy="0"/>
        </a:xfrm>
      </p:grpSpPr>
      <p:sp>
        <p:nvSpPr>
          <p:cNvPr id="108" name="Google Shape;108;p14"/>
          <p:cNvSpPr/>
          <p:nvPr/>
        </p:nvSpPr>
        <p:spPr>
          <a:xfrm>
            <a:off x="212425" y="1172325"/>
            <a:ext cx="8636100" cy="436800"/>
          </a:xfrm>
          <a:prstGeom prst="chevron">
            <a:avLst>
              <a:gd fmla="val 50000"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09" name="Google Shape;109;p14"/>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14"/>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14"/>
          <p:cNvSpPr/>
          <p:nvPr/>
        </p:nvSpPr>
        <p:spPr>
          <a:xfrm>
            <a:off x="6745000" y="8084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14"/>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3" name="Google Shape;113;p14"/>
          <p:cNvSpPr txBox="1"/>
          <p:nvPr/>
        </p:nvSpPr>
        <p:spPr>
          <a:xfrm>
            <a:off x="6134350" y="2150250"/>
            <a:ext cx="2397900" cy="21216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14" name="Google Shape;114;p14"/>
          <p:cNvSpPr txBox="1"/>
          <p:nvPr>
            <p:ph type="title"/>
          </p:nvPr>
        </p:nvSpPr>
        <p:spPr>
          <a:xfrm>
            <a:off x="1271800" y="115937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5" name="Google Shape;115;p14"/>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6" name="Google Shape;116;p14"/>
          <p:cNvSpPr txBox="1"/>
          <p:nvPr>
            <p:ph idx="3" type="title"/>
          </p:nvPr>
        </p:nvSpPr>
        <p:spPr>
          <a:xfrm>
            <a:off x="6877450" y="1159388"/>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17" name="Google Shape;117;p14"/>
          <p:cNvSpPr txBox="1"/>
          <p:nvPr>
            <p:ph idx="4" type="title"/>
          </p:nvPr>
        </p:nvSpPr>
        <p:spPr>
          <a:xfrm>
            <a:off x="532575" y="2150850"/>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8" name="Google Shape;118;p14"/>
          <p:cNvSpPr txBox="1"/>
          <p:nvPr>
            <p:ph idx="5" type="title"/>
          </p:nvPr>
        </p:nvSpPr>
        <p:spPr>
          <a:xfrm>
            <a:off x="6130475" y="2159925"/>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9" name="Google Shape;119;p14"/>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0" name="Google Shape;120;p14"/>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21" name="Google Shape;121;p14"/>
          <p:cNvPicPr preferRelativeResize="0"/>
          <p:nvPr/>
        </p:nvPicPr>
        <p:blipFill>
          <a:blip r:embed="rId3">
            <a:alphaModFix/>
          </a:blip>
          <a:stretch>
            <a:fillRect/>
          </a:stretch>
        </p:blipFill>
        <p:spPr>
          <a:xfrm>
            <a:off x="8078975" y="4699100"/>
            <a:ext cx="558475" cy="300725"/>
          </a:xfrm>
          <a:prstGeom prst="rect">
            <a:avLst/>
          </a:prstGeom>
          <a:noFill/>
          <a:ln>
            <a:noFill/>
          </a:ln>
        </p:spPr>
      </p:pic>
      <p:sp>
        <p:nvSpPr>
          <p:cNvPr id="122" name="Google Shape;122;p14"/>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23" name="Google Shape;123;p14"/>
          <p:cNvSpPr txBox="1"/>
          <p:nvPr>
            <p:ph idx="6"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24" name="Google Shape;124;p14"/>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Última clase">
  <p:cSld name="BLANK_1_1_1">
    <p:spTree>
      <p:nvGrpSpPr>
        <p:cNvPr id="125" name="Shape 125"/>
        <p:cNvGrpSpPr/>
        <p:nvPr/>
      </p:nvGrpSpPr>
      <p:grpSpPr>
        <a:xfrm>
          <a:off x="0" y="0"/>
          <a:ext cx="0" cy="0"/>
          <a:chOff x="0" y="0"/>
          <a:chExt cx="0" cy="0"/>
        </a:xfrm>
      </p:grpSpPr>
      <p:sp>
        <p:nvSpPr>
          <p:cNvPr id="126" name="Google Shape;126;p15"/>
          <p:cNvSpPr/>
          <p:nvPr/>
        </p:nvSpPr>
        <p:spPr>
          <a:xfrm>
            <a:off x="212425" y="1172325"/>
            <a:ext cx="4818000" cy="436800"/>
          </a:xfrm>
          <a:prstGeom prst="chevron">
            <a:avLst>
              <a:gd fmla="val 45084" name="adj"/>
            </a:avLst>
          </a:prstGeom>
          <a:solidFill>
            <a:srgbClr val="7685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D9D9D9"/>
              </a:solidFill>
              <a:latin typeface="Arial"/>
              <a:ea typeface="Arial"/>
              <a:cs typeface="Arial"/>
              <a:sym typeface="Arial"/>
            </a:endParaRPr>
          </a:p>
        </p:txBody>
      </p:sp>
      <p:sp>
        <p:nvSpPr>
          <p:cNvPr id="127" name="Google Shape;127;p15"/>
          <p:cNvSpPr/>
          <p:nvPr/>
        </p:nvSpPr>
        <p:spPr>
          <a:xfrm>
            <a:off x="3907500" y="792225"/>
            <a:ext cx="1176600" cy="1164600"/>
          </a:xfrm>
          <a:prstGeom prst="ellipse">
            <a:avLst/>
          </a:prstGeom>
          <a:solidFill>
            <a:srgbClr val="F1C23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15"/>
          <p:cNvSpPr/>
          <p:nvPr/>
        </p:nvSpPr>
        <p:spPr>
          <a:xfrm>
            <a:off x="1139350" y="792225"/>
            <a:ext cx="1176600" cy="1164600"/>
          </a:xfrm>
          <a:prstGeom prst="ellipse">
            <a:avLst/>
          </a:prstGeom>
          <a:solidFill>
            <a:srgbClr val="F9F9F9"/>
          </a:solidFill>
          <a:ln cap="flat" cmpd="sng" w="1905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15"/>
          <p:cNvSpPr txBox="1"/>
          <p:nvPr/>
        </p:nvSpPr>
        <p:spPr>
          <a:xfrm>
            <a:off x="528700" y="2150250"/>
            <a:ext cx="2397900" cy="21312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0" name="Google Shape;130;p15"/>
          <p:cNvSpPr txBox="1"/>
          <p:nvPr>
            <p:ph type="title"/>
          </p:nvPr>
        </p:nvSpPr>
        <p:spPr>
          <a:xfrm>
            <a:off x="1271800" y="1159375"/>
            <a:ext cx="91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rgbClr val="333333"/>
              </a:buClr>
              <a:buSzPts val="1400"/>
              <a:buFont typeface="Montserrat"/>
              <a:buNone/>
              <a:defRPr b="1" sz="1400">
                <a:solidFill>
                  <a:srgbClr val="333333"/>
                </a:solidFill>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31" name="Google Shape;131;p15"/>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a:bodyPr>
          <a:lstStyle>
            <a:lvl1pPr lvl="0" rtl="0" algn="ctr">
              <a:spcBef>
                <a:spcPts val="0"/>
              </a:spcBef>
              <a:spcAft>
                <a:spcPts val="0"/>
              </a:spcAft>
              <a:buSzPts val="1400"/>
              <a:buFont typeface="Montserrat"/>
              <a:buNone/>
              <a:defRPr b="1" sz="1400">
                <a:latin typeface="Montserrat"/>
                <a:ea typeface="Montserrat"/>
                <a:cs typeface="Montserrat"/>
                <a:sym typeface="Montserrat"/>
              </a:defRPr>
            </a:lvl1pPr>
            <a:lvl2pPr lvl="1" rtl="0" algn="ctr">
              <a:spcBef>
                <a:spcPts val="0"/>
              </a:spcBef>
              <a:spcAft>
                <a:spcPts val="0"/>
              </a:spcAft>
              <a:buSzPts val="1400"/>
              <a:buNone/>
              <a:defRPr sz="1400"/>
            </a:lvl2pPr>
            <a:lvl3pPr lvl="2" rtl="0" algn="ctr">
              <a:spcBef>
                <a:spcPts val="0"/>
              </a:spcBef>
              <a:spcAft>
                <a:spcPts val="0"/>
              </a:spcAft>
              <a:buSzPts val="1400"/>
              <a:buNone/>
              <a:defRPr sz="1400"/>
            </a:lvl3pPr>
            <a:lvl4pPr lvl="3" rtl="0" algn="ctr">
              <a:spcBef>
                <a:spcPts val="0"/>
              </a:spcBef>
              <a:spcAft>
                <a:spcPts val="0"/>
              </a:spcAft>
              <a:buSzPts val="1400"/>
              <a:buNone/>
              <a:defRPr sz="1400"/>
            </a:lvl4pPr>
            <a:lvl5pPr lvl="4" rtl="0" algn="ctr">
              <a:spcBef>
                <a:spcPts val="0"/>
              </a:spcBef>
              <a:spcAft>
                <a:spcPts val="0"/>
              </a:spcAft>
              <a:buSzPts val="1400"/>
              <a:buNone/>
              <a:defRPr sz="1400"/>
            </a:lvl5pPr>
            <a:lvl6pPr lvl="5" rtl="0" algn="ctr">
              <a:spcBef>
                <a:spcPts val="0"/>
              </a:spcBef>
              <a:spcAft>
                <a:spcPts val="0"/>
              </a:spcAft>
              <a:buSzPts val="1400"/>
              <a:buNone/>
              <a:defRPr sz="1400"/>
            </a:lvl6pPr>
            <a:lvl7pPr lvl="6" rtl="0" algn="ctr">
              <a:spcBef>
                <a:spcPts val="0"/>
              </a:spcBef>
              <a:spcAft>
                <a:spcPts val="0"/>
              </a:spcAft>
              <a:buSzPts val="1400"/>
              <a:buNone/>
              <a:defRPr sz="1400"/>
            </a:lvl7pPr>
            <a:lvl8pPr lvl="7" rtl="0" algn="ctr">
              <a:spcBef>
                <a:spcPts val="0"/>
              </a:spcBef>
              <a:spcAft>
                <a:spcPts val="0"/>
              </a:spcAft>
              <a:buSzPts val="1400"/>
              <a:buNone/>
              <a:defRPr sz="1400"/>
            </a:lvl8pPr>
            <a:lvl9pPr lvl="8" rtl="0" algn="ctr">
              <a:spcBef>
                <a:spcPts val="0"/>
              </a:spcBef>
              <a:spcAft>
                <a:spcPts val="0"/>
              </a:spcAft>
              <a:buSzPts val="1400"/>
              <a:buNone/>
              <a:defRPr sz="1400"/>
            </a:lvl9pPr>
          </a:lstStyle>
          <a:p/>
        </p:txBody>
      </p:sp>
      <p:sp>
        <p:nvSpPr>
          <p:cNvPr id="132" name="Google Shape;132;p15"/>
          <p:cNvSpPr txBox="1"/>
          <p:nvPr>
            <p:ph idx="3" type="title"/>
          </p:nvPr>
        </p:nvSpPr>
        <p:spPr>
          <a:xfrm>
            <a:off x="532575" y="2150850"/>
            <a:ext cx="2397900" cy="21120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3" name="Google Shape;133;p15"/>
          <p:cNvSpPr/>
          <p:nvPr/>
        </p:nvSpPr>
        <p:spPr>
          <a:xfrm>
            <a:off x="-13650" y="-45425"/>
            <a:ext cx="9171300" cy="558000"/>
          </a:xfrm>
          <a:prstGeom prst="rect">
            <a:avLst/>
          </a:prstGeom>
          <a:solidFill>
            <a:srgbClr val="F8C8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4" name="Google Shape;134;p15"/>
          <p:cNvPicPr preferRelativeResize="0"/>
          <p:nvPr/>
        </p:nvPicPr>
        <p:blipFill>
          <a:blip r:embed="rId2">
            <a:alphaModFix/>
          </a:blip>
          <a:stretch>
            <a:fillRect/>
          </a:stretch>
        </p:blipFill>
        <p:spPr>
          <a:xfrm>
            <a:off x="8155184" y="33947"/>
            <a:ext cx="876879" cy="399275"/>
          </a:xfrm>
          <a:prstGeom prst="rect">
            <a:avLst/>
          </a:prstGeom>
          <a:noFill/>
          <a:ln>
            <a:noFill/>
          </a:ln>
        </p:spPr>
      </p:pic>
      <p:pic>
        <p:nvPicPr>
          <p:cNvPr id="135" name="Google Shape;135;p15"/>
          <p:cNvPicPr preferRelativeResize="0"/>
          <p:nvPr/>
        </p:nvPicPr>
        <p:blipFill>
          <a:blip r:embed="rId3">
            <a:alphaModFix/>
          </a:blip>
          <a:stretch>
            <a:fillRect/>
          </a:stretch>
        </p:blipFill>
        <p:spPr>
          <a:xfrm>
            <a:off x="8078975" y="4699100"/>
            <a:ext cx="558475" cy="300725"/>
          </a:xfrm>
          <a:prstGeom prst="rect">
            <a:avLst/>
          </a:prstGeom>
          <a:noFill/>
          <a:ln>
            <a:noFill/>
          </a:ln>
        </p:spPr>
      </p:pic>
      <p:sp>
        <p:nvSpPr>
          <p:cNvPr id="136" name="Google Shape;136;p15"/>
          <p:cNvSpPr txBox="1"/>
          <p:nvPr/>
        </p:nvSpPr>
        <p:spPr>
          <a:xfrm>
            <a:off x="3331525" y="2150250"/>
            <a:ext cx="2397900" cy="2121600"/>
          </a:xfrm>
          <a:prstGeom prst="rect">
            <a:avLst/>
          </a:prstGeom>
          <a:solidFill>
            <a:srgbClr val="F1C232"/>
          </a:solid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t/>
            </a:r>
            <a:endParaRPr b="1" i="0" sz="1200" u="none" cap="none" strike="noStrike">
              <a:solidFill>
                <a:srgbClr val="000000"/>
              </a:solidFill>
              <a:latin typeface="Arial"/>
              <a:ea typeface="Arial"/>
              <a:cs typeface="Arial"/>
              <a:sym typeface="Arial"/>
            </a:endParaRPr>
          </a:p>
        </p:txBody>
      </p:sp>
      <p:sp>
        <p:nvSpPr>
          <p:cNvPr id="137" name="Google Shape;137;p15"/>
          <p:cNvSpPr txBox="1"/>
          <p:nvPr>
            <p:ph idx="4" type="title"/>
          </p:nvPr>
        </p:nvSpPr>
        <p:spPr>
          <a:xfrm>
            <a:off x="3331525" y="2159925"/>
            <a:ext cx="2397900" cy="2121600"/>
          </a:xfrm>
          <a:prstGeom prst="rect">
            <a:avLst/>
          </a:prstGeom>
        </p:spPr>
        <p:txBody>
          <a:bodyPr anchorCtr="0" anchor="t" bIns="91425" lIns="91425" spcFirstLastPara="1" rIns="91425" wrap="square" tIns="91425">
            <a:normAutofit/>
          </a:bodyPr>
          <a:lstStyle>
            <a:lvl1pPr lvl="0" rtl="0">
              <a:spcBef>
                <a:spcPts val="0"/>
              </a:spcBef>
              <a:spcAft>
                <a:spcPts val="0"/>
              </a:spcAft>
              <a:buSzPts val="1000"/>
              <a:buFont typeface="Montserrat"/>
              <a:buNone/>
              <a:defRPr sz="1000">
                <a:latin typeface="Montserrat"/>
                <a:ea typeface="Montserrat"/>
                <a:cs typeface="Montserrat"/>
                <a:sym typeface="Montserrat"/>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38" name="Google Shape;138;p15"/>
          <p:cNvPicPr preferRelativeResize="0"/>
          <p:nvPr/>
        </p:nvPicPr>
        <p:blipFill rotWithShape="1">
          <a:blip r:embed="rId4">
            <a:alphaModFix/>
          </a:blip>
          <a:srcRect b="28576" l="0" r="0" t="30756"/>
          <a:stretch/>
        </p:blipFill>
        <p:spPr>
          <a:xfrm>
            <a:off x="432025" y="4610038"/>
            <a:ext cx="1665398" cy="478850"/>
          </a:xfrm>
          <a:prstGeom prst="rect">
            <a:avLst/>
          </a:prstGeom>
          <a:noFill/>
          <a:ln>
            <a:noFill/>
          </a:ln>
        </p:spPr>
      </p:pic>
    </p:spTree>
  </p:cSld>
  <p:clrMapOvr>
    <a:masterClrMapping/>
  </p:clrMapOvr>
  <p:extLst>
    <p:ext uri="{DCECCB84-F9BA-43D5-87BE-67443E8EF086}">
      <p15:sldGuideLst>
        <p15:guide id="1" pos="2832">
          <p15:clr>
            <a:srgbClr val="FA7B17"/>
          </p15:clr>
        </p15:guide>
      </p15:sldGuideLst>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3.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5.png"/><Relationship Id="rId4" Type="http://schemas.openxmlformats.org/officeDocument/2006/relationships/image" Target="../media/image8.png"/><Relationship Id="rId5"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4.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hyperlink" Target="https://dev.mysql.com/doc/refman/8.0/en/functions.html" TargetMode="Externa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hyperlink" Target="https://dev.mysql.com/doc/refman/8.0/en/mathematical-functions.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hyperlink" Target="https://dev.mysql.com/doc/refman/8.0/en/string-functions.html"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hyperlink" Target="https://dev.mysql.com/doc/refman/8.0/en/date-and-time-functions.html"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hyperlink" Target="https://dev.mysql.com/doc/refman/8.0/en/type-conversion.html" TargetMode="Externa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hyperlink" Target="https://www.campusmvp.es/recursos/post/Fundamentos-de-SQL-Agrupaciones-y-funciones-de-agregacion.aspx" TargetMode="External"/><Relationship Id="rId4" Type="http://schemas.openxmlformats.org/officeDocument/2006/relationships/hyperlink" Target="https://progrademia.com/curso/base-de-datos-mysql/" TargetMode="External"/><Relationship Id="rId5" Type="http://schemas.openxmlformats.org/officeDocument/2006/relationships/hyperlink" Target="https://progrademia.com/curso/sql-desde-cero/" TargetMode="External"/><Relationship Id="rId6" Type="http://schemas.openxmlformats.org/officeDocument/2006/relationships/hyperlink" Target="https://thedevelopmentstages.com/sql-having-y-where-las-diferencias-que-necesita-saber/" TargetMode="External"/><Relationship Id="rId7" Type="http://schemas.openxmlformats.org/officeDocument/2006/relationships/hyperlink" Target="https://www.youtube.com/playlist?list=PLIygiKpYTC_6_CGfKc2RlyHO9J442HI_z" TargetMode="External"/><Relationship Id="rId8" Type="http://schemas.openxmlformats.org/officeDocument/2006/relationships/hyperlink" Target="https://www.youtube.com/watch?v=EATv303tyck"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6"/>
          <p:cNvSpPr txBox="1"/>
          <p:nvPr/>
        </p:nvSpPr>
        <p:spPr>
          <a:xfrm>
            <a:off x="3335100" y="1617575"/>
            <a:ext cx="5497200" cy="13752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s" sz="3700">
                <a:solidFill>
                  <a:srgbClr val="000000"/>
                </a:solidFill>
                <a:latin typeface="Montserrat"/>
                <a:ea typeface="Montserrat"/>
                <a:cs typeface="Montserrat"/>
                <a:sym typeface="Montserrat"/>
              </a:rPr>
              <a:t>FULL STACK PYTHON</a:t>
            </a:r>
            <a:endParaRPr b="1" sz="3700">
              <a:solidFill>
                <a:srgbClr val="000000"/>
              </a:solidFill>
              <a:latin typeface="Montserrat"/>
              <a:ea typeface="Montserrat"/>
              <a:cs typeface="Montserrat"/>
              <a:sym typeface="Montserrat"/>
            </a:endParaRPr>
          </a:p>
          <a:p>
            <a:pPr indent="0" lvl="0" marL="0" rtl="0" algn="ctr">
              <a:spcBef>
                <a:spcPts val="0"/>
              </a:spcBef>
              <a:spcAft>
                <a:spcPts val="0"/>
              </a:spcAft>
              <a:buNone/>
            </a:pPr>
            <a:r>
              <a:rPr b="1" lang="es" sz="3700">
                <a:solidFill>
                  <a:srgbClr val="000000"/>
                </a:solidFill>
                <a:latin typeface="Montserrat"/>
                <a:ea typeface="Montserrat"/>
                <a:cs typeface="Montserrat"/>
                <a:sym typeface="Montserrat"/>
              </a:rPr>
              <a:t>Clase </a:t>
            </a:r>
            <a:r>
              <a:rPr b="1" lang="es" sz="3700">
                <a:latin typeface="Montserrat"/>
                <a:ea typeface="Montserrat"/>
                <a:cs typeface="Montserrat"/>
                <a:sym typeface="Montserrat"/>
              </a:rPr>
              <a:t>24</a:t>
            </a:r>
            <a:endParaRPr b="1" sz="3700">
              <a:solidFill>
                <a:srgbClr val="000000"/>
              </a:solidFill>
              <a:latin typeface="Montserrat"/>
              <a:ea typeface="Montserrat"/>
              <a:cs typeface="Montserrat"/>
              <a:sym typeface="Montserrat"/>
            </a:endParaRPr>
          </a:p>
        </p:txBody>
      </p:sp>
      <p:sp>
        <p:nvSpPr>
          <p:cNvPr id="144" name="Google Shape;144;p16"/>
          <p:cNvSpPr txBox="1"/>
          <p:nvPr/>
        </p:nvSpPr>
        <p:spPr>
          <a:xfrm>
            <a:off x="3335025" y="2986525"/>
            <a:ext cx="5534400" cy="792600"/>
          </a:xfrm>
          <a:prstGeom prst="rect">
            <a:avLst/>
          </a:prstGeom>
          <a:noFill/>
          <a:ln>
            <a:noFill/>
          </a:ln>
        </p:spPr>
        <p:txBody>
          <a:bodyPr anchorCtr="0" anchor="t" bIns="91425" lIns="91425" spcFirstLastPara="1" rIns="91425" wrap="square" tIns="91425">
            <a:normAutofit/>
          </a:bodyPr>
          <a:lstStyle/>
          <a:p>
            <a:pPr indent="0" lvl="0" marL="0" rtl="0" algn="ctr">
              <a:spcBef>
                <a:spcPts val="0"/>
              </a:spcBef>
              <a:spcAft>
                <a:spcPts val="0"/>
              </a:spcAft>
              <a:buNone/>
            </a:pPr>
            <a:r>
              <a:rPr lang="es" sz="2500">
                <a:solidFill>
                  <a:srgbClr val="595959"/>
                </a:solidFill>
                <a:latin typeface="Montserrat Medium"/>
                <a:ea typeface="Montserrat Medium"/>
                <a:cs typeface="Montserrat Medium"/>
                <a:sym typeface="Montserrat Medium"/>
              </a:rPr>
              <a:t>SQL 3</a:t>
            </a:r>
            <a:endParaRPr sz="2500">
              <a:solidFill>
                <a:srgbClr val="595959"/>
              </a:solidFill>
              <a:latin typeface="Montserrat Medium"/>
              <a:ea typeface="Montserrat Medium"/>
              <a:cs typeface="Montserrat Medium"/>
              <a:sym typeface="Montserrat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7"/>
          <p:cNvSpPr txBox="1"/>
          <p:nvPr>
            <p:ph type="ctrTitle"/>
          </p:nvPr>
        </p:nvSpPr>
        <p:spPr>
          <a:xfrm>
            <a:off x="311700" y="1226800"/>
            <a:ext cx="8520600" cy="15705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0" lang="es"/>
              <a:t>JOIN y Subconsultas</a:t>
            </a:r>
            <a:endParaRPr b="0"/>
          </a:p>
        </p:txBody>
      </p:sp>
      <p:sp>
        <p:nvSpPr>
          <p:cNvPr id="150" name="Google Shape;150;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151" name="Google Shape;151;p17"/>
          <p:cNvPicPr preferRelativeResize="0"/>
          <p:nvPr/>
        </p:nvPicPr>
        <p:blipFill>
          <a:blip r:embed="rId3">
            <a:alphaModFix/>
          </a:blip>
          <a:stretch>
            <a:fillRect/>
          </a:stretch>
        </p:blipFill>
        <p:spPr>
          <a:xfrm>
            <a:off x="4214825" y="2868475"/>
            <a:ext cx="714375" cy="7239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8"/>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Les damos la bienvenida</a:t>
            </a:r>
            <a:endParaRPr/>
          </a:p>
        </p:txBody>
      </p:sp>
      <p:sp>
        <p:nvSpPr>
          <p:cNvPr id="157" name="Google Shape;157;p1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s"/>
              <a:t>Vamos a comenzar a grabar la clase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9"/>
          <p:cNvSpPr txBox="1"/>
          <p:nvPr>
            <p:ph idx="2" type="title"/>
          </p:nvPr>
        </p:nvSpPr>
        <p:spPr>
          <a:xfrm>
            <a:off x="3938175" y="1159375"/>
            <a:ext cx="109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Clase 24</a:t>
            </a:r>
            <a:endParaRPr/>
          </a:p>
        </p:txBody>
      </p:sp>
      <p:sp>
        <p:nvSpPr>
          <p:cNvPr id="163" name="Google Shape;163;p19"/>
          <p:cNvSpPr txBox="1"/>
          <p:nvPr>
            <p:ph type="title"/>
          </p:nvPr>
        </p:nvSpPr>
        <p:spPr>
          <a:xfrm>
            <a:off x="1275675" y="1159375"/>
            <a:ext cx="91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s"/>
              <a:t>Clase 23</a:t>
            </a:r>
            <a:endParaRPr/>
          </a:p>
        </p:txBody>
      </p:sp>
      <p:sp>
        <p:nvSpPr>
          <p:cNvPr id="164" name="Google Shape;164;p19"/>
          <p:cNvSpPr txBox="1"/>
          <p:nvPr>
            <p:ph idx="3" type="title"/>
          </p:nvPr>
        </p:nvSpPr>
        <p:spPr>
          <a:xfrm>
            <a:off x="6877450" y="1159388"/>
            <a:ext cx="911700" cy="3006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78571"/>
              <a:buFont typeface="Arial"/>
              <a:buNone/>
            </a:pPr>
            <a:r>
              <a:rPr lang="es"/>
              <a:t>Clase 25</a:t>
            </a:r>
            <a:endParaRPr/>
          </a:p>
        </p:txBody>
      </p:sp>
      <p:sp>
        <p:nvSpPr>
          <p:cNvPr id="165" name="Google Shape;165;p19"/>
          <p:cNvSpPr txBox="1"/>
          <p:nvPr>
            <p:ph idx="4" type="title"/>
          </p:nvPr>
        </p:nvSpPr>
        <p:spPr>
          <a:xfrm>
            <a:off x="532575" y="2150850"/>
            <a:ext cx="2397900" cy="211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a:t>Lenguaje y Sublenguajes SQL</a:t>
            </a:r>
            <a:endParaRPr b="1"/>
          </a:p>
          <a:p>
            <a:pPr indent="0" lvl="0" marL="0" rtl="0" algn="l">
              <a:spcBef>
                <a:spcPts val="0"/>
              </a:spcBef>
              <a:spcAft>
                <a:spcPts val="0"/>
              </a:spcAft>
              <a:buNone/>
            </a:pPr>
            <a:r>
              <a:t/>
            </a:r>
            <a:endParaRPr b="1"/>
          </a:p>
          <a:p>
            <a:pPr indent="-285750" lvl="0" marL="457200" rtl="0" algn="l">
              <a:lnSpc>
                <a:spcPct val="115000"/>
              </a:lnSpc>
              <a:spcBef>
                <a:spcPts val="0"/>
              </a:spcBef>
              <a:spcAft>
                <a:spcPts val="0"/>
              </a:spcAft>
              <a:buSzPts val="900"/>
              <a:buChar char="●"/>
            </a:pPr>
            <a:r>
              <a:rPr lang="es" sz="900"/>
              <a:t>Gestión y manipulación de datos con SQL.</a:t>
            </a:r>
            <a:endParaRPr sz="900"/>
          </a:p>
          <a:p>
            <a:pPr indent="-285750" lvl="0" marL="457200" rtl="0" algn="l">
              <a:lnSpc>
                <a:spcPct val="115000"/>
              </a:lnSpc>
              <a:spcBef>
                <a:spcPts val="0"/>
              </a:spcBef>
              <a:spcAft>
                <a:spcPts val="0"/>
              </a:spcAft>
              <a:buSzPts val="900"/>
              <a:buChar char="●"/>
            </a:pPr>
            <a:r>
              <a:rPr lang="es" sz="900"/>
              <a:t>Gestión y manipulación de datos.</a:t>
            </a:r>
            <a:endParaRPr sz="900"/>
          </a:p>
          <a:p>
            <a:pPr indent="-285750" lvl="0" marL="457200" rtl="0" algn="l">
              <a:lnSpc>
                <a:spcPct val="115000"/>
              </a:lnSpc>
              <a:spcBef>
                <a:spcPts val="0"/>
              </a:spcBef>
              <a:spcAft>
                <a:spcPts val="0"/>
              </a:spcAft>
              <a:buSzPts val="900"/>
              <a:buChar char="●"/>
            </a:pPr>
            <a:r>
              <a:rPr lang="es" sz="900"/>
              <a:t>Sublenguajes DDL y DML.</a:t>
            </a:r>
            <a:endParaRPr sz="900"/>
          </a:p>
          <a:p>
            <a:pPr indent="-285750" lvl="0" marL="457200" rtl="0" algn="l">
              <a:lnSpc>
                <a:spcPct val="115000"/>
              </a:lnSpc>
              <a:spcBef>
                <a:spcPts val="0"/>
              </a:spcBef>
              <a:spcAft>
                <a:spcPts val="0"/>
              </a:spcAft>
              <a:buSzPts val="900"/>
              <a:buChar char="●"/>
            </a:pPr>
            <a:r>
              <a:rPr lang="es" sz="900"/>
              <a:t>Consultas: Estructura consulta SQL. Cláusulas SELECT, FROM, WHERE.</a:t>
            </a:r>
            <a:endParaRPr sz="900"/>
          </a:p>
          <a:p>
            <a:pPr indent="-285750" lvl="0" marL="457200" rtl="0" algn="l">
              <a:lnSpc>
                <a:spcPct val="115000"/>
              </a:lnSpc>
              <a:spcBef>
                <a:spcPts val="0"/>
              </a:spcBef>
              <a:spcAft>
                <a:spcPts val="0"/>
              </a:spcAft>
              <a:buSzPts val="900"/>
              <a:buChar char="●"/>
            </a:pPr>
            <a:r>
              <a:rPr lang="es" sz="900"/>
              <a:t>Alias y literales. ORDER BY.</a:t>
            </a:r>
            <a:endParaRPr b="1"/>
          </a:p>
        </p:txBody>
      </p:sp>
      <p:sp>
        <p:nvSpPr>
          <p:cNvPr id="166" name="Google Shape;166;p19"/>
          <p:cNvSpPr txBox="1"/>
          <p:nvPr>
            <p:ph idx="5" type="title"/>
          </p:nvPr>
        </p:nvSpPr>
        <p:spPr>
          <a:xfrm>
            <a:off x="6130475" y="2159925"/>
            <a:ext cx="2454900" cy="211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s"/>
              <a:t>Fundamentos de Python</a:t>
            </a:r>
            <a:endParaRPr b="1"/>
          </a:p>
          <a:p>
            <a:pPr indent="0" lvl="0" marL="0" rtl="0" algn="l">
              <a:spcBef>
                <a:spcPts val="0"/>
              </a:spcBef>
              <a:spcAft>
                <a:spcPts val="0"/>
              </a:spcAft>
              <a:buClr>
                <a:schemeClr val="dk1"/>
              </a:buClr>
              <a:buSzPts val="1100"/>
              <a:buFont typeface="Arial"/>
              <a:buNone/>
            </a:pPr>
            <a:r>
              <a:t/>
            </a:r>
            <a:endParaRPr b="1"/>
          </a:p>
          <a:p>
            <a:pPr indent="-285750" lvl="0" marL="457200" rtl="0" algn="l">
              <a:lnSpc>
                <a:spcPct val="115000"/>
              </a:lnSpc>
              <a:spcBef>
                <a:spcPts val="0"/>
              </a:spcBef>
              <a:spcAft>
                <a:spcPts val="0"/>
              </a:spcAft>
              <a:buSzPts val="900"/>
              <a:buChar char="●"/>
            </a:pPr>
            <a:r>
              <a:rPr lang="es" sz="900"/>
              <a:t>Introducción a Python.</a:t>
            </a:r>
            <a:endParaRPr sz="900"/>
          </a:p>
          <a:p>
            <a:pPr indent="-285750" lvl="0" marL="457200" rtl="0" algn="l">
              <a:lnSpc>
                <a:spcPct val="115000"/>
              </a:lnSpc>
              <a:spcBef>
                <a:spcPts val="0"/>
              </a:spcBef>
              <a:spcAft>
                <a:spcPts val="0"/>
              </a:spcAft>
              <a:buSzPts val="900"/>
              <a:buChar char="●"/>
            </a:pPr>
            <a:r>
              <a:rPr lang="es" sz="900"/>
              <a:t>Entorno. Hola mundo.</a:t>
            </a:r>
            <a:endParaRPr sz="900"/>
          </a:p>
          <a:p>
            <a:pPr indent="-285750" lvl="0" marL="457200" rtl="0" algn="l">
              <a:lnSpc>
                <a:spcPct val="115000"/>
              </a:lnSpc>
              <a:spcBef>
                <a:spcPts val="0"/>
              </a:spcBef>
              <a:spcAft>
                <a:spcPts val="0"/>
              </a:spcAft>
              <a:buSzPts val="900"/>
              <a:buChar char="●"/>
            </a:pPr>
            <a:r>
              <a:rPr lang="es" sz="900"/>
              <a:t>Salida por pantalla: print.</a:t>
            </a:r>
            <a:endParaRPr sz="900"/>
          </a:p>
          <a:p>
            <a:pPr indent="-285750" lvl="0" marL="457200" rtl="0" algn="l">
              <a:lnSpc>
                <a:spcPct val="115000"/>
              </a:lnSpc>
              <a:spcBef>
                <a:spcPts val="0"/>
              </a:spcBef>
              <a:spcAft>
                <a:spcPts val="0"/>
              </a:spcAft>
              <a:buSzPts val="900"/>
              <a:buChar char="●"/>
            </a:pPr>
            <a:r>
              <a:rPr lang="es" sz="900"/>
              <a:t>Lectura por teclado: input.</a:t>
            </a:r>
            <a:endParaRPr sz="900"/>
          </a:p>
          <a:p>
            <a:pPr indent="-285750" lvl="0" marL="457200" rtl="0" algn="l">
              <a:lnSpc>
                <a:spcPct val="115000"/>
              </a:lnSpc>
              <a:spcBef>
                <a:spcPts val="0"/>
              </a:spcBef>
              <a:spcAft>
                <a:spcPts val="0"/>
              </a:spcAft>
              <a:buSzPts val="900"/>
              <a:buChar char="●"/>
            </a:pPr>
            <a:r>
              <a:rPr lang="es" sz="900"/>
              <a:t>Tipo de datos: números enteros y flotantes, texto, booleanos.</a:t>
            </a:r>
            <a:endParaRPr sz="900"/>
          </a:p>
          <a:p>
            <a:pPr indent="-285750" lvl="0" marL="457200" rtl="0" algn="l">
              <a:lnSpc>
                <a:spcPct val="115000"/>
              </a:lnSpc>
              <a:spcBef>
                <a:spcPts val="0"/>
              </a:spcBef>
              <a:spcAft>
                <a:spcPts val="0"/>
              </a:spcAft>
              <a:buSzPts val="900"/>
              <a:buChar char="●"/>
            </a:pPr>
            <a:r>
              <a:rPr lang="es" sz="900"/>
              <a:t>Tipos de operadores.</a:t>
            </a:r>
            <a:endParaRPr sz="900"/>
          </a:p>
          <a:p>
            <a:pPr indent="-285750" lvl="0" marL="457200" rtl="0" algn="l">
              <a:lnSpc>
                <a:spcPct val="115000"/>
              </a:lnSpc>
              <a:spcBef>
                <a:spcPts val="0"/>
              </a:spcBef>
              <a:spcAft>
                <a:spcPts val="0"/>
              </a:spcAft>
              <a:buSzPts val="900"/>
              <a:buChar char="●"/>
            </a:pPr>
            <a:r>
              <a:rPr lang="es" sz="900"/>
              <a:t>Operadores aritméticos y de asignación.</a:t>
            </a:r>
            <a:endParaRPr sz="900"/>
          </a:p>
          <a:p>
            <a:pPr indent="-285750" lvl="0" marL="457200" rtl="0" algn="l">
              <a:lnSpc>
                <a:spcPct val="115000"/>
              </a:lnSpc>
              <a:spcBef>
                <a:spcPts val="0"/>
              </a:spcBef>
              <a:spcAft>
                <a:spcPts val="0"/>
              </a:spcAft>
              <a:buSzPts val="900"/>
              <a:buChar char="●"/>
            </a:pPr>
            <a:r>
              <a:rPr lang="es" sz="900"/>
              <a:t>Variables.</a:t>
            </a:r>
            <a:endParaRPr sz="900"/>
          </a:p>
        </p:txBody>
      </p:sp>
      <p:sp>
        <p:nvSpPr>
          <p:cNvPr id="167" name="Google Shape;167;p19"/>
          <p:cNvSpPr txBox="1"/>
          <p:nvPr>
            <p:ph idx="6" type="title"/>
          </p:nvPr>
        </p:nvSpPr>
        <p:spPr>
          <a:xfrm>
            <a:off x="3331525" y="2155125"/>
            <a:ext cx="2397900" cy="212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s"/>
              <a:t>JOIN y Subconsultas</a:t>
            </a:r>
            <a:endParaRPr b="1"/>
          </a:p>
          <a:p>
            <a:pPr indent="0" lvl="0" marL="0" rtl="0" algn="l">
              <a:spcBef>
                <a:spcPts val="0"/>
              </a:spcBef>
              <a:spcAft>
                <a:spcPts val="0"/>
              </a:spcAft>
              <a:buNone/>
            </a:pPr>
            <a:r>
              <a:t/>
            </a:r>
            <a:endParaRPr b="1"/>
          </a:p>
          <a:p>
            <a:pPr indent="-285750" lvl="0" marL="457200" rtl="0" algn="l">
              <a:lnSpc>
                <a:spcPct val="115000"/>
              </a:lnSpc>
              <a:spcBef>
                <a:spcPts val="0"/>
              </a:spcBef>
              <a:spcAft>
                <a:spcPts val="0"/>
              </a:spcAft>
              <a:buSzPts val="900"/>
              <a:buChar char="●"/>
            </a:pPr>
            <a:r>
              <a:rPr lang="es" sz="900"/>
              <a:t>JOIN: Inner, Left, Right.</a:t>
            </a:r>
            <a:endParaRPr sz="900"/>
          </a:p>
          <a:p>
            <a:pPr indent="-285750" lvl="0" marL="457200" rtl="0" algn="l">
              <a:lnSpc>
                <a:spcPct val="115000"/>
              </a:lnSpc>
              <a:spcBef>
                <a:spcPts val="0"/>
              </a:spcBef>
              <a:spcAft>
                <a:spcPts val="0"/>
              </a:spcAft>
              <a:buSzPts val="900"/>
              <a:buChar char="●"/>
            </a:pPr>
            <a:r>
              <a:rPr lang="es" sz="900"/>
              <a:t>Funciones de agregación, GROUP BY, HAVING.</a:t>
            </a:r>
            <a:endParaRPr sz="900"/>
          </a:p>
          <a:p>
            <a:pPr indent="-285750" lvl="0" marL="457200" rtl="0" algn="l">
              <a:lnSpc>
                <a:spcPct val="115000"/>
              </a:lnSpc>
              <a:spcBef>
                <a:spcPts val="0"/>
              </a:spcBef>
              <a:spcAft>
                <a:spcPts val="0"/>
              </a:spcAft>
              <a:buSzPts val="900"/>
              <a:buChar char="●"/>
            </a:pPr>
            <a:r>
              <a:rPr lang="es" sz="900"/>
              <a:t>Funciones escalares: Caracteres o cadena, Conversión, Fecha y tiempo, Matemáticas.</a:t>
            </a:r>
            <a:endParaRPr sz="900"/>
          </a:p>
          <a:p>
            <a:pPr indent="-285750" lvl="0" marL="457200" rtl="0" algn="l">
              <a:lnSpc>
                <a:spcPct val="115000"/>
              </a:lnSpc>
              <a:spcBef>
                <a:spcPts val="0"/>
              </a:spcBef>
              <a:spcAft>
                <a:spcPts val="0"/>
              </a:spcAft>
              <a:buSzPts val="900"/>
              <a:buChar char="●"/>
            </a:pPr>
            <a:r>
              <a:rPr lang="es" sz="900"/>
              <a:t>Subconsultas.</a:t>
            </a:r>
            <a:endParaRPr sz="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0"/>
          <p:cNvSpPr txBox="1"/>
          <p:nvPr>
            <p:ph type="ctrTitle"/>
          </p:nvPr>
        </p:nvSpPr>
        <p:spPr>
          <a:xfrm>
            <a:off x="550375" y="7600"/>
            <a:ext cx="8043300" cy="1570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s"/>
              <a:t>Cláusula JOIN</a:t>
            </a:r>
            <a:endParaRPr/>
          </a:p>
        </p:txBody>
      </p:sp>
      <p:sp>
        <p:nvSpPr>
          <p:cNvPr id="173" name="Google Shape;173;p20"/>
          <p:cNvSpPr txBox="1"/>
          <p:nvPr>
            <p:ph idx="1" type="subTitle"/>
          </p:nvPr>
        </p:nvSpPr>
        <p:spPr>
          <a:xfrm>
            <a:off x="550375" y="1614925"/>
            <a:ext cx="8043300" cy="264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La </a:t>
            </a:r>
            <a:r>
              <a:rPr lang="es"/>
              <a:t>cláusula </a:t>
            </a:r>
            <a:r>
              <a:rPr b="1" lang="es">
                <a:latin typeface="Montserrat"/>
                <a:ea typeface="Montserrat"/>
                <a:cs typeface="Montserrat"/>
                <a:sym typeface="Montserrat"/>
              </a:rPr>
              <a:t>JOIN </a:t>
            </a:r>
            <a:r>
              <a:rPr lang="es"/>
              <a:t>se utiliza para indicar la manera en que se relacionan las tablas, es decir, con qué atributos se está plasmando la relación entre ellas.</a:t>
            </a:r>
            <a:endParaRPr/>
          </a:p>
          <a:p>
            <a:pPr indent="0" lvl="0" marL="0" rtl="0" algn="l">
              <a:spcBef>
                <a:spcPts val="0"/>
              </a:spcBef>
              <a:spcAft>
                <a:spcPts val="0"/>
              </a:spcAft>
              <a:buNone/>
            </a:pPr>
            <a:r>
              <a:rPr lang="es"/>
              <a:t>Para unir las tablas vamos a necesitar un dato que relacione a ambas tablas, que las una.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1"/>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Cláusula JOIN</a:t>
            </a:r>
            <a:endParaRPr/>
          </a:p>
        </p:txBody>
      </p:sp>
      <p:sp>
        <p:nvSpPr>
          <p:cNvPr id="179" name="Google Shape;179;p21"/>
          <p:cNvSpPr txBox="1"/>
          <p:nvPr>
            <p:ph idx="1" type="body"/>
          </p:nvPr>
        </p:nvSpPr>
        <p:spPr>
          <a:xfrm>
            <a:off x="432025" y="1304875"/>
            <a:ext cx="8280000" cy="3318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1"/>
              </a:buClr>
              <a:buSzPct val="61111"/>
              <a:buFont typeface="Arial"/>
              <a:buNone/>
            </a:pPr>
            <a:r>
              <a:rPr lang="es"/>
              <a:t>Las relaciones son importantes para no duplicar datos. </a:t>
            </a:r>
            <a:r>
              <a:rPr i="1" lang="es"/>
              <a:t>Por ejemplo: si tenemos una tabla “escuelas” y existe un alumno que pertenece a una escuela no debemos repetir los datos de la escuela en la tabla alumnos.</a:t>
            </a:r>
            <a:endParaRPr i="1"/>
          </a:p>
          <a:p>
            <a:pPr indent="0" lvl="0" marL="0" rtl="0" algn="l">
              <a:spcBef>
                <a:spcPts val="1200"/>
              </a:spcBef>
              <a:spcAft>
                <a:spcPts val="0"/>
              </a:spcAft>
              <a:buNone/>
            </a:pPr>
            <a:r>
              <a:rPr lang="es"/>
              <a:t>Las tablas deben estar normalizadas, los datos deben estar almacenados en forma eficiente para poder hacer consultas más rápidas, para que la BD no ocupe más espacio del que podría y para que las tablas no tengan tantos campos.</a:t>
            </a:r>
            <a:endParaRPr/>
          </a:p>
          <a:p>
            <a:pPr indent="0" lvl="0" marL="0" rtl="0" algn="l">
              <a:spcBef>
                <a:spcPts val="1200"/>
              </a:spcBef>
              <a:spcAft>
                <a:spcPts val="0"/>
              </a:spcAft>
              <a:buClr>
                <a:schemeClr val="dk1"/>
              </a:buClr>
              <a:buSzPct val="61111"/>
              <a:buFont typeface="Arial"/>
              <a:buNone/>
            </a:pPr>
            <a:r>
              <a:rPr lang="es">
                <a:latin typeface="Consolas"/>
                <a:ea typeface="Consolas"/>
                <a:cs typeface="Consolas"/>
                <a:sym typeface="Consolas"/>
              </a:rPr>
              <a:t>SELECT campo1, campo2, ...,campoN FROM tabla1</a:t>
            </a:r>
            <a:endParaRPr>
              <a:latin typeface="Consolas"/>
              <a:ea typeface="Consolas"/>
              <a:cs typeface="Consolas"/>
              <a:sym typeface="Consolas"/>
            </a:endParaRPr>
          </a:p>
          <a:p>
            <a:pPr indent="0" lvl="0" marL="0" rtl="0" algn="l">
              <a:spcBef>
                <a:spcPts val="1200"/>
              </a:spcBef>
              <a:spcAft>
                <a:spcPts val="0"/>
              </a:spcAft>
              <a:buClr>
                <a:schemeClr val="dk1"/>
              </a:buClr>
              <a:buSzPct val="61111"/>
              <a:buFont typeface="Arial"/>
              <a:buNone/>
            </a:pPr>
            <a:r>
              <a:rPr lang="es">
                <a:latin typeface="Consolas"/>
                <a:ea typeface="Consolas"/>
                <a:cs typeface="Consolas"/>
                <a:sym typeface="Consolas"/>
              </a:rPr>
              <a:t>	JOIN tabla2 ON tabla1.campo1 = tabla2.campo2</a:t>
            </a:r>
            <a:endParaRPr>
              <a:latin typeface="Consolas"/>
              <a:ea typeface="Consolas"/>
              <a:cs typeface="Consolas"/>
              <a:sym typeface="Consolas"/>
            </a:endParaRPr>
          </a:p>
          <a:p>
            <a:pPr indent="0" lvl="0" marL="0" rtl="0" algn="l">
              <a:spcBef>
                <a:spcPts val="1200"/>
              </a:spcBef>
              <a:spcAft>
                <a:spcPts val="1200"/>
              </a:spcAft>
              <a:buNone/>
            </a:pPr>
            <a:r>
              <a:rPr lang="es">
                <a:latin typeface="Consolas"/>
                <a:ea typeface="Consolas"/>
                <a:cs typeface="Consolas"/>
                <a:sym typeface="Consolas"/>
              </a:rPr>
              <a:t>	JOIN tabla3 ON tabla2.campo3 = tabla3.campo4</a:t>
            </a:r>
            <a:endParaRPr>
              <a:latin typeface="Consolas"/>
              <a:ea typeface="Consolas"/>
              <a:cs typeface="Consolas"/>
              <a:sym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2"/>
          <p:cNvSpPr txBox="1"/>
          <p:nvPr>
            <p:ph type="title"/>
          </p:nvPr>
        </p:nvSpPr>
        <p:spPr>
          <a:xfrm>
            <a:off x="311700" y="-12175"/>
            <a:ext cx="7749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SQL JOINS</a:t>
            </a:r>
            <a:endParaRPr/>
          </a:p>
        </p:txBody>
      </p:sp>
      <p:pic>
        <p:nvPicPr>
          <p:cNvPr id="185" name="Google Shape;185;p22"/>
          <p:cNvPicPr preferRelativeResize="0"/>
          <p:nvPr/>
        </p:nvPicPr>
        <p:blipFill>
          <a:blip r:embed="rId3">
            <a:alphaModFix/>
          </a:blip>
          <a:stretch>
            <a:fillRect/>
          </a:stretch>
        </p:blipFill>
        <p:spPr>
          <a:xfrm>
            <a:off x="2359188" y="290725"/>
            <a:ext cx="4425625" cy="45620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3"/>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INNER JOIN</a:t>
            </a:r>
            <a:endParaRPr/>
          </a:p>
        </p:txBody>
      </p:sp>
      <p:sp>
        <p:nvSpPr>
          <p:cNvPr id="191" name="Google Shape;191;p23"/>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marR="1347666" rtl="0" algn="l">
              <a:lnSpc>
                <a:spcPct val="115000"/>
              </a:lnSpc>
              <a:spcBef>
                <a:spcPts val="0"/>
              </a:spcBef>
              <a:spcAft>
                <a:spcPts val="0"/>
              </a:spcAft>
              <a:buNone/>
            </a:pPr>
            <a:r>
              <a:rPr b="1" lang="es" sz="1650"/>
              <a:t>INNER JOIN </a:t>
            </a:r>
            <a:r>
              <a:rPr lang="es" sz="1650"/>
              <a:t>traerá solamente los registros que coincidan entre ambas tablas. Por ejemplo: si una escuela no tiene alumnos relacionados esa consulta no los traerá, del mismo modo si un alumno no tiene asignada una escuela tampoco lo mostrará.</a:t>
            </a:r>
            <a:endParaRPr sz="1650"/>
          </a:p>
          <a:p>
            <a:pPr indent="0" lvl="0" marL="0" rtl="0" algn="l">
              <a:lnSpc>
                <a:spcPct val="115000"/>
              </a:lnSpc>
              <a:spcBef>
                <a:spcPts val="1200"/>
              </a:spcBef>
              <a:spcAft>
                <a:spcPts val="1200"/>
              </a:spcAft>
              <a:buNone/>
            </a:pPr>
            <a:r>
              <a:t/>
            </a:r>
            <a:endParaRPr sz="1650"/>
          </a:p>
        </p:txBody>
      </p:sp>
      <p:pic>
        <p:nvPicPr>
          <p:cNvPr id="192" name="Google Shape;192;p23"/>
          <p:cNvPicPr preferRelativeResize="0"/>
          <p:nvPr/>
        </p:nvPicPr>
        <p:blipFill>
          <a:blip r:embed="rId3">
            <a:alphaModFix/>
          </a:blip>
          <a:stretch>
            <a:fillRect/>
          </a:stretch>
        </p:blipFill>
        <p:spPr>
          <a:xfrm>
            <a:off x="1601700" y="2610250"/>
            <a:ext cx="5923200" cy="1146750"/>
          </a:xfrm>
          <a:prstGeom prst="rect">
            <a:avLst/>
          </a:prstGeom>
          <a:noFill/>
          <a:ln>
            <a:noFill/>
          </a:ln>
        </p:spPr>
      </p:pic>
      <p:sp>
        <p:nvSpPr>
          <p:cNvPr id="193" name="Google Shape;193;p23"/>
          <p:cNvSpPr txBox="1"/>
          <p:nvPr>
            <p:ph idx="1" type="body"/>
          </p:nvPr>
        </p:nvSpPr>
        <p:spPr>
          <a:xfrm>
            <a:off x="1601700" y="3805100"/>
            <a:ext cx="5923200" cy="817800"/>
          </a:xfrm>
          <a:prstGeom prst="rect">
            <a:avLst/>
          </a:prstGeom>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1200"/>
              </a:spcAft>
              <a:buNone/>
            </a:pPr>
            <a:r>
              <a:rPr i="1" lang="es" sz="1250"/>
              <a:t>Dentro del INNER JOIN establecemos que para la tabla </a:t>
            </a:r>
            <a:r>
              <a:rPr b="1" i="1" lang="es" sz="1250"/>
              <a:t>escuelas </a:t>
            </a:r>
            <a:r>
              <a:rPr i="1" lang="es" sz="1250"/>
              <a:t>el campo </a:t>
            </a:r>
            <a:r>
              <a:rPr b="1" i="1" lang="es" sz="1250"/>
              <a:t>id </a:t>
            </a:r>
            <a:r>
              <a:rPr i="1" lang="es" sz="1250"/>
              <a:t>está</a:t>
            </a:r>
            <a:r>
              <a:rPr b="1" i="1" lang="es" sz="1250"/>
              <a:t> </a:t>
            </a:r>
            <a:r>
              <a:rPr i="1" lang="es" sz="1250"/>
              <a:t>relacionado con el campo </a:t>
            </a:r>
            <a:r>
              <a:rPr i="1" lang="es" sz="1250"/>
              <a:t>el campo </a:t>
            </a:r>
            <a:r>
              <a:rPr b="1" i="1" lang="es" sz="1250"/>
              <a:t>id_escuela</a:t>
            </a:r>
            <a:r>
              <a:rPr i="1" lang="es" sz="1250"/>
              <a:t> de la tabla alumnos.</a:t>
            </a:r>
            <a:endParaRPr i="1" sz="1550"/>
          </a:p>
        </p:txBody>
      </p:sp>
      <p:pic>
        <p:nvPicPr>
          <p:cNvPr id="194" name="Google Shape;194;p23"/>
          <p:cNvPicPr preferRelativeResize="0"/>
          <p:nvPr/>
        </p:nvPicPr>
        <p:blipFill>
          <a:blip r:embed="rId4">
            <a:alphaModFix/>
          </a:blip>
          <a:stretch>
            <a:fillRect/>
          </a:stretch>
        </p:blipFill>
        <p:spPr>
          <a:xfrm>
            <a:off x="7304400" y="1304875"/>
            <a:ext cx="1407575" cy="9689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4"/>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LEFT </a:t>
            </a:r>
            <a:r>
              <a:rPr lang="es"/>
              <a:t>JOIN</a:t>
            </a:r>
            <a:endParaRPr/>
          </a:p>
        </p:txBody>
      </p:sp>
      <p:sp>
        <p:nvSpPr>
          <p:cNvPr id="200" name="Google Shape;200;p24"/>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marR="1347666" rtl="0" algn="l">
              <a:lnSpc>
                <a:spcPct val="115000"/>
              </a:lnSpc>
              <a:spcBef>
                <a:spcPts val="0"/>
              </a:spcBef>
              <a:spcAft>
                <a:spcPts val="1200"/>
              </a:spcAft>
              <a:buNone/>
            </a:pPr>
            <a:r>
              <a:rPr b="1" lang="es" sz="1650"/>
              <a:t>LEFT JOIN </a:t>
            </a:r>
            <a:r>
              <a:rPr lang="es" sz="1650"/>
              <a:t>tiene como condición que figure en, al menos una tabla. Left indica que va a tomar como tabla principal la de la izquierda. De esa tabla muestra todos los registros, sin importar si tiene registros asociados en la otra tabla.</a:t>
            </a:r>
            <a:endParaRPr sz="1650"/>
          </a:p>
        </p:txBody>
      </p:sp>
      <p:sp>
        <p:nvSpPr>
          <p:cNvPr id="201" name="Google Shape;201;p24"/>
          <p:cNvSpPr txBox="1"/>
          <p:nvPr>
            <p:ph idx="1" type="body"/>
          </p:nvPr>
        </p:nvSpPr>
        <p:spPr>
          <a:xfrm>
            <a:off x="3069175" y="3531625"/>
            <a:ext cx="4092000" cy="817800"/>
          </a:xfrm>
          <a:prstGeom prst="rect">
            <a:avLst/>
          </a:prstGeom>
        </p:spPr>
        <p:txBody>
          <a:bodyPr anchorCtr="0" anchor="b" bIns="91425" lIns="91425" spcFirstLastPara="1" rIns="91425" wrap="square" tIns="91425">
            <a:normAutofit/>
          </a:bodyPr>
          <a:lstStyle/>
          <a:p>
            <a:pPr indent="0" lvl="0" marL="0" rtl="0" algn="r">
              <a:lnSpc>
                <a:spcPct val="115000"/>
              </a:lnSpc>
              <a:spcBef>
                <a:spcPts val="0"/>
              </a:spcBef>
              <a:spcAft>
                <a:spcPts val="0"/>
              </a:spcAft>
              <a:buNone/>
            </a:pPr>
            <a:r>
              <a:rPr i="1" lang="es" sz="1250"/>
              <a:t>El último alumno no tiene escuela asociada o tiene una escuela asociada que no existe.</a:t>
            </a:r>
            <a:endParaRPr i="1" sz="1550"/>
          </a:p>
        </p:txBody>
      </p:sp>
      <p:pic>
        <p:nvPicPr>
          <p:cNvPr id="202" name="Google Shape;202;p24"/>
          <p:cNvPicPr preferRelativeResize="0"/>
          <p:nvPr/>
        </p:nvPicPr>
        <p:blipFill>
          <a:blip r:embed="rId3">
            <a:alphaModFix/>
          </a:blip>
          <a:stretch>
            <a:fillRect/>
          </a:stretch>
        </p:blipFill>
        <p:spPr>
          <a:xfrm>
            <a:off x="432025" y="2562650"/>
            <a:ext cx="7375599" cy="968975"/>
          </a:xfrm>
          <a:prstGeom prst="rect">
            <a:avLst/>
          </a:prstGeom>
          <a:noFill/>
          <a:ln>
            <a:noFill/>
          </a:ln>
        </p:spPr>
      </p:pic>
      <p:pic>
        <p:nvPicPr>
          <p:cNvPr id="203" name="Google Shape;203;p24"/>
          <p:cNvPicPr preferRelativeResize="0"/>
          <p:nvPr/>
        </p:nvPicPr>
        <p:blipFill rotWithShape="1">
          <a:blip r:embed="rId4">
            <a:alphaModFix/>
          </a:blip>
          <a:srcRect b="0" l="5292" r="5149" t="0"/>
          <a:stretch/>
        </p:blipFill>
        <p:spPr>
          <a:xfrm>
            <a:off x="7304450" y="1304875"/>
            <a:ext cx="1407575" cy="984312"/>
          </a:xfrm>
          <a:prstGeom prst="rect">
            <a:avLst/>
          </a:prstGeom>
          <a:noFill/>
          <a:ln>
            <a:noFill/>
          </a:ln>
        </p:spPr>
      </p:pic>
      <p:pic>
        <p:nvPicPr>
          <p:cNvPr id="204" name="Google Shape;204;p24"/>
          <p:cNvPicPr preferRelativeResize="0"/>
          <p:nvPr/>
        </p:nvPicPr>
        <p:blipFill>
          <a:blip r:embed="rId5">
            <a:alphaModFix/>
          </a:blip>
          <a:stretch>
            <a:fillRect/>
          </a:stretch>
        </p:blipFill>
        <p:spPr>
          <a:xfrm>
            <a:off x="7090226" y="2865650"/>
            <a:ext cx="1621800" cy="1367975"/>
          </a:xfrm>
          <a:prstGeom prst="rect">
            <a:avLst/>
          </a:prstGeom>
          <a:noFill/>
          <a:ln>
            <a:noFill/>
          </a:ln>
        </p:spPr>
      </p:pic>
      <p:sp>
        <p:nvSpPr>
          <p:cNvPr id="205" name="Google Shape;205;p24"/>
          <p:cNvSpPr/>
          <p:nvPr/>
        </p:nvSpPr>
        <p:spPr>
          <a:xfrm>
            <a:off x="7170300" y="4063175"/>
            <a:ext cx="1472400" cy="170400"/>
          </a:xfrm>
          <a:prstGeom prst="rect">
            <a:avLst/>
          </a:prstGeom>
          <a:noFill/>
          <a:ln cap="flat" cmpd="sng" w="28575">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5"/>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RIGHT </a:t>
            </a:r>
            <a:r>
              <a:rPr lang="es"/>
              <a:t>JOIN</a:t>
            </a:r>
            <a:endParaRPr/>
          </a:p>
        </p:txBody>
      </p:sp>
      <p:sp>
        <p:nvSpPr>
          <p:cNvPr id="211" name="Google Shape;211;p25"/>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marR="1347666" rtl="0" algn="l">
              <a:lnSpc>
                <a:spcPct val="115000"/>
              </a:lnSpc>
              <a:spcBef>
                <a:spcPts val="0"/>
              </a:spcBef>
              <a:spcAft>
                <a:spcPts val="1200"/>
              </a:spcAft>
              <a:buNone/>
            </a:pPr>
            <a:r>
              <a:rPr b="1" lang="es" sz="1650"/>
              <a:t>RIGHT</a:t>
            </a:r>
            <a:r>
              <a:rPr b="1" lang="es" sz="1650"/>
              <a:t> JOIN </a:t>
            </a:r>
            <a:r>
              <a:rPr lang="es" sz="1650"/>
              <a:t>tiene como condición que figure en, al menos una tabla. Right  indica que va a tomar como tabla principal la de la derecha. De esa tabla muestra todos los registros, sin importar si tiene registros asociados en la otra tabla.</a:t>
            </a:r>
            <a:endParaRPr sz="1650"/>
          </a:p>
        </p:txBody>
      </p:sp>
      <p:sp>
        <p:nvSpPr>
          <p:cNvPr id="212" name="Google Shape;212;p25"/>
          <p:cNvSpPr txBox="1"/>
          <p:nvPr>
            <p:ph idx="1" type="body"/>
          </p:nvPr>
        </p:nvSpPr>
        <p:spPr>
          <a:xfrm>
            <a:off x="1233525" y="3560300"/>
            <a:ext cx="4682700" cy="817800"/>
          </a:xfrm>
          <a:prstGeom prst="rect">
            <a:avLst/>
          </a:prstGeom>
        </p:spPr>
        <p:txBody>
          <a:bodyPr anchorCtr="0" anchor="b" bIns="91425" lIns="91425" spcFirstLastPara="1" rIns="91425" wrap="square" tIns="91425">
            <a:normAutofit/>
          </a:bodyPr>
          <a:lstStyle/>
          <a:p>
            <a:pPr indent="0" lvl="0" marL="0" rtl="0" algn="r">
              <a:lnSpc>
                <a:spcPct val="115000"/>
              </a:lnSpc>
              <a:spcBef>
                <a:spcPts val="0"/>
              </a:spcBef>
              <a:spcAft>
                <a:spcPts val="0"/>
              </a:spcAft>
              <a:buNone/>
            </a:pPr>
            <a:r>
              <a:rPr i="1" lang="es" sz="1250"/>
              <a:t>Los últimos dos alumnos no tienen escuela asignada o tienen una escuela asignada que no existe.</a:t>
            </a:r>
            <a:endParaRPr i="1" sz="1250"/>
          </a:p>
        </p:txBody>
      </p:sp>
      <p:pic>
        <p:nvPicPr>
          <p:cNvPr id="213" name="Google Shape;213;p25"/>
          <p:cNvPicPr preferRelativeResize="0"/>
          <p:nvPr/>
        </p:nvPicPr>
        <p:blipFill>
          <a:blip r:embed="rId3">
            <a:alphaModFix/>
          </a:blip>
          <a:stretch>
            <a:fillRect/>
          </a:stretch>
        </p:blipFill>
        <p:spPr>
          <a:xfrm>
            <a:off x="533950" y="2569675"/>
            <a:ext cx="6081850" cy="880525"/>
          </a:xfrm>
          <a:prstGeom prst="rect">
            <a:avLst/>
          </a:prstGeom>
          <a:noFill/>
          <a:ln>
            <a:noFill/>
          </a:ln>
        </p:spPr>
      </p:pic>
      <p:pic>
        <p:nvPicPr>
          <p:cNvPr id="214" name="Google Shape;214;p25"/>
          <p:cNvPicPr preferRelativeResize="0"/>
          <p:nvPr/>
        </p:nvPicPr>
        <p:blipFill>
          <a:blip r:embed="rId4">
            <a:alphaModFix/>
          </a:blip>
          <a:stretch>
            <a:fillRect/>
          </a:stretch>
        </p:blipFill>
        <p:spPr>
          <a:xfrm>
            <a:off x="5918875" y="2952350"/>
            <a:ext cx="2896026" cy="1275536"/>
          </a:xfrm>
          <a:prstGeom prst="rect">
            <a:avLst/>
          </a:prstGeom>
          <a:noFill/>
          <a:ln>
            <a:noFill/>
          </a:ln>
        </p:spPr>
      </p:pic>
      <p:sp>
        <p:nvSpPr>
          <p:cNvPr id="215" name="Google Shape;215;p25"/>
          <p:cNvSpPr/>
          <p:nvPr/>
        </p:nvSpPr>
        <p:spPr>
          <a:xfrm>
            <a:off x="6014375" y="3906727"/>
            <a:ext cx="2656800" cy="292800"/>
          </a:xfrm>
          <a:prstGeom prst="rect">
            <a:avLst/>
          </a:prstGeom>
          <a:noFill/>
          <a:ln cap="flat" cmpd="sng" w="28575">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16" name="Google Shape;216;p25"/>
          <p:cNvPicPr preferRelativeResize="0"/>
          <p:nvPr/>
        </p:nvPicPr>
        <p:blipFill rotWithShape="1">
          <a:blip r:embed="rId5">
            <a:alphaModFix/>
          </a:blip>
          <a:srcRect b="0" l="6346" r="5872" t="0"/>
          <a:stretch/>
        </p:blipFill>
        <p:spPr>
          <a:xfrm>
            <a:off x="7407335" y="1170125"/>
            <a:ext cx="1407565" cy="984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6"/>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s" sz="1500"/>
              <a:t>Las </a:t>
            </a:r>
            <a:r>
              <a:rPr b="1" lang="es" sz="1500"/>
              <a:t>funciones de agregación </a:t>
            </a:r>
            <a:r>
              <a:rPr lang="es" sz="1500"/>
              <a:t>más comunes disponibles en el lenguaje son: SUM, AVG, MAX, MIN, COUNT. La sintaxis del uso de las funciones agregadas es la siguiente:</a:t>
            </a:r>
            <a:endParaRPr sz="1500"/>
          </a:p>
          <a:p>
            <a:pPr indent="0" lvl="0" marL="457200" rtl="0" algn="l">
              <a:lnSpc>
                <a:spcPct val="105000"/>
              </a:lnSpc>
              <a:spcBef>
                <a:spcPts val="1200"/>
              </a:spcBef>
              <a:spcAft>
                <a:spcPts val="0"/>
              </a:spcAft>
              <a:buNone/>
            </a:pPr>
            <a:r>
              <a:rPr lang="es" sz="1500">
                <a:latin typeface="Consolas"/>
                <a:ea typeface="Consolas"/>
                <a:cs typeface="Consolas"/>
                <a:sym typeface="Consolas"/>
              </a:rPr>
              <a:t>SELECT &lt;lista de campos&gt;, función agregada</a:t>
            </a:r>
            <a:endParaRPr sz="1500">
              <a:latin typeface="Consolas"/>
              <a:ea typeface="Consolas"/>
              <a:cs typeface="Consolas"/>
              <a:sym typeface="Consolas"/>
            </a:endParaRPr>
          </a:p>
          <a:p>
            <a:pPr indent="0" lvl="0" marL="457200" rtl="0" algn="l">
              <a:lnSpc>
                <a:spcPct val="105000"/>
              </a:lnSpc>
              <a:spcBef>
                <a:spcPts val="0"/>
              </a:spcBef>
              <a:spcAft>
                <a:spcPts val="0"/>
              </a:spcAft>
              <a:buNone/>
            </a:pPr>
            <a:r>
              <a:rPr lang="es" sz="1500">
                <a:latin typeface="Consolas"/>
                <a:ea typeface="Consolas"/>
                <a:cs typeface="Consolas"/>
                <a:sym typeface="Consolas"/>
              </a:rPr>
              <a:t>FROM &lt;tabla1 JOIN tabla2 ON….&gt;</a:t>
            </a:r>
            <a:endParaRPr sz="1500">
              <a:latin typeface="Consolas"/>
              <a:ea typeface="Consolas"/>
              <a:cs typeface="Consolas"/>
              <a:sym typeface="Consolas"/>
            </a:endParaRPr>
          </a:p>
          <a:p>
            <a:pPr indent="0" lvl="0" marL="457200" rtl="0" algn="l">
              <a:lnSpc>
                <a:spcPct val="105000"/>
              </a:lnSpc>
              <a:spcBef>
                <a:spcPts val="0"/>
              </a:spcBef>
              <a:spcAft>
                <a:spcPts val="0"/>
              </a:spcAft>
              <a:buNone/>
            </a:pPr>
            <a:r>
              <a:rPr lang="es" sz="1500">
                <a:latin typeface="Consolas"/>
                <a:ea typeface="Consolas"/>
                <a:cs typeface="Consolas"/>
                <a:sym typeface="Consolas"/>
              </a:rPr>
              <a:t>GROUP BY &lt;lista de campos&gt;</a:t>
            </a:r>
            <a:endParaRPr sz="1500">
              <a:latin typeface="Consolas"/>
              <a:ea typeface="Consolas"/>
              <a:cs typeface="Consolas"/>
              <a:sym typeface="Consolas"/>
            </a:endParaRPr>
          </a:p>
          <a:p>
            <a:pPr indent="0" lvl="0" marL="457200" rtl="0" algn="l">
              <a:lnSpc>
                <a:spcPct val="105000"/>
              </a:lnSpc>
              <a:spcBef>
                <a:spcPts val="0"/>
              </a:spcBef>
              <a:spcAft>
                <a:spcPts val="0"/>
              </a:spcAft>
              <a:buNone/>
            </a:pPr>
            <a:r>
              <a:rPr lang="es" sz="1500">
                <a:latin typeface="Consolas"/>
                <a:ea typeface="Consolas"/>
                <a:cs typeface="Consolas"/>
                <a:sym typeface="Consolas"/>
              </a:rPr>
              <a:t>[HAVING función agregada &lt;condición&gt;]</a:t>
            </a:r>
            <a:endParaRPr sz="1500">
              <a:latin typeface="Consolas"/>
              <a:ea typeface="Consolas"/>
              <a:cs typeface="Consolas"/>
              <a:sym typeface="Consolas"/>
            </a:endParaRPr>
          </a:p>
          <a:p>
            <a:pPr indent="0" lvl="0" marL="0" rtl="0" algn="l">
              <a:lnSpc>
                <a:spcPct val="105000"/>
              </a:lnSpc>
              <a:spcBef>
                <a:spcPts val="1000"/>
              </a:spcBef>
              <a:spcAft>
                <a:spcPts val="1200"/>
              </a:spcAft>
              <a:buNone/>
            </a:pPr>
            <a:r>
              <a:rPr lang="es" sz="1500"/>
              <a:t>Reúnen</a:t>
            </a:r>
            <a:r>
              <a:rPr lang="es" sz="1500"/>
              <a:t> un conjunto de registros para </a:t>
            </a:r>
            <a:r>
              <a:rPr b="1" lang="es" sz="1500"/>
              <a:t>agrupar los datos </a:t>
            </a:r>
            <a:r>
              <a:rPr lang="es" sz="1500"/>
              <a:t>y llevar a cabo la operación en cuestión (suma, promedio, cuenta, etc), de ahí la necesidad de la cláusula </a:t>
            </a:r>
            <a:r>
              <a:rPr b="1" lang="es" sz="1500"/>
              <a:t>GROUP BY</a:t>
            </a:r>
            <a:r>
              <a:rPr lang="es" sz="1500"/>
              <a:t>.</a:t>
            </a:r>
            <a:endParaRPr sz="1500"/>
          </a:p>
        </p:txBody>
      </p:sp>
      <p:sp>
        <p:nvSpPr>
          <p:cNvPr id="222" name="Google Shape;222;p2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Funciones de agregación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7"/>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Uso de funciones agregadas</a:t>
            </a:r>
            <a:endParaRPr/>
          </a:p>
        </p:txBody>
      </p:sp>
      <p:sp>
        <p:nvSpPr>
          <p:cNvPr id="228" name="Google Shape;228;p27"/>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s" sz="1500"/>
              <a:t>La </a:t>
            </a:r>
            <a:r>
              <a:rPr i="1" lang="es" sz="1500"/>
              <a:t>lista de campos</a:t>
            </a:r>
            <a:r>
              <a:rPr lang="es" sz="1500"/>
              <a:t> en el GROUP BY y en el SELECT es la misma. Si no hay una lista de campos significa que vamos a obtener una suma total, por lo tanto la cláusula GROUP BY tampoco es necesaria.</a:t>
            </a:r>
            <a:br>
              <a:rPr lang="es" sz="1500"/>
            </a:br>
            <a:r>
              <a:rPr lang="es" sz="1500"/>
              <a:t>Estas cláusulas se utilizan conjuntamente con el SELECT ya que siempre van asociadas a una consulta.</a:t>
            </a:r>
            <a:endParaRPr sz="1500"/>
          </a:p>
          <a:p>
            <a:pPr indent="0" lvl="0" marL="0" rtl="0" algn="l">
              <a:lnSpc>
                <a:spcPct val="105000"/>
              </a:lnSpc>
              <a:spcBef>
                <a:spcPts val="1200"/>
              </a:spcBef>
              <a:spcAft>
                <a:spcPts val="0"/>
              </a:spcAft>
              <a:buNone/>
            </a:pPr>
            <a:r>
              <a:rPr b="1" lang="es" sz="1500"/>
              <a:t>Ejemplo:</a:t>
            </a:r>
            <a:r>
              <a:rPr lang="es" sz="1500"/>
              <a:t> uso de </a:t>
            </a:r>
            <a:r>
              <a:rPr lang="es" sz="1500"/>
              <a:t>función</a:t>
            </a:r>
            <a:r>
              <a:rPr lang="es" sz="1500"/>
              <a:t> </a:t>
            </a:r>
            <a:r>
              <a:rPr b="1" lang="es" sz="1500"/>
              <a:t>SUM</a:t>
            </a:r>
            <a:endParaRPr b="1" sz="1500"/>
          </a:p>
          <a:p>
            <a:pPr indent="457200" lvl="0" marL="0" rtl="0" algn="l">
              <a:lnSpc>
                <a:spcPct val="105000"/>
              </a:lnSpc>
              <a:spcBef>
                <a:spcPts val="1200"/>
              </a:spcBef>
              <a:spcAft>
                <a:spcPts val="1200"/>
              </a:spcAft>
              <a:buNone/>
            </a:pPr>
            <a:r>
              <a:rPr lang="es" sz="1500">
                <a:latin typeface="Consolas"/>
                <a:ea typeface="Consolas"/>
                <a:cs typeface="Consolas"/>
                <a:sym typeface="Consolas"/>
              </a:rPr>
              <a:t>SELECT SUM(cant*pr.precio)</a:t>
            </a:r>
            <a:br>
              <a:rPr lang="es" sz="1500">
                <a:latin typeface="Consolas"/>
                <a:ea typeface="Consolas"/>
                <a:cs typeface="Consolas"/>
                <a:sym typeface="Consolas"/>
              </a:rPr>
            </a:br>
            <a:r>
              <a:rPr lang="es" sz="1500">
                <a:latin typeface="Consolas"/>
                <a:ea typeface="Consolas"/>
                <a:cs typeface="Consolas"/>
                <a:sym typeface="Consolas"/>
              </a:rPr>
              <a:t>	FROM pedidos_productos pp  </a:t>
            </a:r>
            <a:br>
              <a:rPr lang="es" sz="1500">
                <a:latin typeface="Consolas"/>
                <a:ea typeface="Consolas"/>
                <a:cs typeface="Consolas"/>
                <a:sym typeface="Consolas"/>
              </a:rPr>
            </a:br>
            <a:r>
              <a:rPr lang="es" sz="1500">
                <a:latin typeface="Consolas"/>
                <a:ea typeface="Consolas"/>
                <a:cs typeface="Consolas"/>
                <a:sym typeface="Consolas"/>
              </a:rPr>
              <a:t>	    JOIN productos pr ON pp.codproducto=pr.codigo</a:t>
            </a:r>
            <a:br>
              <a:rPr lang="es" sz="1500">
                <a:latin typeface="Consolas"/>
                <a:ea typeface="Consolas"/>
                <a:cs typeface="Consolas"/>
                <a:sym typeface="Consolas"/>
              </a:rPr>
            </a:br>
            <a:r>
              <a:rPr lang="es" sz="1500">
                <a:latin typeface="Consolas"/>
                <a:ea typeface="Consolas"/>
                <a:cs typeface="Consolas"/>
                <a:sym typeface="Consolas"/>
              </a:rPr>
              <a:t>	    JOIN pedidos p ON p.nro=pp.codpedido  </a:t>
            </a:r>
            <a:br>
              <a:rPr lang="es" sz="1500">
                <a:latin typeface="Consolas"/>
                <a:ea typeface="Consolas"/>
                <a:cs typeface="Consolas"/>
                <a:sym typeface="Consolas"/>
              </a:rPr>
            </a:br>
            <a:r>
              <a:rPr lang="es" sz="1500">
                <a:latin typeface="Consolas"/>
                <a:ea typeface="Consolas"/>
                <a:cs typeface="Consolas"/>
                <a:sym typeface="Consolas"/>
              </a:rPr>
              <a:t>	WHERE month(p.fecha)=1 and year(p.fecha)=2017</a:t>
            </a:r>
            <a:endParaRPr sz="15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8"/>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Uso de funciones agregadas</a:t>
            </a:r>
            <a:endParaRPr/>
          </a:p>
        </p:txBody>
      </p:sp>
      <p:sp>
        <p:nvSpPr>
          <p:cNvPr id="234" name="Google Shape;234;p28"/>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s" sz="1500"/>
              <a:t>Si quisiéramos saber cuántas unidades se vendieron de cada producto por mes para el 2017, podríamos formularlo de la siguiente manera:</a:t>
            </a:r>
            <a:endParaRPr sz="1500"/>
          </a:p>
          <a:p>
            <a:pPr indent="457200" lvl="0" marL="0" rtl="0" algn="l">
              <a:lnSpc>
                <a:spcPct val="105000"/>
              </a:lnSpc>
              <a:spcBef>
                <a:spcPts val="1200"/>
              </a:spcBef>
              <a:spcAft>
                <a:spcPts val="1200"/>
              </a:spcAft>
              <a:buNone/>
            </a:pPr>
            <a:r>
              <a:rPr lang="es" sz="1500">
                <a:latin typeface="Consolas"/>
                <a:ea typeface="Consolas"/>
                <a:cs typeface="Consolas"/>
                <a:sym typeface="Consolas"/>
              </a:rPr>
              <a:t>SELECT month(p.fecha) as Mes, SUM(cant) as Cantidad</a:t>
            </a:r>
            <a:br>
              <a:rPr lang="es" sz="1500">
                <a:latin typeface="Consolas"/>
                <a:ea typeface="Consolas"/>
                <a:cs typeface="Consolas"/>
                <a:sym typeface="Consolas"/>
              </a:rPr>
            </a:br>
            <a:r>
              <a:rPr lang="es" sz="1500">
                <a:latin typeface="Consolas"/>
                <a:ea typeface="Consolas"/>
                <a:cs typeface="Consolas"/>
                <a:sym typeface="Consolas"/>
              </a:rPr>
              <a:t>	FROM pedidos_productos pp</a:t>
            </a:r>
            <a:br>
              <a:rPr lang="es" sz="1500">
                <a:latin typeface="Consolas"/>
                <a:ea typeface="Consolas"/>
                <a:cs typeface="Consolas"/>
                <a:sym typeface="Consolas"/>
              </a:rPr>
            </a:br>
            <a:r>
              <a:rPr lang="es" sz="1500">
                <a:latin typeface="Consolas"/>
                <a:ea typeface="Consolas"/>
                <a:cs typeface="Consolas"/>
                <a:sym typeface="Consolas"/>
              </a:rPr>
              <a:t>	    JOIN productos pr ON pp.codproducto=pr.codigo</a:t>
            </a:r>
            <a:br>
              <a:rPr lang="es" sz="1500">
                <a:latin typeface="Consolas"/>
                <a:ea typeface="Consolas"/>
                <a:cs typeface="Consolas"/>
                <a:sym typeface="Consolas"/>
              </a:rPr>
            </a:br>
            <a:r>
              <a:rPr lang="es" sz="1500">
                <a:latin typeface="Consolas"/>
                <a:ea typeface="Consolas"/>
                <a:cs typeface="Consolas"/>
                <a:sym typeface="Consolas"/>
              </a:rPr>
              <a:t>	    JOIN pedidos p ON p.nro=pp.codpedido</a:t>
            </a:r>
            <a:br>
              <a:rPr lang="es" sz="1500">
                <a:latin typeface="Consolas"/>
                <a:ea typeface="Consolas"/>
                <a:cs typeface="Consolas"/>
                <a:sym typeface="Consolas"/>
              </a:rPr>
            </a:br>
            <a:r>
              <a:rPr lang="es" sz="1500">
                <a:latin typeface="Consolas"/>
                <a:ea typeface="Consolas"/>
                <a:cs typeface="Consolas"/>
                <a:sym typeface="Consolas"/>
              </a:rPr>
              <a:t>	WHERE year(p.fecha)=2017</a:t>
            </a:r>
            <a:br>
              <a:rPr lang="es" sz="1500">
                <a:latin typeface="Consolas"/>
                <a:ea typeface="Consolas"/>
                <a:cs typeface="Consolas"/>
                <a:sym typeface="Consolas"/>
              </a:rPr>
            </a:br>
            <a:r>
              <a:rPr lang="es" sz="1500">
                <a:latin typeface="Consolas"/>
                <a:ea typeface="Consolas"/>
                <a:cs typeface="Consolas"/>
                <a:sym typeface="Consolas"/>
              </a:rPr>
              <a:t>	GROUP BY month(p.fecha)</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Uso de funciones agregadas</a:t>
            </a:r>
            <a:endParaRPr/>
          </a:p>
        </p:txBody>
      </p:sp>
      <p:sp>
        <p:nvSpPr>
          <p:cNvPr id="240" name="Google Shape;240;p29"/>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s" sz="1500"/>
              <a:t>Si hubiéramos querido saber los pedidos cuyo total fuera superior a $ 1.000 podríamos hacer lo siguiente:</a:t>
            </a:r>
            <a:endParaRPr sz="1500"/>
          </a:p>
          <a:p>
            <a:pPr indent="457200" lvl="0" marL="0" rtl="0" algn="l">
              <a:lnSpc>
                <a:spcPct val="105000"/>
              </a:lnSpc>
              <a:spcBef>
                <a:spcPts val="1200"/>
              </a:spcBef>
              <a:spcAft>
                <a:spcPts val="1200"/>
              </a:spcAft>
              <a:buNone/>
            </a:pPr>
            <a:r>
              <a:rPr lang="es" sz="1500">
                <a:latin typeface="Consolas"/>
                <a:ea typeface="Consolas"/>
                <a:cs typeface="Consolas"/>
                <a:sym typeface="Consolas"/>
              </a:rPr>
              <a:t>SELECT p.Nro, SUM(cant*precio) as total</a:t>
            </a:r>
            <a:br>
              <a:rPr lang="es" sz="1500">
                <a:latin typeface="Consolas"/>
                <a:ea typeface="Consolas"/>
                <a:cs typeface="Consolas"/>
                <a:sym typeface="Consolas"/>
              </a:rPr>
            </a:br>
            <a:r>
              <a:rPr lang="es" sz="1500">
                <a:latin typeface="Consolas"/>
                <a:ea typeface="Consolas"/>
                <a:cs typeface="Consolas"/>
                <a:sym typeface="Consolas"/>
              </a:rPr>
              <a:t>	FROM pedidos_productos pp</a:t>
            </a:r>
            <a:br>
              <a:rPr lang="es" sz="1500">
                <a:latin typeface="Consolas"/>
                <a:ea typeface="Consolas"/>
                <a:cs typeface="Consolas"/>
                <a:sym typeface="Consolas"/>
              </a:rPr>
            </a:br>
            <a:r>
              <a:rPr lang="es" sz="1500">
                <a:latin typeface="Consolas"/>
                <a:ea typeface="Consolas"/>
                <a:cs typeface="Consolas"/>
                <a:sym typeface="Consolas"/>
              </a:rPr>
              <a:t>	    JOIN productos pr ON pp.codproducto=pr.codigo</a:t>
            </a:r>
            <a:br>
              <a:rPr lang="es" sz="1500">
                <a:latin typeface="Consolas"/>
                <a:ea typeface="Consolas"/>
                <a:cs typeface="Consolas"/>
                <a:sym typeface="Consolas"/>
              </a:rPr>
            </a:br>
            <a:r>
              <a:rPr lang="es" sz="1500">
                <a:latin typeface="Consolas"/>
                <a:ea typeface="Consolas"/>
                <a:cs typeface="Consolas"/>
                <a:sym typeface="Consolas"/>
              </a:rPr>
              <a:t>	    JOIN pedidos p ON p.nro=pp.codpedido</a:t>
            </a:r>
            <a:br>
              <a:rPr lang="es" sz="1500">
                <a:latin typeface="Consolas"/>
                <a:ea typeface="Consolas"/>
                <a:cs typeface="Consolas"/>
                <a:sym typeface="Consolas"/>
              </a:rPr>
            </a:br>
            <a:r>
              <a:rPr lang="es" sz="1500">
                <a:latin typeface="Consolas"/>
                <a:ea typeface="Consolas"/>
                <a:cs typeface="Consolas"/>
                <a:sym typeface="Consolas"/>
              </a:rPr>
              <a:t>	GROUP BY p.nro</a:t>
            </a:r>
            <a:br>
              <a:rPr lang="es" sz="1500">
                <a:latin typeface="Consolas"/>
                <a:ea typeface="Consolas"/>
                <a:cs typeface="Consolas"/>
                <a:sym typeface="Consolas"/>
              </a:rPr>
            </a:br>
            <a:r>
              <a:rPr lang="es" sz="1500">
                <a:latin typeface="Consolas"/>
                <a:ea typeface="Consolas"/>
                <a:cs typeface="Consolas"/>
                <a:sym typeface="Consolas"/>
              </a:rPr>
              <a:t>	HAVING SUM(cant*precio)&gt;1000</a:t>
            </a:r>
            <a:endParaRPr sz="15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¿Cómo funcionan las cláusulas Having y Where?</a:t>
            </a:r>
            <a:endParaRPr/>
          </a:p>
        </p:txBody>
      </p:sp>
      <p:sp>
        <p:nvSpPr>
          <p:cNvPr id="246" name="Google Shape;246;p30"/>
          <p:cNvSpPr txBox="1"/>
          <p:nvPr>
            <p:ph idx="1" type="body"/>
          </p:nvPr>
        </p:nvSpPr>
        <p:spPr>
          <a:xfrm>
            <a:off x="432025" y="1304875"/>
            <a:ext cx="8280000" cy="3318000"/>
          </a:xfrm>
          <a:prstGeom prst="rect">
            <a:avLst/>
          </a:prstGeom>
        </p:spPr>
        <p:txBody>
          <a:bodyPr anchorCtr="0" anchor="t" bIns="91425" lIns="91425" spcFirstLastPara="1" rIns="91425" wrap="square" tIns="91425">
            <a:noAutofit/>
          </a:bodyPr>
          <a:lstStyle/>
          <a:p>
            <a:pPr indent="-327025" lvl="0" marL="457200" rtl="0" algn="l">
              <a:lnSpc>
                <a:spcPct val="105000"/>
              </a:lnSpc>
              <a:spcBef>
                <a:spcPts val="0"/>
              </a:spcBef>
              <a:spcAft>
                <a:spcPts val="0"/>
              </a:spcAft>
              <a:buSzPts val="1550"/>
              <a:buChar char="●"/>
            </a:pPr>
            <a:r>
              <a:rPr b="1" lang="es" sz="1550"/>
              <a:t>WHERE </a:t>
            </a:r>
            <a:r>
              <a:rPr lang="es" sz="1550"/>
              <a:t>opera sobre registros individuales, mientras que </a:t>
            </a:r>
            <a:r>
              <a:rPr b="1" lang="es" sz="1550"/>
              <a:t>HAVING</a:t>
            </a:r>
            <a:r>
              <a:rPr lang="es" sz="1550"/>
              <a:t> lo hace sobre un grupo de registros.</a:t>
            </a:r>
            <a:endParaRPr sz="1550"/>
          </a:p>
          <a:p>
            <a:pPr indent="-327025" lvl="0" marL="457200" rtl="0" algn="l">
              <a:lnSpc>
                <a:spcPct val="105000"/>
              </a:lnSpc>
              <a:spcBef>
                <a:spcPts val="0"/>
              </a:spcBef>
              <a:spcAft>
                <a:spcPts val="0"/>
              </a:spcAft>
              <a:buSzPts val="1550"/>
              <a:buChar char="●"/>
            </a:pPr>
            <a:r>
              <a:rPr lang="es" sz="1550"/>
              <a:t>Con </a:t>
            </a:r>
            <a:r>
              <a:rPr b="1" lang="es" sz="1550"/>
              <a:t>WHERE </a:t>
            </a:r>
            <a:r>
              <a:rPr lang="es" sz="1550"/>
              <a:t>podemos establecer una condición usando </a:t>
            </a:r>
            <a:r>
              <a:rPr b="1" i="1" lang="es" sz="1550"/>
              <a:t>registros individuales</a:t>
            </a:r>
            <a:r>
              <a:rPr lang="es" sz="1550"/>
              <a:t>, aquellos que cumplan con esta condición serán seleccionados (eliminados o actualizados). Con </a:t>
            </a:r>
            <a:r>
              <a:rPr b="1" lang="es" sz="1550"/>
              <a:t>HAVING</a:t>
            </a:r>
            <a:r>
              <a:rPr lang="es" sz="1550"/>
              <a:t> podemos establecer una condición </a:t>
            </a:r>
            <a:r>
              <a:rPr b="1" i="1" lang="es" sz="1550"/>
              <a:t>sobre un grupo de registros</a:t>
            </a:r>
            <a:r>
              <a:rPr lang="es" sz="1550"/>
              <a:t>.</a:t>
            </a:r>
            <a:endParaRPr sz="1550"/>
          </a:p>
          <a:p>
            <a:pPr indent="-327025" lvl="0" marL="457200" rtl="0" algn="l">
              <a:lnSpc>
                <a:spcPct val="105000"/>
              </a:lnSpc>
              <a:spcBef>
                <a:spcPts val="0"/>
              </a:spcBef>
              <a:spcAft>
                <a:spcPts val="0"/>
              </a:spcAft>
              <a:buSzPts val="1550"/>
              <a:buChar char="●"/>
            </a:pPr>
            <a:r>
              <a:rPr b="1" lang="es" sz="1550"/>
              <a:t>HAVING </a:t>
            </a:r>
            <a:r>
              <a:rPr lang="es" sz="1550"/>
              <a:t>acostumbra ir acompañado de la cláusula GROUP BY, dado que opera sobre los grupos que nos “retorna” GROUP BY.</a:t>
            </a:r>
            <a:endParaRPr sz="1550"/>
          </a:p>
          <a:p>
            <a:pPr indent="0" lvl="0" marL="0" rtl="0" algn="l">
              <a:lnSpc>
                <a:spcPct val="105000"/>
              </a:lnSpc>
              <a:spcBef>
                <a:spcPts val="1200"/>
              </a:spcBef>
              <a:spcAft>
                <a:spcPts val="1200"/>
              </a:spcAft>
              <a:buNone/>
            </a:pPr>
            <a:r>
              <a:rPr b="1" lang="es" sz="1550"/>
              <a:t>¿Cuándo usar HAVING o WHERE? </a:t>
            </a:r>
            <a:r>
              <a:rPr lang="es" sz="1550"/>
              <a:t>Deberíamos usar HAVING solo cuando se vea implicado el uso de funciones de grupo (AVG, SUM, COUNT, MAX, MIN), debido a que con WHERE no podemos realizar condiciones que impliquen estas funciones.</a:t>
            </a:r>
            <a:endParaRPr sz="155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1"/>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Funciones escalares</a:t>
            </a:r>
            <a:endParaRPr/>
          </a:p>
        </p:txBody>
      </p:sp>
      <p:sp>
        <p:nvSpPr>
          <p:cNvPr id="252" name="Google Shape;252;p31"/>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s"/>
              <a:t>Tras ver las funciones de agregación, vamos a ver las </a:t>
            </a:r>
            <a:r>
              <a:rPr b="1" lang="es"/>
              <a:t>funciones escalares del lenguaje de consultas</a:t>
            </a:r>
            <a:r>
              <a:rPr lang="es"/>
              <a:t>.</a:t>
            </a:r>
            <a:endParaRPr/>
          </a:p>
          <a:p>
            <a:pPr indent="0" lvl="0" marL="0" rtl="0" algn="l">
              <a:spcBef>
                <a:spcPts val="1200"/>
              </a:spcBef>
              <a:spcAft>
                <a:spcPts val="1200"/>
              </a:spcAft>
              <a:buNone/>
            </a:pPr>
            <a:r>
              <a:rPr lang="es"/>
              <a:t>Al igual que en cualquier otro lenguaje de programación, SQL dispone de una serie de funciones que nos facilitan la obtención de los resultados deseados. Éstas se pueden utilizar en las cláusulas SELECT, WHERE y ORDER BY que ya hemos estudiado. Otra característica a tener en cuenta es que se pueden anidar, es decir, una función puede llamar a otra función.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2"/>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Funciones escalares</a:t>
            </a:r>
            <a:endParaRPr/>
          </a:p>
        </p:txBody>
      </p:sp>
      <p:sp>
        <p:nvSpPr>
          <p:cNvPr id="258" name="Google Shape;258;p32"/>
          <p:cNvSpPr txBox="1"/>
          <p:nvPr>
            <p:ph idx="1" type="body"/>
          </p:nvPr>
        </p:nvSpPr>
        <p:spPr>
          <a:xfrm>
            <a:off x="432025" y="1304875"/>
            <a:ext cx="8280000" cy="16563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s"/>
              <a:t>En el lenguaje SQL estándar existen básicamente </a:t>
            </a:r>
            <a:r>
              <a:rPr b="1" lang="es"/>
              <a:t>5 tipos de funciones</a:t>
            </a:r>
            <a:r>
              <a:rPr lang="es"/>
              <a:t>: </a:t>
            </a:r>
            <a:r>
              <a:rPr b="1" lang="es"/>
              <a:t>aritméticas</a:t>
            </a:r>
            <a:r>
              <a:rPr lang="es"/>
              <a:t>, de </a:t>
            </a:r>
            <a:r>
              <a:rPr b="1" lang="es"/>
              <a:t>cadenas </a:t>
            </a:r>
            <a:r>
              <a:rPr lang="es"/>
              <a:t>de caracteres, de </a:t>
            </a:r>
            <a:r>
              <a:rPr b="1" lang="es"/>
              <a:t>fechas</a:t>
            </a:r>
            <a:r>
              <a:rPr lang="es"/>
              <a:t>, de </a:t>
            </a:r>
            <a:r>
              <a:rPr b="1" lang="es"/>
              <a:t>conversión</a:t>
            </a:r>
            <a:r>
              <a:rPr lang="es"/>
              <a:t>, y </a:t>
            </a:r>
            <a:r>
              <a:rPr b="1" lang="es"/>
              <a:t>otras funciones </a:t>
            </a:r>
            <a:r>
              <a:rPr lang="es"/>
              <a:t>que no se pueden incluir en ninguno de los grupos anteriores.</a:t>
            </a:r>
            <a:endParaRPr/>
          </a:p>
          <a:p>
            <a:pPr indent="0" lvl="0" marL="0" rtl="0" algn="l">
              <a:spcBef>
                <a:spcPts val="1200"/>
              </a:spcBef>
              <a:spcAft>
                <a:spcPts val="1200"/>
              </a:spcAft>
              <a:buNone/>
            </a:pPr>
            <a:r>
              <a:rPr lang="es"/>
              <a:t>Nos vamos a limitar a citar algunas de las más significativas, incluyendo una breve descripción de las mismas. </a:t>
            </a:r>
            <a:r>
              <a:rPr lang="es" u="sng">
                <a:solidFill>
                  <a:schemeClr val="accent5"/>
                </a:solidFill>
                <a:hlinkClick r:id="rId3">
                  <a:extLst>
                    <a:ext uri="{A12FA001-AC4F-418D-AE19-62706E023703}">
                      <ahyp:hlinkClr val="tx"/>
                    </a:ext>
                  </a:extLst>
                </a:hlinkClick>
              </a:rPr>
              <a:t>+info</a:t>
            </a:r>
            <a:endParaRPr/>
          </a:p>
        </p:txBody>
      </p:sp>
      <p:pic>
        <p:nvPicPr>
          <p:cNvPr id="259" name="Google Shape;259;p32"/>
          <p:cNvPicPr preferRelativeResize="0"/>
          <p:nvPr/>
        </p:nvPicPr>
        <p:blipFill>
          <a:blip r:embed="rId4">
            <a:alphaModFix/>
          </a:blip>
          <a:stretch>
            <a:fillRect/>
          </a:stretch>
        </p:blipFill>
        <p:spPr>
          <a:xfrm>
            <a:off x="2572050" y="2961150"/>
            <a:ext cx="3999900" cy="159996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3"/>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Funciones escalares | Aritméticas</a:t>
            </a:r>
            <a:endParaRPr/>
          </a:p>
        </p:txBody>
      </p:sp>
      <p:sp>
        <p:nvSpPr>
          <p:cNvPr id="265" name="Google Shape;265;p33"/>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
              <a:t>Funciones aritméticas: </a:t>
            </a:r>
            <a:r>
              <a:rPr lang="es"/>
              <a:t>Todas las funciones matemáticas devuelven NULL en caso de error. </a:t>
            </a:r>
            <a:r>
              <a:rPr lang="es" u="sng">
                <a:solidFill>
                  <a:schemeClr val="accent5"/>
                </a:solidFill>
                <a:hlinkClick r:id="rId3">
                  <a:extLst>
                    <a:ext uri="{A12FA001-AC4F-418D-AE19-62706E023703}">
                      <ahyp:hlinkClr val="tx"/>
                    </a:ext>
                  </a:extLst>
                </a:hlinkClick>
              </a:rPr>
              <a:t>+info</a:t>
            </a:r>
            <a:endParaRPr/>
          </a:p>
          <a:p>
            <a:pPr indent="-342900" lvl="0" marL="457200" rtl="0" algn="l">
              <a:spcBef>
                <a:spcPts val="1200"/>
              </a:spcBef>
              <a:spcAft>
                <a:spcPts val="0"/>
              </a:spcAft>
              <a:buSzPts val="1800"/>
              <a:buChar char="●"/>
            </a:pPr>
            <a:r>
              <a:rPr lang="es"/>
              <a:t>ABS(n): Devuelve el valor absoluto de “n”.</a:t>
            </a:r>
            <a:endParaRPr/>
          </a:p>
          <a:p>
            <a:pPr indent="-342900" lvl="0" marL="457200" rtl="0" algn="l">
              <a:spcBef>
                <a:spcPts val="0"/>
              </a:spcBef>
              <a:spcAft>
                <a:spcPts val="0"/>
              </a:spcAft>
              <a:buSzPts val="1800"/>
              <a:buChar char="●"/>
            </a:pPr>
            <a:r>
              <a:rPr lang="es"/>
              <a:t>ROUND(m, n): Redondea el número “m” con el número de decimales indicado en “n”, si no se indica “n” asume cero decimales.</a:t>
            </a:r>
            <a:endParaRPr/>
          </a:p>
          <a:p>
            <a:pPr indent="-342900" lvl="0" marL="457200" rtl="0" algn="l">
              <a:spcBef>
                <a:spcPts val="0"/>
              </a:spcBef>
              <a:spcAft>
                <a:spcPts val="0"/>
              </a:spcAft>
              <a:buSzPts val="1800"/>
              <a:buChar char="●"/>
            </a:pPr>
            <a:r>
              <a:rPr lang="es"/>
              <a:t>SQRT(n): Devuelve la raíz cuadrada del parámetro que se le pase.</a:t>
            </a:r>
            <a:endParaRPr/>
          </a:p>
          <a:p>
            <a:pPr indent="-342900" lvl="0" marL="457200" rtl="0" algn="l">
              <a:spcBef>
                <a:spcPts val="0"/>
              </a:spcBef>
              <a:spcAft>
                <a:spcPts val="0"/>
              </a:spcAft>
              <a:buSzPts val="1800"/>
              <a:buChar char="●"/>
            </a:pPr>
            <a:r>
              <a:rPr lang="es"/>
              <a:t>POWER(m, n): Devuelve la potencia de “m” elevada al exponente “n”.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4"/>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Funciones escalares | Cadenas</a:t>
            </a:r>
            <a:endParaRPr/>
          </a:p>
        </p:txBody>
      </p:sp>
      <p:sp>
        <p:nvSpPr>
          <p:cNvPr id="271" name="Google Shape;271;p34"/>
          <p:cNvSpPr txBox="1"/>
          <p:nvPr>
            <p:ph idx="1" type="body"/>
          </p:nvPr>
        </p:nvSpPr>
        <p:spPr>
          <a:xfrm>
            <a:off x="432025" y="1304875"/>
            <a:ext cx="8280000" cy="3318000"/>
          </a:xfrm>
          <a:prstGeom prst="rect">
            <a:avLst/>
          </a:prstGeom>
        </p:spPr>
        <p:txBody>
          <a:bodyPr anchorCtr="0" anchor="t" bIns="91425" lIns="91425" spcFirstLastPara="1" rIns="91425" wrap="square" tIns="91425">
            <a:normAutofit fontScale="77500"/>
          </a:bodyPr>
          <a:lstStyle/>
          <a:p>
            <a:pPr indent="0" lvl="0" marL="0" rtl="0" algn="l">
              <a:spcBef>
                <a:spcPts val="0"/>
              </a:spcBef>
              <a:spcAft>
                <a:spcPts val="0"/>
              </a:spcAft>
              <a:buNone/>
            </a:pPr>
            <a:r>
              <a:rPr b="1" lang="es"/>
              <a:t>Funciones de cadenas: </a:t>
            </a:r>
            <a:r>
              <a:rPr lang="es"/>
              <a:t>Para funciones que operan en posiciones de cadena, la primera posición se numera 1. </a:t>
            </a:r>
            <a:r>
              <a:rPr lang="es" u="sng">
                <a:solidFill>
                  <a:schemeClr val="hlink"/>
                </a:solidFill>
                <a:hlinkClick r:id="rId3"/>
              </a:rPr>
              <a:t>+info</a:t>
            </a:r>
            <a:endParaRPr/>
          </a:p>
          <a:p>
            <a:pPr indent="-317182" lvl="0" marL="457200" rtl="0" algn="l">
              <a:spcBef>
                <a:spcPts val="1200"/>
              </a:spcBef>
              <a:spcAft>
                <a:spcPts val="0"/>
              </a:spcAft>
              <a:buSzPct val="100000"/>
              <a:buChar char="●"/>
            </a:pPr>
            <a:r>
              <a:rPr lang="es"/>
              <a:t>LOWER(c): Devuelve la cadena “c” con todas las letras convertidas a minúsculas.</a:t>
            </a:r>
            <a:endParaRPr/>
          </a:p>
          <a:p>
            <a:pPr indent="-317182" lvl="0" marL="457200" rtl="0" algn="l">
              <a:spcBef>
                <a:spcPts val="0"/>
              </a:spcBef>
              <a:spcAft>
                <a:spcPts val="0"/>
              </a:spcAft>
              <a:buSzPct val="100000"/>
              <a:buChar char="●"/>
            </a:pPr>
            <a:r>
              <a:rPr lang="es"/>
              <a:t>UPPER(c): Devuelve la cadena “c” con todas las letras convertidas a mayúsculas.</a:t>
            </a:r>
            <a:endParaRPr/>
          </a:p>
          <a:p>
            <a:pPr indent="-317182" lvl="0" marL="457200" rtl="0" algn="l">
              <a:spcBef>
                <a:spcPts val="0"/>
              </a:spcBef>
              <a:spcAft>
                <a:spcPts val="0"/>
              </a:spcAft>
              <a:buSzPct val="100000"/>
              <a:buChar char="●"/>
            </a:pPr>
            <a:r>
              <a:rPr lang="es"/>
              <a:t>LTRIM(c): Elimina los espacios por la izquierda de la cadena “c”.</a:t>
            </a:r>
            <a:endParaRPr/>
          </a:p>
          <a:p>
            <a:pPr indent="-317182" lvl="0" marL="457200" rtl="0" algn="l">
              <a:spcBef>
                <a:spcPts val="0"/>
              </a:spcBef>
              <a:spcAft>
                <a:spcPts val="0"/>
              </a:spcAft>
              <a:buSzPct val="100000"/>
              <a:buChar char="●"/>
            </a:pPr>
            <a:r>
              <a:rPr lang="es"/>
              <a:t>RTRIM(c): Elimina los espacios por la derecha de la cadena “c”.</a:t>
            </a:r>
            <a:endParaRPr/>
          </a:p>
          <a:p>
            <a:pPr indent="-317182" lvl="0" marL="457200" rtl="0" algn="l">
              <a:spcBef>
                <a:spcPts val="0"/>
              </a:spcBef>
              <a:spcAft>
                <a:spcPts val="0"/>
              </a:spcAft>
              <a:buSzPct val="100000"/>
              <a:buChar char="●"/>
            </a:pPr>
            <a:r>
              <a:rPr lang="es"/>
              <a:t>REPLACE(c, b, s): Sustituye en la cadena “c” el valor buscado “b” por el valor indicado en “s”.</a:t>
            </a:r>
            <a:endParaRPr/>
          </a:p>
          <a:p>
            <a:pPr indent="-317182" lvl="0" marL="457200" rtl="0" algn="l">
              <a:spcBef>
                <a:spcPts val="0"/>
              </a:spcBef>
              <a:spcAft>
                <a:spcPts val="0"/>
              </a:spcAft>
              <a:buSzPct val="100000"/>
              <a:buChar char="●"/>
            </a:pPr>
            <a:r>
              <a:rPr lang="es"/>
              <a:t>LEFT(c, n): Devuelve “n” caracteres por la izquierda de la cadena “c”.</a:t>
            </a:r>
            <a:endParaRPr/>
          </a:p>
          <a:p>
            <a:pPr indent="-317182" lvl="0" marL="457200" rtl="0" algn="l">
              <a:spcBef>
                <a:spcPts val="0"/>
              </a:spcBef>
              <a:spcAft>
                <a:spcPts val="0"/>
              </a:spcAft>
              <a:buSzPct val="100000"/>
              <a:buChar char="●"/>
            </a:pPr>
            <a:r>
              <a:rPr lang="es"/>
              <a:t>RIGHT(c, n): Devuelve “n” caracteres por la derecha de la cadena “c”.</a:t>
            </a:r>
            <a:endParaRPr/>
          </a:p>
          <a:p>
            <a:pPr indent="-317182" lvl="0" marL="457200" rtl="0" algn="l">
              <a:spcBef>
                <a:spcPts val="0"/>
              </a:spcBef>
              <a:spcAft>
                <a:spcPts val="0"/>
              </a:spcAft>
              <a:buSzPct val="100000"/>
              <a:buChar char="●"/>
            </a:pPr>
            <a:r>
              <a:rPr lang="es"/>
              <a:t>SUBSTRING(c, m, n): Devuelve una sub-cadena obtenida de la cadena “c”, a partir de la posición “m” y tomando “n” caracteres.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5"/>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Funciones escalares | Fechas</a:t>
            </a:r>
            <a:endParaRPr/>
          </a:p>
        </p:txBody>
      </p:sp>
      <p:sp>
        <p:nvSpPr>
          <p:cNvPr id="277" name="Google Shape;277;p35"/>
          <p:cNvSpPr txBox="1"/>
          <p:nvPr>
            <p:ph idx="1" type="body"/>
          </p:nvPr>
        </p:nvSpPr>
        <p:spPr>
          <a:xfrm>
            <a:off x="432025" y="1304875"/>
            <a:ext cx="8280000" cy="3318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es"/>
              <a:t>Funciones de manejo de fechas:</a:t>
            </a:r>
            <a:r>
              <a:rPr lang="es"/>
              <a:t> Las funciones que esperan valores de fecha generalmente aceptan valores de fecha y hora e ignoran la parte de la hora. Las funciones que esperan valores de hora generalmente aceptan valores de fecha y hora e ignoran la parte de la fecha. </a:t>
            </a:r>
            <a:r>
              <a:rPr lang="es" u="sng">
                <a:solidFill>
                  <a:schemeClr val="accent5"/>
                </a:solidFill>
                <a:hlinkClick r:id="rId3">
                  <a:extLst>
                    <a:ext uri="{A12FA001-AC4F-418D-AE19-62706E023703}">
                      <ahyp:hlinkClr val="tx"/>
                    </a:ext>
                  </a:extLst>
                </a:hlinkClick>
              </a:rPr>
              <a:t>+info</a:t>
            </a:r>
            <a:endParaRPr/>
          </a:p>
          <a:p>
            <a:pPr indent="-342900" lvl="0" marL="457200" rtl="0" algn="l">
              <a:spcBef>
                <a:spcPts val="1200"/>
              </a:spcBef>
              <a:spcAft>
                <a:spcPts val="0"/>
              </a:spcAft>
              <a:buSzPts val="1800"/>
              <a:buChar char="●"/>
            </a:pPr>
            <a:r>
              <a:rPr lang="es"/>
              <a:t>YEAR(d): Devuelve el año correspondiente de la fecha “d”.</a:t>
            </a:r>
            <a:endParaRPr/>
          </a:p>
          <a:p>
            <a:pPr indent="-342900" lvl="0" marL="457200" rtl="0" algn="l">
              <a:spcBef>
                <a:spcPts val="0"/>
              </a:spcBef>
              <a:spcAft>
                <a:spcPts val="0"/>
              </a:spcAft>
              <a:buSzPts val="1800"/>
              <a:buChar char="●"/>
            </a:pPr>
            <a:r>
              <a:rPr lang="es"/>
              <a:t>MONTH(d): Devuelve el mes de la fecha “d”.</a:t>
            </a:r>
            <a:endParaRPr/>
          </a:p>
          <a:p>
            <a:pPr indent="-342900" lvl="0" marL="457200" rtl="0" algn="l">
              <a:spcBef>
                <a:spcPts val="0"/>
              </a:spcBef>
              <a:spcAft>
                <a:spcPts val="0"/>
              </a:spcAft>
              <a:buSzPts val="1800"/>
              <a:buChar char="●"/>
            </a:pPr>
            <a:r>
              <a:rPr lang="es"/>
              <a:t>DAY(d): Devuelve el día del mes de la fecha “d”.</a:t>
            </a:r>
            <a:endParaRPr/>
          </a:p>
          <a:p>
            <a:pPr indent="-342900" lvl="0" marL="457200" rtl="0" algn="l">
              <a:spcBef>
                <a:spcPts val="0"/>
              </a:spcBef>
              <a:spcAft>
                <a:spcPts val="0"/>
              </a:spcAft>
              <a:buSzPts val="1800"/>
              <a:buChar char="●"/>
            </a:pPr>
            <a:r>
              <a:rPr lang="es"/>
              <a:t>DATE_ADD():</a:t>
            </a:r>
            <a:r>
              <a:rPr lang="es"/>
              <a:t> </a:t>
            </a:r>
            <a:r>
              <a:rPr lang="es"/>
              <a:t>Agrega valores de tiempo (intervalos) a un valor de fecha.</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6"/>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Funciones escalares | Conversión</a:t>
            </a:r>
            <a:endParaRPr/>
          </a:p>
        </p:txBody>
      </p:sp>
      <p:sp>
        <p:nvSpPr>
          <p:cNvPr id="283" name="Google Shape;283;p36"/>
          <p:cNvSpPr txBox="1"/>
          <p:nvPr>
            <p:ph idx="1" type="body"/>
          </p:nvPr>
        </p:nvSpPr>
        <p:spPr>
          <a:xfrm>
            <a:off x="432025" y="1304875"/>
            <a:ext cx="8280000" cy="33180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Clr>
                <a:schemeClr val="dk1"/>
              </a:buClr>
              <a:buSzPct val="61111"/>
              <a:buFont typeface="Arial"/>
              <a:buNone/>
            </a:pPr>
            <a:r>
              <a:rPr b="1" lang="es"/>
              <a:t>Funciones de conversión: </a:t>
            </a:r>
            <a:r>
              <a:rPr lang="es"/>
              <a:t>Estas</a:t>
            </a:r>
            <a:r>
              <a:rPr lang="es"/>
              <a:t> funciones suelen ser específicas de cada gestor de datos, ya que cada SGBD (SQL Server, Oracle, MySQL) utiliza nombres diferentes para los distintos tipos de datos (aunque existen similitudes se dan muchas diferencias).</a:t>
            </a:r>
            <a:endParaRPr/>
          </a:p>
          <a:p>
            <a:pPr indent="0" lvl="0" marL="0" rtl="0" algn="l">
              <a:spcBef>
                <a:spcPts val="1200"/>
              </a:spcBef>
              <a:spcAft>
                <a:spcPts val="0"/>
              </a:spcAft>
              <a:buClr>
                <a:schemeClr val="dk1"/>
              </a:buClr>
              <a:buSzPct val="61111"/>
              <a:buFont typeface="Arial"/>
              <a:buNone/>
            </a:pPr>
            <a:r>
              <a:rPr lang="es"/>
              <a:t>Las funciones de conversión nos permiten cambiar valores de un tipo de datos a otro. Por </a:t>
            </a:r>
            <a:r>
              <a:rPr lang="es"/>
              <a:t>ejemplo, si tenemos</a:t>
            </a:r>
            <a:r>
              <a:rPr lang="es"/>
              <a:t> una cadena y sabemos que contiene una fecha, podemos convertirla al tipo de datos fecha.</a:t>
            </a:r>
            <a:endParaRPr/>
          </a:p>
          <a:p>
            <a:pPr indent="0" lvl="0" marL="0" rtl="0" algn="l">
              <a:spcBef>
                <a:spcPts val="1200"/>
              </a:spcBef>
              <a:spcAft>
                <a:spcPts val="0"/>
              </a:spcAft>
              <a:buNone/>
            </a:pPr>
            <a:r>
              <a:rPr lang="es"/>
              <a:t>En </a:t>
            </a:r>
            <a:r>
              <a:rPr b="1" lang="es"/>
              <a:t>MySQL</a:t>
            </a:r>
            <a:r>
              <a:rPr lang="es"/>
              <a:t>, por ejemplo,  solucionamos la mayor parte de las conversiones con la función </a:t>
            </a:r>
            <a:r>
              <a:rPr b="1" lang="es"/>
              <a:t>CAST</a:t>
            </a:r>
            <a:r>
              <a:rPr lang="es"/>
              <a:t>. </a:t>
            </a:r>
            <a:r>
              <a:rPr lang="es" u="sng">
                <a:solidFill>
                  <a:schemeClr val="hlink"/>
                </a:solidFill>
                <a:hlinkClick r:id="rId3"/>
              </a:rPr>
              <a:t>+info</a:t>
            </a:r>
            <a:endParaRPr/>
          </a:p>
          <a:p>
            <a:pPr indent="0" lvl="0" marL="0" rtl="0" algn="l">
              <a:spcBef>
                <a:spcPts val="1200"/>
              </a:spcBef>
              <a:spcAft>
                <a:spcPts val="0"/>
              </a:spcAft>
              <a:buNone/>
            </a:pPr>
            <a:r>
              <a:rPr lang="es"/>
              <a:t>Ejemplo:</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284" name="Google Shape;284;p36"/>
          <p:cNvPicPr preferRelativeResize="0"/>
          <p:nvPr/>
        </p:nvPicPr>
        <p:blipFill>
          <a:blip r:embed="rId4">
            <a:alphaModFix/>
          </a:blip>
          <a:stretch>
            <a:fillRect/>
          </a:stretch>
        </p:blipFill>
        <p:spPr>
          <a:xfrm>
            <a:off x="1490223" y="3493023"/>
            <a:ext cx="4075175" cy="11298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7"/>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Subconsultas</a:t>
            </a:r>
            <a:endParaRPr/>
          </a:p>
        </p:txBody>
      </p:sp>
      <p:sp>
        <p:nvSpPr>
          <p:cNvPr id="290" name="Google Shape;290;p37"/>
          <p:cNvSpPr txBox="1"/>
          <p:nvPr>
            <p:ph idx="1" type="body"/>
          </p:nvPr>
        </p:nvSpPr>
        <p:spPr>
          <a:xfrm>
            <a:off x="432000" y="1304875"/>
            <a:ext cx="8280000" cy="3318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s" sz="1500"/>
              <a:t>Consiste en utilizar los resultados de una consulta dentro de otra, que se considera la principal. Esta posibilidad fue la razón original para la palabra “estructurada” en el nombre Lenguaje de Consultas Estructuradas (</a:t>
            </a:r>
            <a:r>
              <a:rPr i="1" lang="es" sz="1500"/>
              <a:t>Structured Query Language, SQL</a:t>
            </a:r>
            <a:r>
              <a:rPr lang="es" sz="1500"/>
              <a:t>).</a:t>
            </a:r>
            <a:endParaRPr sz="1500"/>
          </a:p>
          <a:p>
            <a:pPr indent="0" lvl="0" marL="0" rtl="0" algn="l">
              <a:lnSpc>
                <a:spcPct val="115000"/>
              </a:lnSpc>
              <a:spcBef>
                <a:spcPts val="1200"/>
              </a:spcBef>
              <a:spcAft>
                <a:spcPts val="0"/>
              </a:spcAft>
              <a:buNone/>
            </a:pPr>
            <a:r>
              <a:t/>
            </a:r>
            <a:endParaRPr sz="1500"/>
          </a:p>
          <a:p>
            <a:pPr indent="0" lvl="0" marL="0" rtl="0" algn="l">
              <a:lnSpc>
                <a:spcPct val="115000"/>
              </a:lnSpc>
              <a:spcBef>
                <a:spcPts val="1200"/>
              </a:spcBef>
              <a:spcAft>
                <a:spcPts val="0"/>
              </a:spcAft>
              <a:buNone/>
            </a:pPr>
            <a:r>
              <a:t/>
            </a:r>
            <a:endParaRPr sz="1500"/>
          </a:p>
          <a:p>
            <a:pPr indent="0" lvl="0" marL="0" rtl="0" algn="l">
              <a:lnSpc>
                <a:spcPct val="115000"/>
              </a:lnSpc>
              <a:spcBef>
                <a:spcPts val="1200"/>
              </a:spcBef>
              <a:spcAft>
                <a:spcPts val="1200"/>
              </a:spcAft>
              <a:buNone/>
            </a:pPr>
            <a:r>
              <a:rPr lang="es" sz="1500"/>
              <a:t>En este ejemplo la consulta principal es </a:t>
            </a:r>
            <a:r>
              <a:rPr b="1" lang="es" sz="1500"/>
              <a:t>SELECT... FROM empleados</a:t>
            </a:r>
            <a:r>
              <a:rPr lang="es" sz="1500"/>
              <a:t>.</a:t>
            </a:r>
            <a:br>
              <a:rPr lang="es" sz="1500"/>
            </a:br>
            <a:r>
              <a:rPr lang="es" sz="1500"/>
              <a:t>La subconsulta es (</a:t>
            </a:r>
            <a:r>
              <a:rPr b="1" lang="es" sz="1500"/>
              <a:t>SELECT MIN (fechapedido) FROM pedidos WHERE rep = numemp</a:t>
            </a:r>
            <a:r>
              <a:rPr lang="es" sz="1500"/>
              <a:t>).</a:t>
            </a:r>
            <a:br>
              <a:rPr lang="es" sz="1500"/>
            </a:br>
            <a:r>
              <a:rPr lang="es" sz="1500"/>
              <a:t>En esta subconsulta tenemos una referencia externa (numemp) es un campo de la tabla empleados (origen de la consulta principal).</a:t>
            </a:r>
            <a:endParaRPr sz="1500"/>
          </a:p>
        </p:txBody>
      </p:sp>
      <p:pic>
        <p:nvPicPr>
          <p:cNvPr id="291" name="Google Shape;291;p37"/>
          <p:cNvPicPr preferRelativeResize="0"/>
          <p:nvPr/>
        </p:nvPicPr>
        <p:blipFill>
          <a:blip r:embed="rId3">
            <a:alphaModFix/>
          </a:blip>
          <a:stretch>
            <a:fillRect/>
          </a:stretch>
        </p:blipFill>
        <p:spPr>
          <a:xfrm>
            <a:off x="432025" y="2389250"/>
            <a:ext cx="8279999" cy="45061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8"/>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Subconsultas</a:t>
            </a:r>
            <a:endParaRPr/>
          </a:p>
        </p:txBody>
      </p:sp>
      <p:sp>
        <p:nvSpPr>
          <p:cNvPr id="297" name="Google Shape;297;p38"/>
          <p:cNvSpPr txBox="1"/>
          <p:nvPr>
            <p:ph idx="1" type="body"/>
          </p:nvPr>
        </p:nvSpPr>
        <p:spPr>
          <a:xfrm>
            <a:off x="432000" y="1304875"/>
            <a:ext cx="8280000" cy="3318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s" sz="1500"/>
              <a:t>¿Qué pasa cuando se ejecuta la consulta principal?</a:t>
            </a:r>
            <a:endParaRPr b="1" sz="1500"/>
          </a:p>
          <a:p>
            <a:pPr indent="-323850" lvl="0" marL="457200" rtl="0" algn="l">
              <a:lnSpc>
                <a:spcPct val="115000"/>
              </a:lnSpc>
              <a:spcBef>
                <a:spcPts val="1200"/>
              </a:spcBef>
              <a:spcAft>
                <a:spcPts val="0"/>
              </a:spcAft>
              <a:buSzPts val="1500"/>
              <a:buChar char="●"/>
            </a:pPr>
            <a:r>
              <a:rPr lang="es" sz="1500"/>
              <a:t>Se toma el primer empleado y se calcula la subconsulta sustituyendo </a:t>
            </a:r>
            <a:r>
              <a:rPr b="1" lang="es" sz="1500"/>
              <a:t>numemp </a:t>
            </a:r>
            <a:r>
              <a:rPr lang="es" sz="1500"/>
              <a:t>por el valor que tiene en el primer empleado. La subconsulta obtiene la fecha más antigua en los pedidos del </a:t>
            </a:r>
            <a:r>
              <a:rPr b="1" lang="es" sz="1500"/>
              <a:t>rep = 101</a:t>
            </a:r>
            <a:r>
              <a:rPr lang="es" sz="1500"/>
              <a:t>,</a:t>
            </a:r>
            <a:endParaRPr sz="1500"/>
          </a:p>
          <a:p>
            <a:pPr indent="-323850" lvl="0" marL="457200" rtl="0" algn="l">
              <a:lnSpc>
                <a:spcPct val="115000"/>
              </a:lnSpc>
              <a:spcBef>
                <a:spcPts val="0"/>
              </a:spcBef>
              <a:spcAft>
                <a:spcPts val="0"/>
              </a:spcAft>
              <a:buSzPts val="1500"/>
              <a:buChar char="●"/>
            </a:pPr>
            <a:r>
              <a:rPr lang="es" sz="1500"/>
              <a:t>Se toma el segundo empleado y se calcula la subconsulta con </a:t>
            </a:r>
            <a:r>
              <a:rPr b="1" lang="es" sz="1500"/>
              <a:t>numemp = 102</a:t>
            </a:r>
            <a:r>
              <a:rPr lang="es" sz="1500"/>
              <a:t> (</a:t>
            </a:r>
            <a:r>
              <a:rPr b="1" lang="es" sz="1500"/>
              <a:t>numemp </a:t>
            </a:r>
            <a:r>
              <a:rPr lang="es" sz="1500"/>
              <a:t>del segundo empleado)... y así sucesivamente hasta llegar al último empleado.</a:t>
            </a:r>
            <a:endParaRPr sz="1500"/>
          </a:p>
          <a:p>
            <a:pPr indent="-323850" lvl="0" marL="457200" rtl="0" algn="l">
              <a:lnSpc>
                <a:spcPct val="115000"/>
              </a:lnSpc>
              <a:spcBef>
                <a:spcPts val="0"/>
              </a:spcBef>
              <a:spcAft>
                <a:spcPts val="0"/>
              </a:spcAft>
              <a:buSzPts val="1500"/>
              <a:buChar char="●"/>
            </a:pPr>
            <a:r>
              <a:rPr lang="es" sz="1500"/>
              <a:t>Al final obtenemos una lista con el número, nombre y fecha del primer pedido de cada empleado.</a:t>
            </a:r>
            <a:endParaRPr sz="1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9"/>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Operador EXISTS</a:t>
            </a:r>
            <a:endParaRPr/>
          </a:p>
        </p:txBody>
      </p:sp>
      <p:sp>
        <p:nvSpPr>
          <p:cNvPr id="303" name="Google Shape;303;p39"/>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El operador </a:t>
            </a:r>
            <a:r>
              <a:rPr b="1" lang="es"/>
              <a:t>EXISTS </a:t>
            </a:r>
            <a:r>
              <a:rPr lang="es"/>
              <a:t>se utiliza para probar la existencia de cualquier registro en una subconsulta. El operador EXISTS devuelve VERDADERO si la subconsulta devuelve uno o más registros.</a:t>
            </a:r>
            <a:endParaRPr/>
          </a:p>
          <a:p>
            <a:pPr indent="0" lvl="0" marL="457200" rtl="0" algn="l">
              <a:lnSpc>
                <a:spcPct val="100000"/>
              </a:lnSpc>
              <a:spcBef>
                <a:spcPts val="1200"/>
              </a:spcBef>
              <a:spcAft>
                <a:spcPts val="0"/>
              </a:spcAft>
              <a:buClr>
                <a:schemeClr val="dk1"/>
              </a:buClr>
              <a:buSzPts val="1100"/>
              <a:buFont typeface="Arial"/>
              <a:buNone/>
            </a:pPr>
            <a:r>
              <a:rPr lang="es">
                <a:latin typeface="Consolas"/>
                <a:ea typeface="Consolas"/>
                <a:cs typeface="Consolas"/>
                <a:sym typeface="Consolas"/>
              </a:rPr>
              <a:t>SELECT column_name(s)</a:t>
            </a:r>
            <a:endParaRPr>
              <a:latin typeface="Consolas"/>
              <a:ea typeface="Consolas"/>
              <a:cs typeface="Consolas"/>
              <a:sym typeface="Consolas"/>
            </a:endParaRPr>
          </a:p>
          <a:p>
            <a:pPr indent="0" lvl="0" marL="457200" rtl="0" algn="l">
              <a:lnSpc>
                <a:spcPct val="100000"/>
              </a:lnSpc>
              <a:spcBef>
                <a:spcPts val="0"/>
              </a:spcBef>
              <a:spcAft>
                <a:spcPts val="0"/>
              </a:spcAft>
              <a:buClr>
                <a:schemeClr val="dk1"/>
              </a:buClr>
              <a:buSzPts val="1100"/>
              <a:buFont typeface="Arial"/>
              <a:buNone/>
            </a:pPr>
            <a:r>
              <a:rPr lang="es">
                <a:latin typeface="Consolas"/>
                <a:ea typeface="Consolas"/>
                <a:cs typeface="Consolas"/>
                <a:sym typeface="Consolas"/>
              </a:rPr>
              <a:t>FROM table_name</a:t>
            </a:r>
            <a:endParaRPr>
              <a:latin typeface="Consolas"/>
              <a:ea typeface="Consolas"/>
              <a:cs typeface="Consolas"/>
              <a:sym typeface="Consolas"/>
            </a:endParaRPr>
          </a:p>
          <a:p>
            <a:pPr indent="0" lvl="0" marL="457200" rtl="0" algn="l">
              <a:lnSpc>
                <a:spcPct val="100000"/>
              </a:lnSpc>
              <a:spcBef>
                <a:spcPts val="0"/>
              </a:spcBef>
              <a:spcAft>
                <a:spcPts val="0"/>
              </a:spcAft>
              <a:buClr>
                <a:schemeClr val="dk1"/>
              </a:buClr>
              <a:buSzPts val="1100"/>
              <a:buFont typeface="Arial"/>
              <a:buNone/>
            </a:pPr>
            <a:r>
              <a:rPr lang="es">
                <a:latin typeface="Consolas"/>
                <a:ea typeface="Consolas"/>
                <a:cs typeface="Consolas"/>
                <a:sym typeface="Consolas"/>
              </a:rPr>
              <a:t>WHERE EXISTS</a:t>
            </a:r>
            <a:endParaRPr>
              <a:latin typeface="Consolas"/>
              <a:ea typeface="Consolas"/>
              <a:cs typeface="Consolas"/>
              <a:sym typeface="Consolas"/>
            </a:endParaRPr>
          </a:p>
          <a:p>
            <a:pPr indent="0" lvl="0" marL="457200" rtl="0" algn="l">
              <a:lnSpc>
                <a:spcPct val="100000"/>
              </a:lnSpc>
              <a:spcBef>
                <a:spcPts val="0"/>
              </a:spcBef>
              <a:spcAft>
                <a:spcPts val="0"/>
              </a:spcAft>
              <a:buNone/>
            </a:pPr>
            <a:r>
              <a:rPr lang="es">
                <a:latin typeface="Consolas"/>
                <a:ea typeface="Consolas"/>
                <a:cs typeface="Consolas"/>
                <a:sym typeface="Consolas"/>
              </a:rPr>
              <a:t>    (SELECT column_name FROM table_name WHERE condition);</a:t>
            </a:r>
            <a:endParaRPr>
              <a:latin typeface="Consolas"/>
              <a:ea typeface="Consolas"/>
              <a:cs typeface="Consolas"/>
              <a:sym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0"/>
          <p:cNvSpPr txBox="1"/>
          <p:nvPr>
            <p:ph type="title"/>
          </p:nvPr>
        </p:nvSpPr>
        <p:spPr>
          <a:xfrm>
            <a:off x="311700" y="597425"/>
            <a:ext cx="8503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Ejemplo EXISTS</a:t>
            </a:r>
            <a:endParaRPr/>
          </a:p>
        </p:txBody>
      </p:sp>
      <p:sp>
        <p:nvSpPr>
          <p:cNvPr id="309" name="Google Shape;309;p40"/>
          <p:cNvSpPr txBox="1"/>
          <p:nvPr>
            <p:ph idx="1" type="body"/>
          </p:nvPr>
        </p:nvSpPr>
        <p:spPr>
          <a:xfrm>
            <a:off x="432025" y="1304875"/>
            <a:ext cx="8280000" cy="331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La siguiente instrucción SQL devuelve VERDADERO y enumera los proveedores con un precio de producto inferior a 20:</a:t>
            </a:r>
            <a:endParaRPr/>
          </a:p>
          <a:p>
            <a:pPr indent="0" lvl="0" marL="457200" rtl="0" algn="l">
              <a:lnSpc>
                <a:spcPct val="100000"/>
              </a:lnSpc>
              <a:spcBef>
                <a:spcPts val="1200"/>
              </a:spcBef>
              <a:spcAft>
                <a:spcPts val="0"/>
              </a:spcAft>
              <a:buClr>
                <a:schemeClr val="dk1"/>
              </a:buClr>
              <a:buSzPts val="1100"/>
              <a:buFont typeface="Arial"/>
              <a:buNone/>
            </a:pPr>
            <a:r>
              <a:rPr lang="es">
                <a:latin typeface="Consolas"/>
                <a:ea typeface="Consolas"/>
                <a:cs typeface="Consolas"/>
                <a:sym typeface="Consolas"/>
              </a:rPr>
              <a:t>SELECT SupplierName</a:t>
            </a:r>
            <a:endParaRPr>
              <a:latin typeface="Consolas"/>
              <a:ea typeface="Consolas"/>
              <a:cs typeface="Consolas"/>
              <a:sym typeface="Consolas"/>
            </a:endParaRPr>
          </a:p>
          <a:p>
            <a:pPr indent="0" lvl="0" marL="457200" rtl="0" algn="l">
              <a:lnSpc>
                <a:spcPct val="100000"/>
              </a:lnSpc>
              <a:spcBef>
                <a:spcPts val="0"/>
              </a:spcBef>
              <a:spcAft>
                <a:spcPts val="0"/>
              </a:spcAft>
              <a:buClr>
                <a:schemeClr val="dk1"/>
              </a:buClr>
              <a:buSzPts val="1100"/>
              <a:buFont typeface="Arial"/>
              <a:buNone/>
            </a:pPr>
            <a:r>
              <a:rPr lang="es">
                <a:latin typeface="Consolas"/>
                <a:ea typeface="Consolas"/>
                <a:cs typeface="Consolas"/>
                <a:sym typeface="Consolas"/>
              </a:rPr>
              <a:t>FROM Suppliers</a:t>
            </a:r>
            <a:endParaRPr>
              <a:latin typeface="Consolas"/>
              <a:ea typeface="Consolas"/>
              <a:cs typeface="Consolas"/>
              <a:sym typeface="Consolas"/>
            </a:endParaRPr>
          </a:p>
          <a:p>
            <a:pPr indent="0" lvl="0" marL="457200" rtl="0" algn="l">
              <a:lnSpc>
                <a:spcPct val="100000"/>
              </a:lnSpc>
              <a:spcBef>
                <a:spcPts val="0"/>
              </a:spcBef>
              <a:spcAft>
                <a:spcPts val="0"/>
              </a:spcAft>
              <a:buNone/>
            </a:pPr>
            <a:r>
              <a:rPr lang="es">
                <a:latin typeface="Consolas"/>
                <a:ea typeface="Consolas"/>
                <a:cs typeface="Consolas"/>
                <a:sym typeface="Consolas"/>
              </a:rPr>
              <a:t>WHERE EXISTS</a:t>
            </a:r>
            <a:r>
              <a:rPr lang="es">
                <a:latin typeface="Consolas"/>
                <a:ea typeface="Consolas"/>
                <a:cs typeface="Consolas"/>
                <a:sym typeface="Consolas"/>
              </a:rPr>
              <a:t> </a:t>
            </a:r>
            <a:r>
              <a:rPr lang="es">
                <a:latin typeface="Consolas"/>
                <a:ea typeface="Consolas"/>
                <a:cs typeface="Consolas"/>
                <a:sym typeface="Consolas"/>
              </a:rPr>
              <a:t>(SELECT ProductName FROM Products WHERE Products.SupplierID = Suppliers.supplierID AND Price &lt; 20);</a:t>
            </a:r>
            <a:endParaRPr>
              <a:latin typeface="Consolas"/>
              <a:ea typeface="Consolas"/>
              <a:cs typeface="Consolas"/>
              <a:sym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1"/>
          <p:cNvSpPr txBox="1"/>
          <p:nvPr>
            <p:ph type="title"/>
          </p:nvPr>
        </p:nvSpPr>
        <p:spPr>
          <a:xfrm>
            <a:off x="311700" y="-12175"/>
            <a:ext cx="77490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a:t>Síntesis SQL</a:t>
            </a:r>
            <a:endParaRPr/>
          </a:p>
        </p:txBody>
      </p:sp>
      <p:pic>
        <p:nvPicPr>
          <p:cNvPr id="315" name="Google Shape;315;p41"/>
          <p:cNvPicPr preferRelativeResize="0"/>
          <p:nvPr/>
        </p:nvPicPr>
        <p:blipFill>
          <a:blip r:embed="rId3">
            <a:alphaModFix/>
          </a:blip>
          <a:stretch>
            <a:fillRect/>
          </a:stretch>
        </p:blipFill>
        <p:spPr>
          <a:xfrm>
            <a:off x="1674688" y="439409"/>
            <a:ext cx="5794624" cy="426468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2"/>
          <p:cNvSpPr txBox="1"/>
          <p:nvPr>
            <p:ph type="ctrTitle"/>
          </p:nvPr>
        </p:nvSpPr>
        <p:spPr>
          <a:xfrm>
            <a:off x="311700" y="1226800"/>
            <a:ext cx="8520600" cy="15705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Clr>
                <a:schemeClr val="dk1"/>
              </a:buClr>
              <a:buSzPts val="1100"/>
              <a:buFont typeface="Arial"/>
              <a:buNone/>
            </a:pPr>
            <a:r>
              <a:rPr lang="es"/>
              <a:t>Material extra</a:t>
            </a:r>
            <a:endParaRPr/>
          </a:p>
        </p:txBody>
      </p:sp>
      <p:sp>
        <p:nvSpPr>
          <p:cNvPr id="321" name="Google Shape;321;p4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3"/>
          <p:cNvSpPr txBox="1"/>
          <p:nvPr/>
        </p:nvSpPr>
        <p:spPr>
          <a:xfrm>
            <a:off x="311700" y="597425"/>
            <a:ext cx="8503200" cy="572700"/>
          </a:xfrm>
          <a:prstGeom prst="rect">
            <a:avLst/>
          </a:prstGeom>
          <a:noFill/>
          <a:ln>
            <a:noFill/>
          </a:ln>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 sz="2700">
                <a:solidFill>
                  <a:srgbClr val="000000"/>
                </a:solidFill>
                <a:latin typeface="Montserrat Medium"/>
                <a:ea typeface="Montserrat Medium"/>
                <a:cs typeface="Montserrat Medium"/>
                <a:sym typeface="Montserrat Medium"/>
              </a:rPr>
              <a:t>Artículos de </a:t>
            </a:r>
            <a:r>
              <a:rPr lang="es" sz="2700">
                <a:solidFill>
                  <a:srgbClr val="000000"/>
                </a:solidFill>
                <a:latin typeface="Montserrat Medium"/>
                <a:ea typeface="Montserrat Medium"/>
                <a:cs typeface="Montserrat Medium"/>
                <a:sym typeface="Montserrat Medium"/>
              </a:rPr>
              <a:t>interés</a:t>
            </a:r>
            <a:endParaRPr sz="2700">
              <a:solidFill>
                <a:srgbClr val="000000"/>
              </a:solidFill>
              <a:latin typeface="Montserrat Medium"/>
              <a:ea typeface="Montserrat Medium"/>
              <a:cs typeface="Montserrat Medium"/>
              <a:sym typeface="Montserrat Medium"/>
            </a:endParaRPr>
          </a:p>
        </p:txBody>
      </p:sp>
      <p:sp>
        <p:nvSpPr>
          <p:cNvPr id="327" name="Google Shape;327;p43"/>
          <p:cNvSpPr txBox="1"/>
          <p:nvPr/>
        </p:nvSpPr>
        <p:spPr>
          <a:xfrm>
            <a:off x="432000" y="1297200"/>
            <a:ext cx="8280000" cy="3318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es" sz="1500">
                <a:solidFill>
                  <a:srgbClr val="595959"/>
                </a:solidFill>
                <a:latin typeface="Montserrat"/>
                <a:ea typeface="Montserrat"/>
                <a:cs typeface="Montserrat"/>
                <a:sym typeface="Montserrat"/>
              </a:rPr>
              <a:t>Material extra:</a:t>
            </a:r>
            <a:endParaRPr sz="1500">
              <a:solidFill>
                <a:srgbClr val="595959"/>
              </a:solidFill>
              <a:latin typeface="Montserrat"/>
              <a:ea typeface="Montserrat"/>
              <a:cs typeface="Montserrat"/>
              <a:sym typeface="Montserrat"/>
            </a:endParaRPr>
          </a:p>
          <a:p>
            <a:pPr indent="-323850" lvl="0" marL="457200" rtl="0" algn="l">
              <a:lnSpc>
                <a:spcPct val="115000"/>
              </a:lnSpc>
              <a:spcBef>
                <a:spcPts val="1200"/>
              </a:spcBef>
              <a:spcAft>
                <a:spcPts val="0"/>
              </a:spcAft>
              <a:buClr>
                <a:srgbClr val="595959"/>
              </a:buClr>
              <a:buSzPts val="1500"/>
              <a:buFont typeface="Montserrat"/>
              <a:buChar char="●"/>
            </a:pPr>
            <a:r>
              <a:rPr lang="es" sz="1500">
                <a:solidFill>
                  <a:srgbClr val="595959"/>
                </a:solidFill>
                <a:latin typeface="Montserrat"/>
                <a:ea typeface="Montserrat"/>
                <a:cs typeface="Montserrat"/>
                <a:sym typeface="Montserrat"/>
              </a:rPr>
              <a:t>Campusmvp.es: </a:t>
            </a:r>
            <a:r>
              <a:rPr lang="es" sz="1500" u="sng">
                <a:solidFill>
                  <a:schemeClr val="hlink"/>
                </a:solidFill>
                <a:latin typeface="Montserrat"/>
                <a:ea typeface="Montserrat"/>
                <a:cs typeface="Montserrat"/>
                <a:sym typeface="Montserrat"/>
                <a:hlinkClick r:id="rId3"/>
              </a:rPr>
              <a:t>Funciones de agregación</a:t>
            </a:r>
            <a:endParaRPr sz="1500">
              <a:solidFill>
                <a:srgbClr val="595959"/>
              </a:solidFill>
              <a:latin typeface="Montserrat"/>
              <a:ea typeface="Montserrat"/>
              <a:cs typeface="Montserrat"/>
              <a:sym typeface="Montserrat"/>
            </a:endParaRPr>
          </a:p>
          <a:p>
            <a:pPr indent="-323850" lvl="0" marL="457200" rtl="0" algn="l">
              <a:lnSpc>
                <a:spcPct val="115000"/>
              </a:lnSpc>
              <a:spcBef>
                <a:spcPts val="0"/>
              </a:spcBef>
              <a:spcAft>
                <a:spcPts val="0"/>
              </a:spcAft>
              <a:buClr>
                <a:srgbClr val="595959"/>
              </a:buClr>
              <a:buSzPts val="1500"/>
              <a:buFont typeface="Montserrat"/>
              <a:buChar char="●"/>
            </a:pPr>
            <a:r>
              <a:rPr lang="es" sz="1500">
                <a:solidFill>
                  <a:srgbClr val="595959"/>
                </a:solidFill>
                <a:latin typeface="Montserrat"/>
                <a:ea typeface="Montserrat"/>
                <a:cs typeface="Montserrat"/>
                <a:sym typeface="Montserrat"/>
              </a:rPr>
              <a:t>Base de datos en SQL (</a:t>
            </a:r>
            <a:r>
              <a:rPr lang="es" sz="1500" u="sng">
                <a:solidFill>
                  <a:schemeClr val="hlink"/>
                </a:solidFill>
                <a:latin typeface="Montserrat"/>
                <a:ea typeface="Montserrat"/>
                <a:cs typeface="Montserrat"/>
                <a:sym typeface="Montserrat"/>
                <a:hlinkClick r:id="rId4"/>
              </a:rPr>
              <a:t>curso</a:t>
            </a:r>
            <a:r>
              <a:rPr lang="es" sz="1500">
                <a:solidFill>
                  <a:srgbClr val="595959"/>
                </a:solidFill>
                <a:latin typeface="Montserrat"/>
                <a:ea typeface="Montserrat"/>
                <a:cs typeface="Montserrat"/>
                <a:sym typeface="Montserrat"/>
              </a:rPr>
              <a:t>)</a:t>
            </a:r>
            <a:endParaRPr sz="1500">
              <a:solidFill>
                <a:srgbClr val="595959"/>
              </a:solidFill>
              <a:latin typeface="Montserrat"/>
              <a:ea typeface="Montserrat"/>
              <a:cs typeface="Montserrat"/>
              <a:sym typeface="Montserrat"/>
            </a:endParaRPr>
          </a:p>
          <a:p>
            <a:pPr indent="-323850" lvl="0" marL="457200" rtl="0" algn="l">
              <a:lnSpc>
                <a:spcPct val="115000"/>
              </a:lnSpc>
              <a:spcBef>
                <a:spcPts val="0"/>
              </a:spcBef>
              <a:spcAft>
                <a:spcPts val="0"/>
              </a:spcAft>
              <a:buClr>
                <a:srgbClr val="595959"/>
              </a:buClr>
              <a:buSzPts val="1500"/>
              <a:buFont typeface="Montserrat"/>
              <a:buChar char="●"/>
            </a:pPr>
            <a:r>
              <a:rPr lang="es" sz="1500">
                <a:solidFill>
                  <a:srgbClr val="595959"/>
                </a:solidFill>
                <a:latin typeface="Montserrat"/>
                <a:ea typeface="Montserrat"/>
                <a:cs typeface="Montserrat"/>
                <a:sym typeface="Montserrat"/>
              </a:rPr>
              <a:t>SQL desde cero (</a:t>
            </a:r>
            <a:r>
              <a:rPr lang="es" sz="1500" u="sng">
                <a:solidFill>
                  <a:schemeClr val="hlink"/>
                </a:solidFill>
                <a:latin typeface="Montserrat"/>
                <a:ea typeface="Montserrat"/>
                <a:cs typeface="Montserrat"/>
                <a:sym typeface="Montserrat"/>
                <a:hlinkClick r:id="rId5"/>
              </a:rPr>
              <a:t>curso</a:t>
            </a:r>
            <a:r>
              <a:rPr lang="es" sz="1500">
                <a:solidFill>
                  <a:srgbClr val="595959"/>
                </a:solidFill>
                <a:latin typeface="Montserrat"/>
                <a:ea typeface="Montserrat"/>
                <a:cs typeface="Montserrat"/>
                <a:sym typeface="Montserrat"/>
              </a:rPr>
              <a:t>)</a:t>
            </a:r>
            <a:endParaRPr sz="1500">
              <a:solidFill>
                <a:srgbClr val="595959"/>
              </a:solidFill>
              <a:latin typeface="Montserrat"/>
              <a:ea typeface="Montserrat"/>
              <a:cs typeface="Montserrat"/>
              <a:sym typeface="Montserrat"/>
            </a:endParaRPr>
          </a:p>
          <a:p>
            <a:pPr indent="-323850" lvl="0" marL="457200" rtl="0" algn="l">
              <a:lnSpc>
                <a:spcPct val="115000"/>
              </a:lnSpc>
              <a:spcBef>
                <a:spcPts val="0"/>
              </a:spcBef>
              <a:spcAft>
                <a:spcPts val="0"/>
              </a:spcAft>
              <a:buClr>
                <a:srgbClr val="595959"/>
              </a:buClr>
              <a:buSzPts val="1500"/>
              <a:buFont typeface="Montserrat"/>
              <a:buChar char="●"/>
            </a:pPr>
            <a:r>
              <a:rPr lang="es" sz="1500">
                <a:solidFill>
                  <a:srgbClr val="595959"/>
                </a:solidFill>
                <a:latin typeface="Montserrat"/>
                <a:ea typeface="Montserrat"/>
                <a:cs typeface="Montserrat"/>
                <a:sym typeface="Montserrat"/>
              </a:rPr>
              <a:t>SQL HAVING y WHERE: </a:t>
            </a:r>
            <a:r>
              <a:rPr lang="es" sz="1500" u="sng">
                <a:solidFill>
                  <a:schemeClr val="hlink"/>
                </a:solidFill>
                <a:latin typeface="Montserrat"/>
                <a:ea typeface="Montserrat"/>
                <a:cs typeface="Montserrat"/>
                <a:sym typeface="Montserrat"/>
                <a:hlinkClick r:id="rId6"/>
              </a:rPr>
              <a:t>Las diferencias que necesita saber</a:t>
            </a:r>
            <a:endParaRPr sz="1500">
              <a:solidFill>
                <a:srgbClr val="595959"/>
              </a:solidFill>
              <a:latin typeface="Montserrat"/>
              <a:ea typeface="Montserrat"/>
              <a:cs typeface="Montserrat"/>
              <a:sym typeface="Montserrat"/>
            </a:endParaRPr>
          </a:p>
          <a:p>
            <a:pPr indent="0" lvl="0" marL="0" rtl="0" algn="l">
              <a:lnSpc>
                <a:spcPct val="115000"/>
              </a:lnSpc>
              <a:spcBef>
                <a:spcPts val="1200"/>
              </a:spcBef>
              <a:spcAft>
                <a:spcPts val="0"/>
              </a:spcAft>
              <a:buNone/>
            </a:pPr>
            <a:r>
              <a:rPr lang="es" sz="1500">
                <a:solidFill>
                  <a:srgbClr val="595959"/>
                </a:solidFill>
                <a:latin typeface="Montserrat"/>
                <a:ea typeface="Montserrat"/>
                <a:cs typeface="Montserrat"/>
                <a:sym typeface="Montserrat"/>
              </a:rPr>
              <a:t>Videos:</a:t>
            </a:r>
            <a:endParaRPr sz="1500">
              <a:solidFill>
                <a:srgbClr val="595959"/>
              </a:solidFill>
              <a:latin typeface="Montserrat"/>
              <a:ea typeface="Montserrat"/>
              <a:cs typeface="Montserrat"/>
              <a:sym typeface="Montserrat"/>
            </a:endParaRPr>
          </a:p>
          <a:p>
            <a:pPr indent="-323850" lvl="0" marL="457200" rtl="0" algn="l">
              <a:lnSpc>
                <a:spcPct val="115000"/>
              </a:lnSpc>
              <a:spcBef>
                <a:spcPts val="1200"/>
              </a:spcBef>
              <a:spcAft>
                <a:spcPts val="0"/>
              </a:spcAft>
              <a:buClr>
                <a:srgbClr val="595959"/>
              </a:buClr>
              <a:buSzPts val="1500"/>
              <a:buFont typeface="Montserrat"/>
              <a:buChar char="●"/>
            </a:pPr>
            <a:r>
              <a:rPr lang="es" sz="1500" u="sng">
                <a:solidFill>
                  <a:schemeClr val="hlink"/>
                </a:solidFill>
                <a:latin typeface="Montserrat"/>
                <a:ea typeface="Montserrat"/>
                <a:cs typeface="Montserrat"/>
                <a:sym typeface="Montserrat"/>
                <a:hlinkClick r:id="rId7"/>
              </a:rPr>
              <a:t>Curso de Microsoft SQL Server</a:t>
            </a:r>
            <a:endParaRPr sz="1500">
              <a:solidFill>
                <a:srgbClr val="595959"/>
              </a:solidFill>
              <a:latin typeface="Montserrat"/>
              <a:ea typeface="Montserrat"/>
              <a:cs typeface="Montserrat"/>
              <a:sym typeface="Montserrat"/>
            </a:endParaRPr>
          </a:p>
          <a:p>
            <a:pPr indent="-323850" lvl="0" marL="457200" rtl="0" algn="l">
              <a:lnSpc>
                <a:spcPct val="115000"/>
              </a:lnSpc>
              <a:spcBef>
                <a:spcPts val="0"/>
              </a:spcBef>
              <a:spcAft>
                <a:spcPts val="0"/>
              </a:spcAft>
              <a:buClr>
                <a:srgbClr val="595959"/>
              </a:buClr>
              <a:buSzPts val="1500"/>
              <a:buFont typeface="Montserrat"/>
              <a:buChar char="●"/>
            </a:pPr>
            <a:r>
              <a:rPr lang="es" sz="1500" u="sng">
                <a:solidFill>
                  <a:schemeClr val="hlink"/>
                </a:solidFill>
                <a:latin typeface="Montserrat"/>
                <a:ea typeface="Montserrat"/>
                <a:cs typeface="Montserrat"/>
                <a:sym typeface="Montserrat"/>
                <a:hlinkClick r:id="rId8"/>
              </a:rPr>
              <a:t>La historia completa de las bases de datos SQL (o relacionales)</a:t>
            </a:r>
            <a:endParaRPr sz="1500">
              <a:solidFill>
                <a:srgbClr val="595959"/>
              </a:solidFill>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4"/>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No te olvides de dar el presente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5"/>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
              <a:t>Recordá: </a:t>
            </a:r>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Revisar la Cartelera de Novedades.</a:t>
            </a:r>
            <a:endParaRPr b="0" sz="3200">
              <a:latin typeface="Montserrat SemiBold"/>
              <a:ea typeface="Montserrat SemiBold"/>
              <a:cs typeface="Montserrat SemiBold"/>
              <a:sym typeface="Montserrat SemiBold"/>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Hacer tus consultas en el Foro.</a:t>
            </a:r>
            <a:endParaRPr b="0" sz="3200">
              <a:latin typeface="Montserrat SemiBold"/>
              <a:ea typeface="Montserrat SemiBold"/>
              <a:cs typeface="Montserrat SemiBold"/>
              <a:sym typeface="Montserrat SemiBold"/>
            </a:endParaRPr>
          </a:p>
          <a:p>
            <a:pPr indent="-431800" lvl="0" marL="457200" rtl="0" algn="l">
              <a:spcBef>
                <a:spcPts val="0"/>
              </a:spcBef>
              <a:spcAft>
                <a:spcPts val="0"/>
              </a:spcAft>
              <a:buSzPts val="3200"/>
              <a:buFont typeface="Montserrat SemiBold"/>
              <a:buChar char="●"/>
            </a:pPr>
            <a:r>
              <a:rPr b="0" lang="es" sz="3200">
                <a:latin typeface="Montserrat SemiBold"/>
                <a:ea typeface="Montserrat SemiBold"/>
                <a:cs typeface="Montserrat SemiBold"/>
                <a:sym typeface="Montserrat SemiBold"/>
              </a:rPr>
              <a:t>Realizar los Ejercicios obligatorios.</a:t>
            </a:r>
            <a:endParaRPr b="0" sz="3200">
              <a:latin typeface="Montserrat SemiBold"/>
              <a:ea typeface="Montserrat SemiBold"/>
              <a:cs typeface="Montserrat SemiBold"/>
              <a:sym typeface="Montserrat SemiBold"/>
            </a:endParaRPr>
          </a:p>
          <a:p>
            <a:pPr indent="0" lvl="0" marL="0" rtl="0" algn="l">
              <a:spcBef>
                <a:spcPts val="0"/>
              </a:spcBef>
              <a:spcAft>
                <a:spcPts val="0"/>
              </a:spcAft>
              <a:buNone/>
            </a:pPr>
            <a:r>
              <a:t/>
            </a:r>
            <a:endParaRPr sz="3200"/>
          </a:p>
          <a:p>
            <a:pPr indent="0" lvl="0" marL="0" rtl="0" algn="l">
              <a:spcBef>
                <a:spcPts val="0"/>
              </a:spcBef>
              <a:spcAft>
                <a:spcPts val="0"/>
              </a:spcAft>
              <a:buNone/>
            </a:pPr>
            <a:r>
              <a:rPr lang="es" sz="3200"/>
              <a:t>Todo en el Aula Virtual.</a:t>
            </a:r>
            <a:endParaRPr sz="32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6"/>
          <p:cNvSpPr txBox="1"/>
          <p:nvPr>
            <p:ph type="title"/>
          </p:nvPr>
        </p:nvSpPr>
        <p:spPr>
          <a:xfrm>
            <a:off x="490250" y="1135950"/>
            <a:ext cx="8097300" cy="3623700"/>
          </a:xfrm>
          <a:prstGeom prst="rect">
            <a:avLst/>
          </a:prstGeom>
        </p:spPr>
        <p:txBody>
          <a:bodyPr anchorCtr="0" anchor="ctr" bIns="91425" lIns="91425" spcFirstLastPara="1" rIns="91425" wrap="square" tIns="91425">
            <a:normAutofit/>
          </a:bodyPr>
          <a:lstStyle/>
          <a:p>
            <a:pPr indent="0" lvl="0" marL="0" rtl="0" algn="l">
              <a:lnSpc>
                <a:spcPct val="115000"/>
              </a:lnSpc>
              <a:spcBef>
                <a:spcPts val="1200"/>
              </a:spcBef>
              <a:spcAft>
                <a:spcPts val="0"/>
              </a:spcAft>
              <a:buNone/>
            </a:pPr>
            <a:r>
              <a:rPr lang="es"/>
              <a:t>Muchas gracias por tu atención.</a:t>
            </a:r>
            <a:endParaRPr/>
          </a:p>
          <a:p>
            <a:pPr indent="0" lvl="0" marL="0" rtl="0" algn="l">
              <a:lnSpc>
                <a:spcPct val="115000"/>
              </a:lnSpc>
              <a:spcBef>
                <a:spcPts val="1200"/>
              </a:spcBef>
              <a:spcAft>
                <a:spcPts val="1200"/>
              </a:spcAft>
              <a:buNone/>
            </a:pPr>
            <a:r>
              <a:rPr lang="es"/>
              <a:t>Nos vemos pronto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